
<file path=[Content_Types].xml><?xml version="1.0" encoding="utf-8"?>
<Types xmlns="http://schemas.openxmlformats.org/package/2006/content-types">
  <Default Extension="bin" ContentType="application/vnd.openxmlformats-officedocument.oleObject"/>
  <Default Extension="png" ContentType="image/png"/>
  <Default Extension="pdf" ContentType="application/pdf"/>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121"/>
  </p:notesMasterIdLst>
  <p:sldIdLst>
    <p:sldId id="257" r:id="rId2"/>
    <p:sldId id="258" r:id="rId3"/>
    <p:sldId id="259" r:id="rId4"/>
    <p:sldId id="260" r:id="rId5"/>
    <p:sldId id="261" r:id="rId6"/>
    <p:sldId id="262" r:id="rId7"/>
    <p:sldId id="263" r:id="rId8"/>
    <p:sldId id="264" r:id="rId9"/>
    <p:sldId id="267" r:id="rId10"/>
    <p:sldId id="363" r:id="rId11"/>
    <p:sldId id="268" r:id="rId12"/>
    <p:sldId id="269" r:id="rId13"/>
    <p:sldId id="270" r:id="rId14"/>
    <p:sldId id="271" r:id="rId15"/>
    <p:sldId id="272" r:id="rId16"/>
    <p:sldId id="275" r:id="rId17"/>
    <p:sldId id="276" r:id="rId18"/>
    <p:sldId id="277" r:id="rId19"/>
    <p:sldId id="278" r:id="rId20"/>
    <p:sldId id="279" r:id="rId21"/>
    <p:sldId id="280" r:id="rId22"/>
    <p:sldId id="281" r:id="rId23"/>
    <p:sldId id="282" r:id="rId24"/>
    <p:sldId id="283" r:id="rId25"/>
    <p:sldId id="364" r:id="rId26"/>
    <p:sldId id="28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85" r:id="rId40"/>
    <p:sldId id="377" r:id="rId41"/>
    <p:sldId id="378" r:id="rId42"/>
    <p:sldId id="379" r:id="rId43"/>
    <p:sldId id="380" r:id="rId44"/>
    <p:sldId id="381" r:id="rId45"/>
    <p:sldId id="382" r:id="rId46"/>
    <p:sldId id="383" r:id="rId47"/>
    <p:sldId id="387" r:id="rId48"/>
    <p:sldId id="384" r:id="rId49"/>
    <p:sldId id="386"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1" r:id="rId67"/>
    <p:sldId id="302" r:id="rId68"/>
    <p:sldId id="303" r:id="rId69"/>
    <p:sldId id="304" r:id="rId70"/>
    <p:sldId id="305" r:id="rId71"/>
    <p:sldId id="306" r:id="rId72"/>
    <p:sldId id="307" r:id="rId73"/>
    <p:sldId id="308" r:id="rId74"/>
    <p:sldId id="309" r:id="rId75"/>
    <p:sldId id="310"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 id="350" r:id="rId108"/>
    <p:sldId id="351" r:id="rId109"/>
    <p:sldId id="352" r:id="rId110"/>
    <p:sldId id="353" r:id="rId111"/>
    <p:sldId id="354" r:id="rId112"/>
    <p:sldId id="355" r:id="rId113"/>
    <p:sldId id="356" r:id="rId114"/>
    <p:sldId id="357" r:id="rId115"/>
    <p:sldId id="358" r:id="rId116"/>
    <p:sldId id="359" r:id="rId117"/>
    <p:sldId id="360" r:id="rId118"/>
    <p:sldId id="361" r:id="rId119"/>
    <p:sldId id="362"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5F910C-1DD7-4E6F-996A-8FD8DB89BC0E}" type="doc">
      <dgm:prSet loTypeId="urn:microsoft.com/office/officeart/2005/8/layout/orgChart1" loCatId="hierarchy" qsTypeId="urn:microsoft.com/office/officeart/2005/8/quickstyle/simple1" qsCatId="simple" csTypeId="urn:microsoft.com/office/officeart/2005/8/colors/accent1_2" csCatId="accent1"/>
      <dgm:spPr/>
    </dgm:pt>
    <dgm:pt modelId="{63232973-1612-4F6C-9F43-31EB4B1EF4A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gm:t>
    </dgm:pt>
    <dgm:pt modelId="{409AAA4D-219A-450A-803C-6D8AFC535337}" type="parTrans" cxnId="{E22B0A1F-2DB5-42A5-B93E-4FC444CF2741}">
      <dgm:prSet/>
      <dgm:spPr/>
    </dgm:pt>
    <dgm:pt modelId="{A2BD01BC-35FF-4A12-9F50-4ABB316392F7}" type="sibTrans" cxnId="{E22B0A1F-2DB5-42A5-B93E-4FC444CF2741}">
      <dgm:prSet/>
      <dgm:spPr/>
    </dgm:pt>
    <dgm:pt modelId="{D7A0F755-A047-4808-B398-DCF6E530131A}">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gm:t>
    </dgm:pt>
    <dgm:pt modelId="{5B4CFA4F-C1AA-47E5-A322-A2E6E414C056}" type="parTrans" cxnId="{9E23CFC7-5F34-441C-8E91-5E7493D72C6D}">
      <dgm:prSet/>
      <dgm:spPr/>
    </dgm:pt>
    <dgm:pt modelId="{D816559F-E92A-430A-9585-CE16804E7609}" type="sibTrans" cxnId="{9E23CFC7-5F34-441C-8E91-5E7493D72C6D}">
      <dgm:prSet/>
      <dgm:spPr/>
    </dgm:pt>
    <dgm:pt modelId="{9E3EF376-4B39-4FFC-9C79-A0C980D3715A}">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Learning rules</a:t>
          </a:r>
        </a:p>
      </dgm:t>
    </dgm:pt>
    <dgm:pt modelId="{6E4E40C6-794F-4BD3-B8EE-CEA5ACADE0CD}" type="parTrans" cxnId="{11EC2348-403F-4B8E-8590-9B74BD3F41FB}">
      <dgm:prSet/>
      <dgm:spPr/>
    </dgm:pt>
    <dgm:pt modelId="{2EA797DB-B31C-4722-9DBD-F4B0C02862C5}" type="sibTrans" cxnId="{11EC2348-403F-4B8E-8590-9B74BD3F41FB}">
      <dgm:prSet/>
      <dgm:spPr/>
    </dgm:pt>
    <dgm:pt modelId="{C7044BF0-4144-41C1-9EE0-327E1811900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gm:t>
    </dgm:pt>
    <dgm:pt modelId="{BC794E9C-939E-4496-A172-B05B1AA1CA9B}" type="parTrans" cxnId="{AE6879C7-8456-41AD-9AC8-A876DFFDDA40}">
      <dgm:prSet/>
      <dgm:spPr/>
    </dgm:pt>
    <dgm:pt modelId="{1A316B40-A2FC-417A-928F-914CF75C6908}" type="sibTrans" cxnId="{AE6879C7-8456-41AD-9AC8-A876DFFDDA40}">
      <dgm:prSet/>
      <dgm:spPr/>
    </dgm:pt>
    <dgm:pt modelId="{218B5AB0-D5EF-4796-A04A-5592682D3D65}" type="pres">
      <dgm:prSet presAssocID="{425F910C-1DD7-4E6F-996A-8FD8DB89BC0E}" presName="hierChild1" presStyleCnt="0">
        <dgm:presLayoutVars>
          <dgm:orgChart val="1"/>
          <dgm:chPref val="1"/>
          <dgm:dir/>
          <dgm:animOne val="branch"/>
          <dgm:animLvl val="lvl"/>
          <dgm:resizeHandles/>
        </dgm:presLayoutVars>
      </dgm:prSet>
      <dgm:spPr/>
    </dgm:pt>
    <dgm:pt modelId="{B74B439A-DB49-4C8F-8C3F-78E81DCDC5E4}" type="pres">
      <dgm:prSet presAssocID="{63232973-1612-4F6C-9F43-31EB4B1EF4A7}" presName="hierRoot1" presStyleCnt="0">
        <dgm:presLayoutVars>
          <dgm:hierBranch/>
        </dgm:presLayoutVars>
      </dgm:prSet>
      <dgm:spPr/>
    </dgm:pt>
    <dgm:pt modelId="{37C7F842-47B5-4AEA-9CE6-1D937919D9E1}" type="pres">
      <dgm:prSet presAssocID="{63232973-1612-4F6C-9F43-31EB4B1EF4A7}" presName="rootComposite1" presStyleCnt="0"/>
      <dgm:spPr/>
    </dgm:pt>
    <dgm:pt modelId="{0BAEC42C-F7FA-4691-A7EB-EC182BFE2F21}" type="pres">
      <dgm:prSet presAssocID="{63232973-1612-4F6C-9F43-31EB4B1EF4A7}" presName="rootText1" presStyleLbl="node0" presStyleIdx="0" presStyleCnt="1">
        <dgm:presLayoutVars>
          <dgm:chPref val="3"/>
        </dgm:presLayoutVars>
      </dgm:prSet>
      <dgm:spPr/>
      <dgm:t>
        <a:bodyPr/>
        <a:lstStyle/>
        <a:p>
          <a:endParaRPr lang="en-US"/>
        </a:p>
      </dgm:t>
    </dgm:pt>
    <dgm:pt modelId="{8334E9F6-5E95-4B46-8BA3-72B18A8BBF17}" type="pres">
      <dgm:prSet presAssocID="{63232973-1612-4F6C-9F43-31EB4B1EF4A7}" presName="rootConnector1" presStyleLbl="node1" presStyleIdx="0" presStyleCnt="0"/>
      <dgm:spPr/>
      <dgm:t>
        <a:bodyPr/>
        <a:lstStyle/>
        <a:p>
          <a:endParaRPr lang="en-US"/>
        </a:p>
      </dgm:t>
    </dgm:pt>
    <dgm:pt modelId="{B373B876-038A-401F-AD02-DBCF75B0C668}" type="pres">
      <dgm:prSet presAssocID="{63232973-1612-4F6C-9F43-31EB4B1EF4A7}" presName="hierChild2" presStyleCnt="0"/>
      <dgm:spPr/>
    </dgm:pt>
    <dgm:pt modelId="{0AA1E291-391D-4FF4-934C-C463FA5BF25B}" type="pres">
      <dgm:prSet presAssocID="{5B4CFA4F-C1AA-47E5-A322-A2E6E414C056}" presName="Name35" presStyleLbl="parChTrans1D2" presStyleIdx="0" presStyleCnt="3"/>
      <dgm:spPr/>
    </dgm:pt>
    <dgm:pt modelId="{28171436-B791-43EE-B2E6-9A7C7B547793}" type="pres">
      <dgm:prSet presAssocID="{D7A0F755-A047-4808-B398-DCF6E530131A}" presName="hierRoot2" presStyleCnt="0">
        <dgm:presLayoutVars>
          <dgm:hierBranch/>
        </dgm:presLayoutVars>
      </dgm:prSet>
      <dgm:spPr/>
    </dgm:pt>
    <dgm:pt modelId="{6CE513C2-BBBB-46D9-81A6-CC7BA5CC61BE}" type="pres">
      <dgm:prSet presAssocID="{D7A0F755-A047-4808-B398-DCF6E530131A}" presName="rootComposite" presStyleCnt="0"/>
      <dgm:spPr/>
    </dgm:pt>
    <dgm:pt modelId="{8362DC1B-2F6A-43BD-857A-AB75DD9E84A0}" type="pres">
      <dgm:prSet presAssocID="{D7A0F755-A047-4808-B398-DCF6E530131A}" presName="rootText" presStyleLbl="node2" presStyleIdx="0" presStyleCnt="3">
        <dgm:presLayoutVars>
          <dgm:chPref val="3"/>
        </dgm:presLayoutVars>
      </dgm:prSet>
      <dgm:spPr/>
      <dgm:t>
        <a:bodyPr/>
        <a:lstStyle/>
        <a:p>
          <a:endParaRPr lang="en-US"/>
        </a:p>
      </dgm:t>
    </dgm:pt>
    <dgm:pt modelId="{8F07E48E-2F71-447E-9C89-70738B7B94FA}" type="pres">
      <dgm:prSet presAssocID="{D7A0F755-A047-4808-B398-DCF6E530131A}" presName="rootConnector" presStyleLbl="node2" presStyleIdx="0" presStyleCnt="3"/>
      <dgm:spPr/>
      <dgm:t>
        <a:bodyPr/>
        <a:lstStyle/>
        <a:p>
          <a:endParaRPr lang="en-US"/>
        </a:p>
      </dgm:t>
    </dgm:pt>
    <dgm:pt modelId="{7CFC266B-1D9D-4FFA-B24D-1555313C08F1}" type="pres">
      <dgm:prSet presAssocID="{D7A0F755-A047-4808-B398-DCF6E530131A}" presName="hierChild4" presStyleCnt="0"/>
      <dgm:spPr/>
    </dgm:pt>
    <dgm:pt modelId="{7092806E-4EB3-457C-9CD4-918F1391BB25}" type="pres">
      <dgm:prSet presAssocID="{D7A0F755-A047-4808-B398-DCF6E530131A}" presName="hierChild5" presStyleCnt="0"/>
      <dgm:spPr/>
    </dgm:pt>
    <dgm:pt modelId="{212F524D-8CDC-4427-9F4B-377D72585D60}" type="pres">
      <dgm:prSet presAssocID="{6E4E40C6-794F-4BD3-B8EE-CEA5ACADE0CD}" presName="Name35" presStyleLbl="parChTrans1D2" presStyleIdx="1" presStyleCnt="3"/>
      <dgm:spPr/>
    </dgm:pt>
    <dgm:pt modelId="{E92DF8CE-8946-4DFF-8F99-1DCF9FDEB512}" type="pres">
      <dgm:prSet presAssocID="{9E3EF376-4B39-4FFC-9C79-A0C980D3715A}" presName="hierRoot2" presStyleCnt="0">
        <dgm:presLayoutVars>
          <dgm:hierBranch/>
        </dgm:presLayoutVars>
      </dgm:prSet>
      <dgm:spPr/>
    </dgm:pt>
    <dgm:pt modelId="{4CB99B36-9284-4B46-804D-5C18C2321305}" type="pres">
      <dgm:prSet presAssocID="{9E3EF376-4B39-4FFC-9C79-A0C980D3715A}" presName="rootComposite" presStyleCnt="0"/>
      <dgm:spPr/>
    </dgm:pt>
    <dgm:pt modelId="{3C3387A3-FAA8-436A-9F7F-982827F65588}" type="pres">
      <dgm:prSet presAssocID="{9E3EF376-4B39-4FFC-9C79-A0C980D3715A}" presName="rootText" presStyleLbl="node2" presStyleIdx="1" presStyleCnt="3">
        <dgm:presLayoutVars>
          <dgm:chPref val="3"/>
        </dgm:presLayoutVars>
      </dgm:prSet>
      <dgm:spPr/>
      <dgm:t>
        <a:bodyPr/>
        <a:lstStyle/>
        <a:p>
          <a:endParaRPr lang="en-US"/>
        </a:p>
      </dgm:t>
    </dgm:pt>
    <dgm:pt modelId="{D670FBF9-4987-4F68-85EF-F4B5D1B5B3DE}" type="pres">
      <dgm:prSet presAssocID="{9E3EF376-4B39-4FFC-9C79-A0C980D3715A}" presName="rootConnector" presStyleLbl="node2" presStyleIdx="1" presStyleCnt="3"/>
      <dgm:spPr/>
      <dgm:t>
        <a:bodyPr/>
        <a:lstStyle/>
        <a:p>
          <a:endParaRPr lang="en-US"/>
        </a:p>
      </dgm:t>
    </dgm:pt>
    <dgm:pt modelId="{40E5100B-3D29-4C6B-AB69-2DA2667E3711}" type="pres">
      <dgm:prSet presAssocID="{9E3EF376-4B39-4FFC-9C79-A0C980D3715A}" presName="hierChild4" presStyleCnt="0"/>
      <dgm:spPr/>
    </dgm:pt>
    <dgm:pt modelId="{FAC76A4C-5390-4CCB-8457-1F0428801BAE}" type="pres">
      <dgm:prSet presAssocID="{9E3EF376-4B39-4FFC-9C79-A0C980D3715A}" presName="hierChild5" presStyleCnt="0"/>
      <dgm:spPr/>
    </dgm:pt>
    <dgm:pt modelId="{38F0E3E3-2AE6-4133-ADC1-FA0C1625DBA9}" type="pres">
      <dgm:prSet presAssocID="{BC794E9C-939E-4496-A172-B05B1AA1CA9B}" presName="Name35" presStyleLbl="parChTrans1D2" presStyleIdx="2" presStyleCnt="3"/>
      <dgm:spPr/>
    </dgm:pt>
    <dgm:pt modelId="{23F06261-F23E-4DDD-93B7-E31333A76E56}" type="pres">
      <dgm:prSet presAssocID="{C7044BF0-4144-41C1-9EE0-327E18119002}" presName="hierRoot2" presStyleCnt="0">
        <dgm:presLayoutVars>
          <dgm:hierBranch/>
        </dgm:presLayoutVars>
      </dgm:prSet>
      <dgm:spPr/>
    </dgm:pt>
    <dgm:pt modelId="{A88BC574-FAEE-4E80-BFB3-46D41810E481}" type="pres">
      <dgm:prSet presAssocID="{C7044BF0-4144-41C1-9EE0-327E18119002}" presName="rootComposite" presStyleCnt="0"/>
      <dgm:spPr/>
    </dgm:pt>
    <dgm:pt modelId="{05241768-9A09-4830-B9E1-BF3199079C24}" type="pres">
      <dgm:prSet presAssocID="{C7044BF0-4144-41C1-9EE0-327E18119002}" presName="rootText" presStyleLbl="node2" presStyleIdx="2" presStyleCnt="3">
        <dgm:presLayoutVars>
          <dgm:chPref val="3"/>
        </dgm:presLayoutVars>
      </dgm:prSet>
      <dgm:spPr/>
      <dgm:t>
        <a:bodyPr/>
        <a:lstStyle/>
        <a:p>
          <a:endParaRPr lang="en-US"/>
        </a:p>
      </dgm:t>
    </dgm:pt>
    <dgm:pt modelId="{EA378E14-DB78-4E1C-9851-94207397DE21}" type="pres">
      <dgm:prSet presAssocID="{C7044BF0-4144-41C1-9EE0-327E18119002}" presName="rootConnector" presStyleLbl="node2" presStyleIdx="2" presStyleCnt="3"/>
      <dgm:spPr/>
      <dgm:t>
        <a:bodyPr/>
        <a:lstStyle/>
        <a:p>
          <a:endParaRPr lang="en-US"/>
        </a:p>
      </dgm:t>
    </dgm:pt>
    <dgm:pt modelId="{1B0493FC-27B5-4078-B10C-3DD939AFEA0F}" type="pres">
      <dgm:prSet presAssocID="{C7044BF0-4144-41C1-9EE0-327E18119002}" presName="hierChild4" presStyleCnt="0"/>
      <dgm:spPr/>
    </dgm:pt>
    <dgm:pt modelId="{E1667B67-9CAE-4C44-9EA2-310AE0FE5865}" type="pres">
      <dgm:prSet presAssocID="{C7044BF0-4144-41C1-9EE0-327E18119002}" presName="hierChild5" presStyleCnt="0"/>
      <dgm:spPr/>
    </dgm:pt>
    <dgm:pt modelId="{C490B42C-D824-49C1-92A9-86F42679CA02}" type="pres">
      <dgm:prSet presAssocID="{63232973-1612-4F6C-9F43-31EB4B1EF4A7}" presName="hierChild3" presStyleCnt="0"/>
      <dgm:spPr/>
    </dgm:pt>
  </dgm:ptLst>
  <dgm:cxnLst>
    <dgm:cxn modelId="{11EC2348-403F-4B8E-8590-9B74BD3F41FB}" srcId="{63232973-1612-4F6C-9F43-31EB4B1EF4A7}" destId="{9E3EF376-4B39-4FFC-9C79-A0C980D3715A}" srcOrd="1" destOrd="0" parTransId="{6E4E40C6-794F-4BD3-B8EE-CEA5ACADE0CD}" sibTransId="{2EA797DB-B31C-4722-9DBD-F4B0C02862C5}"/>
    <dgm:cxn modelId="{53200731-E039-4CD2-AF66-6050673B4F0E}" type="presOf" srcId="{D7A0F755-A047-4808-B398-DCF6E530131A}" destId="{8362DC1B-2F6A-43BD-857A-AB75DD9E84A0}" srcOrd="0" destOrd="0" presId="urn:microsoft.com/office/officeart/2005/8/layout/orgChart1"/>
    <dgm:cxn modelId="{4F774CFF-BFFA-4552-B952-2A08D02F93EB}" type="presOf" srcId="{C7044BF0-4144-41C1-9EE0-327E18119002}" destId="{05241768-9A09-4830-B9E1-BF3199079C24}" srcOrd="0" destOrd="0" presId="urn:microsoft.com/office/officeart/2005/8/layout/orgChart1"/>
    <dgm:cxn modelId="{B1A025F8-4A18-4435-BF65-4268E2373809}" type="presOf" srcId="{D7A0F755-A047-4808-B398-DCF6E530131A}" destId="{8F07E48E-2F71-447E-9C89-70738B7B94FA}" srcOrd="1" destOrd="0" presId="urn:microsoft.com/office/officeart/2005/8/layout/orgChart1"/>
    <dgm:cxn modelId="{CE483085-7DD3-4B51-A3B2-2F8FF6C2ABC3}" type="presOf" srcId="{9E3EF376-4B39-4FFC-9C79-A0C980D3715A}" destId="{D670FBF9-4987-4F68-85EF-F4B5D1B5B3DE}" srcOrd="1" destOrd="0" presId="urn:microsoft.com/office/officeart/2005/8/layout/orgChart1"/>
    <dgm:cxn modelId="{93852863-E9DC-4C84-B466-E4FFA11C0139}" type="presOf" srcId="{C7044BF0-4144-41C1-9EE0-327E18119002}" destId="{EA378E14-DB78-4E1C-9851-94207397DE21}" srcOrd="1" destOrd="0" presId="urn:microsoft.com/office/officeart/2005/8/layout/orgChart1"/>
    <dgm:cxn modelId="{3B5D64C1-436D-406A-94A3-75F99375D1A9}" type="presOf" srcId="{6E4E40C6-794F-4BD3-B8EE-CEA5ACADE0CD}" destId="{212F524D-8CDC-4427-9F4B-377D72585D60}" srcOrd="0" destOrd="0" presId="urn:microsoft.com/office/officeart/2005/8/layout/orgChart1"/>
    <dgm:cxn modelId="{C77D9D6E-8C36-4578-88D4-E0428D09452C}" type="presOf" srcId="{9E3EF376-4B39-4FFC-9C79-A0C980D3715A}" destId="{3C3387A3-FAA8-436A-9F7F-982827F65588}" srcOrd="0" destOrd="0" presId="urn:microsoft.com/office/officeart/2005/8/layout/orgChart1"/>
    <dgm:cxn modelId="{AE6879C7-8456-41AD-9AC8-A876DFFDDA40}" srcId="{63232973-1612-4F6C-9F43-31EB4B1EF4A7}" destId="{C7044BF0-4144-41C1-9EE0-327E18119002}" srcOrd="2" destOrd="0" parTransId="{BC794E9C-939E-4496-A172-B05B1AA1CA9B}" sibTransId="{1A316B40-A2FC-417A-928F-914CF75C6908}"/>
    <dgm:cxn modelId="{FAAB009A-7DB1-434E-8987-CF55371C1484}" type="presOf" srcId="{5B4CFA4F-C1AA-47E5-A322-A2E6E414C056}" destId="{0AA1E291-391D-4FF4-934C-C463FA5BF25B}" srcOrd="0" destOrd="0" presId="urn:microsoft.com/office/officeart/2005/8/layout/orgChart1"/>
    <dgm:cxn modelId="{9E23CFC7-5F34-441C-8E91-5E7493D72C6D}" srcId="{63232973-1612-4F6C-9F43-31EB4B1EF4A7}" destId="{D7A0F755-A047-4808-B398-DCF6E530131A}" srcOrd="0" destOrd="0" parTransId="{5B4CFA4F-C1AA-47E5-A322-A2E6E414C056}" sibTransId="{D816559F-E92A-430A-9585-CE16804E7609}"/>
    <dgm:cxn modelId="{349C3BD4-D7EC-44B5-896D-843D995163E2}" type="presOf" srcId="{BC794E9C-939E-4496-A172-B05B1AA1CA9B}" destId="{38F0E3E3-2AE6-4133-ADC1-FA0C1625DBA9}" srcOrd="0" destOrd="0" presId="urn:microsoft.com/office/officeart/2005/8/layout/orgChart1"/>
    <dgm:cxn modelId="{85D5F91B-AAF5-435F-9D0E-4BA9CEAB4E36}" type="presOf" srcId="{63232973-1612-4F6C-9F43-31EB4B1EF4A7}" destId="{8334E9F6-5E95-4B46-8BA3-72B18A8BBF17}" srcOrd="1" destOrd="0" presId="urn:microsoft.com/office/officeart/2005/8/layout/orgChart1"/>
    <dgm:cxn modelId="{17482DC6-59DD-4434-9648-2BD95583F3A6}" type="presOf" srcId="{425F910C-1DD7-4E6F-996A-8FD8DB89BC0E}" destId="{218B5AB0-D5EF-4796-A04A-5592682D3D65}" srcOrd="0" destOrd="0" presId="urn:microsoft.com/office/officeart/2005/8/layout/orgChart1"/>
    <dgm:cxn modelId="{E22B0A1F-2DB5-42A5-B93E-4FC444CF2741}" srcId="{425F910C-1DD7-4E6F-996A-8FD8DB89BC0E}" destId="{63232973-1612-4F6C-9F43-31EB4B1EF4A7}" srcOrd="0" destOrd="0" parTransId="{409AAA4D-219A-450A-803C-6D8AFC535337}" sibTransId="{A2BD01BC-35FF-4A12-9F50-4ABB316392F7}"/>
    <dgm:cxn modelId="{7C4EAE8C-5540-48DD-8202-3D6FE74886C1}" type="presOf" srcId="{63232973-1612-4F6C-9F43-31EB4B1EF4A7}" destId="{0BAEC42C-F7FA-4691-A7EB-EC182BFE2F21}" srcOrd="0" destOrd="0" presId="urn:microsoft.com/office/officeart/2005/8/layout/orgChart1"/>
    <dgm:cxn modelId="{B353A778-0DA0-4501-93D4-ED55873614E8}" type="presParOf" srcId="{218B5AB0-D5EF-4796-A04A-5592682D3D65}" destId="{B74B439A-DB49-4C8F-8C3F-78E81DCDC5E4}" srcOrd="0" destOrd="0" presId="urn:microsoft.com/office/officeart/2005/8/layout/orgChart1"/>
    <dgm:cxn modelId="{803A01F8-725E-41A8-A53E-CBD27F7FCC84}" type="presParOf" srcId="{B74B439A-DB49-4C8F-8C3F-78E81DCDC5E4}" destId="{37C7F842-47B5-4AEA-9CE6-1D937919D9E1}" srcOrd="0" destOrd="0" presId="urn:microsoft.com/office/officeart/2005/8/layout/orgChart1"/>
    <dgm:cxn modelId="{A9247455-2C88-45C8-AF2C-54717F91CC88}" type="presParOf" srcId="{37C7F842-47B5-4AEA-9CE6-1D937919D9E1}" destId="{0BAEC42C-F7FA-4691-A7EB-EC182BFE2F21}" srcOrd="0" destOrd="0" presId="urn:microsoft.com/office/officeart/2005/8/layout/orgChart1"/>
    <dgm:cxn modelId="{3589F7FB-A80E-49BF-86CB-5223C0A2AE2E}" type="presParOf" srcId="{37C7F842-47B5-4AEA-9CE6-1D937919D9E1}" destId="{8334E9F6-5E95-4B46-8BA3-72B18A8BBF17}" srcOrd="1" destOrd="0" presId="urn:microsoft.com/office/officeart/2005/8/layout/orgChart1"/>
    <dgm:cxn modelId="{72F97BCE-46AD-4B60-9C77-6C78EEB58DF9}" type="presParOf" srcId="{B74B439A-DB49-4C8F-8C3F-78E81DCDC5E4}" destId="{B373B876-038A-401F-AD02-DBCF75B0C668}" srcOrd="1" destOrd="0" presId="urn:microsoft.com/office/officeart/2005/8/layout/orgChart1"/>
    <dgm:cxn modelId="{09EA2C5A-7BD7-4B53-81C6-2ADE5B72738D}" type="presParOf" srcId="{B373B876-038A-401F-AD02-DBCF75B0C668}" destId="{0AA1E291-391D-4FF4-934C-C463FA5BF25B}" srcOrd="0" destOrd="0" presId="urn:microsoft.com/office/officeart/2005/8/layout/orgChart1"/>
    <dgm:cxn modelId="{6B5D166B-8656-458D-AF38-929B3C9058F7}" type="presParOf" srcId="{B373B876-038A-401F-AD02-DBCF75B0C668}" destId="{28171436-B791-43EE-B2E6-9A7C7B547793}" srcOrd="1" destOrd="0" presId="urn:microsoft.com/office/officeart/2005/8/layout/orgChart1"/>
    <dgm:cxn modelId="{2FA2D5A7-D61C-47D2-8F17-24AA69E297E9}" type="presParOf" srcId="{28171436-B791-43EE-B2E6-9A7C7B547793}" destId="{6CE513C2-BBBB-46D9-81A6-CC7BA5CC61BE}" srcOrd="0" destOrd="0" presId="urn:microsoft.com/office/officeart/2005/8/layout/orgChart1"/>
    <dgm:cxn modelId="{25966BA6-2A8C-4DB4-A120-2C4FED7A5E7B}" type="presParOf" srcId="{6CE513C2-BBBB-46D9-81A6-CC7BA5CC61BE}" destId="{8362DC1B-2F6A-43BD-857A-AB75DD9E84A0}" srcOrd="0" destOrd="0" presId="urn:microsoft.com/office/officeart/2005/8/layout/orgChart1"/>
    <dgm:cxn modelId="{13408E06-636C-4C71-9DBE-C830F39F542A}" type="presParOf" srcId="{6CE513C2-BBBB-46D9-81A6-CC7BA5CC61BE}" destId="{8F07E48E-2F71-447E-9C89-70738B7B94FA}" srcOrd="1" destOrd="0" presId="urn:microsoft.com/office/officeart/2005/8/layout/orgChart1"/>
    <dgm:cxn modelId="{A3A79C87-FFFF-46EC-A163-A8C4D8CAD8E4}" type="presParOf" srcId="{28171436-B791-43EE-B2E6-9A7C7B547793}" destId="{7CFC266B-1D9D-4FFA-B24D-1555313C08F1}" srcOrd="1" destOrd="0" presId="urn:microsoft.com/office/officeart/2005/8/layout/orgChart1"/>
    <dgm:cxn modelId="{392D6C87-2317-4CF5-82F3-A89529FEE82C}" type="presParOf" srcId="{28171436-B791-43EE-B2E6-9A7C7B547793}" destId="{7092806E-4EB3-457C-9CD4-918F1391BB25}" srcOrd="2" destOrd="0" presId="urn:microsoft.com/office/officeart/2005/8/layout/orgChart1"/>
    <dgm:cxn modelId="{62B20EB2-31BE-43D3-BA0F-A036D79E15C5}" type="presParOf" srcId="{B373B876-038A-401F-AD02-DBCF75B0C668}" destId="{212F524D-8CDC-4427-9F4B-377D72585D60}" srcOrd="2" destOrd="0" presId="urn:microsoft.com/office/officeart/2005/8/layout/orgChart1"/>
    <dgm:cxn modelId="{50AF044F-F8F2-4BFA-B25F-AE5E16ABE91E}" type="presParOf" srcId="{B373B876-038A-401F-AD02-DBCF75B0C668}" destId="{E92DF8CE-8946-4DFF-8F99-1DCF9FDEB512}" srcOrd="3" destOrd="0" presId="urn:microsoft.com/office/officeart/2005/8/layout/orgChart1"/>
    <dgm:cxn modelId="{1B04A990-108A-47AC-8D18-9EA2DF9318D8}" type="presParOf" srcId="{E92DF8CE-8946-4DFF-8F99-1DCF9FDEB512}" destId="{4CB99B36-9284-4B46-804D-5C18C2321305}" srcOrd="0" destOrd="0" presId="urn:microsoft.com/office/officeart/2005/8/layout/orgChart1"/>
    <dgm:cxn modelId="{BC9C338B-2749-4429-8117-D4952D747A25}" type="presParOf" srcId="{4CB99B36-9284-4B46-804D-5C18C2321305}" destId="{3C3387A3-FAA8-436A-9F7F-982827F65588}" srcOrd="0" destOrd="0" presId="urn:microsoft.com/office/officeart/2005/8/layout/orgChart1"/>
    <dgm:cxn modelId="{C89A1B94-A7C5-4A5C-83F3-C0205412687C}" type="presParOf" srcId="{4CB99B36-9284-4B46-804D-5C18C2321305}" destId="{D670FBF9-4987-4F68-85EF-F4B5D1B5B3DE}" srcOrd="1" destOrd="0" presId="urn:microsoft.com/office/officeart/2005/8/layout/orgChart1"/>
    <dgm:cxn modelId="{AA7A33B5-C72A-4545-BD69-156D2400C708}" type="presParOf" srcId="{E92DF8CE-8946-4DFF-8F99-1DCF9FDEB512}" destId="{40E5100B-3D29-4C6B-AB69-2DA2667E3711}" srcOrd="1" destOrd="0" presId="urn:microsoft.com/office/officeart/2005/8/layout/orgChart1"/>
    <dgm:cxn modelId="{04CD3DCE-AD84-4187-BF6B-F4BE2E387F28}" type="presParOf" srcId="{E92DF8CE-8946-4DFF-8F99-1DCF9FDEB512}" destId="{FAC76A4C-5390-4CCB-8457-1F0428801BAE}" srcOrd="2" destOrd="0" presId="urn:microsoft.com/office/officeart/2005/8/layout/orgChart1"/>
    <dgm:cxn modelId="{632248EC-14EA-4451-B6B9-F0151B90CECB}" type="presParOf" srcId="{B373B876-038A-401F-AD02-DBCF75B0C668}" destId="{38F0E3E3-2AE6-4133-ADC1-FA0C1625DBA9}" srcOrd="4" destOrd="0" presId="urn:microsoft.com/office/officeart/2005/8/layout/orgChart1"/>
    <dgm:cxn modelId="{418A158B-3189-4EFE-8123-6C0E23A3E2A2}" type="presParOf" srcId="{B373B876-038A-401F-AD02-DBCF75B0C668}" destId="{23F06261-F23E-4DDD-93B7-E31333A76E56}" srcOrd="5" destOrd="0" presId="urn:microsoft.com/office/officeart/2005/8/layout/orgChart1"/>
    <dgm:cxn modelId="{BC3C151D-7533-4953-95FC-E3B67E74F2BA}" type="presParOf" srcId="{23F06261-F23E-4DDD-93B7-E31333A76E56}" destId="{A88BC574-FAEE-4E80-BFB3-46D41810E481}" srcOrd="0" destOrd="0" presId="urn:microsoft.com/office/officeart/2005/8/layout/orgChart1"/>
    <dgm:cxn modelId="{7F7D425E-8C03-491F-9FED-7C3FC05FF742}" type="presParOf" srcId="{A88BC574-FAEE-4E80-BFB3-46D41810E481}" destId="{05241768-9A09-4830-B9E1-BF3199079C24}" srcOrd="0" destOrd="0" presId="urn:microsoft.com/office/officeart/2005/8/layout/orgChart1"/>
    <dgm:cxn modelId="{0D211314-F9A3-4AB3-8E15-C5CF8CBA407E}" type="presParOf" srcId="{A88BC574-FAEE-4E80-BFB3-46D41810E481}" destId="{EA378E14-DB78-4E1C-9851-94207397DE21}" srcOrd="1" destOrd="0" presId="urn:microsoft.com/office/officeart/2005/8/layout/orgChart1"/>
    <dgm:cxn modelId="{911AC07B-BE16-4AEA-AE0F-B6B1A8ECC8EB}" type="presParOf" srcId="{23F06261-F23E-4DDD-93B7-E31333A76E56}" destId="{1B0493FC-27B5-4078-B10C-3DD939AFEA0F}" srcOrd="1" destOrd="0" presId="urn:microsoft.com/office/officeart/2005/8/layout/orgChart1"/>
    <dgm:cxn modelId="{A198AAA2-E6DF-4421-8201-253C756A0424}" type="presParOf" srcId="{23F06261-F23E-4DDD-93B7-E31333A76E56}" destId="{E1667B67-9CAE-4C44-9EA2-310AE0FE5865}" srcOrd="2" destOrd="0" presId="urn:microsoft.com/office/officeart/2005/8/layout/orgChart1"/>
    <dgm:cxn modelId="{EB8804B7-8503-42F3-A82E-D53ECE556643}" type="presParOf" srcId="{B74B439A-DB49-4C8F-8C3F-78E81DCDC5E4}" destId="{C490B42C-D824-49C1-92A9-86F42679CA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24CB8E-A23D-4CC7-AF83-278CD019D40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C1903EF-7836-4E9A-AB4B-9BE74080AD6B}">
      <dgm:prSet phldrT="[Text]"/>
      <dgm:spPr/>
      <dgm:t>
        <a:bodyPr/>
        <a:lstStyle/>
        <a:p>
          <a:r>
            <a:rPr lang="en-US" dirty="0" smtClean="0">
              <a:solidFill>
                <a:srgbClr val="FF0000"/>
              </a:solidFill>
            </a:rPr>
            <a:t>Interconnections </a:t>
          </a:r>
          <a:endParaRPr lang="en-US" dirty="0">
            <a:solidFill>
              <a:srgbClr val="FF0000"/>
            </a:solidFill>
          </a:endParaRPr>
        </a:p>
      </dgm:t>
    </dgm:pt>
    <dgm:pt modelId="{E99D7537-14F4-4633-B412-208BEEE826B8}" type="parTrans" cxnId="{71CC6F99-71B6-43AE-B6C5-87B2C623FDCB}">
      <dgm:prSet/>
      <dgm:spPr/>
      <dgm:t>
        <a:bodyPr/>
        <a:lstStyle/>
        <a:p>
          <a:endParaRPr lang="en-US"/>
        </a:p>
      </dgm:t>
    </dgm:pt>
    <dgm:pt modelId="{A9277268-3D4B-4460-957C-A25CFE8C35C3}" type="sibTrans" cxnId="{71CC6F99-71B6-43AE-B6C5-87B2C623FDCB}">
      <dgm:prSet/>
      <dgm:spPr/>
      <dgm:t>
        <a:bodyPr/>
        <a:lstStyle/>
        <a:p>
          <a:endParaRPr lang="en-US"/>
        </a:p>
      </dgm:t>
    </dgm:pt>
    <dgm:pt modelId="{881F526B-5295-46C3-A43A-289E2C3A5381}">
      <dgm:prSet phldrT="[Text]"/>
      <dgm:spPr/>
      <dgm:t>
        <a:bodyPr/>
        <a:lstStyle/>
        <a:p>
          <a:r>
            <a:rPr lang="en-US" dirty="0" smtClean="0">
              <a:solidFill>
                <a:srgbClr val="FF0000"/>
              </a:solidFill>
            </a:rPr>
            <a:t>Feed forward</a:t>
          </a:r>
          <a:endParaRPr lang="en-US" dirty="0">
            <a:solidFill>
              <a:srgbClr val="FF0000"/>
            </a:solidFill>
          </a:endParaRPr>
        </a:p>
      </dgm:t>
    </dgm:pt>
    <dgm:pt modelId="{A058F64D-6EE6-445A-99FE-26CF28CA2828}" type="parTrans" cxnId="{1802EAF2-F975-4916-87CD-99CBC0EE9E02}">
      <dgm:prSet/>
      <dgm:spPr/>
      <dgm:t>
        <a:bodyPr/>
        <a:lstStyle/>
        <a:p>
          <a:endParaRPr lang="en-US"/>
        </a:p>
      </dgm:t>
    </dgm:pt>
    <dgm:pt modelId="{328BA026-366D-4E67-ADD5-3D1106D15B02}" type="sibTrans" cxnId="{1802EAF2-F975-4916-87CD-99CBC0EE9E02}">
      <dgm:prSet/>
      <dgm:spPr/>
      <dgm:t>
        <a:bodyPr/>
        <a:lstStyle/>
        <a:p>
          <a:endParaRPr lang="en-US"/>
        </a:p>
      </dgm:t>
    </dgm:pt>
    <dgm:pt modelId="{D2A7B9A2-EEED-41A7-8BE4-8BD9867645AE}">
      <dgm:prSet phldrT="[Text]"/>
      <dgm:spPr/>
      <dgm:t>
        <a:bodyPr/>
        <a:lstStyle/>
        <a:p>
          <a:r>
            <a:rPr lang="en-US" dirty="0" smtClean="0">
              <a:solidFill>
                <a:srgbClr val="FF0000"/>
              </a:solidFill>
            </a:rPr>
            <a:t>Feed Back</a:t>
          </a:r>
          <a:endParaRPr lang="en-US" dirty="0">
            <a:solidFill>
              <a:srgbClr val="FF0000"/>
            </a:solidFill>
          </a:endParaRPr>
        </a:p>
      </dgm:t>
    </dgm:pt>
    <dgm:pt modelId="{E605373C-A0C4-4343-B536-F9527B7F4624}" type="parTrans" cxnId="{B8A9A9B0-8CEF-43C0-A902-8202756F74E3}">
      <dgm:prSet/>
      <dgm:spPr/>
      <dgm:t>
        <a:bodyPr/>
        <a:lstStyle/>
        <a:p>
          <a:endParaRPr lang="en-US"/>
        </a:p>
      </dgm:t>
    </dgm:pt>
    <dgm:pt modelId="{325CCB9B-40DF-463C-8EBC-582E33681970}" type="sibTrans" cxnId="{B8A9A9B0-8CEF-43C0-A902-8202756F74E3}">
      <dgm:prSet/>
      <dgm:spPr/>
      <dgm:t>
        <a:bodyPr/>
        <a:lstStyle/>
        <a:p>
          <a:endParaRPr lang="en-US"/>
        </a:p>
      </dgm:t>
    </dgm:pt>
    <dgm:pt modelId="{978443D7-9B49-4CB7-B2B3-9F5561569087}">
      <dgm:prSet phldrT="[Text]"/>
      <dgm:spPr/>
      <dgm:t>
        <a:bodyPr/>
        <a:lstStyle/>
        <a:p>
          <a:r>
            <a:rPr lang="en-US" dirty="0" smtClean="0">
              <a:solidFill>
                <a:srgbClr val="FF0000"/>
              </a:solidFill>
            </a:rPr>
            <a:t>Recurrent </a:t>
          </a:r>
          <a:endParaRPr lang="en-US" dirty="0">
            <a:solidFill>
              <a:srgbClr val="FF0000"/>
            </a:solidFill>
          </a:endParaRPr>
        </a:p>
      </dgm:t>
    </dgm:pt>
    <dgm:pt modelId="{65DF6952-10B4-4B93-865C-F2FC8FFF43DA}" type="parTrans" cxnId="{5C54C283-70EF-4BC5-B524-941D4BD5B26D}">
      <dgm:prSet/>
      <dgm:spPr/>
      <dgm:t>
        <a:bodyPr/>
        <a:lstStyle/>
        <a:p>
          <a:endParaRPr lang="en-US"/>
        </a:p>
      </dgm:t>
    </dgm:pt>
    <dgm:pt modelId="{18CE56FD-857C-47BB-9C7F-99FB4CA3A28F}" type="sibTrans" cxnId="{5C54C283-70EF-4BC5-B524-941D4BD5B26D}">
      <dgm:prSet/>
      <dgm:spPr/>
      <dgm:t>
        <a:bodyPr/>
        <a:lstStyle/>
        <a:p>
          <a:endParaRPr lang="en-US"/>
        </a:p>
      </dgm:t>
    </dgm:pt>
    <dgm:pt modelId="{F11C3AFA-A506-4E4A-861A-6F081EF7F949}">
      <dgm:prSet phldrT="[Text]"/>
      <dgm:spPr/>
      <dgm:t>
        <a:bodyPr/>
        <a:lstStyle/>
        <a:p>
          <a:r>
            <a:rPr lang="en-US" dirty="0" smtClean="0">
              <a:solidFill>
                <a:srgbClr val="FF0000"/>
              </a:solidFill>
            </a:rPr>
            <a:t>Single layer</a:t>
          </a:r>
          <a:endParaRPr lang="en-US" dirty="0">
            <a:solidFill>
              <a:srgbClr val="FF0000"/>
            </a:solidFill>
          </a:endParaRPr>
        </a:p>
      </dgm:t>
    </dgm:pt>
    <dgm:pt modelId="{E95821A8-3208-4BBF-9A54-CCFFFEE43B58}" type="parTrans" cxnId="{A6BA7B70-E5E6-4126-8BBC-ABAD4445D226}">
      <dgm:prSet/>
      <dgm:spPr/>
      <dgm:t>
        <a:bodyPr/>
        <a:lstStyle/>
        <a:p>
          <a:endParaRPr lang="en-US"/>
        </a:p>
      </dgm:t>
    </dgm:pt>
    <dgm:pt modelId="{67C9BB90-FCFB-488B-8CE9-4CF2CD741BB8}" type="sibTrans" cxnId="{A6BA7B70-E5E6-4126-8BBC-ABAD4445D226}">
      <dgm:prSet/>
      <dgm:spPr/>
      <dgm:t>
        <a:bodyPr/>
        <a:lstStyle/>
        <a:p>
          <a:endParaRPr lang="en-US"/>
        </a:p>
      </dgm:t>
    </dgm:pt>
    <dgm:pt modelId="{BF86F3BA-74C1-4323-88BC-D6A89158C32C}">
      <dgm:prSet phldrT="[Text]"/>
      <dgm:spPr/>
      <dgm:t>
        <a:bodyPr/>
        <a:lstStyle/>
        <a:p>
          <a:r>
            <a:rPr lang="en-US" dirty="0" smtClean="0">
              <a:solidFill>
                <a:srgbClr val="FF0000"/>
              </a:solidFill>
            </a:rPr>
            <a:t>Multilayer </a:t>
          </a:r>
          <a:endParaRPr lang="en-US" dirty="0">
            <a:solidFill>
              <a:srgbClr val="FF0000"/>
            </a:solidFill>
          </a:endParaRPr>
        </a:p>
      </dgm:t>
    </dgm:pt>
    <dgm:pt modelId="{57442666-CD62-4A98-BDC7-879F77BE1439}" type="parTrans" cxnId="{6769550B-F60F-4D2A-B14B-989663A9AB7F}">
      <dgm:prSet/>
      <dgm:spPr/>
      <dgm:t>
        <a:bodyPr/>
        <a:lstStyle/>
        <a:p>
          <a:endParaRPr lang="en-US"/>
        </a:p>
      </dgm:t>
    </dgm:pt>
    <dgm:pt modelId="{87D7BAC5-9836-4C35-B046-136295944DB6}" type="sibTrans" cxnId="{6769550B-F60F-4D2A-B14B-989663A9AB7F}">
      <dgm:prSet/>
      <dgm:spPr/>
      <dgm:t>
        <a:bodyPr/>
        <a:lstStyle/>
        <a:p>
          <a:endParaRPr lang="en-US"/>
        </a:p>
      </dgm:t>
    </dgm:pt>
    <dgm:pt modelId="{86CC704C-2153-4EF0-A361-7E5A09B8BC8F}">
      <dgm:prSet phldrT="[Text]"/>
      <dgm:spPr/>
      <dgm:t>
        <a:bodyPr/>
        <a:lstStyle/>
        <a:p>
          <a:r>
            <a:rPr lang="en-US" dirty="0" smtClean="0">
              <a:solidFill>
                <a:srgbClr val="FF0000"/>
              </a:solidFill>
            </a:rPr>
            <a:t>Single layer</a:t>
          </a:r>
          <a:endParaRPr lang="en-US" dirty="0">
            <a:solidFill>
              <a:srgbClr val="FF0000"/>
            </a:solidFill>
          </a:endParaRPr>
        </a:p>
      </dgm:t>
    </dgm:pt>
    <dgm:pt modelId="{A1C71003-FEE0-4B73-97C4-83ABA403C306}" type="parTrans" cxnId="{B7493DB3-8999-4113-A18E-800E278662F9}">
      <dgm:prSet/>
      <dgm:spPr/>
      <dgm:t>
        <a:bodyPr/>
        <a:lstStyle/>
        <a:p>
          <a:endParaRPr lang="en-US"/>
        </a:p>
      </dgm:t>
    </dgm:pt>
    <dgm:pt modelId="{278F02CC-80DD-46F1-8358-B720FAFF16E4}" type="sibTrans" cxnId="{B7493DB3-8999-4113-A18E-800E278662F9}">
      <dgm:prSet/>
      <dgm:spPr/>
      <dgm:t>
        <a:bodyPr/>
        <a:lstStyle/>
        <a:p>
          <a:endParaRPr lang="en-US"/>
        </a:p>
      </dgm:t>
    </dgm:pt>
    <dgm:pt modelId="{A963FF6F-56BC-4F89-9D0B-51E5B4FBEEA2}">
      <dgm:prSet phldrT="[Text]"/>
      <dgm:spPr/>
      <dgm:t>
        <a:bodyPr/>
        <a:lstStyle/>
        <a:p>
          <a:r>
            <a:rPr lang="en-US" dirty="0" smtClean="0">
              <a:solidFill>
                <a:srgbClr val="FF0000"/>
              </a:solidFill>
            </a:rPr>
            <a:t>Multilayer </a:t>
          </a:r>
          <a:endParaRPr lang="en-US" dirty="0">
            <a:solidFill>
              <a:srgbClr val="FF0000"/>
            </a:solidFill>
          </a:endParaRPr>
        </a:p>
      </dgm:t>
    </dgm:pt>
    <dgm:pt modelId="{986E3459-0AA3-435B-9919-F436F969347C}" type="parTrans" cxnId="{63AF4CFF-06FF-4E2C-8186-AF18AEA5317E}">
      <dgm:prSet/>
      <dgm:spPr/>
      <dgm:t>
        <a:bodyPr/>
        <a:lstStyle/>
        <a:p>
          <a:endParaRPr lang="en-US"/>
        </a:p>
      </dgm:t>
    </dgm:pt>
    <dgm:pt modelId="{EDDEA80D-7844-44C9-A91F-B186E139896A}" type="sibTrans" cxnId="{63AF4CFF-06FF-4E2C-8186-AF18AEA5317E}">
      <dgm:prSet/>
      <dgm:spPr/>
      <dgm:t>
        <a:bodyPr/>
        <a:lstStyle/>
        <a:p>
          <a:endParaRPr lang="en-US"/>
        </a:p>
      </dgm:t>
    </dgm:pt>
    <dgm:pt modelId="{27B6A0A1-1388-478D-A098-AC7036693BE4}" type="pres">
      <dgm:prSet presAssocID="{5324CB8E-A23D-4CC7-AF83-278CD019D409}" presName="hierChild1" presStyleCnt="0">
        <dgm:presLayoutVars>
          <dgm:orgChart val="1"/>
          <dgm:chPref val="1"/>
          <dgm:dir/>
          <dgm:animOne val="branch"/>
          <dgm:animLvl val="lvl"/>
          <dgm:resizeHandles/>
        </dgm:presLayoutVars>
      </dgm:prSet>
      <dgm:spPr/>
      <dgm:t>
        <a:bodyPr/>
        <a:lstStyle/>
        <a:p>
          <a:endParaRPr lang="en-US"/>
        </a:p>
      </dgm:t>
    </dgm:pt>
    <dgm:pt modelId="{7441D53F-CC13-4BBB-A00E-C84EE97EF78C}" type="pres">
      <dgm:prSet presAssocID="{4C1903EF-7836-4E9A-AB4B-9BE74080AD6B}" presName="hierRoot1" presStyleCnt="0">
        <dgm:presLayoutVars>
          <dgm:hierBranch val="init"/>
        </dgm:presLayoutVars>
      </dgm:prSet>
      <dgm:spPr/>
    </dgm:pt>
    <dgm:pt modelId="{D1FAAEF9-3919-4D02-B4E7-41706B96EE4D}" type="pres">
      <dgm:prSet presAssocID="{4C1903EF-7836-4E9A-AB4B-9BE74080AD6B}" presName="rootComposite1" presStyleCnt="0"/>
      <dgm:spPr/>
    </dgm:pt>
    <dgm:pt modelId="{80CD60CD-CFFC-4C24-94A1-98FF183E8CF7}" type="pres">
      <dgm:prSet presAssocID="{4C1903EF-7836-4E9A-AB4B-9BE74080AD6B}" presName="rootText1" presStyleLbl="node0" presStyleIdx="0" presStyleCnt="1">
        <dgm:presLayoutVars>
          <dgm:chPref val="3"/>
        </dgm:presLayoutVars>
      </dgm:prSet>
      <dgm:spPr/>
      <dgm:t>
        <a:bodyPr/>
        <a:lstStyle/>
        <a:p>
          <a:endParaRPr lang="en-US"/>
        </a:p>
      </dgm:t>
    </dgm:pt>
    <dgm:pt modelId="{C1B0BD4F-597D-4225-9648-2BA3F9D31017}" type="pres">
      <dgm:prSet presAssocID="{4C1903EF-7836-4E9A-AB4B-9BE74080AD6B}" presName="rootConnector1" presStyleLbl="node1" presStyleIdx="0" presStyleCnt="0"/>
      <dgm:spPr/>
      <dgm:t>
        <a:bodyPr/>
        <a:lstStyle/>
        <a:p>
          <a:endParaRPr lang="en-US"/>
        </a:p>
      </dgm:t>
    </dgm:pt>
    <dgm:pt modelId="{593A99CE-FE85-4EB6-96E1-1E8DDF0375DD}" type="pres">
      <dgm:prSet presAssocID="{4C1903EF-7836-4E9A-AB4B-9BE74080AD6B}" presName="hierChild2" presStyleCnt="0"/>
      <dgm:spPr/>
    </dgm:pt>
    <dgm:pt modelId="{663F29D5-C771-45AA-AAE1-AD4516FBBD9F}" type="pres">
      <dgm:prSet presAssocID="{A058F64D-6EE6-445A-99FE-26CF28CA2828}" presName="Name37" presStyleLbl="parChTrans1D2" presStyleIdx="0" presStyleCnt="3"/>
      <dgm:spPr/>
      <dgm:t>
        <a:bodyPr/>
        <a:lstStyle/>
        <a:p>
          <a:endParaRPr lang="en-US"/>
        </a:p>
      </dgm:t>
    </dgm:pt>
    <dgm:pt modelId="{4E79BA3C-B004-475D-8541-61C6E20BF8F3}" type="pres">
      <dgm:prSet presAssocID="{881F526B-5295-46C3-A43A-289E2C3A5381}" presName="hierRoot2" presStyleCnt="0">
        <dgm:presLayoutVars>
          <dgm:hierBranch val="init"/>
        </dgm:presLayoutVars>
      </dgm:prSet>
      <dgm:spPr/>
    </dgm:pt>
    <dgm:pt modelId="{E12B323C-A148-414A-9743-D7DB9759F286}" type="pres">
      <dgm:prSet presAssocID="{881F526B-5295-46C3-A43A-289E2C3A5381}" presName="rootComposite" presStyleCnt="0"/>
      <dgm:spPr/>
    </dgm:pt>
    <dgm:pt modelId="{A0DAE93F-0DC3-47B3-B476-B8608300CF61}" type="pres">
      <dgm:prSet presAssocID="{881F526B-5295-46C3-A43A-289E2C3A5381}" presName="rootText" presStyleLbl="node2" presStyleIdx="0" presStyleCnt="3">
        <dgm:presLayoutVars>
          <dgm:chPref val="3"/>
        </dgm:presLayoutVars>
      </dgm:prSet>
      <dgm:spPr/>
      <dgm:t>
        <a:bodyPr/>
        <a:lstStyle/>
        <a:p>
          <a:endParaRPr lang="en-US"/>
        </a:p>
      </dgm:t>
    </dgm:pt>
    <dgm:pt modelId="{7D7A7A77-3D42-40E4-8CE7-19404D7E42B5}" type="pres">
      <dgm:prSet presAssocID="{881F526B-5295-46C3-A43A-289E2C3A5381}" presName="rootConnector" presStyleLbl="node2" presStyleIdx="0" presStyleCnt="3"/>
      <dgm:spPr/>
      <dgm:t>
        <a:bodyPr/>
        <a:lstStyle/>
        <a:p>
          <a:endParaRPr lang="en-US"/>
        </a:p>
      </dgm:t>
    </dgm:pt>
    <dgm:pt modelId="{E745DA71-EDAA-4C30-A793-4D1C068F2408}" type="pres">
      <dgm:prSet presAssocID="{881F526B-5295-46C3-A43A-289E2C3A5381}" presName="hierChild4" presStyleCnt="0"/>
      <dgm:spPr/>
    </dgm:pt>
    <dgm:pt modelId="{2654ACFB-7288-452C-8806-8CE9B0968690}" type="pres">
      <dgm:prSet presAssocID="{E95821A8-3208-4BBF-9A54-CCFFFEE43B58}" presName="Name37" presStyleLbl="parChTrans1D3" presStyleIdx="0" presStyleCnt="4"/>
      <dgm:spPr/>
    </dgm:pt>
    <dgm:pt modelId="{938976B4-949D-48CE-BCEC-6E250C7EB043}" type="pres">
      <dgm:prSet presAssocID="{F11C3AFA-A506-4E4A-861A-6F081EF7F949}" presName="hierRoot2" presStyleCnt="0">
        <dgm:presLayoutVars>
          <dgm:hierBranch val="init"/>
        </dgm:presLayoutVars>
      </dgm:prSet>
      <dgm:spPr/>
    </dgm:pt>
    <dgm:pt modelId="{944E6D2A-BD4C-4B6D-B733-9A2440EA1723}" type="pres">
      <dgm:prSet presAssocID="{F11C3AFA-A506-4E4A-861A-6F081EF7F949}" presName="rootComposite" presStyleCnt="0"/>
      <dgm:spPr/>
    </dgm:pt>
    <dgm:pt modelId="{848ADC6D-34A7-4E63-A6F8-B4291FCA434F}" type="pres">
      <dgm:prSet presAssocID="{F11C3AFA-A506-4E4A-861A-6F081EF7F949}" presName="rootText" presStyleLbl="node3" presStyleIdx="0" presStyleCnt="4">
        <dgm:presLayoutVars>
          <dgm:chPref val="3"/>
        </dgm:presLayoutVars>
      </dgm:prSet>
      <dgm:spPr/>
      <dgm:t>
        <a:bodyPr/>
        <a:lstStyle/>
        <a:p>
          <a:endParaRPr lang="en-US"/>
        </a:p>
      </dgm:t>
    </dgm:pt>
    <dgm:pt modelId="{AC138364-C093-47F0-A526-D232112FFAD5}" type="pres">
      <dgm:prSet presAssocID="{F11C3AFA-A506-4E4A-861A-6F081EF7F949}" presName="rootConnector" presStyleLbl="node3" presStyleIdx="0" presStyleCnt="4"/>
      <dgm:spPr/>
      <dgm:t>
        <a:bodyPr/>
        <a:lstStyle/>
        <a:p>
          <a:endParaRPr lang="en-US"/>
        </a:p>
      </dgm:t>
    </dgm:pt>
    <dgm:pt modelId="{D77F60BA-9BC5-4617-B8A1-837C08282B14}" type="pres">
      <dgm:prSet presAssocID="{F11C3AFA-A506-4E4A-861A-6F081EF7F949}" presName="hierChild4" presStyleCnt="0"/>
      <dgm:spPr/>
    </dgm:pt>
    <dgm:pt modelId="{FA58F5E2-44DB-4D83-B26E-743E36FA5990}" type="pres">
      <dgm:prSet presAssocID="{F11C3AFA-A506-4E4A-861A-6F081EF7F949}" presName="hierChild5" presStyleCnt="0"/>
      <dgm:spPr/>
    </dgm:pt>
    <dgm:pt modelId="{E3D58A12-B767-4B98-BB80-6C872A397C32}" type="pres">
      <dgm:prSet presAssocID="{57442666-CD62-4A98-BDC7-879F77BE1439}" presName="Name37" presStyleLbl="parChTrans1D3" presStyleIdx="1" presStyleCnt="4"/>
      <dgm:spPr/>
    </dgm:pt>
    <dgm:pt modelId="{613E05D4-B476-4231-ACFA-5A9B7B809810}" type="pres">
      <dgm:prSet presAssocID="{BF86F3BA-74C1-4323-88BC-D6A89158C32C}" presName="hierRoot2" presStyleCnt="0">
        <dgm:presLayoutVars>
          <dgm:hierBranch val="init"/>
        </dgm:presLayoutVars>
      </dgm:prSet>
      <dgm:spPr/>
    </dgm:pt>
    <dgm:pt modelId="{52AC8B24-5DCA-493A-BC2C-0EFEA492E0B6}" type="pres">
      <dgm:prSet presAssocID="{BF86F3BA-74C1-4323-88BC-D6A89158C32C}" presName="rootComposite" presStyleCnt="0"/>
      <dgm:spPr/>
    </dgm:pt>
    <dgm:pt modelId="{89FB2CEB-F1A6-4C4F-B548-7B5F371FC6ED}" type="pres">
      <dgm:prSet presAssocID="{BF86F3BA-74C1-4323-88BC-D6A89158C32C}" presName="rootText" presStyleLbl="node3" presStyleIdx="1" presStyleCnt="4">
        <dgm:presLayoutVars>
          <dgm:chPref val="3"/>
        </dgm:presLayoutVars>
      </dgm:prSet>
      <dgm:spPr/>
      <dgm:t>
        <a:bodyPr/>
        <a:lstStyle/>
        <a:p>
          <a:endParaRPr lang="en-US"/>
        </a:p>
      </dgm:t>
    </dgm:pt>
    <dgm:pt modelId="{7611F8F9-B03F-4844-8C53-139FDF51C8CC}" type="pres">
      <dgm:prSet presAssocID="{BF86F3BA-74C1-4323-88BC-D6A89158C32C}" presName="rootConnector" presStyleLbl="node3" presStyleIdx="1" presStyleCnt="4"/>
      <dgm:spPr/>
      <dgm:t>
        <a:bodyPr/>
        <a:lstStyle/>
        <a:p>
          <a:endParaRPr lang="en-US"/>
        </a:p>
      </dgm:t>
    </dgm:pt>
    <dgm:pt modelId="{08317D4C-EE39-4874-803A-9B5D38DA985B}" type="pres">
      <dgm:prSet presAssocID="{BF86F3BA-74C1-4323-88BC-D6A89158C32C}" presName="hierChild4" presStyleCnt="0"/>
      <dgm:spPr/>
    </dgm:pt>
    <dgm:pt modelId="{283D4060-272D-4B61-9615-F1DA25C712D4}" type="pres">
      <dgm:prSet presAssocID="{BF86F3BA-74C1-4323-88BC-D6A89158C32C}" presName="hierChild5" presStyleCnt="0"/>
      <dgm:spPr/>
    </dgm:pt>
    <dgm:pt modelId="{CFF0EA58-31D9-4A1D-9B06-52BF5B5AE4ED}" type="pres">
      <dgm:prSet presAssocID="{881F526B-5295-46C3-A43A-289E2C3A5381}" presName="hierChild5" presStyleCnt="0"/>
      <dgm:spPr/>
    </dgm:pt>
    <dgm:pt modelId="{6D3347C7-6972-4F61-A74D-6D0F5A79C6E0}" type="pres">
      <dgm:prSet presAssocID="{E605373C-A0C4-4343-B536-F9527B7F4624}" presName="Name37" presStyleLbl="parChTrans1D2" presStyleIdx="1" presStyleCnt="3"/>
      <dgm:spPr/>
      <dgm:t>
        <a:bodyPr/>
        <a:lstStyle/>
        <a:p>
          <a:endParaRPr lang="en-US"/>
        </a:p>
      </dgm:t>
    </dgm:pt>
    <dgm:pt modelId="{9AFC8059-2E1C-48C3-A6C8-E29BAA9F7927}" type="pres">
      <dgm:prSet presAssocID="{D2A7B9A2-EEED-41A7-8BE4-8BD9867645AE}" presName="hierRoot2" presStyleCnt="0">
        <dgm:presLayoutVars>
          <dgm:hierBranch val="init"/>
        </dgm:presLayoutVars>
      </dgm:prSet>
      <dgm:spPr/>
    </dgm:pt>
    <dgm:pt modelId="{A01B2A78-EB29-44D1-9CF4-63E13FC5EFC4}" type="pres">
      <dgm:prSet presAssocID="{D2A7B9A2-EEED-41A7-8BE4-8BD9867645AE}" presName="rootComposite" presStyleCnt="0"/>
      <dgm:spPr/>
    </dgm:pt>
    <dgm:pt modelId="{5ED50334-AD17-474F-BBAD-DBE37F91864E}" type="pres">
      <dgm:prSet presAssocID="{D2A7B9A2-EEED-41A7-8BE4-8BD9867645AE}" presName="rootText" presStyleLbl="node2" presStyleIdx="1" presStyleCnt="3">
        <dgm:presLayoutVars>
          <dgm:chPref val="3"/>
        </dgm:presLayoutVars>
      </dgm:prSet>
      <dgm:spPr/>
      <dgm:t>
        <a:bodyPr/>
        <a:lstStyle/>
        <a:p>
          <a:endParaRPr lang="en-US"/>
        </a:p>
      </dgm:t>
    </dgm:pt>
    <dgm:pt modelId="{2EE94F5A-A0A1-4069-9926-43D3DF71F85E}" type="pres">
      <dgm:prSet presAssocID="{D2A7B9A2-EEED-41A7-8BE4-8BD9867645AE}" presName="rootConnector" presStyleLbl="node2" presStyleIdx="1" presStyleCnt="3"/>
      <dgm:spPr/>
      <dgm:t>
        <a:bodyPr/>
        <a:lstStyle/>
        <a:p>
          <a:endParaRPr lang="en-US"/>
        </a:p>
      </dgm:t>
    </dgm:pt>
    <dgm:pt modelId="{AF82CB44-CF6E-437D-812C-153B9E3D67C8}" type="pres">
      <dgm:prSet presAssocID="{D2A7B9A2-EEED-41A7-8BE4-8BD9867645AE}" presName="hierChild4" presStyleCnt="0"/>
      <dgm:spPr/>
    </dgm:pt>
    <dgm:pt modelId="{FA6C0187-A73D-4624-9B01-0734941B69C2}" type="pres">
      <dgm:prSet presAssocID="{D2A7B9A2-EEED-41A7-8BE4-8BD9867645AE}" presName="hierChild5" presStyleCnt="0"/>
      <dgm:spPr/>
    </dgm:pt>
    <dgm:pt modelId="{533BC208-12FE-4D7F-B54E-56AE2EFC6BD5}" type="pres">
      <dgm:prSet presAssocID="{65DF6952-10B4-4B93-865C-F2FC8FFF43DA}" presName="Name37" presStyleLbl="parChTrans1D2" presStyleIdx="2" presStyleCnt="3"/>
      <dgm:spPr/>
      <dgm:t>
        <a:bodyPr/>
        <a:lstStyle/>
        <a:p>
          <a:endParaRPr lang="en-US"/>
        </a:p>
      </dgm:t>
    </dgm:pt>
    <dgm:pt modelId="{2EDE09E2-E290-4DD8-B4D4-2CC937D50191}" type="pres">
      <dgm:prSet presAssocID="{978443D7-9B49-4CB7-B2B3-9F5561569087}" presName="hierRoot2" presStyleCnt="0">
        <dgm:presLayoutVars>
          <dgm:hierBranch val="init"/>
        </dgm:presLayoutVars>
      </dgm:prSet>
      <dgm:spPr/>
    </dgm:pt>
    <dgm:pt modelId="{6A98F144-09B0-406F-B392-AF9A84F28F9F}" type="pres">
      <dgm:prSet presAssocID="{978443D7-9B49-4CB7-B2B3-9F5561569087}" presName="rootComposite" presStyleCnt="0"/>
      <dgm:spPr/>
    </dgm:pt>
    <dgm:pt modelId="{637EBCF0-E339-46E7-B780-E14AAB150E1F}" type="pres">
      <dgm:prSet presAssocID="{978443D7-9B49-4CB7-B2B3-9F5561569087}" presName="rootText" presStyleLbl="node2" presStyleIdx="2" presStyleCnt="3">
        <dgm:presLayoutVars>
          <dgm:chPref val="3"/>
        </dgm:presLayoutVars>
      </dgm:prSet>
      <dgm:spPr/>
      <dgm:t>
        <a:bodyPr/>
        <a:lstStyle/>
        <a:p>
          <a:endParaRPr lang="en-US"/>
        </a:p>
      </dgm:t>
    </dgm:pt>
    <dgm:pt modelId="{60364FB7-9083-4761-858C-7088526010AE}" type="pres">
      <dgm:prSet presAssocID="{978443D7-9B49-4CB7-B2B3-9F5561569087}" presName="rootConnector" presStyleLbl="node2" presStyleIdx="2" presStyleCnt="3"/>
      <dgm:spPr/>
      <dgm:t>
        <a:bodyPr/>
        <a:lstStyle/>
        <a:p>
          <a:endParaRPr lang="en-US"/>
        </a:p>
      </dgm:t>
    </dgm:pt>
    <dgm:pt modelId="{C9677097-DE6B-486E-86F3-C23BEF687B78}" type="pres">
      <dgm:prSet presAssocID="{978443D7-9B49-4CB7-B2B3-9F5561569087}" presName="hierChild4" presStyleCnt="0"/>
      <dgm:spPr/>
    </dgm:pt>
    <dgm:pt modelId="{380C3BF9-7D75-45DD-AED2-0C2452879EE6}" type="pres">
      <dgm:prSet presAssocID="{A1C71003-FEE0-4B73-97C4-83ABA403C306}" presName="Name37" presStyleLbl="parChTrans1D3" presStyleIdx="2" presStyleCnt="4"/>
      <dgm:spPr/>
    </dgm:pt>
    <dgm:pt modelId="{F2015814-5503-4C1B-A51B-4C6F2F706ACC}" type="pres">
      <dgm:prSet presAssocID="{86CC704C-2153-4EF0-A361-7E5A09B8BC8F}" presName="hierRoot2" presStyleCnt="0">
        <dgm:presLayoutVars>
          <dgm:hierBranch val="init"/>
        </dgm:presLayoutVars>
      </dgm:prSet>
      <dgm:spPr/>
    </dgm:pt>
    <dgm:pt modelId="{879B9FFC-6727-4B54-8DEC-ECA2A8BCC87F}" type="pres">
      <dgm:prSet presAssocID="{86CC704C-2153-4EF0-A361-7E5A09B8BC8F}" presName="rootComposite" presStyleCnt="0"/>
      <dgm:spPr/>
    </dgm:pt>
    <dgm:pt modelId="{1DBD77DD-4B5E-4EEC-BE6D-9F3C1AF8D026}" type="pres">
      <dgm:prSet presAssocID="{86CC704C-2153-4EF0-A361-7E5A09B8BC8F}" presName="rootText" presStyleLbl="node3" presStyleIdx="2" presStyleCnt="4">
        <dgm:presLayoutVars>
          <dgm:chPref val="3"/>
        </dgm:presLayoutVars>
      </dgm:prSet>
      <dgm:spPr/>
      <dgm:t>
        <a:bodyPr/>
        <a:lstStyle/>
        <a:p>
          <a:endParaRPr lang="en-US"/>
        </a:p>
      </dgm:t>
    </dgm:pt>
    <dgm:pt modelId="{33A1AB4F-13D7-4D0C-B8BE-4A828699B1ED}" type="pres">
      <dgm:prSet presAssocID="{86CC704C-2153-4EF0-A361-7E5A09B8BC8F}" presName="rootConnector" presStyleLbl="node3" presStyleIdx="2" presStyleCnt="4"/>
      <dgm:spPr/>
      <dgm:t>
        <a:bodyPr/>
        <a:lstStyle/>
        <a:p>
          <a:endParaRPr lang="en-US"/>
        </a:p>
      </dgm:t>
    </dgm:pt>
    <dgm:pt modelId="{6B8A76BB-548C-458C-9A61-830834D74B6B}" type="pres">
      <dgm:prSet presAssocID="{86CC704C-2153-4EF0-A361-7E5A09B8BC8F}" presName="hierChild4" presStyleCnt="0"/>
      <dgm:spPr/>
    </dgm:pt>
    <dgm:pt modelId="{25158751-1F68-4957-816A-E0CFD7FC8450}" type="pres">
      <dgm:prSet presAssocID="{86CC704C-2153-4EF0-A361-7E5A09B8BC8F}" presName="hierChild5" presStyleCnt="0"/>
      <dgm:spPr/>
    </dgm:pt>
    <dgm:pt modelId="{A4B6419C-EEF2-4A74-8BBB-AC849049BF35}" type="pres">
      <dgm:prSet presAssocID="{986E3459-0AA3-435B-9919-F436F969347C}" presName="Name37" presStyleLbl="parChTrans1D3" presStyleIdx="3" presStyleCnt="4"/>
      <dgm:spPr/>
    </dgm:pt>
    <dgm:pt modelId="{9A27DE8D-D6B2-4E31-B2AD-B157F908A322}" type="pres">
      <dgm:prSet presAssocID="{A963FF6F-56BC-4F89-9D0B-51E5B4FBEEA2}" presName="hierRoot2" presStyleCnt="0">
        <dgm:presLayoutVars>
          <dgm:hierBranch val="init"/>
        </dgm:presLayoutVars>
      </dgm:prSet>
      <dgm:spPr/>
    </dgm:pt>
    <dgm:pt modelId="{B62F315D-393A-4DC2-B10D-172E0F3D122E}" type="pres">
      <dgm:prSet presAssocID="{A963FF6F-56BC-4F89-9D0B-51E5B4FBEEA2}" presName="rootComposite" presStyleCnt="0"/>
      <dgm:spPr/>
    </dgm:pt>
    <dgm:pt modelId="{021ECFAA-68ED-4E14-9964-0BFB098C3818}" type="pres">
      <dgm:prSet presAssocID="{A963FF6F-56BC-4F89-9D0B-51E5B4FBEEA2}" presName="rootText" presStyleLbl="node3" presStyleIdx="3" presStyleCnt="4">
        <dgm:presLayoutVars>
          <dgm:chPref val="3"/>
        </dgm:presLayoutVars>
      </dgm:prSet>
      <dgm:spPr/>
      <dgm:t>
        <a:bodyPr/>
        <a:lstStyle/>
        <a:p>
          <a:endParaRPr lang="en-US"/>
        </a:p>
      </dgm:t>
    </dgm:pt>
    <dgm:pt modelId="{FB966D39-2FC8-47EC-BC86-6E742AB8AD9F}" type="pres">
      <dgm:prSet presAssocID="{A963FF6F-56BC-4F89-9D0B-51E5B4FBEEA2}" presName="rootConnector" presStyleLbl="node3" presStyleIdx="3" presStyleCnt="4"/>
      <dgm:spPr/>
      <dgm:t>
        <a:bodyPr/>
        <a:lstStyle/>
        <a:p>
          <a:endParaRPr lang="en-US"/>
        </a:p>
      </dgm:t>
    </dgm:pt>
    <dgm:pt modelId="{85DCCA22-E8DE-422B-ACC9-4E7869C66BC8}" type="pres">
      <dgm:prSet presAssocID="{A963FF6F-56BC-4F89-9D0B-51E5B4FBEEA2}" presName="hierChild4" presStyleCnt="0"/>
      <dgm:spPr/>
    </dgm:pt>
    <dgm:pt modelId="{25D6076C-74C5-408D-BD28-341B436A6C42}" type="pres">
      <dgm:prSet presAssocID="{A963FF6F-56BC-4F89-9D0B-51E5B4FBEEA2}" presName="hierChild5" presStyleCnt="0"/>
      <dgm:spPr/>
    </dgm:pt>
    <dgm:pt modelId="{64C17414-9C15-4841-A514-9675036C128A}" type="pres">
      <dgm:prSet presAssocID="{978443D7-9B49-4CB7-B2B3-9F5561569087}" presName="hierChild5" presStyleCnt="0"/>
      <dgm:spPr/>
    </dgm:pt>
    <dgm:pt modelId="{97A5ABE7-E79C-411B-B245-49141170B791}" type="pres">
      <dgm:prSet presAssocID="{4C1903EF-7836-4E9A-AB4B-9BE74080AD6B}" presName="hierChild3" presStyleCnt="0"/>
      <dgm:spPr/>
    </dgm:pt>
  </dgm:ptLst>
  <dgm:cxnLst>
    <dgm:cxn modelId="{5C54C283-70EF-4BC5-B524-941D4BD5B26D}" srcId="{4C1903EF-7836-4E9A-AB4B-9BE74080AD6B}" destId="{978443D7-9B49-4CB7-B2B3-9F5561569087}" srcOrd="2" destOrd="0" parTransId="{65DF6952-10B4-4B93-865C-F2FC8FFF43DA}" sibTransId="{18CE56FD-857C-47BB-9C7F-99FB4CA3A28F}"/>
    <dgm:cxn modelId="{17BDD2F7-E4D3-4FDD-B091-FA9F5893F7BD}" type="presOf" srcId="{4C1903EF-7836-4E9A-AB4B-9BE74080AD6B}" destId="{C1B0BD4F-597D-4225-9648-2BA3F9D31017}" srcOrd="1" destOrd="0" presId="urn:microsoft.com/office/officeart/2005/8/layout/orgChart1"/>
    <dgm:cxn modelId="{85CD35D4-0D63-4EF4-B9DC-37B74689ACE0}" type="presOf" srcId="{986E3459-0AA3-435B-9919-F436F969347C}" destId="{A4B6419C-EEF2-4A74-8BBB-AC849049BF35}" srcOrd="0" destOrd="0" presId="urn:microsoft.com/office/officeart/2005/8/layout/orgChart1"/>
    <dgm:cxn modelId="{52ACE1A6-E4C0-4555-93F7-39F21C01516D}" type="presOf" srcId="{65DF6952-10B4-4B93-865C-F2FC8FFF43DA}" destId="{533BC208-12FE-4D7F-B54E-56AE2EFC6BD5}" srcOrd="0" destOrd="0" presId="urn:microsoft.com/office/officeart/2005/8/layout/orgChart1"/>
    <dgm:cxn modelId="{2B974504-69B3-4E86-AA96-F71B2CB21077}" type="presOf" srcId="{BF86F3BA-74C1-4323-88BC-D6A89158C32C}" destId="{7611F8F9-B03F-4844-8C53-139FDF51C8CC}" srcOrd="1" destOrd="0" presId="urn:microsoft.com/office/officeart/2005/8/layout/orgChart1"/>
    <dgm:cxn modelId="{64D3F450-8E87-43C9-9AE8-E4A55DA124BC}" type="presOf" srcId="{E95821A8-3208-4BBF-9A54-CCFFFEE43B58}" destId="{2654ACFB-7288-452C-8806-8CE9B0968690}" srcOrd="0" destOrd="0" presId="urn:microsoft.com/office/officeart/2005/8/layout/orgChart1"/>
    <dgm:cxn modelId="{02F9C99D-422B-43B7-96F8-422FA06FE45C}" type="presOf" srcId="{A963FF6F-56BC-4F89-9D0B-51E5B4FBEEA2}" destId="{021ECFAA-68ED-4E14-9964-0BFB098C3818}" srcOrd="0" destOrd="0" presId="urn:microsoft.com/office/officeart/2005/8/layout/orgChart1"/>
    <dgm:cxn modelId="{56841536-F0CF-4C8F-97F5-B34EBEFF9B5D}" type="presOf" srcId="{978443D7-9B49-4CB7-B2B3-9F5561569087}" destId="{60364FB7-9083-4761-858C-7088526010AE}" srcOrd="1" destOrd="0" presId="urn:microsoft.com/office/officeart/2005/8/layout/orgChart1"/>
    <dgm:cxn modelId="{979AB8E4-946E-47F4-B996-F8EAF0FE2E41}" type="presOf" srcId="{4C1903EF-7836-4E9A-AB4B-9BE74080AD6B}" destId="{80CD60CD-CFFC-4C24-94A1-98FF183E8CF7}" srcOrd="0" destOrd="0" presId="urn:microsoft.com/office/officeart/2005/8/layout/orgChart1"/>
    <dgm:cxn modelId="{0FD60A15-C8B7-48B0-9248-18A9B8AAF562}" type="presOf" srcId="{D2A7B9A2-EEED-41A7-8BE4-8BD9867645AE}" destId="{2EE94F5A-A0A1-4069-9926-43D3DF71F85E}" srcOrd="1" destOrd="0" presId="urn:microsoft.com/office/officeart/2005/8/layout/orgChart1"/>
    <dgm:cxn modelId="{B7493DB3-8999-4113-A18E-800E278662F9}" srcId="{978443D7-9B49-4CB7-B2B3-9F5561569087}" destId="{86CC704C-2153-4EF0-A361-7E5A09B8BC8F}" srcOrd="0" destOrd="0" parTransId="{A1C71003-FEE0-4B73-97C4-83ABA403C306}" sibTransId="{278F02CC-80DD-46F1-8358-B720FAFF16E4}"/>
    <dgm:cxn modelId="{14B148CA-A3B6-431C-8957-B340C114327F}" type="presOf" srcId="{F11C3AFA-A506-4E4A-861A-6F081EF7F949}" destId="{AC138364-C093-47F0-A526-D232112FFAD5}" srcOrd="1" destOrd="0" presId="urn:microsoft.com/office/officeart/2005/8/layout/orgChart1"/>
    <dgm:cxn modelId="{91E15788-E9C2-4B4C-A762-713F3B1E4B66}" type="presOf" srcId="{F11C3AFA-A506-4E4A-861A-6F081EF7F949}" destId="{848ADC6D-34A7-4E63-A6F8-B4291FCA434F}" srcOrd="0" destOrd="0" presId="urn:microsoft.com/office/officeart/2005/8/layout/orgChart1"/>
    <dgm:cxn modelId="{A7E3A5AF-A1B6-4090-A2FA-845B74B30AD2}" type="presOf" srcId="{A963FF6F-56BC-4F89-9D0B-51E5B4FBEEA2}" destId="{FB966D39-2FC8-47EC-BC86-6E742AB8AD9F}" srcOrd="1" destOrd="0" presId="urn:microsoft.com/office/officeart/2005/8/layout/orgChart1"/>
    <dgm:cxn modelId="{B621A76A-8708-4D4D-ABBC-F61F7B91015E}" type="presOf" srcId="{86CC704C-2153-4EF0-A361-7E5A09B8BC8F}" destId="{1DBD77DD-4B5E-4EEC-BE6D-9F3C1AF8D026}" srcOrd="0" destOrd="0" presId="urn:microsoft.com/office/officeart/2005/8/layout/orgChart1"/>
    <dgm:cxn modelId="{5C5E54D7-A69B-4952-B4FB-4ACFCCEC5B1F}" type="presOf" srcId="{A1C71003-FEE0-4B73-97C4-83ABA403C306}" destId="{380C3BF9-7D75-45DD-AED2-0C2452879EE6}" srcOrd="0" destOrd="0" presId="urn:microsoft.com/office/officeart/2005/8/layout/orgChart1"/>
    <dgm:cxn modelId="{5EF026F6-973A-4C07-BFD5-E7B52EBE5A29}" type="presOf" srcId="{978443D7-9B49-4CB7-B2B3-9F5561569087}" destId="{637EBCF0-E339-46E7-B780-E14AAB150E1F}" srcOrd="0" destOrd="0" presId="urn:microsoft.com/office/officeart/2005/8/layout/orgChart1"/>
    <dgm:cxn modelId="{E254DF8A-A76D-43D8-B96E-904E4C3430B6}" type="presOf" srcId="{5324CB8E-A23D-4CC7-AF83-278CD019D409}" destId="{27B6A0A1-1388-478D-A098-AC7036693BE4}" srcOrd="0" destOrd="0" presId="urn:microsoft.com/office/officeart/2005/8/layout/orgChart1"/>
    <dgm:cxn modelId="{EB7C762A-C6A6-4FDB-B966-21A61BCB2F73}" type="presOf" srcId="{881F526B-5295-46C3-A43A-289E2C3A5381}" destId="{A0DAE93F-0DC3-47B3-B476-B8608300CF61}" srcOrd="0" destOrd="0" presId="urn:microsoft.com/office/officeart/2005/8/layout/orgChart1"/>
    <dgm:cxn modelId="{71CC6F99-71B6-43AE-B6C5-87B2C623FDCB}" srcId="{5324CB8E-A23D-4CC7-AF83-278CD019D409}" destId="{4C1903EF-7836-4E9A-AB4B-9BE74080AD6B}" srcOrd="0" destOrd="0" parTransId="{E99D7537-14F4-4633-B412-208BEEE826B8}" sibTransId="{A9277268-3D4B-4460-957C-A25CFE8C35C3}"/>
    <dgm:cxn modelId="{576EFC3C-62DD-44C7-A66E-2F94572D1BAD}" type="presOf" srcId="{BF86F3BA-74C1-4323-88BC-D6A89158C32C}" destId="{89FB2CEB-F1A6-4C4F-B548-7B5F371FC6ED}" srcOrd="0" destOrd="0" presId="urn:microsoft.com/office/officeart/2005/8/layout/orgChart1"/>
    <dgm:cxn modelId="{C6CB47C4-1C92-473E-B9AC-AA282A4C9433}" type="presOf" srcId="{57442666-CD62-4A98-BDC7-879F77BE1439}" destId="{E3D58A12-B767-4B98-BB80-6C872A397C32}" srcOrd="0" destOrd="0" presId="urn:microsoft.com/office/officeart/2005/8/layout/orgChart1"/>
    <dgm:cxn modelId="{B8A9A9B0-8CEF-43C0-A902-8202756F74E3}" srcId="{4C1903EF-7836-4E9A-AB4B-9BE74080AD6B}" destId="{D2A7B9A2-EEED-41A7-8BE4-8BD9867645AE}" srcOrd="1" destOrd="0" parTransId="{E605373C-A0C4-4343-B536-F9527B7F4624}" sibTransId="{325CCB9B-40DF-463C-8EBC-582E33681970}"/>
    <dgm:cxn modelId="{ADA810B8-749E-41A7-BAE8-AE08657E1BDE}" type="presOf" srcId="{A058F64D-6EE6-445A-99FE-26CF28CA2828}" destId="{663F29D5-C771-45AA-AAE1-AD4516FBBD9F}" srcOrd="0" destOrd="0" presId="urn:microsoft.com/office/officeart/2005/8/layout/orgChart1"/>
    <dgm:cxn modelId="{6769550B-F60F-4D2A-B14B-989663A9AB7F}" srcId="{881F526B-5295-46C3-A43A-289E2C3A5381}" destId="{BF86F3BA-74C1-4323-88BC-D6A89158C32C}" srcOrd="1" destOrd="0" parTransId="{57442666-CD62-4A98-BDC7-879F77BE1439}" sibTransId="{87D7BAC5-9836-4C35-B046-136295944DB6}"/>
    <dgm:cxn modelId="{854C60A8-C323-4E53-AC7B-2FD9F5188E4D}" type="presOf" srcId="{86CC704C-2153-4EF0-A361-7E5A09B8BC8F}" destId="{33A1AB4F-13D7-4D0C-B8BE-4A828699B1ED}" srcOrd="1" destOrd="0" presId="urn:microsoft.com/office/officeart/2005/8/layout/orgChart1"/>
    <dgm:cxn modelId="{CBEA888D-7E7C-4CB6-B2D0-2C520193F988}" type="presOf" srcId="{E605373C-A0C4-4343-B536-F9527B7F4624}" destId="{6D3347C7-6972-4F61-A74D-6D0F5A79C6E0}" srcOrd="0" destOrd="0" presId="urn:microsoft.com/office/officeart/2005/8/layout/orgChart1"/>
    <dgm:cxn modelId="{4B204605-FD30-44A9-A64C-F3CBF8A93539}" type="presOf" srcId="{881F526B-5295-46C3-A43A-289E2C3A5381}" destId="{7D7A7A77-3D42-40E4-8CE7-19404D7E42B5}" srcOrd="1" destOrd="0" presId="urn:microsoft.com/office/officeart/2005/8/layout/orgChart1"/>
    <dgm:cxn modelId="{226A5A0D-51D5-41DC-9072-6CDDB77A56A8}" type="presOf" srcId="{D2A7B9A2-EEED-41A7-8BE4-8BD9867645AE}" destId="{5ED50334-AD17-474F-BBAD-DBE37F91864E}" srcOrd="0" destOrd="0" presId="urn:microsoft.com/office/officeart/2005/8/layout/orgChart1"/>
    <dgm:cxn modelId="{1802EAF2-F975-4916-87CD-99CBC0EE9E02}" srcId="{4C1903EF-7836-4E9A-AB4B-9BE74080AD6B}" destId="{881F526B-5295-46C3-A43A-289E2C3A5381}" srcOrd="0" destOrd="0" parTransId="{A058F64D-6EE6-445A-99FE-26CF28CA2828}" sibTransId="{328BA026-366D-4E67-ADD5-3D1106D15B02}"/>
    <dgm:cxn modelId="{63AF4CFF-06FF-4E2C-8186-AF18AEA5317E}" srcId="{978443D7-9B49-4CB7-B2B3-9F5561569087}" destId="{A963FF6F-56BC-4F89-9D0B-51E5B4FBEEA2}" srcOrd="1" destOrd="0" parTransId="{986E3459-0AA3-435B-9919-F436F969347C}" sibTransId="{EDDEA80D-7844-44C9-A91F-B186E139896A}"/>
    <dgm:cxn modelId="{A6BA7B70-E5E6-4126-8BBC-ABAD4445D226}" srcId="{881F526B-5295-46C3-A43A-289E2C3A5381}" destId="{F11C3AFA-A506-4E4A-861A-6F081EF7F949}" srcOrd="0" destOrd="0" parTransId="{E95821A8-3208-4BBF-9A54-CCFFFEE43B58}" sibTransId="{67C9BB90-FCFB-488B-8CE9-4CF2CD741BB8}"/>
    <dgm:cxn modelId="{F7CDC6EB-4330-4A49-B266-DA331B101C5B}" type="presParOf" srcId="{27B6A0A1-1388-478D-A098-AC7036693BE4}" destId="{7441D53F-CC13-4BBB-A00E-C84EE97EF78C}" srcOrd="0" destOrd="0" presId="urn:microsoft.com/office/officeart/2005/8/layout/orgChart1"/>
    <dgm:cxn modelId="{92F39BBB-EA3E-413D-A121-E4EEA4FCBFCD}" type="presParOf" srcId="{7441D53F-CC13-4BBB-A00E-C84EE97EF78C}" destId="{D1FAAEF9-3919-4D02-B4E7-41706B96EE4D}" srcOrd="0" destOrd="0" presId="urn:microsoft.com/office/officeart/2005/8/layout/orgChart1"/>
    <dgm:cxn modelId="{8B68C2FF-3DC8-4961-8064-EC9E2D74D1FC}" type="presParOf" srcId="{D1FAAEF9-3919-4D02-B4E7-41706B96EE4D}" destId="{80CD60CD-CFFC-4C24-94A1-98FF183E8CF7}" srcOrd="0" destOrd="0" presId="urn:microsoft.com/office/officeart/2005/8/layout/orgChart1"/>
    <dgm:cxn modelId="{B06D42FA-2CF7-47A5-A068-78010ABC3350}" type="presParOf" srcId="{D1FAAEF9-3919-4D02-B4E7-41706B96EE4D}" destId="{C1B0BD4F-597D-4225-9648-2BA3F9D31017}" srcOrd="1" destOrd="0" presId="urn:microsoft.com/office/officeart/2005/8/layout/orgChart1"/>
    <dgm:cxn modelId="{81F3BAEC-B96E-4B60-8680-4991FE9C0140}" type="presParOf" srcId="{7441D53F-CC13-4BBB-A00E-C84EE97EF78C}" destId="{593A99CE-FE85-4EB6-96E1-1E8DDF0375DD}" srcOrd="1" destOrd="0" presId="urn:microsoft.com/office/officeart/2005/8/layout/orgChart1"/>
    <dgm:cxn modelId="{4DB2F2DF-2CBD-4DFE-93F7-411A1BD64B19}" type="presParOf" srcId="{593A99CE-FE85-4EB6-96E1-1E8DDF0375DD}" destId="{663F29D5-C771-45AA-AAE1-AD4516FBBD9F}" srcOrd="0" destOrd="0" presId="urn:microsoft.com/office/officeart/2005/8/layout/orgChart1"/>
    <dgm:cxn modelId="{A3F1005E-91E1-46DD-B3DE-8653E81D2D18}" type="presParOf" srcId="{593A99CE-FE85-4EB6-96E1-1E8DDF0375DD}" destId="{4E79BA3C-B004-475D-8541-61C6E20BF8F3}" srcOrd="1" destOrd="0" presId="urn:microsoft.com/office/officeart/2005/8/layout/orgChart1"/>
    <dgm:cxn modelId="{CAC11B6B-96EA-46E9-BC3D-9975BEC69C0D}" type="presParOf" srcId="{4E79BA3C-B004-475D-8541-61C6E20BF8F3}" destId="{E12B323C-A148-414A-9743-D7DB9759F286}" srcOrd="0" destOrd="0" presId="urn:microsoft.com/office/officeart/2005/8/layout/orgChart1"/>
    <dgm:cxn modelId="{74560448-79A3-45AF-B06A-24A713E70CD9}" type="presParOf" srcId="{E12B323C-A148-414A-9743-D7DB9759F286}" destId="{A0DAE93F-0DC3-47B3-B476-B8608300CF61}" srcOrd="0" destOrd="0" presId="urn:microsoft.com/office/officeart/2005/8/layout/orgChart1"/>
    <dgm:cxn modelId="{B198A99A-BB23-47D5-8949-1A34973981F0}" type="presParOf" srcId="{E12B323C-A148-414A-9743-D7DB9759F286}" destId="{7D7A7A77-3D42-40E4-8CE7-19404D7E42B5}" srcOrd="1" destOrd="0" presId="urn:microsoft.com/office/officeart/2005/8/layout/orgChart1"/>
    <dgm:cxn modelId="{484169C2-BE85-4317-8337-95868EACF2E8}" type="presParOf" srcId="{4E79BA3C-B004-475D-8541-61C6E20BF8F3}" destId="{E745DA71-EDAA-4C30-A793-4D1C068F2408}" srcOrd="1" destOrd="0" presId="urn:microsoft.com/office/officeart/2005/8/layout/orgChart1"/>
    <dgm:cxn modelId="{3AB8E856-A0B0-4EAF-9F20-49BE9647BC06}" type="presParOf" srcId="{E745DA71-EDAA-4C30-A793-4D1C068F2408}" destId="{2654ACFB-7288-452C-8806-8CE9B0968690}" srcOrd="0" destOrd="0" presId="urn:microsoft.com/office/officeart/2005/8/layout/orgChart1"/>
    <dgm:cxn modelId="{370CF00C-2302-42F7-BE1B-01D6625ED831}" type="presParOf" srcId="{E745DA71-EDAA-4C30-A793-4D1C068F2408}" destId="{938976B4-949D-48CE-BCEC-6E250C7EB043}" srcOrd="1" destOrd="0" presId="urn:microsoft.com/office/officeart/2005/8/layout/orgChart1"/>
    <dgm:cxn modelId="{37771C5E-138E-45C1-9566-D161E3389392}" type="presParOf" srcId="{938976B4-949D-48CE-BCEC-6E250C7EB043}" destId="{944E6D2A-BD4C-4B6D-B733-9A2440EA1723}" srcOrd="0" destOrd="0" presId="urn:microsoft.com/office/officeart/2005/8/layout/orgChart1"/>
    <dgm:cxn modelId="{CD0E9E89-7656-4A89-9B87-FC03B7A90707}" type="presParOf" srcId="{944E6D2A-BD4C-4B6D-B733-9A2440EA1723}" destId="{848ADC6D-34A7-4E63-A6F8-B4291FCA434F}" srcOrd="0" destOrd="0" presId="urn:microsoft.com/office/officeart/2005/8/layout/orgChart1"/>
    <dgm:cxn modelId="{E59D421B-0A80-4BDA-8275-06D7DF82B799}" type="presParOf" srcId="{944E6D2A-BD4C-4B6D-B733-9A2440EA1723}" destId="{AC138364-C093-47F0-A526-D232112FFAD5}" srcOrd="1" destOrd="0" presId="urn:microsoft.com/office/officeart/2005/8/layout/orgChart1"/>
    <dgm:cxn modelId="{37AE68AB-989C-4626-885E-ECA7EAB222B1}" type="presParOf" srcId="{938976B4-949D-48CE-BCEC-6E250C7EB043}" destId="{D77F60BA-9BC5-4617-B8A1-837C08282B14}" srcOrd="1" destOrd="0" presId="urn:microsoft.com/office/officeart/2005/8/layout/orgChart1"/>
    <dgm:cxn modelId="{B31445BD-C33B-4596-A38E-E12EEB3043E9}" type="presParOf" srcId="{938976B4-949D-48CE-BCEC-6E250C7EB043}" destId="{FA58F5E2-44DB-4D83-B26E-743E36FA5990}" srcOrd="2" destOrd="0" presId="urn:microsoft.com/office/officeart/2005/8/layout/orgChart1"/>
    <dgm:cxn modelId="{6FE07586-615A-4976-8B77-E90983A00975}" type="presParOf" srcId="{E745DA71-EDAA-4C30-A793-4D1C068F2408}" destId="{E3D58A12-B767-4B98-BB80-6C872A397C32}" srcOrd="2" destOrd="0" presId="urn:microsoft.com/office/officeart/2005/8/layout/orgChart1"/>
    <dgm:cxn modelId="{58B68716-1770-488C-BEE8-710E81AE4BA9}" type="presParOf" srcId="{E745DA71-EDAA-4C30-A793-4D1C068F2408}" destId="{613E05D4-B476-4231-ACFA-5A9B7B809810}" srcOrd="3" destOrd="0" presId="urn:microsoft.com/office/officeart/2005/8/layout/orgChart1"/>
    <dgm:cxn modelId="{756DECF4-E830-4477-8CFE-97D4D0E0BAFF}" type="presParOf" srcId="{613E05D4-B476-4231-ACFA-5A9B7B809810}" destId="{52AC8B24-5DCA-493A-BC2C-0EFEA492E0B6}" srcOrd="0" destOrd="0" presId="urn:microsoft.com/office/officeart/2005/8/layout/orgChart1"/>
    <dgm:cxn modelId="{A25E17C9-452D-42DD-BFB8-DE6C392F7261}" type="presParOf" srcId="{52AC8B24-5DCA-493A-BC2C-0EFEA492E0B6}" destId="{89FB2CEB-F1A6-4C4F-B548-7B5F371FC6ED}" srcOrd="0" destOrd="0" presId="urn:microsoft.com/office/officeart/2005/8/layout/orgChart1"/>
    <dgm:cxn modelId="{30F94155-ADAA-4A6E-9A63-947A4A1762CF}" type="presParOf" srcId="{52AC8B24-5DCA-493A-BC2C-0EFEA492E0B6}" destId="{7611F8F9-B03F-4844-8C53-139FDF51C8CC}" srcOrd="1" destOrd="0" presId="urn:microsoft.com/office/officeart/2005/8/layout/orgChart1"/>
    <dgm:cxn modelId="{D5F4B1BE-6D7C-40A5-96F6-5288B31BBB9E}" type="presParOf" srcId="{613E05D4-B476-4231-ACFA-5A9B7B809810}" destId="{08317D4C-EE39-4874-803A-9B5D38DA985B}" srcOrd="1" destOrd="0" presId="urn:microsoft.com/office/officeart/2005/8/layout/orgChart1"/>
    <dgm:cxn modelId="{CB4A9B8C-5081-4246-81DC-196B87420F7C}" type="presParOf" srcId="{613E05D4-B476-4231-ACFA-5A9B7B809810}" destId="{283D4060-272D-4B61-9615-F1DA25C712D4}" srcOrd="2" destOrd="0" presId="urn:microsoft.com/office/officeart/2005/8/layout/orgChart1"/>
    <dgm:cxn modelId="{D99AB54A-CB45-4571-A57C-7C8298CA8B00}" type="presParOf" srcId="{4E79BA3C-B004-475D-8541-61C6E20BF8F3}" destId="{CFF0EA58-31D9-4A1D-9B06-52BF5B5AE4ED}" srcOrd="2" destOrd="0" presId="urn:microsoft.com/office/officeart/2005/8/layout/orgChart1"/>
    <dgm:cxn modelId="{096E86D7-5B52-43E9-83FD-CF50C6DD9C4E}" type="presParOf" srcId="{593A99CE-FE85-4EB6-96E1-1E8DDF0375DD}" destId="{6D3347C7-6972-4F61-A74D-6D0F5A79C6E0}" srcOrd="2" destOrd="0" presId="urn:microsoft.com/office/officeart/2005/8/layout/orgChart1"/>
    <dgm:cxn modelId="{F4B676D7-672F-480A-81A0-08D4FD350180}" type="presParOf" srcId="{593A99CE-FE85-4EB6-96E1-1E8DDF0375DD}" destId="{9AFC8059-2E1C-48C3-A6C8-E29BAA9F7927}" srcOrd="3" destOrd="0" presId="urn:microsoft.com/office/officeart/2005/8/layout/orgChart1"/>
    <dgm:cxn modelId="{3A772BDA-2E97-4CC2-99BD-ECF19A5E8369}" type="presParOf" srcId="{9AFC8059-2E1C-48C3-A6C8-E29BAA9F7927}" destId="{A01B2A78-EB29-44D1-9CF4-63E13FC5EFC4}" srcOrd="0" destOrd="0" presId="urn:microsoft.com/office/officeart/2005/8/layout/orgChart1"/>
    <dgm:cxn modelId="{A371B534-D7AA-49F6-8285-75084F555264}" type="presParOf" srcId="{A01B2A78-EB29-44D1-9CF4-63E13FC5EFC4}" destId="{5ED50334-AD17-474F-BBAD-DBE37F91864E}" srcOrd="0" destOrd="0" presId="urn:microsoft.com/office/officeart/2005/8/layout/orgChart1"/>
    <dgm:cxn modelId="{3697F4A8-01ED-41C0-9539-ED75C2145E43}" type="presParOf" srcId="{A01B2A78-EB29-44D1-9CF4-63E13FC5EFC4}" destId="{2EE94F5A-A0A1-4069-9926-43D3DF71F85E}" srcOrd="1" destOrd="0" presId="urn:microsoft.com/office/officeart/2005/8/layout/orgChart1"/>
    <dgm:cxn modelId="{86543528-71EF-4B88-83C0-6A23B506A0EC}" type="presParOf" srcId="{9AFC8059-2E1C-48C3-A6C8-E29BAA9F7927}" destId="{AF82CB44-CF6E-437D-812C-153B9E3D67C8}" srcOrd="1" destOrd="0" presId="urn:microsoft.com/office/officeart/2005/8/layout/orgChart1"/>
    <dgm:cxn modelId="{77C84C6C-5665-4554-8FC0-7F52EF385249}" type="presParOf" srcId="{9AFC8059-2E1C-48C3-A6C8-E29BAA9F7927}" destId="{FA6C0187-A73D-4624-9B01-0734941B69C2}" srcOrd="2" destOrd="0" presId="urn:microsoft.com/office/officeart/2005/8/layout/orgChart1"/>
    <dgm:cxn modelId="{86B41996-203A-41F0-93FB-F97A490BB4D8}" type="presParOf" srcId="{593A99CE-FE85-4EB6-96E1-1E8DDF0375DD}" destId="{533BC208-12FE-4D7F-B54E-56AE2EFC6BD5}" srcOrd="4" destOrd="0" presId="urn:microsoft.com/office/officeart/2005/8/layout/orgChart1"/>
    <dgm:cxn modelId="{A130FC70-F334-41D1-9C92-4CC1FCB8C918}" type="presParOf" srcId="{593A99CE-FE85-4EB6-96E1-1E8DDF0375DD}" destId="{2EDE09E2-E290-4DD8-B4D4-2CC937D50191}" srcOrd="5" destOrd="0" presId="urn:microsoft.com/office/officeart/2005/8/layout/orgChart1"/>
    <dgm:cxn modelId="{555AC414-36DF-41DD-A115-426B5D3574B7}" type="presParOf" srcId="{2EDE09E2-E290-4DD8-B4D4-2CC937D50191}" destId="{6A98F144-09B0-406F-B392-AF9A84F28F9F}" srcOrd="0" destOrd="0" presId="urn:microsoft.com/office/officeart/2005/8/layout/orgChart1"/>
    <dgm:cxn modelId="{CC9B524E-DBD4-4229-AF68-014581EB9B5B}" type="presParOf" srcId="{6A98F144-09B0-406F-B392-AF9A84F28F9F}" destId="{637EBCF0-E339-46E7-B780-E14AAB150E1F}" srcOrd="0" destOrd="0" presId="urn:microsoft.com/office/officeart/2005/8/layout/orgChart1"/>
    <dgm:cxn modelId="{B7F071D1-C41B-4F2B-B945-EC6EFBB9821D}" type="presParOf" srcId="{6A98F144-09B0-406F-B392-AF9A84F28F9F}" destId="{60364FB7-9083-4761-858C-7088526010AE}" srcOrd="1" destOrd="0" presId="urn:microsoft.com/office/officeart/2005/8/layout/orgChart1"/>
    <dgm:cxn modelId="{761689CE-70B7-4D09-BBA6-1A16268520C3}" type="presParOf" srcId="{2EDE09E2-E290-4DD8-B4D4-2CC937D50191}" destId="{C9677097-DE6B-486E-86F3-C23BEF687B78}" srcOrd="1" destOrd="0" presId="urn:microsoft.com/office/officeart/2005/8/layout/orgChart1"/>
    <dgm:cxn modelId="{06D54C7F-E4EA-4ED4-B82A-45406A2AE5F2}" type="presParOf" srcId="{C9677097-DE6B-486E-86F3-C23BEF687B78}" destId="{380C3BF9-7D75-45DD-AED2-0C2452879EE6}" srcOrd="0" destOrd="0" presId="urn:microsoft.com/office/officeart/2005/8/layout/orgChart1"/>
    <dgm:cxn modelId="{59AB6E49-47E3-446F-9464-E8ACB054CFD3}" type="presParOf" srcId="{C9677097-DE6B-486E-86F3-C23BEF687B78}" destId="{F2015814-5503-4C1B-A51B-4C6F2F706ACC}" srcOrd="1" destOrd="0" presId="urn:microsoft.com/office/officeart/2005/8/layout/orgChart1"/>
    <dgm:cxn modelId="{3C6AFF96-C985-4413-93C0-191F50001A28}" type="presParOf" srcId="{F2015814-5503-4C1B-A51B-4C6F2F706ACC}" destId="{879B9FFC-6727-4B54-8DEC-ECA2A8BCC87F}" srcOrd="0" destOrd="0" presId="urn:microsoft.com/office/officeart/2005/8/layout/orgChart1"/>
    <dgm:cxn modelId="{EECE8D52-41AF-424B-9FBC-432483F34CE3}" type="presParOf" srcId="{879B9FFC-6727-4B54-8DEC-ECA2A8BCC87F}" destId="{1DBD77DD-4B5E-4EEC-BE6D-9F3C1AF8D026}" srcOrd="0" destOrd="0" presId="urn:microsoft.com/office/officeart/2005/8/layout/orgChart1"/>
    <dgm:cxn modelId="{4B1C4B48-9C2D-45A8-8ECA-128A60CDFDC6}" type="presParOf" srcId="{879B9FFC-6727-4B54-8DEC-ECA2A8BCC87F}" destId="{33A1AB4F-13D7-4D0C-B8BE-4A828699B1ED}" srcOrd="1" destOrd="0" presId="urn:microsoft.com/office/officeart/2005/8/layout/orgChart1"/>
    <dgm:cxn modelId="{85D99FF2-4C99-4835-A8D9-F70BF4D867C5}" type="presParOf" srcId="{F2015814-5503-4C1B-A51B-4C6F2F706ACC}" destId="{6B8A76BB-548C-458C-9A61-830834D74B6B}" srcOrd="1" destOrd="0" presId="urn:microsoft.com/office/officeart/2005/8/layout/orgChart1"/>
    <dgm:cxn modelId="{2D1F0A53-DD5A-4171-A103-AA0BA79DE2FC}" type="presParOf" srcId="{F2015814-5503-4C1B-A51B-4C6F2F706ACC}" destId="{25158751-1F68-4957-816A-E0CFD7FC8450}" srcOrd="2" destOrd="0" presId="urn:microsoft.com/office/officeart/2005/8/layout/orgChart1"/>
    <dgm:cxn modelId="{04C11402-B3E2-492E-B261-63FC02B7F873}" type="presParOf" srcId="{C9677097-DE6B-486E-86F3-C23BEF687B78}" destId="{A4B6419C-EEF2-4A74-8BBB-AC849049BF35}" srcOrd="2" destOrd="0" presId="urn:microsoft.com/office/officeart/2005/8/layout/orgChart1"/>
    <dgm:cxn modelId="{81B78937-10E1-4CDF-976A-30F463ECADFC}" type="presParOf" srcId="{C9677097-DE6B-486E-86F3-C23BEF687B78}" destId="{9A27DE8D-D6B2-4E31-B2AD-B157F908A322}" srcOrd="3" destOrd="0" presId="urn:microsoft.com/office/officeart/2005/8/layout/orgChart1"/>
    <dgm:cxn modelId="{9956BF32-A034-4DDB-837E-D070B4B35827}" type="presParOf" srcId="{9A27DE8D-D6B2-4E31-B2AD-B157F908A322}" destId="{B62F315D-393A-4DC2-B10D-172E0F3D122E}" srcOrd="0" destOrd="0" presId="urn:microsoft.com/office/officeart/2005/8/layout/orgChart1"/>
    <dgm:cxn modelId="{A58E1A0B-9841-4732-8E15-892998CA3815}" type="presParOf" srcId="{B62F315D-393A-4DC2-B10D-172E0F3D122E}" destId="{021ECFAA-68ED-4E14-9964-0BFB098C3818}" srcOrd="0" destOrd="0" presId="urn:microsoft.com/office/officeart/2005/8/layout/orgChart1"/>
    <dgm:cxn modelId="{B024890D-22B0-4E9C-AFD3-1FDEC92DB590}" type="presParOf" srcId="{B62F315D-393A-4DC2-B10D-172E0F3D122E}" destId="{FB966D39-2FC8-47EC-BC86-6E742AB8AD9F}" srcOrd="1" destOrd="0" presId="urn:microsoft.com/office/officeart/2005/8/layout/orgChart1"/>
    <dgm:cxn modelId="{8913D71F-0367-49DE-80B1-7BD3ECED9FBA}" type="presParOf" srcId="{9A27DE8D-D6B2-4E31-B2AD-B157F908A322}" destId="{85DCCA22-E8DE-422B-ACC9-4E7869C66BC8}" srcOrd="1" destOrd="0" presId="urn:microsoft.com/office/officeart/2005/8/layout/orgChart1"/>
    <dgm:cxn modelId="{65845DA0-CDD8-450E-903D-00BD5894F050}" type="presParOf" srcId="{9A27DE8D-D6B2-4E31-B2AD-B157F908A322}" destId="{25D6076C-74C5-408D-BD28-341B436A6C42}" srcOrd="2" destOrd="0" presId="urn:microsoft.com/office/officeart/2005/8/layout/orgChart1"/>
    <dgm:cxn modelId="{964712A5-8B34-4E0A-91E3-6CB190555813}" type="presParOf" srcId="{2EDE09E2-E290-4DD8-B4D4-2CC937D50191}" destId="{64C17414-9C15-4841-A514-9675036C128A}" srcOrd="2" destOrd="0" presId="urn:microsoft.com/office/officeart/2005/8/layout/orgChart1"/>
    <dgm:cxn modelId="{308771E5-BC94-43B3-BED9-3FD01B7CA6D4}" type="presParOf" srcId="{7441D53F-CC13-4BBB-A00E-C84EE97EF78C}" destId="{97A5ABE7-E79C-411B-B245-49141170B79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99F350-6D5B-47D8-A346-67C79CB99219}" type="doc">
      <dgm:prSet loTypeId="urn:microsoft.com/office/officeart/2005/8/layout/orgChart1" loCatId="hierarchy" qsTypeId="urn:microsoft.com/office/officeart/2005/8/quickstyle/simple1" qsCatId="simple" csTypeId="urn:microsoft.com/office/officeart/2005/8/colors/accent1_2" csCatId="accent1"/>
      <dgm:spPr/>
    </dgm:pt>
    <dgm:pt modelId="{69A486A6-069B-4162-A62E-2F9D91B59C1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gm:t>
    </dgm:pt>
    <dgm:pt modelId="{377BE543-A7B3-4FB7-B262-F8AC39AC32A4}" type="parTrans" cxnId="{D0B2FC5E-37B4-478C-B134-F430B535F5B4}">
      <dgm:prSet/>
      <dgm:spPr/>
    </dgm:pt>
    <dgm:pt modelId="{8D46FCF7-87B3-4D39-A27E-FE08B44C9D47}" type="sibTrans" cxnId="{D0B2FC5E-37B4-478C-B134-F430B535F5B4}">
      <dgm:prSet/>
      <dgm:spPr/>
    </dgm:pt>
    <dgm:pt modelId="{E981A32F-E90E-4A65-85E4-6ACF0032CCCA}">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gm:t>
    </dgm:pt>
    <dgm:pt modelId="{5A6602E0-4F9A-4B75-BD82-F1C696A5D889}" type="parTrans" cxnId="{F628EE2D-5E83-4A11-A40F-A56F04AA0099}">
      <dgm:prSet/>
      <dgm:spPr/>
    </dgm:pt>
    <dgm:pt modelId="{0AA7D421-B45C-4510-A2D0-5A9DA06964EA}" type="sibTrans" cxnId="{F628EE2D-5E83-4A11-A40F-A56F04AA0099}">
      <dgm:prSet/>
      <dgm:spPr/>
    </dgm:pt>
    <dgm:pt modelId="{259639CF-3ADA-493F-BC37-42B24EAEB63F}">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Learning rules</a:t>
          </a:r>
        </a:p>
      </dgm:t>
    </dgm:pt>
    <dgm:pt modelId="{2CC84920-B608-49A7-94DC-C6F7B7FA5395}" type="parTrans" cxnId="{DFF7F35E-AD22-4C73-BB6A-C04EAA557241}">
      <dgm:prSet/>
      <dgm:spPr/>
    </dgm:pt>
    <dgm:pt modelId="{D7546E77-212C-4947-87E4-96A964664333}" type="sibTrans" cxnId="{DFF7F35E-AD22-4C73-BB6A-C04EAA557241}">
      <dgm:prSet/>
      <dgm:spPr/>
    </dgm:pt>
    <dgm:pt modelId="{BC243994-F0F3-457A-A037-9161C90BD5C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gm:t>
    </dgm:pt>
    <dgm:pt modelId="{AC72A22D-FA95-47DB-9A29-61FA446557AE}" type="parTrans" cxnId="{30D3D856-11A3-4D7B-9128-EDEA708C2FEB}">
      <dgm:prSet/>
      <dgm:spPr/>
    </dgm:pt>
    <dgm:pt modelId="{EA3028B3-C350-417F-9FB9-7C31E2CF8B9C}" type="sibTrans" cxnId="{30D3D856-11A3-4D7B-9128-EDEA708C2FEB}">
      <dgm:prSet/>
      <dgm:spPr/>
    </dgm:pt>
    <dgm:pt modelId="{7492A9BA-198E-416D-8D95-23D54C7657FE}" type="pres">
      <dgm:prSet presAssocID="{A199F350-6D5B-47D8-A346-67C79CB99219}" presName="hierChild1" presStyleCnt="0">
        <dgm:presLayoutVars>
          <dgm:orgChart val="1"/>
          <dgm:chPref val="1"/>
          <dgm:dir/>
          <dgm:animOne val="branch"/>
          <dgm:animLvl val="lvl"/>
          <dgm:resizeHandles/>
        </dgm:presLayoutVars>
      </dgm:prSet>
      <dgm:spPr/>
    </dgm:pt>
    <dgm:pt modelId="{82DFC41F-9578-4DE8-B4DD-48D17BFB00C2}" type="pres">
      <dgm:prSet presAssocID="{69A486A6-069B-4162-A62E-2F9D91B59C14}" presName="hierRoot1" presStyleCnt="0">
        <dgm:presLayoutVars>
          <dgm:hierBranch/>
        </dgm:presLayoutVars>
      </dgm:prSet>
      <dgm:spPr/>
    </dgm:pt>
    <dgm:pt modelId="{E7B57BA6-496D-4968-97D6-4F58D41563D6}" type="pres">
      <dgm:prSet presAssocID="{69A486A6-069B-4162-A62E-2F9D91B59C14}" presName="rootComposite1" presStyleCnt="0"/>
      <dgm:spPr/>
    </dgm:pt>
    <dgm:pt modelId="{67079DE0-916E-4B3D-8906-6F7C1485F399}" type="pres">
      <dgm:prSet presAssocID="{69A486A6-069B-4162-A62E-2F9D91B59C14}" presName="rootText1" presStyleLbl="node0" presStyleIdx="0" presStyleCnt="1">
        <dgm:presLayoutVars>
          <dgm:chPref val="3"/>
        </dgm:presLayoutVars>
      </dgm:prSet>
      <dgm:spPr/>
      <dgm:t>
        <a:bodyPr/>
        <a:lstStyle/>
        <a:p>
          <a:endParaRPr lang="en-US"/>
        </a:p>
      </dgm:t>
    </dgm:pt>
    <dgm:pt modelId="{D613ECBE-EE53-4A81-9725-F2FC0642CF2C}" type="pres">
      <dgm:prSet presAssocID="{69A486A6-069B-4162-A62E-2F9D91B59C14}" presName="rootConnector1" presStyleLbl="node1" presStyleIdx="0" presStyleCnt="0"/>
      <dgm:spPr/>
      <dgm:t>
        <a:bodyPr/>
        <a:lstStyle/>
        <a:p>
          <a:endParaRPr lang="en-US"/>
        </a:p>
      </dgm:t>
    </dgm:pt>
    <dgm:pt modelId="{076972B8-CD6A-4C6A-A872-B99A079FD0A1}" type="pres">
      <dgm:prSet presAssocID="{69A486A6-069B-4162-A62E-2F9D91B59C14}" presName="hierChild2" presStyleCnt="0"/>
      <dgm:spPr/>
    </dgm:pt>
    <dgm:pt modelId="{1DE73547-6A4B-4983-8300-6A1211DC0858}" type="pres">
      <dgm:prSet presAssocID="{5A6602E0-4F9A-4B75-BD82-F1C696A5D889}" presName="Name35" presStyleLbl="parChTrans1D2" presStyleIdx="0" presStyleCnt="3"/>
      <dgm:spPr/>
    </dgm:pt>
    <dgm:pt modelId="{D3D16DB6-2041-40D6-A117-5FF97B437DBB}" type="pres">
      <dgm:prSet presAssocID="{E981A32F-E90E-4A65-85E4-6ACF0032CCCA}" presName="hierRoot2" presStyleCnt="0">
        <dgm:presLayoutVars>
          <dgm:hierBranch/>
        </dgm:presLayoutVars>
      </dgm:prSet>
      <dgm:spPr/>
    </dgm:pt>
    <dgm:pt modelId="{8F5D6D48-C261-4EA5-B75C-0DEAB59059FD}" type="pres">
      <dgm:prSet presAssocID="{E981A32F-E90E-4A65-85E4-6ACF0032CCCA}" presName="rootComposite" presStyleCnt="0"/>
      <dgm:spPr/>
    </dgm:pt>
    <dgm:pt modelId="{5D5090C5-F139-4EEA-99BC-E2E990EA6CC0}" type="pres">
      <dgm:prSet presAssocID="{E981A32F-E90E-4A65-85E4-6ACF0032CCCA}" presName="rootText" presStyleLbl="node2" presStyleIdx="0" presStyleCnt="3">
        <dgm:presLayoutVars>
          <dgm:chPref val="3"/>
        </dgm:presLayoutVars>
      </dgm:prSet>
      <dgm:spPr/>
      <dgm:t>
        <a:bodyPr/>
        <a:lstStyle/>
        <a:p>
          <a:endParaRPr lang="en-US"/>
        </a:p>
      </dgm:t>
    </dgm:pt>
    <dgm:pt modelId="{66901D56-E3BF-4DE7-BCBB-4900EE3E69A2}" type="pres">
      <dgm:prSet presAssocID="{E981A32F-E90E-4A65-85E4-6ACF0032CCCA}" presName="rootConnector" presStyleLbl="node2" presStyleIdx="0" presStyleCnt="3"/>
      <dgm:spPr/>
      <dgm:t>
        <a:bodyPr/>
        <a:lstStyle/>
        <a:p>
          <a:endParaRPr lang="en-US"/>
        </a:p>
      </dgm:t>
    </dgm:pt>
    <dgm:pt modelId="{610FD82A-6E79-43F0-88ED-3EC069424B36}" type="pres">
      <dgm:prSet presAssocID="{E981A32F-E90E-4A65-85E4-6ACF0032CCCA}" presName="hierChild4" presStyleCnt="0"/>
      <dgm:spPr/>
    </dgm:pt>
    <dgm:pt modelId="{C9BF1D46-6963-4261-A4E8-633D9958A122}" type="pres">
      <dgm:prSet presAssocID="{E981A32F-E90E-4A65-85E4-6ACF0032CCCA}" presName="hierChild5" presStyleCnt="0"/>
      <dgm:spPr/>
    </dgm:pt>
    <dgm:pt modelId="{7F92032D-2B6F-4664-9210-030138B03555}" type="pres">
      <dgm:prSet presAssocID="{2CC84920-B608-49A7-94DC-C6F7B7FA5395}" presName="Name35" presStyleLbl="parChTrans1D2" presStyleIdx="1" presStyleCnt="3"/>
      <dgm:spPr/>
    </dgm:pt>
    <dgm:pt modelId="{EE548E3A-3991-4CE4-B147-78203915A4B6}" type="pres">
      <dgm:prSet presAssocID="{259639CF-3ADA-493F-BC37-42B24EAEB63F}" presName="hierRoot2" presStyleCnt="0">
        <dgm:presLayoutVars>
          <dgm:hierBranch/>
        </dgm:presLayoutVars>
      </dgm:prSet>
      <dgm:spPr/>
    </dgm:pt>
    <dgm:pt modelId="{6F41A93C-E58D-4088-B320-7C62AC11C01F}" type="pres">
      <dgm:prSet presAssocID="{259639CF-3ADA-493F-BC37-42B24EAEB63F}" presName="rootComposite" presStyleCnt="0"/>
      <dgm:spPr/>
    </dgm:pt>
    <dgm:pt modelId="{D3B21FFD-187B-4A0A-8B7B-CAEA4371F772}" type="pres">
      <dgm:prSet presAssocID="{259639CF-3ADA-493F-BC37-42B24EAEB63F}" presName="rootText" presStyleLbl="node2" presStyleIdx="1" presStyleCnt="3">
        <dgm:presLayoutVars>
          <dgm:chPref val="3"/>
        </dgm:presLayoutVars>
      </dgm:prSet>
      <dgm:spPr/>
      <dgm:t>
        <a:bodyPr/>
        <a:lstStyle/>
        <a:p>
          <a:endParaRPr lang="en-US"/>
        </a:p>
      </dgm:t>
    </dgm:pt>
    <dgm:pt modelId="{8D4824AA-7C83-48CE-B01A-291380C5953E}" type="pres">
      <dgm:prSet presAssocID="{259639CF-3ADA-493F-BC37-42B24EAEB63F}" presName="rootConnector" presStyleLbl="node2" presStyleIdx="1" presStyleCnt="3"/>
      <dgm:spPr/>
      <dgm:t>
        <a:bodyPr/>
        <a:lstStyle/>
        <a:p>
          <a:endParaRPr lang="en-US"/>
        </a:p>
      </dgm:t>
    </dgm:pt>
    <dgm:pt modelId="{22E42595-D1CF-4D85-A4FF-63E6F58B0533}" type="pres">
      <dgm:prSet presAssocID="{259639CF-3ADA-493F-BC37-42B24EAEB63F}" presName="hierChild4" presStyleCnt="0"/>
      <dgm:spPr/>
    </dgm:pt>
    <dgm:pt modelId="{7E8CFD17-16D0-4C7F-B5AE-3FDAA88BD7FB}" type="pres">
      <dgm:prSet presAssocID="{259639CF-3ADA-493F-BC37-42B24EAEB63F}" presName="hierChild5" presStyleCnt="0"/>
      <dgm:spPr/>
    </dgm:pt>
    <dgm:pt modelId="{D12254EE-40E7-4D0C-B2FD-79D885F7DF4F}" type="pres">
      <dgm:prSet presAssocID="{AC72A22D-FA95-47DB-9A29-61FA446557AE}" presName="Name35" presStyleLbl="parChTrans1D2" presStyleIdx="2" presStyleCnt="3"/>
      <dgm:spPr/>
    </dgm:pt>
    <dgm:pt modelId="{06FC6EB6-816C-4F80-B448-A6951AED2E26}" type="pres">
      <dgm:prSet presAssocID="{BC243994-F0F3-457A-A037-9161C90BD5CD}" presName="hierRoot2" presStyleCnt="0">
        <dgm:presLayoutVars>
          <dgm:hierBranch/>
        </dgm:presLayoutVars>
      </dgm:prSet>
      <dgm:spPr/>
    </dgm:pt>
    <dgm:pt modelId="{51AAF7E5-B921-4819-84C0-D02DE89F49FD}" type="pres">
      <dgm:prSet presAssocID="{BC243994-F0F3-457A-A037-9161C90BD5CD}" presName="rootComposite" presStyleCnt="0"/>
      <dgm:spPr/>
    </dgm:pt>
    <dgm:pt modelId="{9E20BA40-BB4F-4B1D-9115-361C66D024E3}" type="pres">
      <dgm:prSet presAssocID="{BC243994-F0F3-457A-A037-9161C90BD5CD}" presName="rootText" presStyleLbl="node2" presStyleIdx="2" presStyleCnt="3">
        <dgm:presLayoutVars>
          <dgm:chPref val="3"/>
        </dgm:presLayoutVars>
      </dgm:prSet>
      <dgm:spPr/>
      <dgm:t>
        <a:bodyPr/>
        <a:lstStyle/>
        <a:p>
          <a:endParaRPr lang="en-US"/>
        </a:p>
      </dgm:t>
    </dgm:pt>
    <dgm:pt modelId="{3E27BD2C-307F-4EF9-A358-C7F3F368798B}" type="pres">
      <dgm:prSet presAssocID="{BC243994-F0F3-457A-A037-9161C90BD5CD}" presName="rootConnector" presStyleLbl="node2" presStyleIdx="2" presStyleCnt="3"/>
      <dgm:spPr/>
      <dgm:t>
        <a:bodyPr/>
        <a:lstStyle/>
        <a:p>
          <a:endParaRPr lang="en-US"/>
        </a:p>
      </dgm:t>
    </dgm:pt>
    <dgm:pt modelId="{5CDACCAE-89C8-4048-9CE4-09E01E1B16ED}" type="pres">
      <dgm:prSet presAssocID="{BC243994-F0F3-457A-A037-9161C90BD5CD}" presName="hierChild4" presStyleCnt="0"/>
      <dgm:spPr/>
    </dgm:pt>
    <dgm:pt modelId="{FC6166F6-2508-4BF7-972C-40F3AE592C04}" type="pres">
      <dgm:prSet presAssocID="{BC243994-F0F3-457A-A037-9161C90BD5CD}" presName="hierChild5" presStyleCnt="0"/>
      <dgm:spPr/>
    </dgm:pt>
    <dgm:pt modelId="{49DA7F98-DA17-49CB-B324-7B3B55E881F4}" type="pres">
      <dgm:prSet presAssocID="{69A486A6-069B-4162-A62E-2F9D91B59C14}" presName="hierChild3" presStyleCnt="0"/>
      <dgm:spPr/>
    </dgm:pt>
  </dgm:ptLst>
  <dgm:cxnLst>
    <dgm:cxn modelId="{F628EE2D-5E83-4A11-A40F-A56F04AA0099}" srcId="{69A486A6-069B-4162-A62E-2F9D91B59C14}" destId="{E981A32F-E90E-4A65-85E4-6ACF0032CCCA}" srcOrd="0" destOrd="0" parTransId="{5A6602E0-4F9A-4B75-BD82-F1C696A5D889}" sibTransId="{0AA7D421-B45C-4510-A2D0-5A9DA06964EA}"/>
    <dgm:cxn modelId="{3C5A4E8D-5BB0-47BD-9ECF-1D2E7D918916}" type="presOf" srcId="{E981A32F-E90E-4A65-85E4-6ACF0032CCCA}" destId="{5D5090C5-F139-4EEA-99BC-E2E990EA6CC0}" srcOrd="0" destOrd="0" presId="urn:microsoft.com/office/officeart/2005/8/layout/orgChart1"/>
    <dgm:cxn modelId="{E2092B8D-2621-4579-948D-14AADD18EA08}" type="presOf" srcId="{69A486A6-069B-4162-A62E-2F9D91B59C14}" destId="{D613ECBE-EE53-4A81-9725-F2FC0642CF2C}" srcOrd="1" destOrd="0" presId="urn:microsoft.com/office/officeart/2005/8/layout/orgChart1"/>
    <dgm:cxn modelId="{B8AFC765-2CF3-4674-BA78-9EBD7ECA0972}" type="presOf" srcId="{2CC84920-B608-49A7-94DC-C6F7B7FA5395}" destId="{7F92032D-2B6F-4664-9210-030138B03555}" srcOrd="0" destOrd="0" presId="urn:microsoft.com/office/officeart/2005/8/layout/orgChart1"/>
    <dgm:cxn modelId="{633BF1FE-B565-4C56-B2DA-7DD1A53EEF61}" type="presOf" srcId="{BC243994-F0F3-457A-A037-9161C90BD5CD}" destId="{3E27BD2C-307F-4EF9-A358-C7F3F368798B}" srcOrd="1" destOrd="0" presId="urn:microsoft.com/office/officeart/2005/8/layout/orgChart1"/>
    <dgm:cxn modelId="{9178E0D6-504A-4DD9-9660-2B009922F64B}" type="presOf" srcId="{AC72A22D-FA95-47DB-9A29-61FA446557AE}" destId="{D12254EE-40E7-4D0C-B2FD-79D885F7DF4F}" srcOrd="0" destOrd="0" presId="urn:microsoft.com/office/officeart/2005/8/layout/orgChart1"/>
    <dgm:cxn modelId="{D0B2FC5E-37B4-478C-B134-F430B535F5B4}" srcId="{A199F350-6D5B-47D8-A346-67C79CB99219}" destId="{69A486A6-069B-4162-A62E-2F9D91B59C14}" srcOrd="0" destOrd="0" parTransId="{377BE543-A7B3-4FB7-B262-F8AC39AC32A4}" sibTransId="{8D46FCF7-87B3-4D39-A27E-FE08B44C9D47}"/>
    <dgm:cxn modelId="{CC5C801C-113E-4D74-8900-9EDB0E5DC5B7}" type="presOf" srcId="{5A6602E0-4F9A-4B75-BD82-F1C696A5D889}" destId="{1DE73547-6A4B-4983-8300-6A1211DC0858}" srcOrd="0" destOrd="0" presId="urn:microsoft.com/office/officeart/2005/8/layout/orgChart1"/>
    <dgm:cxn modelId="{62ABBBC0-8907-4F48-B876-678337CB2065}" type="presOf" srcId="{A199F350-6D5B-47D8-A346-67C79CB99219}" destId="{7492A9BA-198E-416D-8D95-23D54C7657FE}" srcOrd="0" destOrd="0" presId="urn:microsoft.com/office/officeart/2005/8/layout/orgChart1"/>
    <dgm:cxn modelId="{2B10AA12-245D-434A-A8B7-95F35A01DD80}" type="presOf" srcId="{69A486A6-069B-4162-A62E-2F9D91B59C14}" destId="{67079DE0-916E-4B3D-8906-6F7C1485F399}" srcOrd="0" destOrd="0" presId="urn:microsoft.com/office/officeart/2005/8/layout/orgChart1"/>
    <dgm:cxn modelId="{3111FAC5-F08D-4F7B-88F6-7FCFD8E6FFD4}" type="presOf" srcId="{BC243994-F0F3-457A-A037-9161C90BD5CD}" destId="{9E20BA40-BB4F-4B1D-9115-361C66D024E3}" srcOrd="0" destOrd="0" presId="urn:microsoft.com/office/officeart/2005/8/layout/orgChart1"/>
    <dgm:cxn modelId="{30D3D856-11A3-4D7B-9128-EDEA708C2FEB}" srcId="{69A486A6-069B-4162-A62E-2F9D91B59C14}" destId="{BC243994-F0F3-457A-A037-9161C90BD5CD}" srcOrd="2" destOrd="0" parTransId="{AC72A22D-FA95-47DB-9A29-61FA446557AE}" sibTransId="{EA3028B3-C350-417F-9FB9-7C31E2CF8B9C}"/>
    <dgm:cxn modelId="{DFF7F35E-AD22-4C73-BB6A-C04EAA557241}" srcId="{69A486A6-069B-4162-A62E-2F9D91B59C14}" destId="{259639CF-3ADA-493F-BC37-42B24EAEB63F}" srcOrd="1" destOrd="0" parTransId="{2CC84920-B608-49A7-94DC-C6F7B7FA5395}" sibTransId="{D7546E77-212C-4947-87E4-96A964664333}"/>
    <dgm:cxn modelId="{6061A059-8F9C-4A15-A622-A3CA5F3F87D7}" type="presOf" srcId="{259639CF-3ADA-493F-BC37-42B24EAEB63F}" destId="{D3B21FFD-187B-4A0A-8B7B-CAEA4371F772}" srcOrd="0" destOrd="0" presId="urn:microsoft.com/office/officeart/2005/8/layout/orgChart1"/>
    <dgm:cxn modelId="{03224C8F-709C-444F-A21B-39E9518AFC85}" type="presOf" srcId="{259639CF-3ADA-493F-BC37-42B24EAEB63F}" destId="{8D4824AA-7C83-48CE-B01A-291380C5953E}" srcOrd="1" destOrd="0" presId="urn:microsoft.com/office/officeart/2005/8/layout/orgChart1"/>
    <dgm:cxn modelId="{66EFB7E6-724C-4A4B-904D-0419A884A115}" type="presOf" srcId="{E981A32F-E90E-4A65-85E4-6ACF0032CCCA}" destId="{66901D56-E3BF-4DE7-BCBB-4900EE3E69A2}" srcOrd="1" destOrd="0" presId="urn:microsoft.com/office/officeart/2005/8/layout/orgChart1"/>
    <dgm:cxn modelId="{14164A11-0C0F-46B5-A711-3573ABEAF23B}" type="presParOf" srcId="{7492A9BA-198E-416D-8D95-23D54C7657FE}" destId="{82DFC41F-9578-4DE8-B4DD-48D17BFB00C2}" srcOrd="0" destOrd="0" presId="urn:microsoft.com/office/officeart/2005/8/layout/orgChart1"/>
    <dgm:cxn modelId="{22C5428F-398E-483C-83A2-4C67ED730760}" type="presParOf" srcId="{82DFC41F-9578-4DE8-B4DD-48D17BFB00C2}" destId="{E7B57BA6-496D-4968-97D6-4F58D41563D6}" srcOrd="0" destOrd="0" presId="urn:microsoft.com/office/officeart/2005/8/layout/orgChart1"/>
    <dgm:cxn modelId="{9A0A4DA5-C481-4F8B-8CA6-9DC2158277AB}" type="presParOf" srcId="{E7B57BA6-496D-4968-97D6-4F58D41563D6}" destId="{67079DE0-916E-4B3D-8906-6F7C1485F399}" srcOrd="0" destOrd="0" presId="urn:microsoft.com/office/officeart/2005/8/layout/orgChart1"/>
    <dgm:cxn modelId="{7CA31B87-B785-4991-9680-1AE62E05F435}" type="presParOf" srcId="{E7B57BA6-496D-4968-97D6-4F58D41563D6}" destId="{D613ECBE-EE53-4A81-9725-F2FC0642CF2C}" srcOrd="1" destOrd="0" presId="urn:microsoft.com/office/officeart/2005/8/layout/orgChart1"/>
    <dgm:cxn modelId="{66F62926-6CCB-41DD-A6A4-2ADBB1B75B4D}" type="presParOf" srcId="{82DFC41F-9578-4DE8-B4DD-48D17BFB00C2}" destId="{076972B8-CD6A-4C6A-A872-B99A079FD0A1}" srcOrd="1" destOrd="0" presId="urn:microsoft.com/office/officeart/2005/8/layout/orgChart1"/>
    <dgm:cxn modelId="{DBA8DF68-1D40-495E-A81B-8F39F748AF13}" type="presParOf" srcId="{076972B8-CD6A-4C6A-A872-B99A079FD0A1}" destId="{1DE73547-6A4B-4983-8300-6A1211DC0858}" srcOrd="0" destOrd="0" presId="urn:microsoft.com/office/officeart/2005/8/layout/orgChart1"/>
    <dgm:cxn modelId="{842B8E1F-DC4F-4274-88D4-9830E7F1F670}" type="presParOf" srcId="{076972B8-CD6A-4C6A-A872-B99A079FD0A1}" destId="{D3D16DB6-2041-40D6-A117-5FF97B437DBB}" srcOrd="1" destOrd="0" presId="urn:microsoft.com/office/officeart/2005/8/layout/orgChart1"/>
    <dgm:cxn modelId="{7FFF55CA-8014-49E7-ACCF-639F1B13080D}" type="presParOf" srcId="{D3D16DB6-2041-40D6-A117-5FF97B437DBB}" destId="{8F5D6D48-C261-4EA5-B75C-0DEAB59059FD}" srcOrd="0" destOrd="0" presId="urn:microsoft.com/office/officeart/2005/8/layout/orgChart1"/>
    <dgm:cxn modelId="{868099CD-FB8B-4698-9413-DF29EEA2FC75}" type="presParOf" srcId="{8F5D6D48-C261-4EA5-B75C-0DEAB59059FD}" destId="{5D5090C5-F139-4EEA-99BC-E2E990EA6CC0}" srcOrd="0" destOrd="0" presId="urn:microsoft.com/office/officeart/2005/8/layout/orgChart1"/>
    <dgm:cxn modelId="{24DFE47F-2C93-489F-82D0-EFB220B8FA14}" type="presParOf" srcId="{8F5D6D48-C261-4EA5-B75C-0DEAB59059FD}" destId="{66901D56-E3BF-4DE7-BCBB-4900EE3E69A2}" srcOrd="1" destOrd="0" presId="urn:microsoft.com/office/officeart/2005/8/layout/orgChart1"/>
    <dgm:cxn modelId="{E343EBDB-C5C8-4D7B-A5D0-01D01407E65E}" type="presParOf" srcId="{D3D16DB6-2041-40D6-A117-5FF97B437DBB}" destId="{610FD82A-6E79-43F0-88ED-3EC069424B36}" srcOrd="1" destOrd="0" presId="urn:microsoft.com/office/officeart/2005/8/layout/orgChart1"/>
    <dgm:cxn modelId="{C37F195E-0478-4A3D-9BA9-A0C1F32C76CF}" type="presParOf" srcId="{D3D16DB6-2041-40D6-A117-5FF97B437DBB}" destId="{C9BF1D46-6963-4261-A4E8-633D9958A122}" srcOrd="2" destOrd="0" presId="urn:microsoft.com/office/officeart/2005/8/layout/orgChart1"/>
    <dgm:cxn modelId="{6751A514-85D1-4881-B7AB-461D772B9396}" type="presParOf" srcId="{076972B8-CD6A-4C6A-A872-B99A079FD0A1}" destId="{7F92032D-2B6F-4664-9210-030138B03555}" srcOrd="2" destOrd="0" presId="urn:microsoft.com/office/officeart/2005/8/layout/orgChart1"/>
    <dgm:cxn modelId="{1FDC6C5C-2619-4490-9338-CD7BC63FE75E}" type="presParOf" srcId="{076972B8-CD6A-4C6A-A872-B99A079FD0A1}" destId="{EE548E3A-3991-4CE4-B147-78203915A4B6}" srcOrd="3" destOrd="0" presId="urn:microsoft.com/office/officeart/2005/8/layout/orgChart1"/>
    <dgm:cxn modelId="{38FCFD64-8B6C-404A-A265-A1507099E03F}" type="presParOf" srcId="{EE548E3A-3991-4CE4-B147-78203915A4B6}" destId="{6F41A93C-E58D-4088-B320-7C62AC11C01F}" srcOrd="0" destOrd="0" presId="urn:microsoft.com/office/officeart/2005/8/layout/orgChart1"/>
    <dgm:cxn modelId="{8A86DF29-E44C-450D-9DBF-19E33666972D}" type="presParOf" srcId="{6F41A93C-E58D-4088-B320-7C62AC11C01F}" destId="{D3B21FFD-187B-4A0A-8B7B-CAEA4371F772}" srcOrd="0" destOrd="0" presId="urn:microsoft.com/office/officeart/2005/8/layout/orgChart1"/>
    <dgm:cxn modelId="{C90D4481-4B40-42B3-91F7-985ED131C688}" type="presParOf" srcId="{6F41A93C-E58D-4088-B320-7C62AC11C01F}" destId="{8D4824AA-7C83-48CE-B01A-291380C5953E}" srcOrd="1" destOrd="0" presId="urn:microsoft.com/office/officeart/2005/8/layout/orgChart1"/>
    <dgm:cxn modelId="{BD0DDFC8-AA1E-4006-BE05-F1FC49E1ACC2}" type="presParOf" srcId="{EE548E3A-3991-4CE4-B147-78203915A4B6}" destId="{22E42595-D1CF-4D85-A4FF-63E6F58B0533}" srcOrd="1" destOrd="0" presId="urn:microsoft.com/office/officeart/2005/8/layout/orgChart1"/>
    <dgm:cxn modelId="{326C8986-48D3-4297-BC82-8733B3A94E4D}" type="presParOf" srcId="{EE548E3A-3991-4CE4-B147-78203915A4B6}" destId="{7E8CFD17-16D0-4C7F-B5AE-3FDAA88BD7FB}" srcOrd="2" destOrd="0" presId="urn:microsoft.com/office/officeart/2005/8/layout/orgChart1"/>
    <dgm:cxn modelId="{B79A843B-50D3-498F-A2F8-C9BA7EE38EF9}" type="presParOf" srcId="{076972B8-CD6A-4C6A-A872-B99A079FD0A1}" destId="{D12254EE-40E7-4D0C-B2FD-79D885F7DF4F}" srcOrd="4" destOrd="0" presId="urn:microsoft.com/office/officeart/2005/8/layout/orgChart1"/>
    <dgm:cxn modelId="{315E3777-E790-4421-814B-D31F8B48E384}" type="presParOf" srcId="{076972B8-CD6A-4C6A-A872-B99A079FD0A1}" destId="{06FC6EB6-816C-4F80-B448-A6951AED2E26}" srcOrd="5" destOrd="0" presId="urn:microsoft.com/office/officeart/2005/8/layout/orgChart1"/>
    <dgm:cxn modelId="{21D20E55-6584-42CB-9883-9C82401DBA93}" type="presParOf" srcId="{06FC6EB6-816C-4F80-B448-A6951AED2E26}" destId="{51AAF7E5-B921-4819-84C0-D02DE89F49FD}" srcOrd="0" destOrd="0" presId="urn:microsoft.com/office/officeart/2005/8/layout/orgChart1"/>
    <dgm:cxn modelId="{01F82653-0589-4F0D-AE4C-CC37BF16DB06}" type="presParOf" srcId="{51AAF7E5-B921-4819-84C0-D02DE89F49FD}" destId="{9E20BA40-BB4F-4B1D-9115-361C66D024E3}" srcOrd="0" destOrd="0" presId="urn:microsoft.com/office/officeart/2005/8/layout/orgChart1"/>
    <dgm:cxn modelId="{331E626A-7530-4076-828A-69E27ECBADFB}" type="presParOf" srcId="{51AAF7E5-B921-4819-84C0-D02DE89F49FD}" destId="{3E27BD2C-307F-4EF9-A358-C7F3F368798B}" srcOrd="1" destOrd="0" presId="urn:microsoft.com/office/officeart/2005/8/layout/orgChart1"/>
    <dgm:cxn modelId="{2AD39DC7-3732-4689-843F-E6775509B99B}" type="presParOf" srcId="{06FC6EB6-816C-4F80-B448-A6951AED2E26}" destId="{5CDACCAE-89C8-4048-9CE4-09E01E1B16ED}" srcOrd="1" destOrd="0" presId="urn:microsoft.com/office/officeart/2005/8/layout/orgChart1"/>
    <dgm:cxn modelId="{20A214B2-28B7-4C4C-9F81-81114AEA4D89}" type="presParOf" srcId="{06FC6EB6-816C-4F80-B448-A6951AED2E26}" destId="{FC6166F6-2508-4BF7-972C-40F3AE592C04}" srcOrd="2" destOrd="0" presId="urn:microsoft.com/office/officeart/2005/8/layout/orgChart1"/>
    <dgm:cxn modelId="{FEACEBEB-CADC-4628-A09C-2B496B5615CD}" type="presParOf" srcId="{82DFC41F-9578-4DE8-B4DD-48D17BFB00C2}" destId="{49DA7F98-DA17-49CB-B324-7B3B55E881F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53EE9E-0389-4A10-BEE6-255582634BBD}" type="doc">
      <dgm:prSet loTypeId="urn:microsoft.com/office/officeart/2005/8/layout/orgChart1" loCatId="hierarchy" qsTypeId="urn:microsoft.com/office/officeart/2005/8/quickstyle/simple1" qsCatId="simple" csTypeId="urn:microsoft.com/office/officeart/2005/8/colors/accent1_2" csCatId="accent1"/>
      <dgm:spPr/>
    </dgm:pt>
    <dgm:pt modelId="{D97EB947-CB82-45BC-A62A-E1077BB8542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gm:t>
    </dgm:pt>
    <dgm:pt modelId="{13D73E8F-BEB6-4D14-9410-961534B633EC}" type="parTrans" cxnId="{CE82A39E-F4B5-407C-9766-6F1B635F7439}">
      <dgm:prSet/>
      <dgm:spPr/>
    </dgm:pt>
    <dgm:pt modelId="{0B74B469-0EBC-4E23-8538-67B91B9DFC9E}" type="sibTrans" cxnId="{CE82A39E-F4B5-407C-9766-6F1B635F7439}">
      <dgm:prSet/>
      <dgm:spPr/>
    </dgm:pt>
    <dgm:pt modelId="{6786FB9C-0547-45C8-9607-CB31CE3ECA3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gm:t>
    </dgm:pt>
    <dgm:pt modelId="{C189E63D-E7F2-4AF4-8447-5E78B08AEEE6}" type="parTrans" cxnId="{08A3390A-445B-445D-AFB1-BB6785823A00}">
      <dgm:prSet/>
      <dgm:spPr/>
    </dgm:pt>
    <dgm:pt modelId="{F411FB3C-5F5A-4EF4-AB0C-E292971653F7}" type="sibTrans" cxnId="{08A3390A-445B-445D-AFB1-BB6785823A00}">
      <dgm:prSet/>
      <dgm:spPr/>
    </dgm:pt>
    <dgm:pt modelId="{426211A9-7836-4845-A3D6-B2E3A81381A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Learning rules</a:t>
          </a:r>
        </a:p>
      </dgm:t>
    </dgm:pt>
    <dgm:pt modelId="{2ED0A2E3-B9AF-477C-82AB-D70E13078C2F}" type="parTrans" cxnId="{F801667A-EA92-42B4-A2A7-C45A0A6A52D7}">
      <dgm:prSet/>
      <dgm:spPr/>
    </dgm:pt>
    <dgm:pt modelId="{4DABE3B5-4657-4A03-99CD-7F0E1AF02AD5}" type="sibTrans" cxnId="{F801667A-EA92-42B4-A2A7-C45A0A6A52D7}">
      <dgm:prSet/>
      <dgm:spPr/>
    </dgm:pt>
    <dgm:pt modelId="{2E48C13E-EDA4-47BC-9557-1C8D6C4D17E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gm:t>
    </dgm:pt>
    <dgm:pt modelId="{110E3898-1EEB-4C4A-8A44-6CB941AFAF2C}" type="parTrans" cxnId="{39445AEA-EE54-4751-A0BE-D4A31184B208}">
      <dgm:prSet/>
      <dgm:spPr/>
    </dgm:pt>
    <dgm:pt modelId="{CC7F9308-0EAC-4608-BA63-CD5BF53FACBB}" type="sibTrans" cxnId="{39445AEA-EE54-4751-A0BE-D4A31184B208}">
      <dgm:prSet/>
      <dgm:spPr/>
    </dgm:pt>
    <dgm:pt modelId="{14515F20-430A-4513-9EC4-A4D415B0CF14}" type="pres">
      <dgm:prSet presAssocID="{1E53EE9E-0389-4A10-BEE6-255582634BBD}" presName="hierChild1" presStyleCnt="0">
        <dgm:presLayoutVars>
          <dgm:orgChart val="1"/>
          <dgm:chPref val="1"/>
          <dgm:dir/>
          <dgm:animOne val="branch"/>
          <dgm:animLvl val="lvl"/>
          <dgm:resizeHandles/>
        </dgm:presLayoutVars>
      </dgm:prSet>
      <dgm:spPr/>
    </dgm:pt>
    <dgm:pt modelId="{761079D3-FDCA-47B2-8A88-BDBCA60207C2}" type="pres">
      <dgm:prSet presAssocID="{D97EB947-CB82-45BC-A62A-E1077BB85426}" presName="hierRoot1" presStyleCnt="0">
        <dgm:presLayoutVars>
          <dgm:hierBranch/>
        </dgm:presLayoutVars>
      </dgm:prSet>
      <dgm:spPr/>
    </dgm:pt>
    <dgm:pt modelId="{4479DDEE-74EA-4661-BB67-1D12C3B8E94B}" type="pres">
      <dgm:prSet presAssocID="{D97EB947-CB82-45BC-A62A-E1077BB85426}" presName="rootComposite1" presStyleCnt="0"/>
      <dgm:spPr/>
    </dgm:pt>
    <dgm:pt modelId="{6874F280-E249-4D6E-BEBE-64DA436DEC00}" type="pres">
      <dgm:prSet presAssocID="{D97EB947-CB82-45BC-A62A-E1077BB85426}" presName="rootText1" presStyleLbl="node0" presStyleIdx="0" presStyleCnt="1">
        <dgm:presLayoutVars>
          <dgm:chPref val="3"/>
        </dgm:presLayoutVars>
      </dgm:prSet>
      <dgm:spPr/>
      <dgm:t>
        <a:bodyPr/>
        <a:lstStyle/>
        <a:p>
          <a:endParaRPr lang="en-US"/>
        </a:p>
      </dgm:t>
    </dgm:pt>
    <dgm:pt modelId="{7A1C5DF9-B592-4640-828E-459D57BAB1CA}" type="pres">
      <dgm:prSet presAssocID="{D97EB947-CB82-45BC-A62A-E1077BB85426}" presName="rootConnector1" presStyleLbl="node1" presStyleIdx="0" presStyleCnt="0"/>
      <dgm:spPr/>
      <dgm:t>
        <a:bodyPr/>
        <a:lstStyle/>
        <a:p>
          <a:endParaRPr lang="en-US"/>
        </a:p>
      </dgm:t>
    </dgm:pt>
    <dgm:pt modelId="{EE2B87E3-6FD1-4406-B1A6-A702495100EF}" type="pres">
      <dgm:prSet presAssocID="{D97EB947-CB82-45BC-A62A-E1077BB85426}" presName="hierChild2" presStyleCnt="0"/>
      <dgm:spPr/>
    </dgm:pt>
    <dgm:pt modelId="{6B6D56FD-EC8D-4D21-90A4-D3029BBEE940}" type="pres">
      <dgm:prSet presAssocID="{C189E63D-E7F2-4AF4-8447-5E78B08AEEE6}" presName="Name35" presStyleLbl="parChTrans1D2" presStyleIdx="0" presStyleCnt="3"/>
      <dgm:spPr/>
    </dgm:pt>
    <dgm:pt modelId="{98B8EEDC-E866-4280-A1B3-C39BF248EA1C}" type="pres">
      <dgm:prSet presAssocID="{6786FB9C-0547-45C8-9607-CB31CE3ECA35}" presName="hierRoot2" presStyleCnt="0">
        <dgm:presLayoutVars>
          <dgm:hierBranch/>
        </dgm:presLayoutVars>
      </dgm:prSet>
      <dgm:spPr/>
    </dgm:pt>
    <dgm:pt modelId="{76E8C32F-640E-45C4-A332-F149DB03D612}" type="pres">
      <dgm:prSet presAssocID="{6786FB9C-0547-45C8-9607-CB31CE3ECA35}" presName="rootComposite" presStyleCnt="0"/>
      <dgm:spPr/>
    </dgm:pt>
    <dgm:pt modelId="{60FBE001-DB88-4277-B8A2-4AC84D9A1D82}" type="pres">
      <dgm:prSet presAssocID="{6786FB9C-0547-45C8-9607-CB31CE3ECA35}" presName="rootText" presStyleLbl="node2" presStyleIdx="0" presStyleCnt="3">
        <dgm:presLayoutVars>
          <dgm:chPref val="3"/>
        </dgm:presLayoutVars>
      </dgm:prSet>
      <dgm:spPr/>
      <dgm:t>
        <a:bodyPr/>
        <a:lstStyle/>
        <a:p>
          <a:endParaRPr lang="en-US"/>
        </a:p>
      </dgm:t>
    </dgm:pt>
    <dgm:pt modelId="{E8C49D77-7A2E-450E-9E58-03B08C0F420D}" type="pres">
      <dgm:prSet presAssocID="{6786FB9C-0547-45C8-9607-CB31CE3ECA35}" presName="rootConnector" presStyleLbl="node2" presStyleIdx="0" presStyleCnt="3"/>
      <dgm:spPr/>
      <dgm:t>
        <a:bodyPr/>
        <a:lstStyle/>
        <a:p>
          <a:endParaRPr lang="en-US"/>
        </a:p>
      </dgm:t>
    </dgm:pt>
    <dgm:pt modelId="{D75806E0-93CA-4EC4-8C0B-3680F4F91F95}" type="pres">
      <dgm:prSet presAssocID="{6786FB9C-0547-45C8-9607-CB31CE3ECA35}" presName="hierChild4" presStyleCnt="0"/>
      <dgm:spPr/>
    </dgm:pt>
    <dgm:pt modelId="{50C736A1-4B54-4512-BCB2-34C51CE27C17}" type="pres">
      <dgm:prSet presAssocID="{6786FB9C-0547-45C8-9607-CB31CE3ECA35}" presName="hierChild5" presStyleCnt="0"/>
      <dgm:spPr/>
    </dgm:pt>
    <dgm:pt modelId="{F737C582-97D2-40E4-96EA-EB51B54A285D}" type="pres">
      <dgm:prSet presAssocID="{2ED0A2E3-B9AF-477C-82AB-D70E13078C2F}" presName="Name35" presStyleLbl="parChTrans1D2" presStyleIdx="1" presStyleCnt="3"/>
      <dgm:spPr/>
    </dgm:pt>
    <dgm:pt modelId="{7DC446AB-BB94-4B64-9200-B9194E32AF57}" type="pres">
      <dgm:prSet presAssocID="{426211A9-7836-4845-A3D6-B2E3A81381A5}" presName="hierRoot2" presStyleCnt="0">
        <dgm:presLayoutVars>
          <dgm:hierBranch/>
        </dgm:presLayoutVars>
      </dgm:prSet>
      <dgm:spPr/>
    </dgm:pt>
    <dgm:pt modelId="{FB112B0E-89D7-42B6-9ABE-86890929CC6B}" type="pres">
      <dgm:prSet presAssocID="{426211A9-7836-4845-A3D6-B2E3A81381A5}" presName="rootComposite" presStyleCnt="0"/>
      <dgm:spPr/>
    </dgm:pt>
    <dgm:pt modelId="{1E9A6193-D8BA-4981-BD93-DCECF1FCCB6F}" type="pres">
      <dgm:prSet presAssocID="{426211A9-7836-4845-A3D6-B2E3A81381A5}" presName="rootText" presStyleLbl="node2" presStyleIdx="1" presStyleCnt="3">
        <dgm:presLayoutVars>
          <dgm:chPref val="3"/>
        </dgm:presLayoutVars>
      </dgm:prSet>
      <dgm:spPr/>
      <dgm:t>
        <a:bodyPr/>
        <a:lstStyle/>
        <a:p>
          <a:endParaRPr lang="en-US"/>
        </a:p>
      </dgm:t>
    </dgm:pt>
    <dgm:pt modelId="{61247251-1D26-4538-A0A6-55971FEF59AE}" type="pres">
      <dgm:prSet presAssocID="{426211A9-7836-4845-A3D6-B2E3A81381A5}" presName="rootConnector" presStyleLbl="node2" presStyleIdx="1" presStyleCnt="3"/>
      <dgm:spPr/>
      <dgm:t>
        <a:bodyPr/>
        <a:lstStyle/>
        <a:p>
          <a:endParaRPr lang="en-US"/>
        </a:p>
      </dgm:t>
    </dgm:pt>
    <dgm:pt modelId="{5B78328B-5C1C-471C-98D9-3E8F928AD459}" type="pres">
      <dgm:prSet presAssocID="{426211A9-7836-4845-A3D6-B2E3A81381A5}" presName="hierChild4" presStyleCnt="0"/>
      <dgm:spPr/>
    </dgm:pt>
    <dgm:pt modelId="{AB0E5151-110F-451C-98C7-00B9900DE8A0}" type="pres">
      <dgm:prSet presAssocID="{426211A9-7836-4845-A3D6-B2E3A81381A5}" presName="hierChild5" presStyleCnt="0"/>
      <dgm:spPr/>
    </dgm:pt>
    <dgm:pt modelId="{9904F5F2-9112-4639-9C93-32FECED199F7}" type="pres">
      <dgm:prSet presAssocID="{110E3898-1EEB-4C4A-8A44-6CB941AFAF2C}" presName="Name35" presStyleLbl="parChTrans1D2" presStyleIdx="2" presStyleCnt="3"/>
      <dgm:spPr/>
    </dgm:pt>
    <dgm:pt modelId="{DDE5B175-A76D-4179-BCCE-9AF784254B92}" type="pres">
      <dgm:prSet presAssocID="{2E48C13E-EDA4-47BC-9557-1C8D6C4D17E5}" presName="hierRoot2" presStyleCnt="0">
        <dgm:presLayoutVars>
          <dgm:hierBranch/>
        </dgm:presLayoutVars>
      </dgm:prSet>
      <dgm:spPr/>
    </dgm:pt>
    <dgm:pt modelId="{92EBCE76-6A7F-463B-8C12-F5489CD38F67}" type="pres">
      <dgm:prSet presAssocID="{2E48C13E-EDA4-47BC-9557-1C8D6C4D17E5}" presName="rootComposite" presStyleCnt="0"/>
      <dgm:spPr/>
    </dgm:pt>
    <dgm:pt modelId="{429D7C57-260E-484F-9373-5EBA809DE994}" type="pres">
      <dgm:prSet presAssocID="{2E48C13E-EDA4-47BC-9557-1C8D6C4D17E5}" presName="rootText" presStyleLbl="node2" presStyleIdx="2" presStyleCnt="3">
        <dgm:presLayoutVars>
          <dgm:chPref val="3"/>
        </dgm:presLayoutVars>
      </dgm:prSet>
      <dgm:spPr/>
      <dgm:t>
        <a:bodyPr/>
        <a:lstStyle/>
        <a:p>
          <a:endParaRPr lang="en-US"/>
        </a:p>
      </dgm:t>
    </dgm:pt>
    <dgm:pt modelId="{E1983F71-165B-47B7-A172-48F1A9DF872F}" type="pres">
      <dgm:prSet presAssocID="{2E48C13E-EDA4-47BC-9557-1C8D6C4D17E5}" presName="rootConnector" presStyleLbl="node2" presStyleIdx="2" presStyleCnt="3"/>
      <dgm:spPr/>
      <dgm:t>
        <a:bodyPr/>
        <a:lstStyle/>
        <a:p>
          <a:endParaRPr lang="en-US"/>
        </a:p>
      </dgm:t>
    </dgm:pt>
    <dgm:pt modelId="{648FAD78-F23B-4EBB-90E5-89CA20D2B6F4}" type="pres">
      <dgm:prSet presAssocID="{2E48C13E-EDA4-47BC-9557-1C8D6C4D17E5}" presName="hierChild4" presStyleCnt="0"/>
      <dgm:spPr/>
    </dgm:pt>
    <dgm:pt modelId="{7022D099-2F54-415B-BABB-FD473D380136}" type="pres">
      <dgm:prSet presAssocID="{2E48C13E-EDA4-47BC-9557-1C8D6C4D17E5}" presName="hierChild5" presStyleCnt="0"/>
      <dgm:spPr/>
    </dgm:pt>
    <dgm:pt modelId="{5238C650-5294-44F4-BF5B-1F828E207282}" type="pres">
      <dgm:prSet presAssocID="{D97EB947-CB82-45BC-A62A-E1077BB85426}" presName="hierChild3" presStyleCnt="0"/>
      <dgm:spPr/>
    </dgm:pt>
  </dgm:ptLst>
  <dgm:cxnLst>
    <dgm:cxn modelId="{6415E651-8144-465F-9201-9E6BB3B8FC86}" type="presOf" srcId="{2ED0A2E3-B9AF-477C-82AB-D70E13078C2F}" destId="{F737C582-97D2-40E4-96EA-EB51B54A285D}" srcOrd="0" destOrd="0" presId="urn:microsoft.com/office/officeart/2005/8/layout/orgChart1"/>
    <dgm:cxn modelId="{08A3390A-445B-445D-AFB1-BB6785823A00}" srcId="{D97EB947-CB82-45BC-A62A-E1077BB85426}" destId="{6786FB9C-0547-45C8-9607-CB31CE3ECA35}" srcOrd="0" destOrd="0" parTransId="{C189E63D-E7F2-4AF4-8447-5E78B08AEEE6}" sibTransId="{F411FB3C-5F5A-4EF4-AB0C-E292971653F7}"/>
    <dgm:cxn modelId="{F801667A-EA92-42B4-A2A7-C45A0A6A52D7}" srcId="{D97EB947-CB82-45BC-A62A-E1077BB85426}" destId="{426211A9-7836-4845-A3D6-B2E3A81381A5}" srcOrd="1" destOrd="0" parTransId="{2ED0A2E3-B9AF-477C-82AB-D70E13078C2F}" sibTransId="{4DABE3B5-4657-4A03-99CD-7F0E1AF02AD5}"/>
    <dgm:cxn modelId="{61A5AD52-BCA8-47C8-A433-68EEE8EC5E0B}" type="presOf" srcId="{C189E63D-E7F2-4AF4-8447-5E78B08AEEE6}" destId="{6B6D56FD-EC8D-4D21-90A4-D3029BBEE940}" srcOrd="0" destOrd="0" presId="urn:microsoft.com/office/officeart/2005/8/layout/orgChart1"/>
    <dgm:cxn modelId="{CAB6C8EC-AD53-410E-BF9D-E1CAF1838454}" type="presOf" srcId="{110E3898-1EEB-4C4A-8A44-6CB941AFAF2C}" destId="{9904F5F2-9112-4639-9C93-32FECED199F7}" srcOrd="0" destOrd="0" presId="urn:microsoft.com/office/officeart/2005/8/layout/orgChart1"/>
    <dgm:cxn modelId="{CEEBEAE8-6CA8-4D90-9F12-48E28D013EB9}" type="presOf" srcId="{426211A9-7836-4845-A3D6-B2E3A81381A5}" destId="{61247251-1D26-4538-A0A6-55971FEF59AE}" srcOrd="1" destOrd="0" presId="urn:microsoft.com/office/officeart/2005/8/layout/orgChart1"/>
    <dgm:cxn modelId="{3C16DD67-57F2-4990-9E4C-92CC1DA9B15D}" type="presOf" srcId="{426211A9-7836-4845-A3D6-B2E3A81381A5}" destId="{1E9A6193-D8BA-4981-BD93-DCECF1FCCB6F}" srcOrd="0" destOrd="0" presId="urn:microsoft.com/office/officeart/2005/8/layout/orgChart1"/>
    <dgm:cxn modelId="{39445AEA-EE54-4751-A0BE-D4A31184B208}" srcId="{D97EB947-CB82-45BC-A62A-E1077BB85426}" destId="{2E48C13E-EDA4-47BC-9557-1C8D6C4D17E5}" srcOrd="2" destOrd="0" parTransId="{110E3898-1EEB-4C4A-8A44-6CB941AFAF2C}" sibTransId="{CC7F9308-0EAC-4608-BA63-CD5BF53FACBB}"/>
    <dgm:cxn modelId="{3D21A057-0DFE-4536-B9F0-B45F55553C7B}" type="presOf" srcId="{D97EB947-CB82-45BC-A62A-E1077BB85426}" destId="{6874F280-E249-4D6E-BEBE-64DA436DEC00}" srcOrd="0" destOrd="0" presId="urn:microsoft.com/office/officeart/2005/8/layout/orgChart1"/>
    <dgm:cxn modelId="{89091B4B-1131-47F5-9765-AE1A021B5567}" type="presOf" srcId="{6786FB9C-0547-45C8-9607-CB31CE3ECA35}" destId="{E8C49D77-7A2E-450E-9E58-03B08C0F420D}" srcOrd="1" destOrd="0" presId="urn:microsoft.com/office/officeart/2005/8/layout/orgChart1"/>
    <dgm:cxn modelId="{CE82A39E-F4B5-407C-9766-6F1B635F7439}" srcId="{1E53EE9E-0389-4A10-BEE6-255582634BBD}" destId="{D97EB947-CB82-45BC-A62A-E1077BB85426}" srcOrd="0" destOrd="0" parTransId="{13D73E8F-BEB6-4D14-9410-961534B633EC}" sibTransId="{0B74B469-0EBC-4E23-8538-67B91B9DFC9E}"/>
    <dgm:cxn modelId="{C25CB2B8-BBF9-4867-A735-441F756BC6B5}" type="presOf" srcId="{1E53EE9E-0389-4A10-BEE6-255582634BBD}" destId="{14515F20-430A-4513-9EC4-A4D415B0CF14}" srcOrd="0" destOrd="0" presId="urn:microsoft.com/office/officeart/2005/8/layout/orgChart1"/>
    <dgm:cxn modelId="{09633245-7E30-46EE-96AA-9A2B7F6D7C87}" type="presOf" srcId="{D97EB947-CB82-45BC-A62A-E1077BB85426}" destId="{7A1C5DF9-B592-4640-828E-459D57BAB1CA}" srcOrd="1" destOrd="0" presId="urn:microsoft.com/office/officeart/2005/8/layout/orgChart1"/>
    <dgm:cxn modelId="{6C46E005-67F7-4148-BFD5-177F8103B67C}" type="presOf" srcId="{2E48C13E-EDA4-47BC-9557-1C8D6C4D17E5}" destId="{E1983F71-165B-47B7-A172-48F1A9DF872F}" srcOrd="1" destOrd="0" presId="urn:microsoft.com/office/officeart/2005/8/layout/orgChart1"/>
    <dgm:cxn modelId="{16D8326D-F427-4737-9F2C-F218E504DD7A}" type="presOf" srcId="{6786FB9C-0547-45C8-9607-CB31CE3ECA35}" destId="{60FBE001-DB88-4277-B8A2-4AC84D9A1D82}" srcOrd="0" destOrd="0" presId="urn:microsoft.com/office/officeart/2005/8/layout/orgChart1"/>
    <dgm:cxn modelId="{E165F37A-12A6-4A88-A309-ECDC805E7D72}" type="presOf" srcId="{2E48C13E-EDA4-47BC-9557-1C8D6C4D17E5}" destId="{429D7C57-260E-484F-9373-5EBA809DE994}" srcOrd="0" destOrd="0" presId="urn:microsoft.com/office/officeart/2005/8/layout/orgChart1"/>
    <dgm:cxn modelId="{2EFCC72B-6608-4432-A8E8-4ABE713D1B7F}" type="presParOf" srcId="{14515F20-430A-4513-9EC4-A4D415B0CF14}" destId="{761079D3-FDCA-47B2-8A88-BDBCA60207C2}" srcOrd="0" destOrd="0" presId="urn:microsoft.com/office/officeart/2005/8/layout/orgChart1"/>
    <dgm:cxn modelId="{747B47FE-4310-453C-AA11-CF9EA78C04F3}" type="presParOf" srcId="{761079D3-FDCA-47B2-8A88-BDBCA60207C2}" destId="{4479DDEE-74EA-4661-BB67-1D12C3B8E94B}" srcOrd="0" destOrd="0" presId="urn:microsoft.com/office/officeart/2005/8/layout/orgChart1"/>
    <dgm:cxn modelId="{7609AFDC-DBED-4AA4-A715-69F31AD16C77}" type="presParOf" srcId="{4479DDEE-74EA-4661-BB67-1D12C3B8E94B}" destId="{6874F280-E249-4D6E-BEBE-64DA436DEC00}" srcOrd="0" destOrd="0" presId="urn:microsoft.com/office/officeart/2005/8/layout/orgChart1"/>
    <dgm:cxn modelId="{8818D597-05E5-4A04-88E6-7709C60CC95C}" type="presParOf" srcId="{4479DDEE-74EA-4661-BB67-1D12C3B8E94B}" destId="{7A1C5DF9-B592-4640-828E-459D57BAB1CA}" srcOrd="1" destOrd="0" presId="urn:microsoft.com/office/officeart/2005/8/layout/orgChart1"/>
    <dgm:cxn modelId="{1DC43DFE-2FD8-43F8-8616-7FD5F7EEB29C}" type="presParOf" srcId="{761079D3-FDCA-47B2-8A88-BDBCA60207C2}" destId="{EE2B87E3-6FD1-4406-B1A6-A702495100EF}" srcOrd="1" destOrd="0" presId="urn:microsoft.com/office/officeart/2005/8/layout/orgChart1"/>
    <dgm:cxn modelId="{80DCE5C0-52DB-4EB9-99D8-110FDC7C587A}" type="presParOf" srcId="{EE2B87E3-6FD1-4406-B1A6-A702495100EF}" destId="{6B6D56FD-EC8D-4D21-90A4-D3029BBEE940}" srcOrd="0" destOrd="0" presId="urn:microsoft.com/office/officeart/2005/8/layout/orgChart1"/>
    <dgm:cxn modelId="{E8F2A061-65D2-4A77-851B-8C34E1706DD1}" type="presParOf" srcId="{EE2B87E3-6FD1-4406-B1A6-A702495100EF}" destId="{98B8EEDC-E866-4280-A1B3-C39BF248EA1C}" srcOrd="1" destOrd="0" presId="urn:microsoft.com/office/officeart/2005/8/layout/orgChart1"/>
    <dgm:cxn modelId="{031D0596-287E-4FC6-AE90-7B8ECC3A7390}" type="presParOf" srcId="{98B8EEDC-E866-4280-A1B3-C39BF248EA1C}" destId="{76E8C32F-640E-45C4-A332-F149DB03D612}" srcOrd="0" destOrd="0" presId="urn:microsoft.com/office/officeart/2005/8/layout/orgChart1"/>
    <dgm:cxn modelId="{B1E1FCB2-FF05-4CF4-9D10-B4C877FCCFFD}" type="presParOf" srcId="{76E8C32F-640E-45C4-A332-F149DB03D612}" destId="{60FBE001-DB88-4277-B8A2-4AC84D9A1D82}" srcOrd="0" destOrd="0" presId="urn:microsoft.com/office/officeart/2005/8/layout/orgChart1"/>
    <dgm:cxn modelId="{FB9F8D00-9B5F-4CFA-A1D8-613F5EA09ABE}" type="presParOf" srcId="{76E8C32F-640E-45C4-A332-F149DB03D612}" destId="{E8C49D77-7A2E-450E-9E58-03B08C0F420D}" srcOrd="1" destOrd="0" presId="urn:microsoft.com/office/officeart/2005/8/layout/orgChart1"/>
    <dgm:cxn modelId="{07B82B09-0032-4D1A-A560-F715A4A3ED18}" type="presParOf" srcId="{98B8EEDC-E866-4280-A1B3-C39BF248EA1C}" destId="{D75806E0-93CA-4EC4-8C0B-3680F4F91F95}" srcOrd="1" destOrd="0" presId="urn:microsoft.com/office/officeart/2005/8/layout/orgChart1"/>
    <dgm:cxn modelId="{2A490999-BF02-442F-808F-BEB7AF8FE5EC}" type="presParOf" srcId="{98B8EEDC-E866-4280-A1B3-C39BF248EA1C}" destId="{50C736A1-4B54-4512-BCB2-34C51CE27C17}" srcOrd="2" destOrd="0" presId="urn:microsoft.com/office/officeart/2005/8/layout/orgChart1"/>
    <dgm:cxn modelId="{2A13006C-AD0E-4C58-951F-01184B387670}" type="presParOf" srcId="{EE2B87E3-6FD1-4406-B1A6-A702495100EF}" destId="{F737C582-97D2-40E4-96EA-EB51B54A285D}" srcOrd="2" destOrd="0" presId="urn:microsoft.com/office/officeart/2005/8/layout/orgChart1"/>
    <dgm:cxn modelId="{24C8C0B2-67C7-41B2-A6D1-924C08EDFB44}" type="presParOf" srcId="{EE2B87E3-6FD1-4406-B1A6-A702495100EF}" destId="{7DC446AB-BB94-4B64-9200-B9194E32AF57}" srcOrd="3" destOrd="0" presId="urn:microsoft.com/office/officeart/2005/8/layout/orgChart1"/>
    <dgm:cxn modelId="{D2B2871C-EF21-4F6D-861C-1687F53191C5}" type="presParOf" srcId="{7DC446AB-BB94-4B64-9200-B9194E32AF57}" destId="{FB112B0E-89D7-42B6-9ABE-86890929CC6B}" srcOrd="0" destOrd="0" presId="urn:microsoft.com/office/officeart/2005/8/layout/orgChart1"/>
    <dgm:cxn modelId="{2237D45E-6F0C-4633-AA2E-B06E0AC32377}" type="presParOf" srcId="{FB112B0E-89D7-42B6-9ABE-86890929CC6B}" destId="{1E9A6193-D8BA-4981-BD93-DCECF1FCCB6F}" srcOrd="0" destOrd="0" presId="urn:microsoft.com/office/officeart/2005/8/layout/orgChart1"/>
    <dgm:cxn modelId="{E5FDE3DE-E8B3-4680-B3FC-7FA1201E6586}" type="presParOf" srcId="{FB112B0E-89D7-42B6-9ABE-86890929CC6B}" destId="{61247251-1D26-4538-A0A6-55971FEF59AE}" srcOrd="1" destOrd="0" presId="urn:microsoft.com/office/officeart/2005/8/layout/orgChart1"/>
    <dgm:cxn modelId="{A7E7C492-D355-48BF-93FB-DD4ECCCCEBB2}" type="presParOf" srcId="{7DC446AB-BB94-4B64-9200-B9194E32AF57}" destId="{5B78328B-5C1C-471C-98D9-3E8F928AD459}" srcOrd="1" destOrd="0" presId="urn:microsoft.com/office/officeart/2005/8/layout/orgChart1"/>
    <dgm:cxn modelId="{F18CEC93-F442-40BA-8A44-41842D89A2FB}" type="presParOf" srcId="{7DC446AB-BB94-4B64-9200-B9194E32AF57}" destId="{AB0E5151-110F-451C-98C7-00B9900DE8A0}" srcOrd="2" destOrd="0" presId="urn:microsoft.com/office/officeart/2005/8/layout/orgChart1"/>
    <dgm:cxn modelId="{A5F7C573-C3E0-495D-BA0A-80A4F3404FE7}" type="presParOf" srcId="{EE2B87E3-6FD1-4406-B1A6-A702495100EF}" destId="{9904F5F2-9112-4639-9C93-32FECED199F7}" srcOrd="4" destOrd="0" presId="urn:microsoft.com/office/officeart/2005/8/layout/orgChart1"/>
    <dgm:cxn modelId="{5BE4AE94-C5AD-44AB-A766-669969E87962}" type="presParOf" srcId="{EE2B87E3-6FD1-4406-B1A6-A702495100EF}" destId="{DDE5B175-A76D-4179-BCCE-9AF784254B92}" srcOrd="5" destOrd="0" presId="urn:microsoft.com/office/officeart/2005/8/layout/orgChart1"/>
    <dgm:cxn modelId="{4136A841-F198-40AF-AB71-F0A081CA9BD1}" type="presParOf" srcId="{DDE5B175-A76D-4179-BCCE-9AF784254B92}" destId="{92EBCE76-6A7F-463B-8C12-F5489CD38F67}" srcOrd="0" destOrd="0" presId="urn:microsoft.com/office/officeart/2005/8/layout/orgChart1"/>
    <dgm:cxn modelId="{9EAB79F0-BA3B-421F-A2B9-E557BCEED9E3}" type="presParOf" srcId="{92EBCE76-6A7F-463B-8C12-F5489CD38F67}" destId="{429D7C57-260E-484F-9373-5EBA809DE994}" srcOrd="0" destOrd="0" presId="urn:microsoft.com/office/officeart/2005/8/layout/orgChart1"/>
    <dgm:cxn modelId="{1AE6512C-FE90-4B9F-9184-AD3EDD960C5A}" type="presParOf" srcId="{92EBCE76-6A7F-463B-8C12-F5489CD38F67}" destId="{E1983F71-165B-47B7-A172-48F1A9DF872F}" srcOrd="1" destOrd="0" presId="urn:microsoft.com/office/officeart/2005/8/layout/orgChart1"/>
    <dgm:cxn modelId="{C3D3FA0F-812D-46C7-BB51-8F2800414DC6}" type="presParOf" srcId="{DDE5B175-A76D-4179-BCCE-9AF784254B92}" destId="{648FAD78-F23B-4EBB-90E5-89CA20D2B6F4}" srcOrd="1" destOrd="0" presId="urn:microsoft.com/office/officeart/2005/8/layout/orgChart1"/>
    <dgm:cxn modelId="{29B19BB3-EE7A-4EF0-8CAF-AB077C002E84}" type="presParOf" srcId="{DDE5B175-A76D-4179-BCCE-9AF784254B92}" destId="{7022D099-2F54-415B-BABB-FD473D380136}" srcOrd="2" destOrd="0" presId="urn:microsoft.com/office/officeart/2005/8/layout/orgChart1"/>
    <dgm:cxn modelId="{588DAE19-F374-4C80-903B-91F1F872D168}" type="presParOf" srcId="{761079D3-FDCA-47B2-8A88-BDBCA60207C2}" destId="{5238C650-5294-44F4-BF5B-1F828E20728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0E3E3-2AE6-4133-ADC1-FA0C1625DBA9}">
      <dsp:nvSpPr>
        <dsp:cNvPr id="0" name=""/>
        <dsp:cNvSpPr/>
      </dsp:nvSpPr>
      <dsp:spPr>
        <a:xfrm>
          <a:off x="4114799" y="2010352"/>
          <a:ext cx="2911251" cy="505258"/>
        </a:xfrm>
        <a:custGeom>
          <a:avLst/>
          <a:gdLst/>
          <a:ahLst/>
          <a:cxnLst/>
          <a:rect l="0" t="0" r="0" b="0"/>
          <a:pathLst>
            <a:path>
              <a:moveTo>
                <a:pt x="0" y="0"/>
              </a:moveTo>
              <a:lnTo>
                <a:pt x="0" y="252629"/>
              </a:lnTo>
              <a:lnTo>
                <a:pt x="2911251" y="252629"/>
              </a:lnTo>
              <a:lnTo>
                <a:pt x="2911251"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2F524D-8CDC-4427-9F4B-377D72585D60}">
      <dsp:nvSpPr>
        <dsp:cNvPr id="0" name=""/>
        <dsp:cNvSpPr/>
      </dsp:nvSpPr>
      <dsp:spPr>
        <a:xfrm>
          <a:off x="4069079" y="2010352"/>
          <a:ext cx="91440" cy="505258"/>
        </a:xfrm>
        <a:custGeom>
          <a:avLst/>
          <a:gdLst/>
          <a:ahLst/>
          <a:cxnLst/>
          <a:rect l="0" t="0" r="0" b="0"/>
          <a:pathLst>
            <a:path>
              <a:moveTo>
                <a:pt x="45720" y="0"/>
              </a:moveTo>
              <a:lnTo>
                <a:pt x="4572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A1E291-391D-4FF4-934C-C463FA5BF25B}">
      <dsp:nvSpPr>
        <dsp:cNvPr id="0" name=""/>
        <dsp:cNvSpPr/>
      </dsp:nvSpPr>
      <dsp:spPr>
        <a:xfrm>
          <a:off x="1203548" y="2010352"/>
          <a:ext cx="2911251" cy="505258"/>
        </a:xfrm>
        <a:custGeom>
          <a:avLst/>
          <a:gdLst/>
          <a:ahLst/>
          <a:cxnLst/>
          <a:rect l="0" t="0" r="0" b="0"/>
          <a:pathLst>
            <a:path>
              <a:moveTo>
                <a:pt x="2911251" y="0"/>
              </a:moveTo>
              <a:lnTo>
                <a:pt x="2911251" y="252629"/>
              </a:lnTo>
              <a:lnTo>
                <a:pt x="0" y="252629"/>
              </a:lnTo>
              <a:lnTo>
                <a:pt x="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AEC42C-F7FA-4691-A7EB-EC182BFE2F21}">
      <dsp:nvSpPr>
        <dsp:cNvPr id="0" name=""/>
        <dsp:cNvSpPr/>
      </dsp:nvSpPr>
      <dsp:spPr>
        <a:xfrm>
          <a:off x="2911803" y="807355"/>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sp:txBody>
      <dsp:txXfrm>
        <a:off x="2911803" y="807355"/>
        <a:ext cx="2405992" cy="1202996"/>
      </dsp:txXfrm>
    </dsp:sp>
    <dsp:sp modelId="{8362DC1B-2F6A-43BD-857A-AB75DD9E84A0}">
      <dsp:nvSpPr>
        <dsp:cNvPr id="0" name=""/>
        <dsp:cNvSpPr/>
      </dsp:nvSpPr>
      <dsp:spPr>
        <a:xfrm>
          <a:off x="552"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sp:txBody>
      <dsp:txXfrm>
        <a:off x="552" y="2515610"/>
        <a:ext cx="2405992" cy="1202996"/>
      </dsp:txXfrm>
    </dsp:sp>
    <dsp:sp modelId="{3C3387A3-FAA8-436A-9F7F-982827F65588}">
      <dsp:nvSpPr>
        <dsp:cNvPr id="0" name=""/>
        <dsp:cNvSpPr/>
      </dsp:nvSpPr>
      <dsp:spPr>
        <a:xfrm>
          <a:off x="2911803"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Learning rules</a:t>
          </a:r>
        </a:p>
      </dsp:txBody>
      <dsp:txXfrm>
        <a:off x="2911803" y="2515610"/>
        <a:ext cx="2405992" cy="1202996"/>
      </dsp:txXfrm>
    </dsp:sp>
    <dsp:sp modelId="{05241768-9A09-4830-B9E1-BF3199079C24}">
      <dsp:nvSpPr>
        <dsp:cNvPr id="0" name=""/>
        <dsp:cNvSpPr/>
      </dsp:nvSpPr>
      <dsp:spPr>
        <a:xfrm>
          <a:off x="5823054"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sp:txBody>
      <dsp:txXfrm>
        <a:off x="5823054" y="2515610"/>
        <a:ext cx="2405992" cy="12029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B6419C-EEF2-4A74-8BBB-AC849049BF35}">
      <dsp:nvSpPr>
        <dsp:cNvPr id="0" name=""/>
        <dsp:cNvSpPr/>
      </dsp:nvSpPr>
      <dsp:spPr>
        <a:xfrm>
          <a:off x="4589683" y="2251803"/>
          <a:ext cx="273003" cy="2129427"/>
        </a:xfrm>
        <a:custGeom>
          <a:avLst/>
          <a:gdLst/>
          <a:ahLst/>
          <a:cxnLst/>
          <a:rect l="0" t="0" r="0" b="0"/>
          <a:pathLst>
            <a:path>
              <a:moveTo>
                <a:pt x="0" y="0"/>
              </a:moveTo>
              <a:lnTo>
                <a:pt x="0" y="2129427"/>
              </a:lnTo>
              <a:lnTo>
                <a:pt x="273003" y="21294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0C3BF9-7D75-45DD-AED2-0C2452879EE6}">
      <dsp:nvSpPr>
        <dsp:cNvPr id="0" name=""/>
        <dsp:cNvSpPr/>
      </dsp:nvSpPr>
      <dsp:spPr>
        <a:xfrm>
          <a:off x="4589683" y="2251803"/>
          <a:ext cx="273003" cy="837210"/>
        </a:xfrm>
        <a:custGeom>
          <a:avLst/>
          <a:gdLst/>
          <a:ahLst/>
          <a:cxnLst/>
          <a:rect l="0" t="0" r="0" b="0"/>
          <a:pathLst>
            <a:path>
              <a:moveTo>
                <a:pt x="0" y="0"/>
              </a:moveTo>
              <a:lnTo>
                <a:pt x="0" y="837210"/>
              </a:lnTo>
              <a:lnTo>
                <a:pt x="273003" y="8372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BC208-12FE-4D7F-B54E-56AE2EFC6BD5}">
      <dsp:nvSpPr>
        <dsp:cNvPr id="0" name=""/>
        <dsp:cNvSpPr/>
      </dsp:nvSpPr>
      <dsp:spPr>
        <a:xfrm>
          <a:off x="3115464" y="959587"/>
          <a:ext cx="2202228" cy="382205"/>
        </a:xfrm>
        <a:custGeom>
          <a:avLst/>
          <a:gdLst/>
          <a:ahLst/>
          <a:cxnLst/>
          <a:rect l="0" t="0" r="0" b="0"/>
          <a:pathLst>
            <a:path>
              <a:moveTo>
                <a:pt x="0" y="0"/>
              </a:moveTo>
              <a:lnTo>
                <a:pt x="0" y="191102"/>
              </a:lnTo>
              <a:lnTo>
                <a:pt x="2202228" y="191102"/>
              </a:lnTo>
              <a:lnTo>
                <a:pt x="2202228" y="38220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3347C7-6972-4F61-A74D-6D0F5A79C6E0}">
      <dsp:nvSpPr>
        <dsp:cNvPr id="0" name=""/>
        <dsp:cNvSpPr/>
      </dsp:nvSpPr>
      <dsp:spPr>
        <a:xfrm>
          <a:off x="3069744" y="959587"/>
          <a:ext cx="91440" cy="382205"/>
        </a:xfrm>
        <a:custGeom>
          <a:avLst/>
          <a:gdLst/>
          <a:ahLst/>
          <a:cxnLst/>
          <a:rect l="0" t="0" r="0" b="0"/>
          <a:pathLst>
            <a:path>
              <a:moveTo>
                <a:pt x="45720" y="0"/>
              </a:moveTo>
              <a:lnTo>
                <a:pt x="45720" y="38220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58A12-B767-4B98-BB80-6C872A397C32}">
      <dsp:nvSpPr>
        <dsp:cNvPr id="0" name=""/>
        <dsp:cNvSpPr/>
      </dsp:nvSpPr>
      <dsp:spPr>
        <a:xfrm>
          <a:off x="185226" y="2251803"/>
          <a:ext cx="273003" cy="2129427"/>
        </a:xfrm>
        <a:custGeom>
          <a:avLst/>
          <a:gdLst/>
          <a:ahLst/>
          <a:cxnLst/>
          <a:rect l="0" t="0" r="0" b="0"/>
          <a:pathLst>
            <a:path>
              <a:moveTo>
                <a:pt x="0" y="0"/>
              </a:moveTo>
              <a:lnTo>
                <a:pt x="0" y="2129427"/>
              </a:lnTo>
              <a:lnTo>
                <a:pt x="273003" y="21294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54ACFB-7288-452C-8806-8CE9B0968690}">
      <dsp:nvSpPr>
        <dsp:cNvPr id="0" name=""/>
        <dsp:cNvSpPr/>
      </dsp:nvSpPr>
      <dsp:spPr>
        <a:xfrm>
          <a:off x="185226" y="2251803"/>
          <a:ext cx="273003" cy="837210"/>
        </a:xfrm>
        <a:custGeom>
          <a:avLst/>
          <a:gdLst/>
          <a:ahLst/>
          <a:cxnLst/>
          <a:rect l="0" t="0" r="0" b="0"/>
          <a:pathLst>
            <a:path>
              <a:moveTo>
                <a:pt x="0" y="0"/>
              </a:moveTo>
              <a:lnTo>
                <a:pt x="0" y="837210"/>
              </a:lnTo>
              <a:lnTo>
                <a:pt x="273003" y="8372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3F29D5-C771-45AA-AAE1-AD4516FBBD9F}">
      <dsp:nvSpPr>
        <dsp:cNvPr id="0" name=""/>
        <dsp:cNvSpPr/>
      </dsp:nvSpPr>
      <dsp:spPr>
        <a:xfrm>
          <a:off x="913235" y="959587"/>
          <a:ext cx="2202228" cy="382205"/>
        </a:xfrm>
        <a:custGeom>
          <a:avLst/>
          <a:gdLst/>
          <a:ahLst/>
          <a:cxnLst/>
          <a:rect l="0" t="0" r="0" b="0"/>
          <a:pathLst>
            <a:path>
              <a:moveTo>
                <a:pt x="2202228" y="0"/>
              </a:moveTo>
              <a:lnTo>
                <a:pt x="2202228" y="191102"/>
              </a:lnTo>
              <a:lnTo>
                <a:pt x="0" y="191102"/>
              </a:lnTo>
              <a:lnTo>
                <a:pt x="0" y="38220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CD60CD-CFFC-4C24-94A1-98FF183E8CF7}">
      <dsp:nvSpPr>
        <dsp:cNvPr id="0" name=""/>
        <dsp:cNvSpPr/>
      </dsp:nvSpPr>
      <dsp:spPr>
        <a:xfrm>
          <a:off x="2205452" y="49575"/>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Interconnections </a:t>
          </a:r>
          <a:endParaRPr lang="en-US" sz="2000" kern="1200" dirty="0">
            <a:solidFill>
              <a:srgbClr val="FF0000"/>
            </a:solidFill>
          </a:endParaRPr>
        </a:p>
      </dsp:txBody>
      <dsp:txXfrm>
        <a:off x="2205452" y="49575"/>
        <a:ext cx="1820023" cy="910011"/>
      </dsp:txXfrm>
    </dsp:sp>
    <dsp:sp modelId="{A0DAE93F-0DC3-47B3-B476-B8608300CF61}">
      <dsp:nvSpPr>
        <dsp:cNvPr id="0" name=""/>
        <dsp:cNvSpPr/>
      </dsp:nvSpPr>
      <dsp:spPr>
        <a:xfrm>
          <a:off x="3223" y="1341792"/>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Feed forward</a:t>
          </a:r>
          <a:endParaRPr lang="en-US" sz="2000" kern="1200" dirty="0">
            <a:solidFill>
              <a:srgbClr val="FF0000"/>
            </a:solidFill>
          </a:endParaRPr>
        </a:p>
      </dsp:txBody>
      <dsp:txXfrm>
        <a:off x="3223" y="1341792"/>
        <a:ext cx="1820023" cy="910011"/>
      </dsp:txXfrm>
    </dsp:sp>
    <dsp:sp modelId="{848ADC6D-34A7-4E63-A6F8-B4291FCA434F}">
      <dsp:nvSpPr>
        <dsp:cNvPr id="0" name=""/>
        <dsp:cNvSpPr/>
      </dsp:nvSpPr>
      <dsp:spPr>
        <a:xfrm>
          <a:off x="458229" y="2634009"/>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Single layer</a:t>
          </a:r>
          <a:endParaRPr lang="en-US" sz="2000" kern="1200" dirty="0">
            <a:solidFill>
              <a:srgbClr val="FF0000"/>
            </a:solidFill>
          </a:endParaRPr>
        </a:p>
      </dsp:txBody>
      <dsp:txXfrm>
        <a:off x="458229" y="2634009"/>
        <a:ext cx="1820023" cy="910011"/>
      </dsp:txXfrm>
    </dsp:sp>
    <dsp:sp modelId="{89FB2CEB-F1A6-4C4F-B548-7B5F371FC6ED}">
      <dsp:nvSpPr>
        <dsp:cNvPr id="0" name=""/>
        <dsp:cNvSpPr/>
      </dsp:nvSpPr>
      <dsp:spPr>
        <a:xfrm>
          <a:off x="458229" y="3926225"/>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Multilayer </a:t>
          </a:r>
          <a:endParaRPr lang="en-US" sz="2000" kern="1200" dirty="0">
            <a:solidFill>
              <a:srgbClr val="FF0000"/>
            </a:solidFill>
          </a:endParaRPr>
        </a:p>
      </dsp:txBody>
      <dsp:txXfrm>
        <a:off x="458229" y="3926225"/>
        <a:ext cx="1820023" cy="910011"/>
      </dsp:txXfrm>
    </dsp:sp>
    <dsp:sp modelId="{5ED50334-AD17-474F-BBAD-DBE37F91864E}">
      <dsp:nvSpPr>
        <dsp:cNvPr id="0" name=""/>
        <dsp:cNvSpPr/>
      </dsp:nvSpPr>
      <dsp:spPr>
        <a:xfrm>
          <a:off x="2205452" y="1341792"/>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Feed Back</a:t>
          </a:r>
          <a:endParaRPr lang="en-US" sz="2000" kern="1200" dirty="0">
            <a:solidFill>
              <a:srgbClr val="FF0000"/>
            </a:solidFill>
          </a:endParaRPr>
        </a:p>
      </dsp:txBody>
      <dsp:txXfrm>
        <a:off x="2205452" y="1341792"/>
        <a:ext cx="1820023" cy="910011"/>
      </dsp:txXfrm>
    </dsp:sp>
    <dsp:sp modelId="{637EBCF0-E339-46E7-B780-E14AAB150E1F}">
      <dsp:nvSpPr>
        <dsp:cNvPr id="0" name=""/>
        <dsp:cNvSpPr/>
      </dsp:nvSpPr>
      <dsp:spPr>
        <a:xfrm>
          <a:off x="4407681" y="1341792"/>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Recurrent </a:t>
          </a:r>
          <a:endParaRPr lang="en-US" sz="2000" kern="1200" dirty="0">
            <a:solidFill>
              <a:srgbClr val="FF0000"/>
            </a:solidFill>
          </a:endParaRPr>
        </a:p>
      </dsp:txBody>
      <dsp:txXfrm>
        <a:off x="4407681" y="1341792"/>
        <a:ext cx="1820023" cy="910011"/>
      </dsp:txXfrm>
    </dsp:sp>
    <dsp:sp modelId="{1DBD77DD-4B5E-4EEC-BE6D-9F3C1AF8D026}">
      <dsp:nvSpPr>
        <dsp:cNvPr id="0" name=""/>
        <dsp:cNvSpPr/>
      </dsp:nvSpPr>
      <dsp:spPr>
        <a:xfrm>
          <a:off x="4862687" y="2634009"/>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Single layer</a:t>
          </a:r>
          <a:endParaRPr lang="en-US" sz="2000" kern="1200" dirty="0">
            <a:solidFill>
              <a:srgbClr val="FF0000"/>
            </a:solidFill>
          </a:endParaRPr>
        </a:p>
      </dsp:txBody>
      <dsp:txXfrm>
        <a:off x="4862687" y="2634009"/>
        <a:ext cx="1820023" cy="910011"/>
      </dsp:txXfrm>
    </dsp:sp>
    <dsp:sp modelId="{021ECFAA-68ED-4E14-9964-0BFB098C3818}">
      <dsp:nvSpPr>
        <dsp:cNvPr id="0" name=""/>
        <dsp:cNvSpPr/>
      </dsp:nvSpPr>
      <dsp:spPr>
        <a:xfrm>
          <a:off x="4862687" y="3926225"/>
          <a:ext cx="1820023" cy="9100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0000"/>
              </a:solidFill>
            </a:rPr>
            <a:t>Multilayer </a:t>
          </a:r>
          <a:endParaRPr lang="en-US" sz="2000" kern="1200" dirty="0">
            <a:solidFill>
              <a:srgbClr val="FF0000"/>
            </a:solidFill>
          </a:endParaRPr>
        </a:p>
      </dsp:txBody>
      <dsp:txXfrm>
        <a:off x="4862687" y="3926225"/>
        <a:ext cx="1820023" cy="9100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254EE-40E7-4D0C-B2FD-79D885F7DF4F}">
      <dsp:nvSpPr>
        <dsp:cNvPr id="0" name=""/>
        <dsp:cNvSpPr/>
      </dsp:nvSpPr>
      <dsp:spPr>
        <a:xfrm>
          <a:off x="4114799" y="2010352"/>
          <a:ext cx="2911251" cy="505258"/>
        </a:xfrm>
        <a:custGeom>
          <a:avLst/>
          <a:gdLst/>
          <a:ahLst/>
          <a:cxnLst/>
          <a:rect l="0" t="0" r="0" b="0"/>
          <a:pathLst>
            <a:path>
              <a:moveTo>
                <a:pt x="0" y="0"/>
              </a:moveTo>
              <a:lnTo>
                <a:pt x="0" y="252629"/>
              </a:lnTo>
              <a:lnTo>
                <a:pt x="2911251" y="252629"/>
              </a:lnTo>
              <a:lnTo>
                <a:pt x="2911251"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92032D-2B6F-4664-9210-030138B03555}">
      <dsp:nvSpPr>
        <dsp:cNvPr id="0" name=""/>
        <dsp:cNvSpPr/>
      </dsp:nvSpPr>
      <dsp:spPr>
        <a:xfrm>
          <a:off x="4069079" y="2010352"/>
          <a:ext cx="91440" cy="505258"/>
        </a:xfrm>
        <a:custGeom>
          <a:avLst/>
          <a:gdLst/>
          <a:ahLst/>
          <a:cxnLst/>
          <a:rect l="0" t="0" r="0" b="0"/>
          <a:pathLst>
            <a:path>
              <a:moveTo>
                <a:pt x="45720" y="0"/>
              </a:moveTo>
              <a:lnTo>
                <a:pt x="4572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73547-6A4B-4983-8300-6A1211DC0858}">
      <dsp:nvSpPr>
        <dsp:cNvPr id="0" name=""/>
        <dsp:cNvSpPr/>
      </dsp:nvSpPr>
      <dsp:spPr>
        <a:xfrm>
          <a:off x="1203548" y="2010352"/>
          <a:ext cx="2911251" cy="505258"/>
        </a:xfrm>
        <a:custGeom>
          <a:avLst/>
          <a:gdLst/>
          <a:ahLst/>
          <a:cxnLst/>
          <a:rect l="0" t="0" r="0" b="0"/>
          <a:pathLst>
            <a:path>
              <a:moveTo>
                <a:pt x="2911251" y="0"/>
              </a:moveTo>
              <a:lnTo>
                <a:pt x="2911251" y="252629"/>
              </a:lnTo>
              <a:lnTo>
                <a:pt x="0" y="252629"/>
              </a:lnTo>
              <a:lnTo>
                <a:pt x="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079DE0-916E-4B3D-8906-6F7C1485F399}">
      <dsp:nvSpPr>
        <dsp:cNvPr id="0" name=""/>
        <dsp:cNvSpPr/>
      </dsp:nvSpPr>
      <dsp:spPr>
        <a:xfrm>
          <a:off x="2911803" y="807355"/>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sp:txBody>
      <dsp:txXfrm>
        <a:off x="2911803" y="807355"/>
        <a:ext cx="2405992" cy="1202996"/>
      </dsp:txXfrm>
    </dsp:sp>
    <dsp:sp modelId="{5D5090C5-F139-4EEA-99BC-E2E990EA6CC0}">
      <dsp:nvSpPr>
        <dsp:cNvPr id="0" name=""/>
        <dsp:cNvSpPr/>
      </dsp:nvSpPr>
      <dsp:spPr>
        <a:xfrm>
          <a:off x="552"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sp:txBody>
      <dsp:txXfrm>
        <a:off x="552" y="2515610"/>
        <a:ext cx="2405992" cy="1202996"/>
      </dsp:txXfrm>
    </dsp:sp>
    <dsp:sp modelId="{D3B21FFD-187B-4A0A-8B7B-CAEA4371F772}">
      <dsp:nvSpPr>
        <dsp:cNvPr id="0" name=""/>
        <dsp:cNvSpPr/>
      </dsp:nvSpPr>
      <dsp:spPr>
        <a:xfrm>
          <a:off x="2911803"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Learning rules</a:t>
          </a:r>
        </a:p>
      </dsp:txBody>
      <dsp:txXfrm>
        <a:off x="2911803" y="2515610"/>
        <a:ext cx="2405992" cy="1202996"/>
      </dsp:txXfrm>
    </dsp:sp>
    <dsp:sp modelId="{9E20BA40-BB4F-4B1D-9115-361C66D024E3}">
      <dsp:nvSpPr>
        <dsp:cNvPr id="0" name=""/>
        <dsp:cNvSpPr/>
      </dsp:nvSpPr>
      <dsp:spPr>
        <a:xfrm>
          <a:off x="5823054"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sp:txBody>
      <dsp:txXfrm>
        <a:off x="5823054" y="2515610"/>
        <a:ext cx="2405992" cy="12029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04F5F2-9112-4639-9C93-32FECED199F7}">
      <dsp:nvSpPr>
        <dsp:cNvPr id="0" name=""/>
        <dsp:cNvSpPr/>
      </dsp:nvSpPr>
      <dsp:spPr>
        <a:xfrm>
          <a:off x="4114799" y="2010352"/>
          <a:ext cx="2911251" cy="505258"/>
        </a:xfrm>
        <a:custGeom>
          <a:avLst/>
          <a:gdLst/>
          <a:ahLst/>
          <a:cxnLst/>
          <a:rect l="0" t="0" r="0" b="0"/>
          <a:pathLst>
            <a:path>
              <a:moveTo>
                <a:pt x="0" y="0"/>
              </a:moveTo>
              <a:lnTo>
                <a:pt x="0" y="252629"/>
              </a:lnTo>
              <a:lnTo>
                <a:pt x="2911251" y="252629"/>
              </a:lnTo>
              <a:lnTo>
                <a:pt x="2911251"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37C582-97D2-40E4-96EA-EB51B54A285D}">
      <dsp:nvSpPr>
        <dsp:cNvPr id="0" name=""/>
        <dsp:cNvSpPr/>
      </dsp:nvSpPr>
      <dsp:spPr>
        <a:xfrm>
          <a:off x="4069079" y="2010352"/>
          <a:ext cx="91440" cy="505258"/>
        </a:xfrm>
        <a:custGeom>
          <a:avLst/>
          <a:gdLst/>
          <a:ahLst/>
          <a:cxnLst/>
          <a:rect l="0" t="0" r="0" b="0"/>
          <a:pathLst>
            <a:path>
              <a:moveTo>
                <a:pt x="45720" y="0"/>
              </a:moveTo>
              <a:lnTo>
                <a:pt x="4572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6D56FD-EC8D-4D21-90A4-D3029BBEE940}">
      <dsp:nvSpPr>
        <dsp:cNvPr id="0" name=""/>
        <dsp:cNvSpPr/>
      </dsp:nvSpPr>
      <dsp:spPr>
        <a:xfrm>
          <a:off x="1203548" y="2010352"/>
          <a:ext cx="2911251" cy="505258"/>
        </a:xfrm>
        <a:custGeom>
          <a:avLst/>
          <a:gdLst/>
          <a:ahLst/>
          <a:cxnLst/>
          <a:rect l="0" t="0" r="0" b="0"/>
          <a:pathLst>
            <a:path>
              <a:moveTo>
                <a:pt x="2911251" y="0"/>
              </a:moveTo>
              <a:lnTo>
                <a:pt x="2911251" y="252629"/>
              </a:lnTo>
              <a:lnTo>
                <a:pt x="0" y="252629"/>
              </a:lnTo>
              <a:lnTo>
                <a:pt x="0" y="5052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74F280-E249-4D6E-BEBE-64DA436DEC00}">
      <dsp:nvSpPr>
        <dsp:cNvPr id="0" name=""/>
        <dsp:cNvSpPr/>
      </dsp:nvSpPr>
      <dsp:spPr>
        <a:xfrm>
          <a:off x="2911803" y="807355"/>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Basic Models of ANN</a:t>
          </a:r>
        </a:p>
      </dsp:txBody>
      <dsp:txXfrm>
        <a:off x="2911803" y="807355"/>
        <a:ext cx="2405992" cy="1202996"/>
      </dsp:txXfrm>
    </dsp:sp>
    <dsp:sp modelId="{60FBE001-DB88-4277-B8A2-4AC84D9A1D82}">
      <dsp:nvSpPr>
        <dsp:cNvPr id="0" name=""/>
        <dsp:cNvSpPr/>
      </dsp:nvSpPr>
      <dsp:spPr>
        <a:xfrm>
          <a:off x="552"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Interconnections</a:t>
          </a:r>
        </a:p>
      </dsp:txBody>
      <dsp:txXfrm>
        <a:off x="552" y="2515610"/>
        <a:ext cx="2405992" cy="1202996"/>
      </dsp:txXfrm>
    </dsp:sp>
    <dsp:sp modelId="{1E9A6193-D8BA-4981-BD93-DCECF1FCCB6F}">
      <dsp:nvSpPr>
        <dsp:cNvPr id="0" name=""/>
        <dsp:cNvSpPr/>
      </dsp:nvSpPr>
      <dsp:spPr>
        <a:xfrm>
          <a:off x="2911803"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Learning rules</a:t>
          </a:r>
        </a:p>
      </dsp:txBody>
      <dsp:txXfrm>
        <a:off x="2911803" y="2515610"/>
        <a:ext cx="2405992" cy="1202996"/>
      </dsp:txXfrm>
    </dsp:sp>
    <dsp:sp modelId="{429D7C57-260E-484F-9373-5EBA809DE994}">
      <dsp:nvSpPr>
        <dsp:cNvPr id="0" name=""/>
        <dsp:cNvSpPr/>
      </dsp:nvSpPr>
      <dsp:spPr>
        <a:xfrm>
          <a:off x="5823054" y="2515610"/>
          <a:ext cx="2405992" cy="12029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5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Activation function</a:t>
          </a:r>
        </a:p>
      </dsp:txBody>
      <dsp:txXfrm>
        <a:off x="5823054" y="2515610"/>
        <a:ext cx="2405992" cy="120299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9BB8C-1BC3-4946-93E4-D65DB75E61ED}"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D84A2-BBF1-40B1-AA78-97C436C2FD67}" type="slidenum">
              <a:rPr lang="en-US" smtClean="0"/>
              <a:t>‹#›</a:t>
            </a:fld>
            <a:endParaRPr lang="en-US"/>
          </a:p>
        </p:txBody>
      </p:sp>
    </p:spTree>
    <p:extLst>
      <p:ext uri="{BB962C8B-B14F-4D97-AF65-F5344CB8AC3E}">
        <p14:creationId xmlns:p14="http://schemas.microsoft.com/office/powerpoint/2010/main" val="307130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188485C-0B9D-40EE-BE8E-F76EDFEFC8B4}" type="slidenum">
              <a:rPr lang="en-IN" altLang="en-US"/>
              <a:pPr>
                <a:spcBef>
                  <a:spcPct val="0"/>
                </a:spcBef>
              </a:pPr>
              <a:t>5</a:t>
            </a:fld>
            <a:endParaRPr lang="en-IN" altLang="en-US"/>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a:p>
            <a:pPr eaLnBrk="1" hangingPunct="1"/>
            <a:endParaRPr lang="en-IN"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0636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vec</a:t>
            </a:r>
            <a:r>
              <a:rPr lang="en-US" sz="1200" kern="1200" dirty="0" smtClean="0">
                <a:solidFill>
                  <a:schemeClr val="tx1"/>
                </a:solidFill>
                <a:latin typeface="+mn-lt"/>
                <a:ea typeface="+mn-ea"/>
                <a:cs typeface="+mn-cs"/>
              </a:rPr>
              <a:t>{\theta}=\{</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93</a:t>
            </a:fld>
            <a:endParaRPr lang="en-US"/>
          </a:p>
        </p:txBody>
      </p:sp>
    </p:spTree>
    <p:extLst>
      <p:ext uri="{BB962C8B-B14F-4D97-AF65-F5344CB8AC3E}">
        <p14:creationId xmlns:p14="http://schemas.microsoft.com/office/powerpoint/2010/main" val="4222372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vec</a:t>
            </a:r>
            <a:r>
              <a:rPr lang="en-US" sz="1200" kern="1200" dirty="0" smtClean="0">
                <a:solidFill>
                  <a:schemeClr val="tx1"/>
                </a:solidFill>
                <a:latin typeface="+mn-lt"/>
                <a:ea typeface="+mn-ea"/>
                <a:cs typeface="+mn-cs"/>
              </a:rPr>
              <a:t>{\theta}=\{</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w_{kl</a:t>
            </a:r>
            <a:r>
              <a:rPr lang="en-US" sz="1200" kern="1200" smtClean="0">
                <a:solidFill>
                  <a:schemeClr val="tx1"/>
                </a:solidFill>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DFD5A442-4B65-8D4A-B84E-EDD0DD7A9191}" type="slidenum">
              <a:rPr lang="en-US" smtClean="0"/>
              <a:t>94</a:t>
            </a:fld>
            <a:endParaRPr lang="en-US"/>
          </a:p>
        </p:txBody>
      </p:sp>
    </p:spTree>
    <p:extLst>
      <p:ext uri="{BB962C8B-B14F-4D97-AF65-F5344CB8AC3E}">
        <p14:creationId xmlns:p14="http://schemas.microsoft.com/office/powerpoint/2010/main" val="4119583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vec</a:t>
            </a:r>
            <a:r>
              <a:rPr lang="en-US" sz="1200" kern="1200" dirty="0" smtClean="0">
                <a:solidFill>
                  <a:schemeClr val="tx1"/>
                </a:solidFill>
                <a:latin typeface="+mn-lt"/>
                <a:ea typeface="+mn-ea"/>
                <a:cs typeface="+mn-cs"/>
              </a:rPr>
              <a:t>{\theta}=\{</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w_{kl</a:t>
            </a:r>
            <a:r>
              <a:rPr lang="en-US" sz="1200" kern="1200" smtClean="0">
                <a:solidFill>
                  <a:schemeClr val="tx1"/>
                </a:solidFill>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DFD5A442-4B65-8D4A-B84E-EDD0DD7A9191}" type="slidenum">
              <a:rPr lang="en-US" smtClean="0"/>
              <a:t>95</a:t>
            </a:fld>
            <a:endParaRPr lang="en-US"/>
          </a:p>
        </p:txBody>
      </p:sp>
    </p:spTree>
    <p:extLst>
      <p:ext uri="{BB962C8B-B14F-4D97-AF65-F5344CB8AC3E}">
        <p14:creationId xmlns:p14="http://schemas.microsoft.com/office/powerpoint/2010/main" val="1020649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vec</a:t>
            </a:r>
            <a:r>
              <a:rPr lang="en-US" sz="1200" kern="1200" dirty="0" smtClean="0">
                <a:solidFill>
                  <a:schemeClr val="tx1"/>
                </a:solidFill>
                <a:latin typeface="+mn-lt"/>
                <a:ea typeface="+mn-ea"/>
                <a:cs typeface="+mn-cs"/>
              </a:rPr>
              <a:t>{\theta}=\{</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w_{kl</a:t>
            </a:r>
            <a:r>
              <a:rPr lang="en-US" sz="1200" kern="1200" smtClean="0">
                <a:solidFill>
                  <a:schemeClr val="tx1"/>
                </a:solidFill>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DFD5A442-4B65-8D4A-B84E-EDD0DD7A9191}" type="slidenum">
              <a:rPr lang="en-US" smtClean="0"/>
              <a:t>96</a:t>
            </a:fld>
            <a:endParaRPr lang="en-US"/>
          </a:p>
        </p:txBody>
      </p:sp>
    </p:spTree>
    <p:extLst>
      <p:ext uri="{BB962C8B-B14F-4D97-AF65-F5344CB8AC3E}">
        <p14:creationId xmlns:p14="http://schemas.microsoft.com/office/powerpoint/2010/main" val="14063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}}=\frac{1}{N}\sum_n\left[\frac{\partial </a:t>
            </a:r>
            <a:r>
              <a:rPr lang="en-US" sz="1200" kern="1200" dirty="0" err="1" smtClean="0">
                <a:solidFill>
                  <a:schemeClr val="tx1"/>
                </a:solidFill>
                <a:latin typeface="+mn-lt"/>
                <a:ea typeface="+mn-ea"/>
                <a:cs typeface="+mn-cs"/>
              </a:rPr>
              <a:t>L_n</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a_{l,n}}\right]\left[\frac{\partial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a_{l,n</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}}\right]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98</a:t>
            </a:fld>
            <a:endParaRPr lang="en-US"/>
          </a:p>
        </p:txBody>
      </p:sp>
    </p:spTree>
    <p:extLst>
      <p:ext uri="{BB962C8B-B14F-4D97-AF65-F5344CB8AC3E}">
        <p14:creationId xmlns:p14="http://schemas.microsoft.com/office/powerpoint/2010/main" val="3692801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}}=\frac{1}{N}\sum_n\left[\frac{\partial \frac{1}{2}(y_n-g(a_{l,n}))^2}{\partial </a:t>
            </a:r>
            <a:r>
              <a:rPr lang="en-US" sz="1200" kern="1200" dirty="0" err="1" smtClean="0">
                <a:solidFill>
                  <a:schemeClr val="tx1"/>
                </a:solidFill>
                <a:latin typeface="+mn-lt"/>
                <a:ea typeface="+mn-ea"/>
                <a:cs typeface="+mn-cs"/>
              </a:rPr>
              <a:t>a_{l,n}}\right]\left[\frac{\partial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z_{k,n}w_{kl</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}}\right]&amp;=&amp;\</a:t>
            </a:r>
            <a:r>
              <a:rPr lang="en-US" sz="1200" kern="1200" dirty="0" err="1" smtClean="0">
                <a:solidFill>
                  <a:schemeClr val="tx1"/>
                </a:solidFill>
                <a:latin typeface="+mn-lt"/>
                <a:ea typeface="+mn-ea"/>
                <a:cs typeface="+mn-cs"/>
              </a:rPr>
              <a:t>sum_n\left[-(y_n-z_{l,n})g'(a_{l,n})\right]z_{k,n</a:t>
            </a:r>
            <a:r>
              <a:rPr lang="en-US" sz="1200" kern="1200" dirty="0" smtClean="0">
                <a:solidFill>
                  <a:schemeClr val="tx1"/>
                </a:solidFill>
                <a:latin typeface="+mn-lt"/>
                <a:ea typeface="+mn-ea"/>
                <a:cs typeface="+mn-cs"/>
              </a:rPr>
              <a:t>}\\&amp;=&amp;\</a:t>
            </a:r>
            <a:r>
              <a:rPr lang="en-US" sz="1200" kern="1200" dirty="0" err="1" smtClean="0">
                <a:solidFill>
                  <a:schemeClr val="tx1"/>
                </a:solidFill>
                <a:latin typeface="+mn-lt"/>
                <a:ea typeface="+mn-ea"/>
                <a:cs typeface="+mn-cs"/>
              </a:rPr>
              <a:t>sum_n\delta_nz_{k,n</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103</a:t>
            </a:fld>
            <a:endParaRPr lang="en-US"/>
          </a:p>
        </p:txBody>
      </p:sp>
    </p:spTree>
    <p:extLst>
      <p:ext uri="{BB962C8B-B14F-4D97-AF65-F5344CB8AC3E}">
        <p14:creationId xmlns:p14="http://schemas.microsoft.com/office/powerpoint/2010/main" val="3872700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}}=\frac{1}{N}\sum_n\left[\frac{\partial \frac{1}{2}(y_n-g(a_{l,n}))^2}{\partial </a:t>
            </a:r>
            <a:r>
              <a:rPr lang="en-US" sz="1200" kern="1200" dirty="0" err="1" smtClean="0">
                <a:solidFill>
                  <a:schemeClr val="tx1"/>
                </a:solidFill>
                <a:latin typeface="+mn-lt"/>
                <a:ea typeface="+mn-ea"/>
                <a:cs typeface="+mn-cs"/>
              </a:rPr>
              <a:t>a_{l,n}}\right]\left[\frac{\partial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z_{k,n}w_{kl</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}}\right]&amp;=&amp;\</a:t>
            </a:r>
            <a:r>
              <a:rPr lang="en-US" sz="1200" kern="1200" dirty="0" err="1" smtClean="0">
                <a:solidFill>
                  <a:schemeClr val="tx1"/>
                </a:solidFill>
                <a:latin typeface="+mn-lt"/>
                <a:ea typeface="+mn-ea"/>
                <a:cs typeface="+mn-cs"/>
              </a:rPr>
              <a:t>sum_n\left[-(y_n-z_{l,n})g'(a_{l,n})\right]z_{k,n</a:t>
            </a:r>
            <a:r>
              <a:rPr lang="en-US" sz="1200" kern="1200" dirty="0" smtClean="0">
                <a:solidFill>
                  <a:schemeClr val="tx1"/>
                </a:solidFill>
                <a:latin typeface="+mn-lt"/>
                <a:ea typeface="+mn-ea"/>
                <a:cs typeface="+mn-cs"/>
              </a:rPr>
              <a:t>}\\&amp;=&amp;\</a:t>
            </a:r>
            <a:r>
              <a:rPr lang="en-US" sz="1200" kern="1200" dirty="0" err="1" smtClean="0">
                <a:solidFill>
                  <a:schemeClr val="tx1"/>
                </a:solidFill>
                <a:latin typeface="+mn-lt"/>
                <a:ea typeface="+mn-ea"/>
                <a:cs typeface="+mn-cs"/>
              </a:rPr>
              <a:t>sum_n\delta_nz_{k,n</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104</a:t>
            </a:fld>
            <a:endParaRPr lang="en-US"/>
          </a:p>
        </p:txBody>
      </p:sp>
    </p:spTree>
    <p:extLst>
      <p:ext uri="{BB962C8B-B14F-4D97-AF65-F5344CB8AC3E}">
        <p14:creationId xmlns:p14="http://schemas.microsoft.com/office/powerpoint/2010/main" val="4042090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}}=\frac{1}{N}\sum_n\left[\frac{\partial \frac{1}{2}(y_n-g(a_{l,n}))^2}{\partial </a:t>
            </a:r>
            <a:r>
              <a:rPr lang="en-US" sz="1200" kern="1200" dirty="0" err="1" smtClean="0">
                <a:solidFill>
                  <a:schemeClr val="tx1"/>
                </a:solidFill>
                <a:latin typeface="+mn-lt"/>
                <a:ea typeface="+mn-ea"/>
                <a:cs typeface="+mn-cs"/>
              </a:rPr>
              <a:t>a_{l,n}}\right]\left[\frac{\partial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z_{k,n}w_{kl</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}}\right]&amp;=&amp;\</a:t>
            </a:r>
            <a:r>
              <a:rPr lang="en-US" sz="1200" kern="1200" dirty="0" err="1" smtClean="0">
                <a:solidFill>
                  <a:schemeClr val="tx1"/>
                </a:solidFill>
                <a:latin typeface="+mn-lt"/>
                <a:ea typeface="+mn-ea"/>
                <a:cs typeface="+mn-cs"/>
              </a:rPr>
              <a:t>sum_n\left[-(y_n-z_{l,n})g'(a_{l,n})\right]z_{k,n</a:t>
            </a:r>
            <a:r>
              <a:rPr lang="en-US" sz="1200" kern="1200" dirty="0" smtClean="0">
                <a:solidFill>
                  <a:schemeClr val="tx1"/>
                </a:solidFill>
                <a:latin typeface="+mn-lt"/>
                <a:ea typeface="+mn-ea"/>
                <a:cs typeface="+mn-cs"/>
              </a:rPr>
              <a:t>}\\&amp;=&amp;\</a:t>
            </a:r>
            <a:r>
              <a:rPr lang="en-US" sz="1200" kern="1200" dirty="0" err="1" smtClean="0">
                <a:solidFill>
                  <a:schemeClr val="tx1"/>
                </a:solidFill>
                <a:latin typeface="+mn-lt"/>
                <a:ea typeface="+mn-ea"/>
                <a:cs typeface="+mn-cs"/>
              </a:rPr>
              <a:t>sum_n\delta_nz_{k,n</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105</a:t>
            </a:fld>
            <a:endParaRPr lang="en-US"/>
          </a:p>
        </p:txBody>
      </p:sp>
    </p:spTree>
    <p:extLst>
      <p:ext uri="{BB962C8B-B14F-4D97-AF65-F5344CB8AC3E}">
        <p14:creationId xmlns:p14="http://schemas.microsoft.com/office/powerpoint/2010/main" val="30072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}}=\frac{1}{N}\sum_n\left[\frac{\partial \frac{1}{2}(y_n-g(a_{l,n}))^2}{\partial </a:t>
            </a:r>
            <a:r>
              <a:rPr lang="en-US" sz="1200" kern="1200" dirty="0" err="1" smtClean="0">
                <a:solidFill>
                  <a:schemeClr val="tx1"/>
                </a:solidFill>
                <a:latin typeface="+mn-lt"/>
                <a:ea typeface="+mn-ea"/>
                <a:cs typeface="+mn-cs"/>
              </a:rPr>
              <a:t>a_{l,n}}\right]\left[\frac{\partial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z_{k,n}w_{kl</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w_{kl</a:t>
            </a:r>
            <a:r>
              <a:rPr lang="en-US" sz="1200" kern="1200" dirty="0" smtClean="0">
                <a:solidFill>
                  <a:schemeClr val="tx1"/>
                </a:solidFill>
                <a:latin typeface="+mn-lt"/>
                <a:ea typeface="+mn-ea"/>
                <a:cs typeface="+mn-cs"/>
              </a:rPr>
              <a:t>}}\right]&amp;=&amp;\</a:t>
            </a:r>
            <a:r>
              <a:rPr lang="en-US" sz="1200" kern="1200" dirty="0" err="1" smtClean="0">
                <a:solidFill>
                  <a:schemeClr val="tx1"/>
                </a:solidFill>
                <a:latin typeface="+mn-lt"/>
                <a:ea typeface="+mn-ea"/>
                <a:cs typeface="+mn-cs"/>
              </a:rPr>
              <a:t>sum_n\left[-(y_n-z_{l,n})g'(a_{l,n})\right]z_{k,n</a:t>
            </a:r>
            <a:r>
              <a:rPr lang="en-US" sz="1200" kern="1200" dirty="0" smtClean="0">
                <a:solidFill>
                  <a:schemeClr val="tx1"/>
                </a:solidFill>
                <a:latin typeface="+mn-lt"/>
                <a:ea typeface="+mn-ea"/>
                <a:cs typeface="+mn-cs"/>
              </a:rPr>
              <a:t>}\\&amp;=&amp;\</a:t>
            </a:r>
            <a:r>
              <a:rPr lang="en-US" sz="1200" kern="1200" dirty="0" err="1" smtClean="0">
                <a:solidFill>
                  <a:schemeClr val="tx1"/>
                </a:solidFill>
                <a:latin typeface="+mn-lt"/>
                <a:ea typeface="+mn-ea"/>
                <a:cs typeface="+mn-cs"/>
              </a:rPr>
              <a:t>sum_n\delta_nz_{k,n</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106</a:t>
            </a:fld>
            <a:endParaRPr lang="en-US"/>
          </a:p>
        </p:txBody>
      </p:sp>
    </p:spTree>
    <p:extLst>
      <p:ext uri="{BB962C8B-B14F-4D97-AF65-F5344CB8AC3E}">
        <p14:creationId xmlns:p14="http://schemas.microsoft.com/office/powerpoint/2010/main" val="556381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}}=\frac{1}{N}\sum_n\left[\sum_l\delta_l </a:t>
            </a:r>
            <a:r>
              <a:rPr lang="en-US" sz="1200" kern="1200" dirty="0" err="1" smtClean="0">
                <a:solidFill>
                  <a:schemeClr val="tx1"/>
                </a:solidFill>
                <a:latin typeface="+mn-lt"/>
                <a:ea typeface="+mn-ea"/>
                <a:cs typeface="+mn-cs"/>
              </a:rPr>
              <a:t>w_{kl}g'(a_{k,n})\right]\left[z_{j,n}\right</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107</a:t>
            </a:fld>
            <a:endParaRPr lang="en-US"/>
          </a:p>
        </p:txBody>
      </p:sp>
    </p:spTree>
    <p:extLst>
      <p:ext uri="{BB962C8B-B14F-4D97-AF65-F5344CB8AC3E}">
        <p14:creationId xmlns:p14="http://schemas.microsoft.com/office/powerpoint/2010/main" val="620032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}}&amp;=&amp;\frac{1}{N}\sum_n\left[\frac{\partial </a:t>
            </a:r>
            <a:r>
              <a:rPr lang="en-US" sz="1200" kern="1200" dirty="0" err="1" smtClean="0">
                <a:solidFill>
                  <a:schemeClr val="tx1"/>
                </a:solidFill>
                <a:latin typeface="+mn-lt"/>
                <a:ea typeface="+mn-ea"/>
                <a:cs typeface="+mn-cs"/>
              </a:rPr>
              <a:t>L_n</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a_{j,n}}\right]\left[\frac{\partial</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a_{j,n</a:t>
            </a:r>
            <a:r>
              <a:rPr lang="en-US" sz="1200" kern="1200" dirty="0" smtClean="0">
                <a:solidFill>
                  <a:schemeClr val="tx1"/>
                </a:solidFill>
                <a:latin typeface="+mn-lt"/>
                <a:ea typeface="+mn-ea"/>
                <a:cs typeface="+mn-cs"/>
              </a:rPr>
              <a:t>}}{\partial </a:t>
            </a:r>
            <a:r>
              <a:rPr lang="en-US" sz="1200" kern="1200" dirty="0" err="1" smtClean="0">
                <a:solidFill>
                  <a:schemeClr val="tx1"/>
                </a:solidFill>
                <a:latin typeface="+mn-lt"/>
                <a:ea typeface="+mn-ea"/>
                <a:cs typeface="+mn-cs"/>
              </a:rPr>
              <a:t>w_{ij</a:t>
            </a:r>
            <a:r>
              <a:rPr lang="en-US" sz="1200" kern="1200" dirty="0" smtClean="0">
                <a:solidFill>
                  <a:schemeClr val="tx1"/>
                </a:solidFill>
                <a:latin typeface="+mn-lt"/>
                <a:ea typeface="+mn-ea"/>
                <a:cs typeface="+mn-cs"/>
              </a:rPr>
              <a:t>}}\right]=\frac{1}{N}\sum_n\left[ \</a:t>
            </a:r>
            <a:r>
              <a:rPr lang="en-US" sz="1200" kern="1200" dirty="0" err="1" smtClean="0">
                <a:solidFill>
                  <a:schemeClr val="tx1"/>
                </a:solidFill>
                <a:latin typeface="+mn-lt"/>
                <a:ea typeface="+mn-ea"/>
                <a:cs typeface="+mn-cs"/>
              </a:rPr>
              <a:t>sum_k\delta_{k,n}w_{jk}g'(a_{j,n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right]z_{i,n</a:t>
            </a:r>
            <a:r>
              <a:rPr lang="en-US" sz="1200" kern="1200" dirty="0" smtClean="0">
                <a:solidFill>
                  <a:schemeClr val="tx1"/>
                </a:solidFill>
                <a:latin typeface="+mn-lt"/>
                <a:ea typeface="+mn-ea"/>
                <a:cs typeface="+mn-cs"/>
              </a:rPr>
              <a:t>} =\frac{1}{N} \</a:t>
            </a:r>
            <a:r>
              <a:rPr lang="en-US" sz="1200" kern="1200" dirty="0" err="1" smtClean="0">
                <a:solidFill>
                  <a:schemeClr val="tx1"/>
                </a:solidFill>
                <a:latin typeface="+mn-lt"/>
                <a:ea typeface="+mn-ea"/>
                <a:cs typeface="+mn-cs"/>
              </a:rPr>
              <a:t>sum_n\delta_{j,n}z_{i,n</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108</a:t>
            </a:fld>
            <a:endParaRPr lang="en-US"/>
          </a:p>
        </p:txBody>
      </p:sp>
    </p:spTree>
    <p:extLst>
      <p:ext uri="{BB962C8B-B14F-4D97-AF65-F5344CB8AC3E}">
        <p14:creationId xmlns:p14="http://schemas.microsoft.com/office/powerpoint/2010/main" val="485023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{\partial R}{\partial </a:t>
            </a:r>
            <a:r>
              <a:rPr lang="en-US" sz="1200" kern="1200" dirty="0" err="1" smtClean="0">
                <a:solidFill>
                  <a:schemeClr val="tx1"/>
                </a:solidFill>
                <a:latin typeface="+mn-lt"/>
                <a:ea typeface="+mn-ea"/>
                <a:cs typeface="+mn-cs"/>
              </a:rPr>
              <a:t>w_{jk</a:t>
            </a:r>
            <a:r>
              <a:rPr lang="en-US" sz="1200" kern="1200" dirty="0" smtClean="0">
                <a:solidFill>
                  <a:schemeClr val="tx1"/>
                </a:solidFill>
                <a:latin typeface="+mn-lt"/>
                <a:ea typeface="+mn-ea"/>
                <a:cs typeface="+mn-cs"/>
              </a:rPr>
              <a:t>}}=\frac{1}{N}\sum_n\left[\sum_l\delta_l </a:t>
            </a:r>
            <a:r>
              <a:rPr lang="en-US" sz="1200" kern="1200" dirty="0" err="1" smtClean="0">
                <a:solidFill>
                  <a:schemeClr val="tx1"/>
                </a:solidFill>
                <a:latin typeface="+mn-lt"/>
                <a:ea typeface="+mn-ea"/>
                <a:cs typeface="+mn-cs"/>
              </a:rPr>
              <a:t>w_{kl}g'(a_{k,n})\right]\left[z_{j,n}\right</a:t>
            </a:r>
            <a:r>
              <a:rPr lang="en-US" sz="120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FD5A442-4B65-8D4A-B84E-EDD0DD7A9191}" type="slidenum">
              <a:rPr lang="en-US" smtClean="0"/>
              <a:t>109</a:t>
            </a:fld>
            <a:endParaRPr lang="en-US"/>
          </a:p>
        </p:txBody>
      </p:sp>
    </p:spTree>
    <p:extLst>
      <p:ext uri="{BB962C8B-B14F-4D97-AF65-F5344CB8AC3E}">
        <p14:creationId xmlns:p14="http://schemas.microsoft.com/office/powerpoint/2010/main" val="118578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30A82A-6E7F-4AA4-B624-E2A0163ED6F7}"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120479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30A82A-6E7F-4AA4-B624-E2A0163ED6F7}"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37750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830A82A-6E7F-4AA4-B624-E2A0163ED6F7}"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2267109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30A82A-6E7F-4AA4-B624-E2A0163ED6F7}"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3479990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30A82A-6E7F-4AA4-B624-E2A0163ED6F7}"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73148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30A82A-6E7F-4AA4-B624-E2A0163ED6F7}"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1936387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30A82A-6E7F-4AA4-B624-E2A0163ED6F7}"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1629928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830A82A-6E7F-4AA4-B624-E2A0163ED6F7}"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940346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830A82A-6E7F-4AA4-B624-E2A0163ED6F7}"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880620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30A82A-6E7F-4AA4-B624-E2A0163ED6F7}"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3165215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30A82A-6E7F-4AA4-B624-E2A0163ED6F7}"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D396E-458B-430A-9C61-F1FD25EABC63}" type="slidenum">
              <a:rPr lang="en-US" smtClean="0"/>
              <a:t>‹#›</a:t>
            </a:fld>
            <a:endParaRPr lang="en-US"/>
          </a:p>
        </p:txBody>
      </p:sp>
    </p:spTree>
    <p:extLst>
      <p:ext uri="{BB962C8B-B14F-4D97-AF65-F5344CB8AC3E}">
        <p14:creationId xmlns:p14="http://schemas.microsoft.com/office/powerpoint/2010/main" val="1065487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IN"/>
          </a:p>
        </p:txBody>
      </p:sp>
      <p:sp>
        <p:nvSpPr>
          <p:cNvPr id="4" name="Rectangle 5"/>
          <p:cNvSpPr>
            <a:spLocks noGrp="1" noChangeArrowheads="1"/>
          </p:cNvSpPr>
          <p:nvPr>
            <p:ph type="ftr" sz="quarter" idx="11"/>
          </p:nvPr>
        </p:nvSpPr>
        <p:spPr>
          <a:ln/>
        </p:spPr>
        <p:txBody>
          <a:bodyPr/>
          <a:lstStyle>
            <a:lvl1pPr>
              <a:defRPr/>
            </a:lvl1pPr>
          </a:lstStyle>
          <a:p>
            <a:pPr>
              <a:defRPr/>
            </a:pPr>
            <a:endParaRPr lang="en-IN"/>
          </a:p>
        </p:txBody>
      </p:sp>
      <p:sp>
        <p:nvSpPr>
          <p:cNvPr id="5" name="Rectangle 6"/>
          <p:cNvSpPr>
            <a:spLocks noGrp="1" noChangeArrowheads="1"/>
          </p:cNvSpPr>
          <p:nvPr>
            <p:ph type="sldNum" sz="quarter" idx="12"/>
          </p:nvPr>
        </p:nvSpPr>
        <p:spPr>
          <a:ln/>
        </p:spPr>
        <p:txBody>
          <a:bodyPr/>
          <a:lstStyle>
            <a:lvl1pPr>
              <a:defRPr/>
            </a:lvl1pPr>
          </a:lstStyle>
          <a:p>
            <a:pPr>
              <a:defRPr/>
            </a:pPr>
            <a:fld id="{EE9A9EFD-D534-4C64-A9A1-CCA56BB2905B}" type="slidenum">
              <a:rPr lang="en-IN" altLang="en-US"/>
              <a:pPr>
                <a:defRPr/>
              </a:pPr>
              <a:t>‹#›</a:t>
            </a:fld>
            <a:endParaRPr lang="en-IN" altLang="en-US"/>
          </a:p>
        </p:txBody>
      </p:sp>
    </p:spTree>
    <p:extLst>
      <p:ext uri="{BB962C8B-B14F-4D97-AF65-F5344CB8AC3E}">
        <p14:creationId xmlns:p14="http://schemas.microsoft.com/office/powerpoint/2010/main" val="942068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609600" y="1600201"/>
            <a:ext cx="109728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IN"/>
          </a:p>
        </p:txBody>
      </p:sp>
      <p:sp>
        <p:nvSpPr>
          <p:cNvPr id="5" name="Rectangle 5"/>
          <p:cNvSpPr>
            <a:spLocks noGrp="1" noChangeArrowheads="1"/>
          </p:cNvSpPr>
          <p:nvPr>
            <p:ph type="ftr" sz="quarter" idx="11"/>
          </p:nvPr>
        </p:nvSpPr>
        <p:spPr>
          <a:ln/>
        </p:spPr>
        <p:txBody>
          <a:bodyPr/>
          <a:lstStyle>
            <a:lvl1pPr>
              <a:defRPr/>
            </a:lvl1pPr>
          </a:lstStyle>
          <a:p>
            <a:pPr>
              <a:defRPr/>
            </a:pPr>
            <a:endParaRPr lang="en-IN"/>
          </a:p>
        </p:txBody>
      </p:sp>
      <p:sp>
        <p:nvSpPr>
          <p:cNvPr id="6" name="Rectangle 6"/>
          <p:cNvSpPr>
            <a:spLocks noGrp="1" noChangeArrowheads="1"/>
          </p:cNvSpPr>
          <p:nvPr>
            <p:ph type="sldNum" sz="quarter" idx="12"/>
          </p:nvPr>
        </p:nvSpPr>
        <p:spPr>
          <a:ln/>
        </p:spPr>
        <p:txBody>
          <a:bodyPr/>
          <a:lstStyle>
            <a:lvl1pPr>
              <a:defRPr/>
            </a:lvl1pPr>
          </a:lstStyle>
          <a:p>
            <a:pPr>
              <a:defRPr/>
            </a:pPr>
            <a:fld id="{F61A8C40-72FD-48E3-BA42-7CB25705C491}" type="slidenum">
              <a:rPr lang="en-IN" altLang="en-US"/>
              <a:pPr>
                <a:defRPr/>
              </a:pPr>
              <a:t>‹#›</a:t>
            </a:fld>
            <a:endParaRPr lang="en-IN" altLang="en-US"/>
          </a:p>
        </p:txBody>
      </p:sp>
    </p:spTree>
    <p:extLst>
      <p:ext uri="{BB962C8B-B14F-4D97-AF65-F5344CB8AC3E}">
        <p14:creationId xmlns:p14="http://schemas.microsoft.com/office/powerpoint/2010/main" val="266419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IN"/>
          </a:p>
        </p:txBody>
      </p:sp>
      <p:sp>
        <p:nvSpPr>
          <p:cNvPr id="6" name="Rectangle 5"/>
          <p:cNvSpPr>
            <a:spLocks noGrp="1" noChangeArrowheads="1"/>
          </p:cNvSpPr>
          <p:nvPr>
            <p:ph type="ftr" sz="quarter" idx="11"/>
          </p:nvPr>
        </p:nvSpPr>
        <p:spPr>
          <a:ln/>
        </p:spPr>
        <p:txBody>
          <a:bodyPr/>
          <a:lstStyle>
            <a:lvl1pPr>
              <a:defRPr/>
            </a:lvl1pPr>
          </a:lstStyle>
          <a:p>
            <a:pPr>
              <a:defRPr/>
            </a:pPr>
            <a:endParaRPr lang="en-IN"/>
          </a:p>
        </p:txBody>
      </p:sp>
      <p:sp>
        <p:nvSpPr>
          <p:cNvPr id="7" name="Rectangle 6"/>
          <p:cNvSpPr>
            <a:spLocks noGrp="1" noChangeArrowheads="1"/>
          </p:cNvSpPr>
          <p:nvPr>
            <p:ph type="sldNum" sz="quarter" idx="12"/>
          </p:nvPr>
        </p:nvSpPr>
        <p:spPr>
          <a:ln/>
        </p:spPr>
        <p:txBody>
          <a:bodyPr/>
          <a:lstStyle>
            <a:lvl1pPr>
              <a:defRPr/>
            </a:lvl1pPr>
          </a:lstStyle>
          <a:p>
            <a:pPr>
              <a:defRPr/>
            </a:pPr>
            <a:fld id="{BA94489C-BF4E-4DAE-957F-F32B8E843ECA}" type="slidenum">
              <a:rPr lang="en-IN" altLang="en-US"/>
              <a:pPr>
                <a:defRPr/>
              </a:pPr>
              <a:t>‹#›</a:t>
            </a:fld>
            <a:endParaRPr lang="en-IN" altLang="en-US"/>
          </a:p>
        </p:txBody>
      </p:sp>
    </p:spTree>
    <p:extLst>
      <p:ext uri="{BB962C8B-B14F-4D97-AF65-F5344CB8AC3E}">
        <p14:creationId xmlns:p14="http://schemas.microsoft.com/office/powerpoint/2010/main" val="787664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IN"/>
          </a:p>
        </p:txBody>
      </p:sp>
      <p:sp>
        <p:nvSpPr>
          <p:cNvPr id="7" name="Rectangle 5"/>
          <p:cNvSpPr>
            <a:spLocks noGrp="1" noChangeArrowheads="1"/>
          </p:cNvSpPr>
          <p:nvPr>
            <p:ph type="ftr" sz="quarter" idx="11"/>
          </p:nvPr>
        </p:nvSpPr>
        <p:spPr>
          <a:ln/>
        </p:spPr>
        <p:txBody>
          <a:bodyPr/>
          <a:lstStyle>
            <a:lvl1pPr>
              <a:defRPr/>
            </a:lvl1pPr>
          </a:lstStyle>
          <a:p>
            <a:pPr>
              <a:defRPr/>
            </a:pPr>
            <a:endParaRPr lang="en-IN"/>
          </a:p>
        </p:txBody>
      </p:sp>
      <p:sp>
        <p:nvSpPr>
          <p:cNvPr id="8" name="Rectangle 6"/>
          <p:cNvSpPr>
            <a:spLocks noGrp="1" noChangeArrowheads="1"/>
          </p:cNvSpPr>
          <p:nvPr>
            <p:ph type="sldNum" sz="quarter" idx="12"/>
          </p:nvPr>
        </p:nvSpPr>
        <p:spPr>
          <a:ln/>
        </p:spPr>
        <p:txBody>
          <a:bodyPr/>
          <a:lstStyle>
            <a:lvl1pPr>
              <a:defRPr/>
            </a:lvl1pPr>
          </a:lstStyle>
          <a:p>
            <a:pPr>
              <a:defRPr/>
            </a:pPr>
            <a:fld id="{DE9A152F-E7D4-48B4-97C0-2E66F759031C}" type="slidenum">
              <a:rPr lang="en-IN" altLang="en-US"/>
              <a:pPr>
                <a:defRPr/>
              </a:pPr>
              <a:t>‹#›</a:t>
            </a:fld>
            <a:endParaRPr lang="en-IN" altLang="en-US"/>
          </a:p>
        </p:txBody>
      </p:sp>
    </p:spTree>
    <p:extLst>
      <p:ext uri="{BB962C8B-B14F-4D97-AF65-F5344CB8AC3E}">
        <p14:creationId xmlns:p14="http://schemas.microsoft.com/office/powerpoint/2010/main" val="331810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30A82A-6E7F-4AA4-B624-E2A0163ED6F7}" type="datetimeFigureOut">
              <a:rPr lang="en-US" smtClean="0"/>
              <a:t>9/7/2026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7D396E-458B-430A-9C61-F1FD25EABC63}" type="slidenum">
              <a:rPr lang="en-US" smtClean="0"/>
              <a:t>‹#›</a:t>
            </a:fld>
            <a:endParaRPr lang="en-US"/>
          </a:p>
        </p:txBody>
      </p:sp>
    </p:spTree>
    <p:extLst>
      <p:ext uri="{BB962C8B-B14F-4D97-AF65-F5344CB8AC3E}">
        <p14:creationId xmlns:p14="http://schemas.microsoft.com/office/powerpoint/2010/main" val="736684784"/>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 Id="rId9"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5.xml"/><Relationship Id="rId1" Type="http://schemas.openxmlformats.org/officeDocument/2006/relationships/vmlDrawing" Target="../drawings/vmlDrawing4.vml"/><Relationship Id="rId4" Type="http://schemas.openxmlformats.org/officeDocument/2006/relationships/image" Target="../media/image14.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jp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7.png"/></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1.jpg"/><Relationship Id="rId1" Type="http://schemas.openxmlformats.org/officeDocument/2006/relationships/slideLayout" Target="../slideLayouts/slideLayout2.xml"/><Relationship Id="rId5" Type="http://schemas.openxmlformats.org/officeDocument/2006/relationships/image" Target="../media/image53.jpg"/><Relationship Id="rId4" Type="http://schemas.openxmlformats.org/officeDocument/2006/relationships/image" Target="../media/image52.png"/></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1.jpg"/><Relationship Id="rId1" Type="http://schemas.openxmlformats.org/officeDocument/2006/relationships/slideLayout" Target="../slideLayouts/slideLayout2.xml"/><Relationship Id="rId5" Type="http://schemas.openxmlformats.org/officeDocument/2006/relationships/image" Target="../media/image53.jpg"/><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7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image" Target="../media/image59.jpg"/><Relationship Id="rId1" Type="http://schemas.openxmlformats.org/officeDocument/2006/relationships/slideLayout" Target="../slideLayouts/slideLayout2.xml"/><Relationship Id="rId6" Type="http://schemas.openxmlformats.org/officeDocument/2006/relationships/image" Target="../media/image62.jpg"/><Relationship Id="rId5" Type="http://schemas.openxmlformats.org/officeDocument/2006/relationships/image" Target="../media/image61.png"/><Relationship Id="rId10" Type="http://schemas.openxmlformats.org/officeDocument/2006/relationships/image" Target="../media/image66.jpg"/><Relationship Id="rId4" Type="http://schemas.openxmlformats.org/officeDocument/2006/relationships/image" Target="../media/image54.jpg"/><Relationship Id="rId9" Type="http://schemas.openxmlformats.org/officeDocument/2006/relationships/image" Target="../media/image65.png"/></Relationships>
</file>

<file path=ppt/slides/_rels/slide73.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8.png"/><Relationship Id="rId3" Type="http://schemas.openxmlformats.org/officeDocument/2006/relationships/image" Target="../media/image54.jpg"/><Relationship Id="rId7" Type="http://schemas.openxmlformats.org/officeDocument/2006/relationships/image" Target="../media/image63.png"/><Relationship Id="rId12" Type="http://schemas.openxmlformats.org/officeDocument/2006/relationships/image" Target="../media/image67.png"/><Relationship Id="rId2" Type="http://schemas.openxmlformats.org/officeDocument/2006/relationships/image" Target="../media/image59.jpg"/><Relationship Id="rId16"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62.jpg"/><Relationship Id="rId11" Type="http://schemas.openxmlformats.org/officeDocument/2006/relationships/image" Target="../media/image57.png"/><Relationship Id="rId5" Type="http://schemas.openxmlformats.org/officeDocument/2006/relationships/image" Target="../media/image61.png"/><Relationship Id="rId15" Type="http://schemas.openxmlformats.org/officeDocument/2006/relationships/image" Target="../media/image70.png"/><Relationship Id="rId10" Type="http://schemas.openxmlformats.org/officeDocument/2006/relationships/image" Target="../media/image66.jp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9.png"/></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58.png"/><Relationship Id="rId4" Type="http://schemas.openxmlformats.org/officeDocument/2006/relationships/image" Target="../media/image56.png"/></Relationships>
</file>

<file path=ppt/slides/_rels/slide7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55.png"/><Relationship Id="rId7" Type="http://schemas.openxmlformats.org/officeDocument/2006/relationships/image" Target="../media/image74.jpg"/><Relationship Id="rId2" Type="http://schemas.openxmlformats.org/officeDocument/2006/relationships/image" Target="../media/image54.jp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58.png"/><Relationship Id="rId4" Type="http://schemas.openxmlformats.org/officeDocument/2006/relationships/image" Target="../media/image56.png"/></Relationships>
</file>

<file path=ppt/slides/_rels/slide76.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slideLayout" Target="../slideLayouts/slideLayout15.xml"/><Relationship Id="rId5" Type="http://schemas.openxmlformats.org/officeDocument/2006/relationships/image" Target="../media/image79.wmf"/><Relationship Id="rId4" Type="http://schemas.openxmlformats.org/officeDocument/2006/relationships/image" Target="../media/image78.png"/></Relationships>
</file>

<file path=ppt/slides/_rels/slide77.xml.rels><?xml version="1.0" encoding="UTF-8" standalone="yes"?>
<Relationships xmlns="http://schemas.openxmlformats.org/package/2006/relationships"><Relationship Id="rId3" Type="http://schemas.openxmlformats.org/officeDocument/2006/relationships/image" Target="../media/image81.emf"/><Relationship Id="rId7" Type="http://schemas.openxmlformats.org/officeDocument/2006/relationships/image" Target="../media/image85.emf"/><Relationship Id="rId2" Type="http://schemas.openxmlformats.org/officeDocument/2006/relationships/image" Target="../media/image80.emf"/><Relationship Id="rId1" Type="http://schemas.openxmlformats.org/officeDocument/2006/relationships/slideLayout" Target="../slideLayouts/slideLayout2.xml"/><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82.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www.slideshare.net/slideshow/neural_networks-ppt-for-class-12-ai-cbse-pptx/283770102" TargetMode="External"/><Relationship Id="rId2" Type="http://schemas.openxmlformats.org/officeDocument/2006/relationships/hyperlink" Target="https://dev.to/summiya_ali/understanding-gradient-descent-for-beginners-the-core-of-neural-network-learning-1knj" TargetMode="External"/><Relationship Id="rId1" Type="http://schemas.openxmlformats.org/officeDocument/2006/relationships/slideLayout" Target="../slideLayouts/slideLayout2.xml"/><Relationship Id="rId5" Type="http://schemas.openxmlformats.org/officeDocument/2006/relationships/hyperlink" Target="https://www.scribd.com/document/865203326/Delta-Rule-Example" TargetMode="External"/><Relationship Id="rId4" Type="http://schemas.openxmlformats.org/officeDocument/2006/relationships/hyperlink" Target="http://www.cs.toronto.edu/~tijmen/csc321/slides/lecture_slides_lec3.pdf" TargetMode="External"/></Relationships>
</file>

<file path=ppt/slides/_rels/slide80.xml.rels><?xml version="1.0" encoding="UTF-8" standalone="yes"?>
<Relationships xmlns="http://schemas.openxmlformats.org/package/2006/relationships"><Relationship Id="rId3" Type="http://schemas.openxmlformats.org/officeDocument/2006/relationships/hyperlink" Target="https://learninglabb.com/what-is-gradient-descent-in-machine-learning/" TargetMode="External"/><Relationship Id="rId2" Type="http://schemas.openxmlformats.org/officeDocument/2006/relationships/hyperlink" Target="https://www.ejable.com/tech-corner/ai-machine-learning-and-deep-learning/gradient-descent-in-machine-learning/"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hello-pierreportal.medium.com/optimisation-gradient-descent-879c4c95cbda" TargetMode="External"/><Relationship Id="rId2" Type="http://schemas.openxmlformats.org/officeDocument/2006/relationships/hyperlink" Target="https://www.youtube.com/watch?v=cBn8JGkcWlc" TargetMode="External"/><Relationship Id="rId1" Type="http://schemas.openxmlformats.org/officeDocument/2006/relationships/slideLayout" Target="../slideLayouts/slideLayout2.xml"/><Relationship Id="rId6" Type="http://schemas.openxmlformats.org/officeDocument/2006/relationships/hyperlink" Target="https://medium.com/@bhatadithya54764118/day-11-gradient-descent-understanding-the-gradient-descent-algorithm-24a0be00758f" TargetMode="External"/><Relationship Id="rId5" Type="http://schemas.openxmlformats.org/officeDocument/2006/relationships/hyperlink" Target="https://www.mastersindatascience.org/learning/machine-learning-algorithms/gradient-descent/" TargetMode="External"/><Relationship Id="rId4" Type="http://schemas.openxmlformats.org/officeDocument/2006/relationships/hyperlink" Target="https://www.meegle.com/en_us/topics/gradient-descent/gradient-descent-in-machine-learning"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www.aryanupadhyay.com/post/optimizers-in-deep-learning-role-of-gradient-descent-types-and-key-challenges" TargetMode="External"/><Relationship Id="rId7" Type="http://schemas.openxmlformats.org/officeDocument/2006/relationships/hyperlink" Target="https://srdas.github.io/DLBook/GradientDescentTechniques.html" TargetMode="External"/><Relationship Id="rId2" Type="http://schemas.openxmlformats.org/officeDocument/2006/relationships/hyperlink" Target="https://codefinity.com/blog/Understanding-Gradient-Descent" TargetMode="External"/><Relationship Id="rId1" Type="http://schemas.openxmlformats.org/officeDocument/2006/relationships/slideLayout" Target="../slideLayouts/slideLayout2.xml"/><Relationship Id="rId6" Type="http://schemas.openxmlformats.org/officeDocument/2006/relationships/hyperlink" Target="https://ai.growthgear.com.au/deep-learning/what-is-the-delta-rule-in-neural-networks/" TargetMode="External"/><Relationship Id="rId5" Type="http://schemas.openxmlformats.org/officeDocument/2006/relationships/hyperlink" Target="https://apxml.com/courses/introduction-to-neural-networks/chapter-4-backpropagation-gradient-descent/learning-rate" TargetMode="External"/><Relationship Id="rId4" Type="http://schemas.openxmlformats.org/officeDocument/2006/relationships/hyperlink" Target="https://www.vizuaranewsletter.com/p/gradient-descent-an-introduction" TargetMode="External"/></Relationships>
</file>

<file path=ppt/slides/_rels/slide83.xml.rels><?xml version="1.0" encoding="UTF-8" standalone="yes"?>
<Relationships xmlns="http://schemas.openxmlformats.org/package/2006/relationships"><Relationship Id="rId3" Type="http://schemas.openxmlformats.org/officeDocument/2006/relationships/hyperlink" Target="https://medium.com/funny-ai-quant/funny-machine-learning-gradient-descent-the-hilarious-hill-climbing-algorithm-of-machine-7552235abddb" TargetMode="External"/><Relationship Id="rId2" Type="http://schemas.openxmlformats.org/officeDocument/2006/relationships/hyperlink" Target="https://imsarchives.nus.edu.sg/oldwww2/events/2018/wstat/files/lai.pdf" TargetMode="External"/><Relationship Id="rId1" Type="http://schemas.openxmlformats.org/officeDocument/2006/relationships/slideLayout" Target="../slideLayouts/slideLayout2.xml"/><Relationship Id="rId6" Type="http://schemas.openxmlformats.org/officeDocument/2006/relationships/hyperlink" Target="https://www.geeksforgeeks.org/machine-learning/types-of-learning-rules-in-ann/" TargetMode="External"/><Relationship Id="rId5" Type="http://schemas.openxmlformats.org/officeDocument/2006/relationships/hyperlink" Target="https://www.emergentmind.com/topics/delta-rule" TargetMode="External"/><Relationship Id="rId4" Type="http://schemas.openxmlformats.org/officeDocument/2006/relationships/hyperlink" Target="https://www.researchgate.net/publication/375963548_The_Error_Correction_Learning_with_Delta_Rule"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aicompetence.org/training-a-perceptron-in-c-delta-rule/" TargetMode="External"/><Relationship Id="rId2" Type="http://schemas.openxmlformats.org/officeDocument/2006/relationships/hyperlink" Target="https://www.coursehero.com/tutors-problems/Computer-Science/79953982-CSDSCAI-391L-Machine-Learning-Homework-2-Theory-Lecture-Prof/" TargetMode="External"/><Relationship Id="rId1" Type="http://schemas.openxmlformats.org/officeDocument/2006/relationships/slideLayout" Target="../slideLayouts/slideLayout2.xml"/><Relationship Id="rId5" Type="http://schemas.openxmlformats.org/officeDocument/2006/relationships/hyperlink" Target="https://www.geeksforgeeks.org/machine-learning/types-of-learning-rules-in-ann/" TargetMode="External"/><Relationship Id="rId4" Type="http://schemas.openxmlformats.org/officeDocument/2006/relationships/hyperlink" Target="https://www.scribd.com/document/977998221/Basic-Learn-Laws" TargetMode="External"/></Relationships>
</file>

<file path=ppt/slides/_rels/slide86.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87.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88.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89.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90.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91.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1.png"/><Relationship Id="rId18" Type="http://schemas.openxmlformats.org/officeDocument/2006/relationships/image" Target="../media/image32.pdf"/><Relationship Id="rId26" Type="http://schemas.openxmlformats.org/officeDocument/2006/relationships/image" Target="../media/image40.pdf"/><Relationship Id="rId3" Type="http://schemas.openxmlformats.org/officeDocument/2006/relationships/image" Target="../media/image86.png"/><Relationship Id="rId21" Type="http://schemas.openxmlformats.org/officeDocument/2006/relationships/image" Target="../media/image95.png"/><Relationship Id="rId7" Type="http://schemas.openxmlformats.org/officeDocument/2006/relationships/image" Target="../media/image88.png"/><Relationship Id="rId12" Type="http://schemas.openxmlformats.org/officeDocument/2006/relationships/image" Target="../media/image26.pdf"/><Relationship Id="rId17" Type="http://schemas.openxmlformats.org/officeDocument/2006/relationships/image" Target="../media/image93.png"/><Relationship Id="rId25" Type="http://schemas.openxmlformats.org/officeDocument/2006/relationships/image" Target="../media/image97.png"/><Relationship Id="rId2" Type="http://schemas.openxmlformats.org/officeDocument/2006/relationships/image" Target="../media/image14.pdf"/><Relationship Id="rId16" Type="http://schemas.openxmlformats.org/officeDocument/2006/relationships/image" Target="../media/image30.pdf"/><Relationship Id="rId20" Type="http://schemas.openxmlformats.org/officeDocument/2006/relationships/image" Target="../media/image34.pdf"/><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0.png"/><Relationship Id="rId24" Type="http://schemas.openxmlformats.org/officeDocument/2006/relationships/image" Target="../media/image38.pdf"/><Relationship Id="rId5" Type="http://schemas.openxmlformats.org/officeDocument/2006/relationships/image" Target="../media/image87.png"/><Relationship Id="rId15" Type="http://schemas.openxmlformats.org/officeDocument/2006/relationships/image" Target="../media/image92.png"/><Relationship Id="rId23" Type="http://schemas.openxmlformats.org/officeDocument/2006/relationships/image" Target="../media/image96.png"/><Relationship Id="rId10" Type="http://schemas.openxmlformats.org/officeDocument/2006/relationships/image" Target="../media/image24.pdf"/><Relationship Id="rId19" Type="http://schemas.openxmlformats.org/officeDocument/2006/relationships/image" Target="../media/image94.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8.pdf"/><Relationship Id="rId22" Type="http://schemas.openxmlformats.org/officeDocument/2006/relationships/image" Target="../media/image36.pdf"/><Relationship Id="rId27" Type="http://schemas.openxmlformats.org/officeDocument/2006/relationships/image" Target="../media/image98.png"/></Relationships>
</file>

<file path=ppt/slides/_rels/slide92.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90.png"/><Relationship Id="rId18" Type="http://schemas.openxmlformats.org/officeDocument/2006/relationships/image" Target="../media/image30.pdf"/><Relationship Id="rId26" Type="http://schemas.openxmlformats.org/officeDocument/2006/relationships/image" Target="../media/image38.pdf"/><Relationship Id="rId3" Type="http://schemas.openxmlformats.org/officeDocument/2006/relationships/image" Target="../media/image86.png"/><Relationship Id="rId21" Type="http://schemas.openxmlformats.org/officeDocument/2006/relationships/image" Target="../media/image94.png"/><Relationship Id="rId7" Type="http://schemas.openxmlformats.org/officeDocument/2006/relationships/image" Target="../media/image88.png"/><Relationship Id="rId12" Type="http://schemas.openxmlformats.org/officeDocument/2006/relationships/image" Target="../media/image24.pdf"/><Relationship Id="rId17" Type="http://schemas.openxmlformats.org/officeDocument/2006/relationships/image" Target="../media/image92.png"/><Relationship Id="rId25" Type="http://schemas.openxmlformats.org/officeDocument/2006/relationships/image" Target="../media/image96.png"/><Relationship Id="rId2" Type="http://schemas.openxmlformats.org/officeDocument/2006/relationships/image" Target="../media/image14.pdf"/><Relationship Id="rId16" Type="http://schemas.openxmlformats.org/officeDocument/2006/relationships/image" Target="../media/image28.pdf"/><Relationship Id="rId20" Type="http://schemas.openxmlformats.org/officeDocument/2006/relationships/image" Target="../media/image32.pdf"/><Relationship Id="rId29"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36.pdf"/><Relationship Id="rId5" Type="http://schemas.openxmlformats.org/officeDocument/2006/relationships/image" Target="../media/image87.png"/><Relationship Id="rId15" Type="http://schemas.openxmlformats.org/officeDocument/2006/relationships/image" Target="../media/image91.png"/><Relationship Id="rId23" Type="http://schemas.openxmlformats.org/officeDocument/2006/relationships/image" Target="../media/image95.png"/><Relationship Id="rId28" Type="http://schemas.openxmlformats.org/officeDocument/2006/relationships/image" Target="../media/image40.pdf"/><Relationship Id="rId10" Type="http://schemas.openxmlformats.org/officeDocument/2006/relationships/image" Target="../media/image22.pdf"/><Relationship Id="rId19" Type="http://schemas.openxmlformats.org/officeDocument/2006/relationships/image" Target="../media/image93.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26.pdf"/><Relationship Id="rId22" Type="http://schemas.openxmlformats.org/officeDocument/2006/relationships/image" Target="../media/image34.pdf"/><Relationship Id="rId27" Type="http://schemas.openxmlformats.org/officeDocument/2006/relationships/image" Target="../media/image97.png"/></Relationships>
</file>

<file path=ppt/slides/_rels/slide9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64.pdf"/><Relationship Id="rId18" Type="http://schemas.openxmlformats.org/officeDocument/2006/relationships/image" Target="../media/image102.png"/><Relationship Id="rId3" Type="http://schemas.openxmlformats.org/officeDocument/2006/relationships/image" Target="../media/image14.pdf"/><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68.pdf"/><Relationship Id="rId2" Type="http://schemas.openxmlformats.org/officeDocument/2006/relationships/notesSlide" Target="../notesSlides/notesSlide2.xml"/><Relationship Id="rId16" Type="http://schemas.openxmlformats.org/officeDocument/2006/relationships/image" Target="../media/image101.png"/><Relationship Id="rId20"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5" Type="http://schemas.openxmlformats.org/officeDocument/2006/relationships/image" Target="../media/image16.pdf"/><Relationship Id="rId15" Type="http://schemas.openxmlformats.org/officeDocument/2006/relationships/image" Target="../media/image66.pdf"/><Relationship Id="rId10" Type="http://schemas.openxmlformats.org/officeDocument/2006/relationships/image" Target="../media/image89.png"/><Relationship Id="rId19" Type="http://schemas.openxmlformats.org/officeDocument/2006/relationships/image" Target="../media/image70.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0.png"/></Relationships>
</file>

<file path=ppt/slides/_rels/slide94.xml.rels><?xml version="1.0" encoding="UTF-8" standalone="yes"?>
<Relationships xmlns="http://schemas.openxmlformats.org/package/2006/relationships"><Relationship Id="rId13" Type="http://schemas.openxmlformats.org/officeDocument/2006/relationships/image" Target="../media/image64.pdf"/><Relationship Id="rId18" Type="http://schemas.openxmlformats.org/officeDocument/2006/relationships/image" Target="../media/image102.png"/><Relationship Id="rId26" Type="http://schemas.openxmlformats.org/officeDocument/2006/relationships/image" Target="../media/image106.png"/><Relationship Id="rId3" Type="http://schemas.openxmlformats.org/officeDocument/2006/relationships/image" Target="../media/image14.pdf"/><Relationship Id="rId21" Type="http://schemas.openxmlformats.org/officeDocument/2006/relationships/image" Target="../media/image72.pdf"/><Relationship Id="rId34" Type="http://schemas.openxmlformats.org/officeDocument/2006/relationships/image" Target="../media/image110.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68.pdf"/><Relationship Id="rId25" Type="http://schemas.openxmlformats.org/officeDocument/2006/relationships/image" Target="../media/image76.pdf"/><Relationship Id="rId33" Type="http://schemas.openxmlformats.org/officeDocument/2006/relationships/image" Target="../media/image84.pdf"/><Relationship Id="rId2" Type="http://schemas.openxmlformats.org/officeDocument/2006/relationships/notesSlide" Target="../notesSlides/notesSlide3.xml"/><Relationship Id="rId16" Type="http://schemas.openxmlformats.org/officeDocument/2006/relationships/image" Target="../media/image101.png"/><Relationship Id="rId20" Type="http://schemas.openxmlformats.org/officeDocument/2006/relationships/image" Target="../media/image103.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5.png"/><Relationship Id="rId32" Type="http://schemas.openxmlformats.org/officeDocument/2006/relationships/image" Target="../media/image109.png"/><Relationship Id="rId5" Type="http://schemas.openxmlformats.org/officeDocument/2006/relationships/image" Target="../media/image16.pdf"/><Relationship Id="rId15" Type="http://schemas.openxmlformats.org/officeDocument/2006/relationships/image" Target="../media/image66.pdf"/><Relationship Id="rId23" Type="http://schemas.openxmlformats.org/officeDocument/2006/relationships/image" Target="../media/image74.pdf"/><Relationship Id="rId28" Type="http://schemas.openxmlformats.org/officeDocument/2006/relationships/image" Target="../media/image107.png"/><Relationship Id="rId10" Type="http://schemas.openxmlformats.org/officeDocument/2006/relationships/image" Target="../media/image89.png"/><Relationship Id="rId19" Type="http://schemas.openxmlformats.org/officeDocument/2006/relationships/image" Target="../media/image70.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0.png"/><Relationship Id="rId22" Type="http://schemas.openxmlformats.org/officeDocument/2006/relationships/image" Target="../media/image104.png"/><Relationship Id="rId27" Type="http://schemas.openxmlformats.org/officeDocument/2006/relationships/image" Target="../media/image78.pdf"/><Relationship Id="rId30" Type="http://schemas.openxmlformats.org/officeDocument/2006/relationships/image" Target="../media/image108.png"/><Relationship Id="rId8" Type="http://schemas.openxmlformats.org/officeDocument/2006/relationships/image" Target="../media/image88.png"/></Relationships>
</file>

<file path=ppt/slides/_rels/slide95.xml.rels><?xml version="1.0" encoding="UTF-8" standalone="yes"?>
<Relationships xmlns="http://schemas.openxmlformats.org/package/2006/relationships"><Relationship Id="rId13" Type="http://schemas.openxmlformats.org/officeDocument/2006/relationships/image" Target="../media/image64.pdf"/><Relationship Id="rId18" Type="http://schemas.openxmlformats.org/officeDocument/2006/relationships/image" Target="../media/image102.png"/><Relationship Id="rId26" Type="http://schemas.openxmlformats.org/officeDocument/2006/relationships/image" Target="../media/image106.png"/><Relationship Id="rId39" Type="http://schemas.openxmlformats.org/officeDocument/2006/relationships/image" Target="../media/image90.pdf"/><Relationship Id="rId21" Type="http://schemas.openxmlformats.org/officeDocument/2006/relationships/image" Target="../media/image72.pdf"/><Relationship Id="rId34" Type="http://schemas.openxmlformats.org/officeDocument/2006/relationships/image" Target="../media/image111.png"/><Relationship Id="rId42" Type="http://schemas.openxmlformats.org/officeDocument/2006/relationships/image" Target="../media/image114.png"/><Relationship Id="rId7" Type="http://schemas.openxmlformats.org/officeDocument/2006/relationships/image" Target="../media/image18.pdf"/><Relationship Id="rId2" Type="http://schemas.openxmlformats.org/officeDocument/2006/relationships/notesSlide" Target="../notesSlides/notesSlide4.xml"/><Relationship Id="rId16" Type="http://schemas.openxmlformats.org/officeDocument/2006/relationships/image" Target="../media/image101.png"/><Relationship Id="rId29" Type="http://schemas.openxmlformats.org/officeDocument/2006/relationships/image" Target="../media/image84.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5.png"/><Relationship Id="rId32" Type="http://schemas.openxmlformats.org/officeDocument/2006/relationships/image" Target="../media/image108.png"/><Relationship Id="rId37" Type="http://schemas.openxmlformats.org/officeDocument/2006/relationships/image" Target="../media/image88.pdf"/><Relationship Id="rId40" Type="http://schemas.openxmlformats.org/officeDocument/2006/relationships/image" Target="../media/image113.png"/><Relationship Id="rId45" Type="http://schemas.openxmlformats.org/officeDocument/2006/relationships/image" Target="../media/image96.pdf"/><Relationship Id="rId5" Type="http://schemas.openxmlformats.org/officeDocument/2006/relationships/image" Target="../media/image16.pdf"/><Relationship Id="rId15" Type="http://schemas.openxmlformats.org/officeDocument/2006/relationships/image" Target="../media/image66.pdf"/><Relationship Id="rId23" Type="http://schemas.openxmlformats.org/officeDocument/2006/relationships/image" Target="../media/image74.pdf"/><Relationship Id="rId28" Type="http://schemas.openxmlformats.org/officeDocument/2006/relationships/image" Target="../media/image107.png"/><Relationship Id="rId36" Type="http://schemas.openxmlformats.org/officeDocument/2006/relationships/image" Target="../media/image109.png"/><Relationship Id="rId10" Type="http://schemas.openxmlformats.org/officeDocument/2006/relationships/image" Target="../media/image89.png"/><Relationship Id="rId19" Type="http://schemas.openxmlformats.org/officeDocument/2006/relationships/image" Target="../media/image70.pdf"/><Relationship Id="rId31" Type="http://schemas.openxmlformats.org/officeDocument/2006/relationships/image" Target="../media/image80.pdf"/><Relationship Id="rId44" Type="http://schemas.openxmlformats.org/officeDocument/2006/relationships/image" Target="../media/image115.png"/><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0.png"/><Relationship Id="rId22" Type="http://schemas.openxmlformats.org/officeDocument/2006/relationships/image" Target="../media/image104.png"/><Relationship Id="rId27" Type="http://schemas.openxmlformats.org/officeDocument/2006/relationships/image" Target="../media/image78.pdf"/><Relationship Id="rId30" Type="http://schemas.openxmlformats.org/officeDocument/2006/relationships/image" Target="../media/image110.png"/><Relationship Id="rId35" Type="http://schemas.openxmlformats.org/officeDocument/2006/relationships/image" Target="../media/image82.pdf"/><Relationship Id="rId43" Type="http://schemas.openxmlformats.org/officeDocument/2006/relationships/image" Target="../media/image94.pdf"/><Relationship Id="rId8" Type="http://schemas.openxmlformats.org/officeDocument/2006/relationships/image" Target="../media/image88.png"/><Relationship Id="rId3" Type="http://schemas.openxmlformats.org/officeDocument/2006/relationships/image" Target="../media/image14.pdf"/><Relationship Id="rId12" Type="http://schemas.openxmlformats.org/officeDocument/2006/relationships/image" Target="../media/image99.png"/><Relationship Id="rId17" Type="http://schemas.openxmlformats.org/officeDocument/2006/relationships/image" Target="../media/image68.pdf"/><Relationship Id="rId25" Type="http://schemas.openxmlformats.org/officeDocument/2006/relationships/image" Target="../media/image76.pdf"/><Relationship Id="rId33" Type="http://schemas.openxmlformats.org/officeDocument/2006/relationships/image" Target="../media/image86.pdf"/><Relationship Id="rId38" Type="http://schemas.openxmlformats.org/officeDocument/2006/relationships/image" Target="../media/image112.png"/><Relationship Id="rId46" Type="http://schemas.openxmlformats.org/officeDocument/2006/relationships/image" Target="../media/image116.png"/><Relationship Id="rId20" Type="http://schemas.openxmlformats.org/officeDocument/2006/relationships/image" Target="../media/image103.png"/><Relationship Id="rId41" Type="http://schemas.openxmlformats.org/officeDocument/2006/relationships/image" Target="../media/image92.pdf"/></Relationships>
</file>

<file path=ppt/slides/_rels/slide96.xml.rels><?xml version="1.0" encoding="UTF-8" standalone="yes"?>
<Relationships xmlns="http://schemas.openxmlformats.org/package/2006/relationships"><Relationship Id="rId13" Type="http://schemas.openxmlformats.org/officeDocument/2006/relationships/image" Target="../media/image20.pdf"/><Relationship Id="rId18" Type="http://schemas.openxmlformats.org/officeDocument/2006/relationships/image" Target="../media/image101.png"/><Relationship Id="rId26" Type="http://schemas.openxmlformats.org/officeDocument/2006/relationships/image" Target="../media/image105.png"/><Relationship Id="rId39" Type="http://schemas.openxmlformats.org/officeDocument/2006/relationships/image" Target="../media/image90.pdf"/><Relationship Id="rId21" Type="http://schemas.openxmlformats.org/officeDocument/2006/relationships/image" Target="../media/image70.pdf"/><Relationship Id="rId34" Type="http://schemas.openxmlformats.org/officeDocument/2006/relationships/image" Target="../media/image108.png"/><Relationship Id="rId42" Type="http://schemas.openxmlformats.org/officeDocument/2006/relationships/image" Target="../media/image114.png"/><Relationship Id="rId7" Type="http://schemas.openxmlformats.org/officeDocument/2006/relationships/image" Target="../media/image14.pdf"/><Relationship Id="rId2" Type="http://schemas.openxmlformats.org/officeDocument/2006/relationships/notesSlide" Target="../notesSlides/notesSlide5.xml"/><Relationship Id="rId16" Type="http://schemas.openxmlformats.org/officeDocument/2006/relationships/image" Target="../media/image99.png"/><Relationship Id="rId29" Type="http://schemas.openxmlformats.org/officeDocument/2006/relationships/image" Target="../media/image78.pdf"/><Relationship Id="rId1" Type="http://schemas.openxmlformats.org/officeDocument/2006/relationships/slideLayout" Target="../slideLayouts/slideLayout2.xml"/><Relationship Id="rId6" Type="http://schemas.openxmlformats.org/officeDocument/2006/relationships/image" Target="../media/image111.png"/><Relationship Id="rId11" Type="http://schemas.openxmlformats.org/officeDocument/2006/relationships/image" Target="../media/image18.pdf"/><Relationship Id="rId24" Type="http://schemas.openxmlformats.org/officeDocument/2006/relationships/image" Target="../media/image104.png"/><Relationship Id="rId32" Type="http://schemas.openxmlformats.org/officeDocument/2006/relationships/image" Target="../media/image110.png"/><Relationship Id="rId37" Type="http://schemas.openxmlformats.org/officeDocument/2006/relationships/image" Target="../media/image88.pdf"/><Relationship Id="rId40" Type="http://schemas.openxmlformats.org/officeDocument/2006/relationships/image" Target="../media/image113.png"/><Relationship Id="rId45" Type="http://schemas.openxmlformats.org/officeDocument/2006/relationships/image" Target="../media/image96.pdf"/><Relationship Id="rId5" Type="http://schemas.openxmlformats.org/officeDocument/2006/relationships/image" Target="../media/image86.pdf"/><Relationship Id="rId15" Type="http://schemas.openxmlformats.org/officeDocument/2006/relationships/image" Target="../media/image22.pdf"/><Relationship Id="rId23" Type="http://schemas.openxmlformats.org/officeDocument/2006/relationships/image" Target="../media/image72.pdf"/><Relationship Id="rId28" Type="http://schemas.openxmlformats.org/officeDocument/2006/relationships/image" Target="../media/image106.png"/><Relationship Id="rId36" Type="http://schemas.openxmlformats.org/officeDocument/2006/relationships/image" Target="../media/image109.png"/><Relationship Id="rId10" Type="http://schemas.openxmlformats.org/officeDocument/2006/relationships/image" Target="../media/image87.png"/><Relationship Id="rId19" Type="http://schemas.openxmlformats.org/officeDocument/2006/relationships/image" Target="../media/image68.pdf"/><Relationship Id="rId31" Type="http://schemas.openxmlformats.org/officeDocument/2006/relationships/image" Target="../media/image84.pdf"/><Relationship Id="rId44" Type="http://schemas.openxmlformats.org/officeDocument/2006/relationships/image" Target="../media/image115.png"/><Relationship Id="rId4" Type="http://schemas.openxmlformats.org/officeDocument/2006/relationships/image" Target="../media/image100.png"/><Relationship Id="rId9" Type="http://schemas.openxmlformats.org/officeDocument/2006/relationships/image" Target="../media/image16.pdf"/><Relationship Id="rId14" Type="http://schemas.openxmlformats.org/officeDocument/2006/relationships/image" Target="../media/image89.png"/><Relationship Id="rId22" Type="http://schemas.openxmlformats.org/officeDocument/2006/relationships/image" Target="../media/image103.png"/><Relationship Id="rId27" Type="http://schemas.openxmlformats.org/officeDocument/2006/relationships/image" Target="../media/image76.pdf"/><Relationship Id="rId30" Type="http://schemas.openxmlformats.org/officeDocument/2006/relationships/image" Target="../media/image107.png"/><Relationship Id="rId35" Type="http://schemas.openxmlformats.org/officeDocument/2006/relationships/image" Target="../media/image82.pdf"/><Relationship Id="rId43" Type="http://schemas.openxmlformats.org/officeDocument/2006/relationships/image" Target="../media/image94.pdf"/><Relationship Id="rId8" Type="http://schemas.openxmlformats.org/officeDocument/2006/relationships/image" Target="../media/image86.png"/><Relationship Id="rId3" Type="http://schemas.openxmlformats.org/officeDocument/2006/relationships/image" Target="../media/image64.pdf"/><Relationship Id="rId12" Type="http://schemas.openxmlformats.org/officeDocument/2006/relationships/image" Target="../media/image88.png"/><Relationship Id="rId17" Type="http://schemas.openxmlformats.org/officeDocument/2006/relationships/image" Target="../media/image66.pdf"/><Relationship Id="rId25" Type="http://schemas.openxmlformats.org/officeDocument/2006/relationships/image" Target="../media/image74.pdf"/><Relationship Id="rId33" Type="http://schemas.openxmlformats.org/officeDocument/2006/relationships/image" Target="../media/image80.pdf"/><Relationship Id="rId38" Type="http://schemas.openxmlformats.org/officeDocument/2006/relationships/image" Target="../media/image112.png"/><Relationship Id="rId46" Type="http://schemas.openxmlformats.org/officeDocument/2006/relationships/image" Target="../media/image116.png"/><Relationship Id="rId20" Type="http://schemas.openxmlformats.org/officeDocument/2006/relationships/image" Target="../media/image102.png"/><Relationship Id="rId41" Type="http://schemas.openxmlformats.org/officeDocument/2006/relationships/image" Target="../media/image92.pdf"/></Relationships>
</file>

<file path=ppt/slides/_rels/slide97.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3" Type="http://schemas.openxmlformats.org/officeDocument/2006/relationships/image" Target="../media/image86.png"/><Relationship Id="rId21" Type="http://schemas.openxmlformats.org/officeDocument/2006/relationships/image" Target="../media/image105.png"/><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7.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32" Type="http://schemas.openxmlformats.org/officeDocument/2006/relationships/image" Target="../media/image98.pdf"/><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 Id="rId8" Type="http://schemas.openxmlformats.org/officeDocument/2006/relationships/image" Target="../media/image20.pdf"/></Relationships>
</file>

<file path=ppt/slides/_rels/slide98.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 Type="http://schemas.openxmlformats.org/officeDocument/2006/relationships/image" Target="../media/image14.pdf"/><Relationship Id="rId21" Type="http://schemas.openxmlformats.org/officeDocument/2006/relationships/image" Target="../media/image74.pdf"/><Relationship Id="rId34" Type="http://schemas.openxmlformats.org/officeDocument/2006/relationships/image" Target="../media/image118.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00.pdf"/><Relationship Id="rId2" Type="http://schemas.openxmlformats.org/officeDocument/2006/relationships/notesSlide" Target="../notesSlides/notesSlide6.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19.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02.pdf"/><Relationship Id="rId8" Type="http://schemas.openxmlformats.org/officeDocument/2006/relationships/image" Target="../media/image88.png"/></Relationships>
</file>

<file path=ppt/slides/_rels/slide99.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21" Type="http://schemas.openxmlformats.org/officeDocument/2006/relationships/image" Target="../media/image105.png"/><Relationship Id="rId34" Type="http://schemas.openxmlformats.org/officeDocument/2006/relationships/image" Target="../media/image102.pdf"/><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8.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32" Type="http://schemas.openxmlformats.org/officeDocument/2006/relationships/image" Target="../media/image100.pdf"/><Relationship Id="rId37" Type="http://schemas.openxmlformats.org/officeDocument/2006/relationships/image" Target="../media/image120.png"/><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36" Type="http://schemas.openxmlformats.org/officeDocument/2006/relationships/image" Target="../media/image104.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 Id="rId35" Type="http://schemas.openxmlformats.org/officeDocument/2006/relationships/image" Target="../media/image119.png"/><Relationship Id="rId8" Type="http://schemas.openxmlformats.org/officeDocument/2006/relationships/image" Target="../media/image20.pdf"/><Relationship Id="rId3" Type="http://schemas.openxmlformats.org/officeDocument/2006/relationships/image" Target="../media/image86.png"/></Relationships>
</file>

<file path=ppt/slides/_rels/slide100.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21" Type="http://schemas.openxmlformats.org/officeDocument/2006/relationships/image" Target="../media/image105.png"/><Relationship Id="rId34" Type="http://schemas.openxmlformats.org/officeDocument/2006/relationships/image" Target="../media/image102.pdf"/><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8.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32" Type="http://schemas.openxmlformats.org/officeDocument/2006/relationships/image" Target="../media/image100.pdf"/><Relationship Id="rId37" Type="http://schemas.openxmlformats.org/officeDocument/2006/relationships/image" Target="../media/image121.png"/><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36" Type="http://schemas.openxmlformats.org/officeDocument/2006/relationships/image" Target="../media/image106.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 Id="rId35" Type="http://schemas.openxmlformats.org/officeDocument/2006/relationships/image" Target="../media/image119.png"/><Relationship Id="rId8" Type="http://schemas.openxmlformats.org/officeDocument/2006/relationships/image" Target="../media/image20.pdf"/><Relationship Id="rId3" Type="http://schemas.openxmlformats.org/officeDocument/2006/relationships/image" Target="../media/image86.png"/></Relationships>
</file>

<file path=ppt/slides/_rels/slide101.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21" Type="http://schemas.openxmlformats.org/officeDocument/2006/relationships/image" Target="../media/image105.png"/><Relationship Id="rId34" Type="http://schemas.openxmlformats.org/officeDocument/2006/relationships/image" Target="../media/image102.pdf"/><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8.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32" Type="http://schemas.openxmlformats.org/officeDocument/2006/relationships/image" Target="../media/image100.pdf"/><Relationship Id="rId37" Type="http://schemas.openxmlformats.org/officeDocument/2006/relationships/image" Target="../media/image122.png"/><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36" Type="http://schemas.openxmlformats.org/officeDocument/2006/relationships/image" Target="../media/image108.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 Id="rId35" Type="http://schemas.openxmlformats.org/officeDocument/2006/relationships/image" Target="../media/image119.png"/><Relationship Id="rId8" Type="http://schemas.openxmlformats.org/officeDocument/2006/relationships/image" Target="../media/image20.pdf"/><Relationship Id="rId3" Type="http://schemas.openxmlformats.org/officeDocument/2006/relationships/image" Target="../media/image86.png"/></Relationships>
</file>

<file path=ppt/slides/_rels/slide102.xml.rels><?xml version="1.0" encoding="UTF-8" standalone="yes"?>
<Relationships xmlns="http://schemas.openxmlformats.org/package/2006/relationships"><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21" Type="http://schemas.openxmlformats.org/officeDocument/2006/relationships/image" Target="../media/image105.png"/><Relationship Id="rId34" Type="http://schemas.openxmlformats.org/officeDocument/2006/relationships/image" Target="../media/image102.pdf"/><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8.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32" Type="http://schemas.openxmlformats.org/officeDocument/2006/relationships/image" Target="../media/image100.pdf"/><Relationship Id="rId37" Type="http://schemas.openxmlformats.org/officeDocument/2006/relationships/image" Target="../media/image123.png"/><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36" Type="http://schemas.openxmlformats.org/officeDocument/2006/relationships/image" Target="../media/image110.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 Id="rId35" Type="http://schemas.openxmlformats.org/officeDocument/2006/relationships/image" Target="../media/image119.png"/><Relationship Id="rId8" Type="http://schemas.openxmlformats.org/officeDocument/2006/relationships/image" Target="../media/image20.pdf"/><Relationship Id="rId3" Type="http://schemas.openxmlformats.org/officeDocument/2006/relationships/image" Target="../media/image86.png"/></Relationships>
</file>

<file path=ppt/slides/_rels/slide103.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 Type="http://schemas.openxmlformats.org/officeDocument/2006/relationships/image" Target="../media/image14.pdf"/><Relationship Id="rId21" Type="http://schemas.openxmlformats.org/officeDocument/2006/relationships/image" Target="../media/image74.pdf"/><Relationship Id="rId34" Type="http://schemas.openxmlformats.org/officeDocument/2006/relationships/image" Target="../media/image124.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12.pdf"/><Relationship Id="rId2" Type="http://schemas.openxmlformats.org/officeDocument/2006/relationships/notesSlide" Target="../notesSlides/notesSlide7.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25.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14.pdf"/><Relationship Id="rId8" Type="http://schemas.openxmlformats.org/officeDocument/2006/relationships/image" Target="../media/image88.png"/></Relationships>
</file>

<file path=ppt/slides/_rels/slide104.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 Type="http://schemas.openxmlformats.org/officeDocument/2006/relationships/image" Target="../media/image14.pdf"/><Relationship Id="rId21" Type="http://schemas.openxmlformats.org/officeDocument/2006/relationships/image" Target="../media/image74.pdf"/><Relationship Id="rId34" Type="http://schemas.openxmlformats.org/officeDocument/2006/relationships/image" Target="../media/image126.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16.pdf"/><Relationship Id="rId2" Type="http://schemas.openxmlformats.org/officeDocument/2006/relationships/notesSlide" Target="../notesSlides/notesSlide8.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25.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14.pdf"/><Relationship Id="rId8" Type="http://schemas.openxmlformats.org/officeDocument/2006/relationships/image" Target="../media/image88.png"/></Relationships>
</file>

<file path=ppt/slides/_rels/slide105.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21" Type="http://schemas.openxmlformats.org/officeDocument/2006/relationships/image" Target="../media/image74.pdf"/><Relationship Id="rId34" Type="http://schemas.openxmlformats.org/officeDocument/2006/relationships/image" Target="../media/image126.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16.pdf"/><Relationship Id="rId38" Type="http://schemas.openxmlformats.org/officeDocument/2006/relationships/image" Target="../media/image125.png"/><Relationship Id="rId2" Type="http://schemas.openxmlformats.org/officeDocument/2006/relationships/notesSlide" Target="../notesSlides/notesSlide9.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37" Type="http://schemas.openxmlformats.org/officeDocument/2006/relationships/image" Target="../media/image114.pdf"/><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27.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18.pdf"/><Relationship Id="rId8" Type="http://schemas.openxmlformats.org/officeDocument/2006/relationships/image" Target="../media/image88.png"/><Relationship Id="rId3" Type="http://schemas.openxmlformats.org/officeDocument/2006/relationships/image" Target="../media/image14.pdf"/></Relationships>
</file>

<file path=ppt/slides/_rels/slide106.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9" Type="http://schemas.openxmlformats.org/officeDocument/2006/relationships/image" Target="../media/image114.pdf"/><Relationship Id="rId21" Type="http://schemas.openxmlformats.org/officeDocument/2006/relationships/image" Target="../media/image74.pdf"/><Relationship Id="rId34" Type="http://schemas.openxmlformats.org/officeDocument/2006/relationships/image" Target="../media/image126.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16.pdf"/><Relationship Id="rId38" Type="http://schemas.openxmlformats.org/officeDocument/2006/relationships/image" Target="../media/image128.png"/><Relationship Id="rId2" Type="http://schemas.openxmlformats.org/officeDocument/2006/relationships/notesSlide" Target="../notesSlides/notesSlide10.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37" Type="http://schemas.openxmlformats.org/officeDocument/2006/relationships/image" Target="../media/image120.pdf"/><Relationship Id="rId40" Type="http://schemas.openxmlformats.org/officeDocument/2006/relationships/image" Target="../media/image125.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27.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18.pdf"/><Relationship Id="rId8" Type="http://schemas.openxmlformats.org/officeDocument/2006/relationships/image" Target="../media/image88.png"/><Relationship Id="rId3" Type="http://schemas.openxmlformats.org/officeDocument/2006/relationships/image" Target="../media/image14.pdf"/></Relationships>
</file>

<file path=ppt/slides/_rels/slide107.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9" Type="http://schemas.openxmlformats.org/officeDocument/2006/relationships/image" Target="../media/image114.pdf"/><Relationship Id="rId21" Type="http://schemas.openxmlformats.org/officeDocument/2006/relationships/image" Target="../media/image74.pdf"/><Relationship Id="rId34" Type="http://schemas.openxmlformats.org/officeDocument/2006/relationships/image" Target="../media/image126.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16.pdf"/><Relationship Id="rId38" Type="http://schemas.openxmlformats.org/officeDocument/2006/relationships/image" Target="../media/image129.png"/><Relationship Id="rId2" Type="http://schemas.openxmlformats.org/officeDocument/2006/relationships/notesSlide" Target="../notesSlides/notesSlide11.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37" Type="http://schemas.openxmlformats.org/officeDocument/2006/relationships/image" Target="../media/image122.pdf"/><Relationship Id="rId40" Type="http://schemas.openxmlformats.org/officeDocument/2006/relationships/image" Target="../media/image125.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28.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20.pdf"/><Relationship Id="rId8" Type="http://schemas.openxmlformats.org/officeDocument/2006/relationships/image" Target="../media/image88.png"/><Relationship Id="rId3" Type="http://schemas.openxmlformats.org/officeDocument/2006/relationships/image" Target="../media/image14.pdf"/></Relationships>
</file>

<file path=ppt/slides/_rels/slide108.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21" Type="http://schemas.openxmlformats.org/officeDocument/2006/relationships/image" Target="../media/image74.pdf"/><Relationship Id="rId34" Type="http://schemas.openxmlformats.org/officeDocument/2006/relationships/image" Target="../media/image130.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24.pdf"/><Relationship Id="rId38" Type="http://schemas.openxmlformats.org/officeDocument/2006/relationships/image" Target="../media/image132.png"/><Relationship Id="rId2" Type="http://schemas.openxmlformats.org/officeDocument/2006/relationships/notesSlide" Target="../notesSlides/notesSlide12.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37" Type="http://schemas.openxmlformats.org/officeDocument/2006/relationships/image" Target="../media/image128.pdf"/><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36" Type="http://schemas.openxmlformats.org/officeDocument/2006/relationships/image" Target="../media/image131.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35" Type="http://schemas.openxmlformats.org/officeDocument/2006/relationships/image" Target="../media/image126.pdf"/><Relationship Id="rId8" Type="http://schemas.openxmlformats.org/officeDocument/2006/relationships/image" Target="../media/image88.png"/><Relationship Id="rId3" Type="http://schemas.openxmlformats.org/officeDocument/2006/relationships/image" Target="../media/image14.pdf"/></Relationships>
</file>

<file path=ppt/slides/_rels/slide109.xml.rels><?xml version="1.0" encoding="UTF-8" standalone="yes"?>
<Relationships xmlns="http://schemas.openxmlformats.org/package/2006/relationships"><Relationship Id="rId13" Type="http://schemas.openxmlformats.org/officeDocument/2006/relationships/image" Target="../media/image66.pdf"/><Relationship Id="rId18" Type="http://schemas.openxmlformats.org/officeDocument/2006/relationships/image" Target="../media/image103.png"/><Relationship Id="rId26" Type="http://schemas.openxmlformats.org/officeDocument/2006/relationships/image" Target="../media/image107.png"/><Relationship Id="rId3" Type="http://schemas.openxmlformats.org/officeDocument/2006/relationships/image" Target="../media/image14.pdf"/><Relationship Id="rId21" Type="http://schemas.openxmlformats.org/officeDocument/2006/relationships/image" Target="../media/image74.pdf"/><Relationship Id="rId34" Type="http://schemas.openxmlformats.org/officeDocument/2006/relationships/image" Target="../media/image133.png"/><Relationship Id="rId7" Type="http://schemas.openxmlformats.org/officeDocument/2006/relationships/image" Target="../media/image18.pdf"/><Relationship Id="rId12" Type="http://schemas.openxmlformats.org/officeDocument/2006/relationships/image" Target="../media/image99.png"/><Relationship Id="rId17" Type="http://schemas.openxmlformats.org/officeDocument/2006/relationships/image" Target="../media/image70.pdf"/><Relationship Id="rId25" Type="http://schemas.openxmlformats.org/officeDocument/2006/relationships/image" Target="../media/image78.pdf"/><Relationship Id="rId33" Type="http://schemas.openxmlformats.org/officeDocument/2006/relationships/image" Target="../media/image130.pdf"/><Relationship Id="rId2" Type="http://schemas.openxmlformats.org/officeDocument/2006/relationships/notesSlide" Target="../notesSlides/notesSlide13.xml"/><Relationship Id="rId16" Type="http://schemas.openxmlformats.org/officeDocument/2006/relationships/image" Target="../media/image102.png"/><Relationship Id="rId20" Type="http://schemas.openxmlformats.org/officeDocument/2006/relationships/image" Target="../media/image104.png"/><Relationship Id="rId29" Type="http://schemas.openxmlformats.org/officeDocument/2006/relationships/image" Target="../media/image80.pdf"/><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2.pdf"/><Relationship Id="rId24" Type="http://schemas.openxmlformats.org/officeDocument/2006/relationships/image" Target="../media/image106.png"/><Relationship Id="rId32" Type="http://schemas.openxmlformats.org/officeDocument/2006/relationships/image" Target="../media/image109.png"/><Relationship Id="rId5" Type="http://schemas.openxmlformats.org/officeDocument/2006/relationships/image" Target="../media/image16.pdf"/><Relationship Id="rId15" Type="http://schemas.openxmlformats.org/officeDocument/2006/relationships/image" Target="../media/image68.pdf"/><Relationship Id="rId23" Type="http://schemas.openxmlformats.org/officeDocument/2006/relationships/image" Target="../media/image76.pdf"/><Relationship Id="rId28" Type="http://schemas.openxmlformats.org/officeDocument/2006/relationships/image" Target="../media/image110.png"/><Relationship Id="rId10" Type="http://schemas.openxmlformats.org/officeDocument/2006/relationships/image" Target="../media/image89.png"/><Relationship Id="rId19" Type="http://schemas.openxmlformats.org/officeDocument/2006/relationships/image" Target="../media/image72.pdf"/><Relationship Id="rId31" Type="http://schemas.openxmlformats.org/officeDocument/2006/relationships/image" Target="../media/image82.pdf"/><Relationship Id="rId4" Type="http://schemas.openxmlformats.org/officeDocument/2006/relationships/image" Target="../media/image86.png"/><Relationship Id="rId9" Type="http://schemas.openxmlformats.org/officeDocument/2006/relationships/image" Target="../media/image20.pdf"/><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image" Target="../media/image84.pdf"/><Relationship Id="rId30" Type="http://schemas.openxmlformats.org/officeDocument/2006/relationships/image" Target="../media/image108.png"/><Relationship Id="rId8" Type="http://schemas.openxmlformats.org/officeDocument/2006/relationships/image" Target="../media/image88.png"/></Relationships>
</file>

<file path=ppt/slides/_rels/slide110.xml.rels><?xml version="1.0" encoding="UTF-8" standalone="yes"?>
<Relationships xmlns="http://schemas.openxmlformats.org/package/2006/relationships"><Relationship Id="rId8" Type="http://schemas.openxmlformats.org/officeDocument/2006/relationships/image" Target="../media/image20.pdf"/><Relationship Id="rId13" Type="http://schemas.openxmlformats.org/officeDocument/2006/relationships/image" Target="../media/image101.png"/><Relationship Id="rId18" Type="http://schemas.openxmlformats.org/officeDocument/2006/relationships/image" Target="../media/image72.pdf"/><Relationship Id="rId26" Type="http://schemas.openxmlformats.org/officeDocument/2006/relationships/image" Target="../media/image84.pdf"/><Relationship Id="rId3" Type="http://schemas.openxmlformats.org/officeDocument/2006/relationships/image" Target="../media/image86.png"/><Relationship Id="rId21" Type="http://schemas.openxmlformats.org/officeDocument/2006/relationships/image" Target="../media/image105.png"/><Relationship Id="rId7" Type="http://schemas.openxmlformats.org/officeDocument/2006/relationships/image" Target="../media/image88.png"/><Relationship Id="rId12" Type="http://schemas.openxmlformats.org/officeDocument/2006/relationships/image" Target="../media/image66.pdf"/><Relationship Id="rId17" Type="http://schemas.openxmlformats.org/officeDocument/2006/relationships/image" Target="../media/image103.png"/><Relationship Id="rId25" Type="http://schemas.openxmlformats.org/officeDocument/2006/relationships/image" Target="../media/image107.png"/><Relationship Id="rId2" Type="http://schemas.openxmlformats.org/officeDocument/2006/relationships/image" Target="../media/image14.pdf"/><Relationship Id="rId16" Type="http://schemas.openxmlformats.org/officeDocument/2006/relationships/image" Target="../media/image70.pdf"/><Relationship Id="rId20" Type="http://schemas.openxmlformats.org/officeDocument/2006/relationships/image" Target="../media/image74.pdf"/><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8.pdf"/><Relationship Id="rId11" Type="http://schemas.openxmlformats.org/officeDocument/2006/relationships/image" Target="../media/image99.png"/><Relationship Id="rId24" Type="http://schemas.openxmlformats.org/officeDocument/2006/relationships/image" Target="../media/image78.pdf"/><Relationship Id="rId5" Type="http://schemas.openxmlformats.org/officeDocument/2006/relationships/image" Target="../media/image87.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image" Target="../media/image80.pdf"/><Relationship Id="rId10" Type="http://schemas.openxmlformats.org/officeDocument/2006/relationships/image" Target="../media/image22.pdf"/><Relationship Id="rId19" Type="http://schemas.openxmlformats.org/officeDocument/2006/relationships/image" Target="../media/image104.png"/><Relationship Id="rId31" Type="http://schemas.openxmlformats.org/officeDocument/2006/relationships/image" Target="../media/image109.png"/><Relationship Id="rId4" Type="http://schemas.openxmlformats.org/officeDocument/2006/relationships/image" Target="../media/image16.pdf"/><Relationship Id="rId9" Type="http://schemas.openxmlformats.org/officeDocument/2006/relationships/image" Target="../media/image89.png"/><Relationship Id="rId14" Type="http://schemas.openxmlformats.org/officeDocument/2006/relationships/image" Target="../media/image68.pdf"/><Relationship Id="rId22" Type="http://schemas.openxmlformats.org/officeDocument/2006/relationships/image" Target="../media/image76.pdf"/><Relationship Id="rId27" Type="http://schemas.openxmlformats.org/officeDocument/2006/relationships/image" Target="../media/image110.png"/><Relationship Id="rId30" Type="http://schemas.openxmlformats.org/officeDocument/2006/relationships/image" Target="../media/image82.pd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pPr eaLnBrk="1" hangingPunct="1"/>
            <a:r>
              <a:rPr lang="en-US" altLang="en-US" b="1" dirty="0" smtClean="0">
                <a:solidFill>
                  <a:srgbClr val="0070C0"/>
                </a:solidFill>
              </a:rPr>
              <a:t>Artificial Neural Networks</a:t>
            </a:r>
            <a:endParaRPr lang="en-IN" altLang="en-US" b="1" dirty="0" smtClean="0">
              <a:solidFill>
                <a:srgbClr val="0070C0"/>
              </a:solidFill>
            </a:endParaRPr>
          </a:p>
        </p:txBody>
      </p:sp>
      <p:sp>
        <p:nvSpPr>
          <p:cNvPr id="6147" name="Rectangle 3"/>
          <p:cNvSpPr>
            <a:spLocks noGrp="1" noChangeArrowheads="1"/>
          </p:cNvSpPr>
          <p:nvPr>
            <p:ph type="subTitle" idx="1"/>
          </p:nvPr>
        </p:nvSpPr>
        <p:spPr/>
        <p:txBody>
          <a:bodyPr/>
          <a:lstStyle/>
          <a:p>
            <a:pPr eaLnBrk="1" hangingPunct="1"/>
            <a:endParaRPr lang="en-IN" altLang="en-US" dirty="0" smtClean="0"/>
          </a:p>
        </p:txBody>
      </p:sp>
    </p:spTree>
    <p:extLst>
      <p:ext uri="{BB962C8B-B14F-4D97-AF65-F5344CB8AC3E}">
        <p14:creationId xmlns:p14="http://schemas.microsoft.com/office/powerpoint/2010/main" val="5497654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57224" y="184900"/>
            <a:ext cx="10772775" cy="1658198"/>
          </a:xfrm>
        </p:spPr>
        <p:txBody>
          <a:bodyPr/>
          <a:lstStyle/>
          <a:p>
            <a:pPr eaLnBrk="1" hangingPunct="1"/>
            <a:r>
              <a:rPr lang="en-US" altLang="en-US" b="1" dirty="0" smtClean="0">
                <a:solidFill>
                  <a:srgbClr val="0070C0"/>
                </a:solidFill>
              </a:rPr>
              <a:t>Learning Objectives</a:t>
            </a:r>
            <a:endParaRPr lang="en-IN" altLang="en-US" b="1" dirty="0" smtClean="0">
              <a:solidFill>
                <a:srgbClr val="0070C0"/>
              </a:solidFill>
            </a:endParaRPr>
          </a:p>
        </p:txBody>
      </p:sp>
      <p:sp>
        <p:nvSpPr>
          <p:cNvPr id="7171" name="Rectangle 3"/>
          <p:cNvSpPr>
            <a:spLocks noGrp="1" noChangeArrowheads="1"/>
          </p:cNvSpPr>
          <p:nvPr>
            <p:ph idx="1"/>
          </p:nvPr>
        </p:nvSpPr>
        <p:spPr>
          <a:xfrm>
            <a:off x="676274" y="1431577"/>
            <a:ext cx="10753725" cy="3766185"/>
          </a:xfrm>
        </p:spPr>
        <p:txBody>
          <a:bodyPr>
            <a:noAutofit/>
          </a:bodyPr>
          <a:lstStyle/>
          <a:p>
            <a:pPr marL="457200" indent="-457200">
              <a:buFont typeface="+mj-lt"/>
              <a:buAutoNum type="arabicPeriod"/>
            </a:pPr>
            <a:r>
              <a:rPr lang="en-US" altLang="en-US" sz="3600" dirty="0" smtClean="0"/>
              <a:t>Fundamentals of ANN</a:t>
            </a:r>
          </a:p>
          <a:p>
            <a:pPr marL="457200" indent="-457200">
              <a:buFont typeface="+mj-lt"/>
              <a:buAutoNum type="arabicPeriod"/>
            </a:pPr>
            <a:r>
              <a:rPr lang="en-US" altLang="en-US" sz="3600" dirty="0" smtClean="0"/>
              <a:t>Comparison between biological neuron and artificial neuron</a:t>
            </a:r>
          </a:p>
          <a:p>
            <a:pPr marL="457200" indent="-457200">
              <a:buFont typeface="+mj-lt"/>
              <a:buAutoNum type="arabicPeriod"/>
            </a:pPr>
            <a:r>
              <a:rPr lang="en-US" altLang="en-US" sz="3600" dirty="0" smtClean="0"/>
              <a:t>Basic models of ANN</a:t>
            </a:r>
          </a:p>
          <a:p>
            <a:pPr marL="457200" indent="-457200">
              <a:buFont typeface="+mj-lt"/>
              <a:buAutoNum type="arabicPeriod"/>
            </a:pPr>
            <a:r>
              <a:rPr lang="en-US" altLang="en-US" sz="3600" dirty="0" smtClean="0"/>
              <a:t>Different types of connections of NN, Learning and activation function</a:t>
            </a:r>
          </a:p>
          <a:p>
            <a:pPr marL="457200" indent="-457200">
              <a:buFont typeface="+mj-lt"/>
              <a:buAutoNum type="arabicPeriod"/>
            </a:pPr>
            <a:r>
              <a:rPr lang="en-US" altLang="en-US" sz="3600" dirty="0" smtClean="0"/>
              <a:t>Basic fundamental neuron model-McCulloch-Pitts neuron, </a:t>
            </a:r>
            <a:r>
              <a:rPr lang="en-US" altLang="en-US" sz="3600" dirty="0"/>
              <a:t>P</a:t>
            </a:r>
            <a:r>
              <a:rPr lang="en-US" altLang="en-US" sz="3600" dirty="0" smtClean="0"/>
              <a:t>erceptron and Multilayer Perceptron</a:t>
            </a:r>
            <a:endParaRPr lang="en-IN" altLang="en-US" sz="3600" dirty="0" smtClean="0"/>
          </a:p>
        </p:txBody>
      </p:sp>
    </p:spTree>
    <p:extLst>
      <p:ext uri="{BB962C8B-B14F-4D97-AF65-F5344CB8AC3E}">
        <p14:creationId xmlns:p14="http://schemas.microsoft.com/office/powerpoint/2010/main" val="30949611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b="1" dirty="0" smtClean="0">
                <a:solidFill>
                  <a:srgbClr val="0070C0"/>
                </a:solidFill>
              </a:rPr>
              <a:t>Fundamental concept</a:t>
            </a:r>
            <a:endParaRPr lang="en-IN" altLang="en-US" b="1" dirty="0" smtClean="0">
              <a:solidFill>
                <a:srgbClr val="0070C0"/>
              </a:solidFill>
            </a:endParaRPr>
          </a:p>
        </p:txBody>
      </p:sp>
      <p:sp>
        <p:nvSpPr>
          <p:cNvPr id="8195" name="Rectangle 3"/>
          <p:cNvSpPr>
            <a:spLocks noGrp="1" noChangeArrowheads="1"/>
          </p:cNvSpPr>
          <p:nvPr>
            <p:ph idx="1"/>
          </p:nvPr>
        </p:nvSpPr>
        <p:spPr>
          <a:xfrm>
            <a:off x="676274" y="1687216"/>
            <a:ext cx="10753725" cy="3766185"/>
          </a:xfrm>
        </p:spPr>
        <p:txBody>
          <a:bodyPr/>
          <a:lstStyle/>
          <a:p>
            <a:pPr marL="457200" indent="-457200" eaLnBrk="1" hangingPunct="1">
              <a:buFont typeface="+mj-lt"/>
              <a:buAutoNum type="arabicPeriod"/>
            </a:pPr>
            <a:r>
              <a:rPr lang="en-US" altLang="en-US" dirty="0" smtClean="0"/>
              <a:t>ANN are constructed and implemented to model the </a:t>
            </a:r>
            <a:r>
              <a:rPr lang="en-US" altLang="en-US" b="1" u="sng" dirty="0" smtClean="0">
                <a:solidFill>
                  <a:srgbClr val="C00000"/>
                </a:solidFill>
              </a:rPr>
              <a:t>human brain</a:t>
            </a:r>
            <a:r>
              <a:rPr lang="en-US" altLang="en-US" dirty="0" smtClean="0"/>
              <a:t>.</a:t>
            </a:r>
          </a:p>
          <a:p>
            <a:pPr marL="457200" indent="-457200" eaLnBrk="1" hangingPunct="1">
              <a:buFont typeface="+mj-lt"/>
              <a:buAutoNum type="arabicPeriod"/>
            </a:pPr>
            <a:r>
              <a:rPr lang="en-US" altLang="en-US" dirty="0" smtClean="0"/>
              <a:t>Performs various tasks such as pattern-matching, classification, optimization function, </a:t>
            </a:r>
            <a:r>
              <a:rPr lang="en-US" altLang="en-US" dirty="0" smtClean="0"/>
              <a:t>approximation and </a:t>
            </a:r>
            <a:r>
              <a:rPr lang="en-US" altLang="en-US" dirty="0" smtClean="0"/>
              <a:t>data clustering. </a:t>
            </a:r>
          </a:p>
          <a:p>
            <a:pPr marL="457200" indent="-457200" eaLnBrk="1" hangingPunct="1">
              <a:buFont typeface="+mj-lt"/>
              <a:buAutoNum type="arabicPeriod"/>
            </a:pPr>
            <a:r>
              <a:rPr lang="en-US" altLang="en-US" dirty="0" smtClean="0"/>
              <a:t>These tasks are difficult for traditional </a:t>
            </a:r>
            <a:r>
              <a:rPr lang="en-US" altLang="en-US" dirty="0" smtClean="0"/>
              <a:t>computer programs.</a:t>
            </a:r>
            <a:endParaRPr lang="en-IN" altLang="en-US" dirty="0" smtClean="0"/>
          </a:p>
        </p:txBody>
      </p:sp>
    </p:spTree>
    <p:extLst>
      <p:ext uri="{BB962C8B-B14F-4D97-AF65-F5344CB8AC3E}">
        <p14:creationId xmlns:p14="http://schemas.microsoft.com/office/powerpoint/2010/main" val="42652513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b="1" dirty="0" smtClean="0">
                <a:solidFill>
                  <a:srgbClr val="0070C0"/>
                </a:solidFill>
              </a:rPr>
              <a:t>ANN</a:t>
            </a:r>
            <a:endParaRPr lang="en-US" altLang="en-US" b="1" dirty="0" smtClean="0">
              <a:solidFill>
                <a:srgbClr val="0070C0"/>
              </a:solidFill>
            </a:endParaRPr>
          </a:p>
        </p:txBody>
      </p:sp>
      <p:sp>
        <p:nvSpPr>
          <p:cNvPr id="9219" name="Rectangle 3"/>
          <p:cNvSpPr>
            <a:spLocks noGrp="1" noChangeArrowheads="1"/>
          </p:cNvSpPr>
          <p:nvPr>
            <p:ph idx="1"/>
          </p:nvPr>
        </p:nvSpPr>
        <p:spPr/>
        <p:txBody>
          <a:bodyPr>
            <a:normAutofit/>
          </a:bodyPr>
          <a:lstStyle/>
          <a:p>
            <a:pPr marL="457200" indent="-457200" eaLnBrk="1" hangingPunct="1">
              <a:lnSpc>
                <a:spcPct val="90000"/>
              </a:lnSpc>
              <a:buFont typeface="+mj-lt"/>
              <a:buAutoNum type="arabicPeriod"/>
            </a:pPr>
            <a:r>
              <a:rPr lang="en-US" altLang="en-US" sz="3200" dirty="0" smtClean="0"/>
              <a:t>ANN possess a large number of processing elements called </a:t>
            </a:r>
            <a:r>
              <a:rPr lang="en-US" altLang="en-US" sz="3200" b="1" dirty="0" smtClean="0">
                <a:solidFill>
                  <a:srgbClr val="C00000"/>
                </a:solidFill>
              </a:rPr>
              <a:t>nodes/neurons</a:t>
            </a:r>
            <a:r>
              <a:rPr lang="en-US" altLang="en-US" sz="3200" dirty="0" smtClean="0"/>
              <a:t> which operate in </a:t>
            </a:r>
            <a:r>
              <a:rPr lang="en-US" altLang="en-US" sz="3200" dirty="0" smtClean="0">
                <a:solidFill>
                  <a:srgbClr val="C00000"/>
                </a:solidFill>
              </a:rPr>
              <a:t>parallel</a:t>
            </a:r>
            <a:r>
              <a:rPr lang="en-US" altLang="en-US" sz="3200" dirty="0" smtClean="0"/>
              <a:t>. </a:t>
            </a:r>
          </a:p>
          <a:p>
            <a:pPr marL="457200" indent="-457200" eaLnBrk="1" hangingPunct="1">
              <a:lnSpc>
                <a:spcPct val="90000"/>
              </a:lnSpc>
              <a:buFont typeface="+mj-lt"/>
              <a:buAutoNum type="arabicPeriod"/>
            </a:pPr>
            <a:r>
              <a:rPr lang="en-US" altLang="en-US" sz="3200" dirty="0" smtClean="0"/>
              <a:t>Neurons are connected with others by </a:t>
            </a:r>
            <a:r>
              <a:rPr lang="en-US" altLang="en-US" sz="3200" b="1" dirty="0" smtClean="0">
                <a:solidFill>
                  <a:srgbClr val="C00000"/>
                </a:solidFill>
              </a:rPr>
              <a:t>connection link</a:t>
            </a:r>
            <a:r>
              <a:rPr lang="en-US" altLang="en-US" sz="3200" dirty="0" smtClean="0"/>
              <a:t>. </a:t>
            </a:r>
          </a:p>
          <a:p>
            <a:pPr marL="457200" indent="-457200" eaLnBrk="1" hangingPunct="1">
              <a:lnSpc>
                <a:spcPct val="90000"/>
              </a:lnSpc>
              <a:buFont typeface="+mj-lt"/>
              <a:buAutoNum type="arabicPeriod"/>
            </a:pPr>
            <a:r>
              <a:rPr lang="en-US" altLang="en-US" sz="3200" dirty="0" smtClean="0"/>
              <a:t>Each link is associated with </a:t>
            </a:r>
            <a:r>
              <a:rPr lang="en-US" altLang="en-US" sz="3200" b="1" dirty="0" smtClean="0">
                <a:solidFill>
                  <a:srgbClr val="C00000"/>
                </a:solidFill>
              </a:rPr>
              <a:t>weights</a:t>
            </a:r>
            <a:r>
              <a:rPr lang="en-US" altLang="en-US" sz="3200" dirty="0" smtClean="0"/>
              <a:t> which contain </a:t>
            </a:r>
            <a:r>
              <a:rPr lang="en-US" altLang="en-US" sz="3200" b="1" dirty="0" smtClean="0">
                <a:solidFill>
                  <a:srgbClr val="C00000"/>
                </a:solidFill>
              </a:rPr>
              <a:t>information</a:t>
            </a:r>
            <a:r>
              <a:rPr lang="en-US" altLang="en-US" sz="3200" dirty="0" smtClean="0"/>
              <a:t> about the input signal. </a:t>
            </a:r>
          </a:p>
          <a:p>
            <a:pPr marL="457200" indent="-457200" eaLnBrk="1" hangingPunct="1">
              <a:lnSpc>
                <a:spcPct val="90000"/>
              </a:lnSpc>
              <a:buFont typeface="+mj-lt"/>
              <a:buAutoNum type="arabicPeriod"/>
            </a:pPr>
            <a:r>
              <a:rPr lang="en-US" altLang="en-US" sz="3200" dirty="0" smtClean="0"/>
              <a:t>Each neuron has an internal state of its own which is a </a:t>
            </a:r>
            <a:r>
              <a:rPr lang="en-US" altLang="en-US" sz="3200" b="1" dirty="0" smtClean="0">
                <a:solidFill>
                  <a:srgbClr val="C00000"/>
                </a:solidFill>
              </a:rPr>
              <a:t>function</a:t>
            </a:r>
            <a:r>
              <a:rPr lang="en-US" altLang="en-US" sz="3200" dirty="0" smtClean="0"/>
              <a:t> of the inputs that neuron receives- </a:t>
            </a:r>
            <a:r>
              <a:rPr lang="en-US" altLang="en-US" sz="3200" b="1" u="sng" dirty="0" smtClean="0">
                <a:solidFill>
                  <a:srgbClr val="C00000"/>
                </a:solidFill>
              </a:rPr>
              <a:t>Activation level.</a:t>
            </a:r>
            <a:endParaRPr lang="en-US" altLang="en-US" sz="3200" b="1" dirty="0">
              <a:solidFill>
                <a:srgbClr val="C00000"/>
              </a:solidFill>
            </a:endParaRPr>
          </a:p>
        </p:txBody>
      </p:sp>
    </p:spTree>
    <p:extLst>
      <p:ext uri="{BB962C8B-B14F-4D97-AF65-F5344CB8AC3E}">
        <p14:creationId xmlns:p14="http://schemas.microsoft.com/office/powerpoint/2010/main" val="19896307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274638"/>
            <a:ext cx="8229600" cy="1143000"/>
          </a:xfrm>
        </p:spPr>
        <p:txBody>
          <a:bodyPr/>
          <a:lstStyle/>
          <a:p>
            <a:pPr eaLnBrk="1" hangingPunct="1"/>
            <a:r>
              <a:rPr lang="en-US" altLang="en-US" b="1" dirty="0" smtClean="0">
                <a:solidFill>
                  <a:srgbClr val="0070C0"/>
                </a:solidFill>
              </a:rPr>
              <a:t>Artificial Neural Networks</a:t>
            </a:r>
            <a:endParaRPr lang="en-IN" altLang="en-US" b="1" dirty="0" smtClean="0">
              <a:solidFill>
                <a:srgbClr val="0070C0"/>
              </a:solidFill>
            </a:endParaRPr>
          </a:p>
        </p:txBody>
      </p:sp>
      <p:grpSp>
        <p:nvGrpSpPr>
          <p:cNvPr id="10243" name="Group 25"/>
          <p:cNvGrpSpPr>
            <a:grpSpLocks/>
          </p:cNvGrpSpPr>
          <p:nvPr/>
        </p:nvGrpSpPr>
        <p:grpSpPr bwMode="auto">
          <a:xfrm>
            <a:off x="2566989" y="1700213"/>
            <a:ext cx="6624637" cy="3168650"/>
            <a:chOff x="657" y="1434"/>
            <a:chExt cx="3357" cy="1633"/>
          </a:xfrm>
        </p:grpSpPr>
        <p:sp>
          <p:nvSpPr>
            <p:cNvPr id="10247" name="Oval 4"/>
            <p:cNvSpPr>
              <a:spLocks noChangeArrowheads="1"/>
            </p:cNvSpPr>
            <p:nvPr/>
          </p:nvSpPr>
          <p:spPr bwMode="auto">
            <a:xfrm>
              <a:off x="1247" y="1480"/>
              <a:ext cx="499" cy="4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48" name="Oval 5"/>
            <p:cNvSpPr>
              <a:spLocks noChangeArrowheads="1"/>
            </p:cNvSpPr>
            <p:nvPr/>
          </p:nvSpPr>
          <p:spPr bwMode="auto">
            <a:xfrm>
              <a:off x="1292" y="2614"/>
              <a:ext cx="499" cy="4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49" name="Line 6"/>
            <p:cNvSpPr>
              <a:spLocks noChangeShapeType="1"/>
            </p:cNvSpPr>
            <p:nvPr/>
          </p:nvSpPr>
          <p:spPr bwMode="auto">
            <a:xfrm>
              <a:off x="657" y="1661"/>
              <a:ext cx="59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0" name="Line 7"/>
            <p:cNvSpPr>
              <a:spLocks noChangeShapeType="1"/>
            </p:cNvSpPr>
            <p:nvPr/>
          </p:nvSpPr>
          <p:spPr bwMode="auto">
            <a:xfrm>
              <a:off x="703" y="2840"/>
              <a:ext cx="59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1" name="Oval 8"/>
            <p:cNvSpPr>
              <a:spLocks noChangeArrowheads="1"/>
            </p:cNvSpPr>
            <p:nvPr/>
          </p:nvSpPr>
          <p:spPr bwMode="auto">
            <a:xfrm>
              <a:off x="2699" y="2069"/>
              <a:ext cx="499" cy="4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2" name="Line 9"/>
            <p:cNvSpPr>
              <a:spLocks noChangeShapeType="1"/>
            </p:cNvSpPr>
            <p:nvPr/>
          </p:nvSpPr>
          <p:spPr bwMode="auto">
            <a:xfrm>
              <a:off x="3198" y="2296"/>
              <a:ext cx="49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3" name="Line 10"/>
            <p:cNvSpPr>
              <a:spLocks noChangeShapeType="1"/>
            </p:cNvSpPr>
            <p:nvPr/>
          </p:nvSpPr>
          <p:spPr bwMode="auto">
            <a:xfrm>
              <a:off x="1746" y="1706"/>
              <a:ext cx="998" cy="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4" name="Line 11"/>
            <p:cNvSpPr>
              <a:spLocks noChangeShapeType="1"/>
            </p:cNvSpPr>
            <p:nvPr/>
          </p:nvSpPr>
          <p:spPr bwMode="auto">
            <a:xfrm flipV="1">
              <a:off x="1791" y="2478"/>
              <a:ext cx="998" cy="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5" name="Text Box 12"/>
            <p:cNvSpPr txBox="1">
              <a:spLocks noChangeArrowheads="1"/>
            </p:cNvSpPr>
            <p:nvPr/>
          </p:nvSpPr>
          <p:spPr bwMode="auto">
            <a:xfrm>
              <a:off x="854" y="1434"/>
              <a:ext cx="19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endParaRPr lang="en-US" altLang="en-US" sz="1800"/>
            </a:p>
          </p:txBody>
        </p:sp>
        <p:sp>
          <p:nvSpPr>
            <p:cNvPr id="10256" name="Text Box 13"/>
            <p:cNvSpPr txBox="1">
              <a:spLocks noChangeArrowheads="1"/>
            </p:cNvSpPr>
            <p:nvPr/>
          </p:nvSpPr>
          <p:spPr bwMode="auto">
            <a:xfrm>
              <a:off x="884" y="1434"/>
              <a:ext cx="31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x</a:t>
              </a:r>
              <a:r>
                <a:rPr lang="en-US" altLang="en-US" sz="1800" i="1" baseline="-25000"/>
                <a:t>1</a:t>
              </a:r>
              <a:endParaRPr lang="en-IN" altLang="en-US" sz="1800" i="1" baseline="-25000"/>
            </a:p>
          </p:txBody>
        </p:sp>
        <p:sp>
          <p:nvSpPr>
            <p:cNvPr id="10257" name="Text Box 14"/>
            <p:cNvSpPr txBox="1">
              <a:spLocks noChangeArrowheads="1"/>
            </p:cNvSpPr>
            <p:nvPr/>
          </p:nvSpPr>
          <p:spPr bwMode="auto">
            <a:xfrm>
              <a:off x="884" y="2568"/>
              <a:ext cx="31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x</a:t>
              </a:r>
              <a:r>
                <a:rPr lang="en-US" altLang="en-US" sz="1800" i="1" baseline="-25000"/>
                <a:t>2</a:t>
              </a:r>
              <a:endParaRPr lang="en-IN" altLang="en-US" sz="1800" i="1" baseline="-25000"/>
            </a:p>
          </p:txBody>
        </p:sp>
        <p:sp>
          <p:nvSpPr>
            <p:cNvPr id="10258" name="Rectangle 16"/>
            <p:cNvSpPr>
              <a:spLocks noChangeArrowheads="1"/>
            </p:cNvSpPr>
            <p:nvPr/>
          </p:nvSpPr>
          <p:spPr bwMode="auto">
            <a:xfrm>
              <a:off x="1385" y="1616"/>
              <a:ext cx="21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dirty="0"/>
                <a:t>X</a:t>
              </a:r>
              <a:r>
                <a:rPr lang="en-US" altLang="en-US" sz="1800" i="1" baseline="-25000" dirty="0"/>
                <a:t>1</a:t>
              </a:r>
              <a:endParaRPr lang="en-IN" altLang="en-US" sz="1800" i="1" baseline="-25000" dirty="0"/>
            </a:p>
          </p:txBody>
        </p:sp>
        <p:sp>
          <p:nvSpPr>
            <p:cNvPr id="10259" name="Rectangle 18"/>
            <p:cNvSpPr>
              <a:spLocks noChangeArrowheads="1"/>
            </p:cNvSpPr>
            <p:nvPr/>
          </p:nvSpPr>
          <p:spPr bwMode="auto">
            <a:xfrm>
              <a:off x="1428" y="2750"/>
              <a:ext cx="21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X</a:t>
              </a:r>
              <a:r>
                <a:rPr lang="en-US" altLang="en-US" sz="1800" i="1" baseline="-25000"/>
                <a:t>2</a:t>
              </a:r>
              <a:endParaRPr lang="en-IN" altLang="en-US" sz="1800" i="1" baseline="-25000"/>
            </a:p>
          </p:txBody>
        </p:sp>
        <p:sp>
          <p:nvSpPr>
            <p:cNvPr id="10260" name="Text Box 19"/>
            <p:cNvSpPr txBox="1">
              <a:spLocks noChangeArrowheads="1"/>
            </p:cNvSpPr>
            <p:nvPr/>
          </p:nvSpPr>
          <p:spPr bwMode="auto">
            <a:xfrm>
              <a:off x="2290" y="1797"/>
              <a:ext cx="31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w</a:t>
              </a:r>
              <a:r>
                <a:rPr lang="en-US" altLang="en-US" sz="1800" i="1" baseline="-25000"/>
                <a:t>1</a:t>
              </a:r>
              <a:endParaRPr lang="en-IN" altLang="en-US" sz="1800" i="1" baseline="-25000"/>
            </a:p>
          </p:txBody>
        </p:sp>
        <p:sp>
          <p:nvSpPr>
            <p:cNvPr id="10261" name="Text Box 20"/>
            <p:cNvSpPr txBox="1">
              <a:spLocks noChangeArrowheads="1"/>
            </p:cNvSpPr>
            <p:nvPr/>
          </p:nvSpPr>
          <p:spPr bwMode="auto">
            <a:xfrm>
              <a:off x="2290" y="2659"/>
              <a:ext cx="31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w</a:t>
              </a:r>
              <a:r>
                <a:rPr lang="en-US" altLang="en-US" sz="1800" i="1" baseline="-25000"/>
                <a:t>2</a:t>
              </a:r>
              <a:endParaRPr lang="en-IN" altLang="en-US" sz="1800" i="1" baseline="-25000"/>
            </a:p>
          </p:txBody>
        </p:sp>
        <p:sp>
          <p:nvSpPr>
            <p:cNvPr id="10262" name="Text Box 21"/>
            <p:cNvSpPr txBox="1">
              <a:spLocks noChangeArrowheads="1"/>
            </p:cNvSpPr>
            <p:nvPr/>
          </p:nvSpPr>
          <p:spPr bwMode="auto">
            <a:xfrm>
              <a:off x="2835" y="2205"/>
              <a:ext cx="2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Y</a:t>
              </a:r>
              <a:endParaRPr lang="en-IN" altLang="en-US" sz="1800"/>
            </a:p>
          </p:txBody>
        </p:sp>
        <p:sp>
          <p:nvSpPr>
            <p:cNvPr id="10263" name="Text Box 22"/>
            <p:cNvSpPr txBox="1">
              <a:spLocks noChangeArrowheads="1"/>
            </p:cNvSpPr>
            <p:nvPr/>
          </p:nvSpPr>
          <p:spPr bwMode="auto">
            <a:xfrm>
              <a:off x="3742" y="2160"/>
              <a:ext cx="27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y</a:t>
              </a:r>
              <a:endParaRPr lang="en-IN" altLang="en-US" sz="1800" i="1"/>
            </a:p>
          </p:txBody>
        </p:sp>
      </p:grpSp>
      <p:graphicFrame>
        <p:nvGraphicFramePr>
          <p:cNvPr id="10244" name="Object 29"/>
          <p:cNvGraphicFramePr>
            <a:graphicFrameLocks noChangeAspect="1"/>
          </p:cNvGraphicFramePr>
          <p:nvPr/>
        </p:nvGraphicFramePr>
        <p:xfrm>
          <a:off x="5988050" y="3314700"/>
          <a:ext cx="215900" cy="228600"/>
        </p:xfrm>
        <a:graphic>
          <a:graphicData uri="http://schemas.openxmlformats.org/presentationml/2006/ole">
            <mc:AlternateContent xmlns:mc="http://schemas.openxmlformats.org/markup-compatibility/2006">
              <mc:Choice xmlns:v="urn:schemas-microsoft-com:vml" Requires="v">
                <p:oleObj spid="_x0000_s4320" name="Equation" r:id="rId4" imgW="215806" imgH="228501" progId="Equation.DSMT4">
                  <p:embed/>
                </p:oleObj>
              </mc:Choice>
              <mc:Fallback>
                <p:oleObj name="Equation" r:id="rId4" imgW="215806" imgH="228501" progId="Equation.DSMT4">
                  <p:embed/>
                  <p:pic>
                    <p:nvPicPr>
                      <p:cNvPr id="10244"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8050" y="3314700"/>
                        <a:ext cx="2159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31"/>
          <p:cNvGraphicFramePr>
            <a:graphicFrameLocks noChangeAspect="1"/>
          </p:cNvGraphicFramePr>
          <p:nvPr/>
        </p:nvGraphicFramePr>
        <p:xfrm>
          <a:off x="3216275" y="5373689"/>
          <a:ext cx="3240088" cy="549275"/>
        </p:xfrm>
        <a:graphic>
          <a:graphicData uri="http://schemas.openxmlformats.org/presentationml/2006/ole">
            <mc:AlternateContent xmlns:mc="http://schemas.openxmlformats.org/markup-compatibility/2006">
              <mc:Choice xmlns:v="urn:schemas-microsoft-com:vml" Requires="v">
                <p:oleObj spid="_x0000_s4321" name="Equation" r:id="rId6" imgW="1028700" imgH="228600" progId="Equation.DSMT4">
                  <p:embed/>
                </p:oleObj>
              </mc:Choice>
              <mc:Fallback>
                <p:oleObj name="Equation" r:id="rId6" imgW="1028700" imgH="228600" progId="Equation.DSMT4">
                  <p:embed/>
                  <p:pic>
                    <p:nvPicPr>
                      <p:cNvPr id="10245"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6275" y="5373689"/>
                        <a:ext cx="32400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6" name="Object 32"/>
          <p:cNvGraphicFramePr>
            <a:graphicFrameLocks noChangeAspect="1"/>
          </p:cNvGraphicFramePr>
          <p:nvPr/>
        </p:nvGraphicFramePr>
        <p:xfrm>
          <a:off x="7824788" y="3716338"/>
          <a:ext cx="2330450" cy="792162"/>
        </p:xfrm>
        <a:graphic>
          <a:graphicData uri="http://schemas.openxmlformats.org/presentationml/2006/ole">
            <mc:AlternateContent xmlns:mc="http://schemas.openxmlformats.org/markup-compatibility/2006">
              <mc:Choice xmlns:v="urn:schemas-microsoft-com:vml" Requires="v">
                <p:oleObj spid="_x0000_s4322" name="Equation" r:id="rId8" imgW="672808" imgH="228501" progId="Equation.DSMT4">
                  <p:embed/>
                </p:oleObj>
              </mc:Choice>
              <mc:Fallback>
                <p:oleObj name="Equation" r:id="rId8" imgW="672808" imgH="228501" progId="Equation.DSMT4">
                  <p:embed/>
                  <p:pic>
                    <p:nvPicPr>
                      <p:cNvPr id="10246"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4788" y="3716338"/>
                        <a:ext cx="23304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441317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z="4000" b="1" dirty="0">
                <a:solidFill>
                  <a:srgbClr val="0070C0"/>
                </a:solidFill>
              </a:rPr>
              <a:t>Information flow in nervous system</a:t>
            </a:r>
          </a:p>
        </p:txBody>
      </p:sp>
      <p:pic>
        <p:nvPicPr>
          <p:cNvPr id="13315"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6734" y="1860551"/>
            <a:ext cx="8161155" cy="4323939"/>
          </a:xfrm>
          <a:noFill/>
        </p:spPr>
      </p:pic>
    </p:spTree>
    <p:extLst>
      <p:ext uri="{BB962C8B-B14F-4D97-AF65-F5344CB8AC3E}">
        <p14:creationId xmlns:p14="http://schemas.microsoft.com/office/powerpoint/2010/main" val="14537101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b="1" dirty="0" smtClean="0">
                <a:solidFill>
                  <a:srgbClr val="0070C0"/>
                </a:solidFill>
              </a:rPr>
              <a:t>Biological Neural Network</a:t>
            </a:r>
          </a:p>
        </p:txBody>
      </p:sp>
      <p:sp>
        <p:nvSpPr>
          <p:cNvPr id="14339" name="Rectangle 3"/>
          <p:cNvSpPr>
            <a:spLocks noGrp="1" noChangeArrowheads="1"/>
          </p:cNvSpPr>
          <p:nvPr>
            <p:ph idx="1"/>
          </p:nvPr>
        </p:nvSpPr>
        <p:spPr/>
        <p:txBody>
          <a:bodyPr/>
          <a:lstStyle/>
          <a:p>
            <a:pPr eaLnBrk="1" hangingPunct="1"/>
            <a:endParaRPr lang="en-US" altLang="en-US" smtClean="0"/>
          </a:p>
        </p:txBody>
      </p:sp>
      <p:pic>
        <p:nvPicPr>
          <p:cNvPr id="14340" name="Picture 5" descr="img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255" y="1700214"/>
            <a:ext cx="8905559" cy="4857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48543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57224" y="196645"/>
            <a:ext cx="10772775" cy="1347019"/>
          </a:xfrm>
        </p:spPr>
        <p:txBody>
          <a:bodyPr/>
          <a:lstStyle/>
          <a:p>
            <a:pPr eaLnBrk="1" hangingPunct="1"/>
            <a:r>
              <a:rPr lang="en-US" altLang="en-US" b="1" dirty="0" smtClean="0">
                <a:solidFill>
                  <a:srgbClr val="0070C0"/>
                </a:solidFill>
              </a:rPr>
              <a:t>Biological Neuron</a:t>
            </a:r>
          </a:p>
        </p:txBody>
      </p:sp>
      <p:sp>
        <p:nvSpPr>
          <p:cNvPr id="16387" name="Rectangle 3"/>
          <p:cNvSpPr>
            <a:spLocks noGrp="1" noChangeArrowheads="1"/>
          </p:cNvSpPr>
          <p:nvPr>
            <p:ph idx="1"/>
          </p:nvPr>
        </p:nvSpPr>
        <p:spPr>
          <a:xfrm>
            <a:off x="657224" y="1179871"/>
            <a:ext cx="10772775" cy="5427406"/>
          </a:xfrm>
        </p:spPr>
        <p:txBody>
          <a:bodyPr>
            <a:normAutofit/>
          </a:bodyPr>
          <a:lstStyle/>
          <a:p>
            <a:pPr marL="457200" indent="-457200">
              <a:lnSpc>
                <a:spcPct val="80000"/>
              </a:lnSpc>
              <a:buFont typeface="+mj-lt"/>
              <a:buAutoNum type="arabicPeriod"/>
            </a:pPr>
            <a:r>
              <a:rPr lang="en-US" altLang="en-US" dirty="0"/>
              <a:t>Has 3 parts </a:t>
            </a:r>
          </a:p>
          <a:p>
            <a:pPr lvl="1">
              <a:lnSpc>
                <a:spcPct val="80000"/>
              </a:lnSpc>
            </a:pPr>
            <a:r>
              <a:rPr lang="en-US" altLang="en-US" b="1" dirty="0">
                <a:solidFill>
                  <a:srgbClr val="FF0000"/>
                </a:solidFill>
              </a:rPr>
              <a:t>Soma or cell </a:t>
            </a:r>
            <a:r>
              <a:rPr lang="en-US" altLang="en-US" b="1" dirty="0" smtClean="0">
                <a:solidFill>
                  <a:srgbClr val="FF0000"/>
                </a:solidFill>
              </a:rPr>
              <a:t>body: </a:t>
            </a:r>
            <a:r>
              <a:rPr lang="en-US" altLang="en-US" dirty="0" smtClean="0"/>
              <a:t>cell </a:t>
            </a:r>
            <a:r>
              <a:rPr lang="en-US" altLang="en-US" dirty="0"/>
              <a:t>nucleus is located</a:t>
            </a:r>
          </a:p>
          <a:p>
            <a:pPr lvl="1">
              <a:lnSpc>
                <a:spcPct val="80000"/>
              </a:lnSpc>
            </a:pPr>
            <a:r>
              <a:rPr lang="en-US" altLang="en-US" b="1" dirty="0">
                <a:solidFill>
                  <a:srgbClr val="FF0000"/>
                </a:solidFill>
              </a:rPr>
              <a:t>Dendrites</a:t>
            </a:r>
            <a:r>
              <a:rPr lang="en-US" altLang="en-US" b="1" dirty="0" smtClean="0">
                <a:solidFill>
                  <a:srgbClr val="FF0000"/>
                </a:solidFill>
              </a:rPr>
              <a:t>: </a:t>
            </a:r>
            <a:r>
              <a:rPr lang="en-US" altLang="en-US" dirty="0"/>
              <a:t>nerve connected to cell body</a:t>
            </a:r>
          </a:p>
          <a:p>
            <a:pPr lvl="1">
              <a:lnSpc>
                <a:spcPct val="80000"/>
              </a:lnSpc>
            </a:pPr>
            <a:r>
              <a:rPr lang="en-US" altLang="en-US" b="1" dirty="0">
                <a:solidFill>
                  <a:srgbClr val="FF0000"/>
                </a:solidFill>
              </a:rPr>
              <a:t>Axon: </a:t>
            </a:r>
            <a:r>
              <a:rPr lang="en-US" altLang="en-US" dirty="0"/>
              <a:t>carries impulses of the neuron</a:t>
            </a:r>
          </a:p>
          <a:p>
            <a:pPr marL="457200" indent="-457200">
              <a:lnSpc>
                <a:spcPct val="80000"/>
              </a:lnSpc>
              <a:buFont typeface="+mj-lt"/>
              <a:buAutoNum type="arabicPeriod"/>
            </a:pPr>
            <a:r>
              <a:rPr lang="en-US" altLang="en-US" dirty="0"/>
              <a:t>End of axon splits into fine </a:t>
            </a:r>
            <a:r>
              <a:rPr lang="en-US" altLang="en-US" b="1" dirty="0">
                <a:solidFill>
                  <a:srgbClr val="C00000"/>
                </a:solidFill>
              </a:rPr>
              <a:t>strands</a:t>
            </a:r>
          </a:p>
          <a:p>
            <a:pPr marL="457200" indent="-457200">
              <a:lnSpc>
                <a:spcPct val="80000"/>
              </a:lnSpc>
              <a:buFont typeface="+mj-lt"/>
              <a:buAutoNum type="arabicPeriod"/>
            </a:pPr>
            <a:r>
              <a:rPr lang="en-US" altLang="en-US" dirty="0"/>
              <a:t>Each strand terminates into a bulb-like organ called </a:t>
            </a:r>
            <a:r>
              <a:rPr lang="en-US" altLang="en-US" b="1" dirty="0">
                <a:solidFill>
                  <a:srgbClr val="C00000"/>
                </a:solidFill>
              </a:rPr>
              <a:t>synapse</a:t>
            </a:r>
          </a:p>
          <a:p>
            <a:pPr marL="457200" indent="-457200">
              <a:lnSpc>
                <a:spcPct val="80000"/>
              </a:lnSpc>
              <a:buFont typeface="+mj-lt"/>
              <a:buAutoNum type="arabicPeriod"/>
            </a:pPr>
            <a:r>
              <a:rPr lang="en-US" altLang="en-US" dirty="0"/>
              <a:t>Electric impulses are passed between the synapse and dendrites</a:t>
            </a:r>
          </a:p>
          <a:p>
            <a:pPr marL="457200" indent="-457200">
              <a:lnSpc>
                <a:spcPct val="80000"/>
              </a:lnSpc>
              <a:buFont typeface="+mj-lt"/>
              <a:buAutoNum type="arabicPeriod"/>
            </a:pPr>
            <a:r>
              <a:rPr lang="en-US" altLang="en-US" dirty="0"/>
              <a:t>Synapses are of two types</a:t>
            </a:r>
          </a:p>
          <a:p>
            <a:pPr lvl="1">
              <a:lnSpc>
                <a:spcPct val="80000"/>
              </a:lnSpc>
            </a:pPr>
            <a:r>
              <a:rPr lang="en-US" altLang="en-US" b="1" dirty="0">
                <a:solidFill>
                  <a:srgbClr val="FF0000"/>
                </a:solidFill>
              </a:rPr>
              <a:t>Inhibitory:- </a:t>
            </a:r>
            <a:r>
              <a:rPr lang="en-US" altLang="en-US" dirty="0"/>
              <a:t>impulses hinder the firing of the receiving cell</a:t>
            </a:r>
          </a:p>
          <a:p>
            <a:pPr lvl="1">
              <a:lnSpc>
                <a:spcPct val="80000"/>
              </a:lnSpc>
            </a:pPr>
            <a:r>
              <a:rPr lang="en-US" altLang="en-US" b="1" dirty="0">
                <a:solidFill>
                  <a:srgbClr val="FF0000"/>
                </a:solidFill>
              </a:rPr>
              <a:t>Excitatory:- </a:t>
            </a:r>
            <a:r>
              <a:rPr lang="en-US" altLang="en-US" dirty="0"/>
              <a:t>impulses cause the firing of the receiving cell</a:t>
            </a:r>
          </a:p>
          <a:p>
            <a:pPr marL="457200" indent="-457200">
              <a:lnSpc>
                <a:spcPct val="80000"/>
              </a:lnSpc>
              <a:buFont typeface="+mj-lt"/>
              <a:buAutoNum type="arabicPeriod"/>
            </a:pPr>
            <a:r>
              <a:rPr lang="en-US" altLang="en-US" b="1" dirty="0">
                <a:solidFill>
                  <a:srgbClr val="C00000"/>
                </a:solidFill>
              </a:rPr>
              <a:t>Neuron fires when the total of the weights to receive impulses exceeds the threshold value during the latent summation period</a:t>
            </a:r>
          </a:p>
          <a:p>
            <a:pPr eaLnBrk="1" hangingPunct="1">
              <a:lnSpc>
                <a:spcPct val="80000"/>
              </a:lnSpc>
            </a:pPr>
            <a:endParaRPr lang="en-US" altLang="en-US" sz="2000" dirty="0"/>
          </a:p>
        </p:txBody>
      </p:sp>
    </p:spTree>
    <p:extLst>
      <p:ext uri="{BB962C8B-B14F-4D97-AF65-F5344CB8AC3E}">
        <p14:creationId xmlns:p14="http://schemas.microsoft.com/office/powerpoint/2010/main" val="3342048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21" name="Group 65"/>
          <p:cNvGraphicFramePr>
            <a:graphicFrameLocks noGrp="1"/>
          </p:cNvGraphicFramePr>
          <p:nvPr>
            <p:ph/>
            <p:extLst>
              <p:ext uri="{D42A27DB-BD31-4B8C-83A1-F6EECF244321}">
                <p14:modId xmlns:p14="http://schemas.microsoft.com/office/powerpoint/2010/main" val="1859603878"/>
              </p:ext>
            </p:extLst>
          </p:nvPr>
        </p:nvGraphicFramePr>
        <p:xfrm>
          <a:off x="1726842" y="858838"/>
          <a:ext cx="8229600" cy="6187285"/>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922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charset="0"/>
                        <a:cs typeface="Arial"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Brain</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ANN</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01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Speed</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Few </a:t>
                      </a:r>
                      <a:r>
                        <a:rPr kumimoji="0" lang="en-US" sz="2000" b="0" i="0" u="none" strike="noStrike" cap="none" normalizeH="0" baseline="0" dirty="0" err="1" smtClean="0">
                          <a:ln>
                            <a:noFill/>
                          </a:ln>
                          <a:solidFill>
                            <a:schemeClr val="tx1"/>
                          </a:solidFill>
                          <a:effectLst/>
                          <a:latin typeface="Arial" charset="0"/>
                          <a:cs typeface="Arial" charset="0"/>
                        </a:rPr>
                        <a:t>ms.</a:t>
                      </a:r>
                      <a:r>
                        <a:rPr kumimoji="0" lang="en-US" sz="2000" b="0" i="0" u="none" strike="noStrike" cap="none" normalizeH="0" baseline="0" dirty="0" smtClean="0">
                          <a:ln>
                            <a:noFill/>
                          </a:ln>
                          <a:solidFill>
                            <a:schemeClr val="tx1"/>
                          </a:solidFill>
                          <a:effectLst/>
                          <a:latin typeface="Arial" charset="0"/>
                          <a:cs typeface="Arial" charset="0"/>
                        </a:rPr>
                        <a:t>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Few nano sec. massive ||el processing</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1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Size and complexity</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10</a:t>
                      </a:r>
                      <a:r>
                        <a:rPr kumimoji="0" lang="en-US" sz="2000" b="0" i="0" u="none" strike="noStrike" cap="none" normalizeH="0" baseline="30000" dirty="0" smtClean="0">
                          <a:ln>
                            <a:noFill/>
                          </a:ln>
                          <a:solidFill>
                            <a:schemeClr val="tx1"/>
                          </a:solidFill>
                          <a:effectLst/>
                          <a:latin typeface="Arial" charset="0"/>
                          <a:cs typeface="Arial" charset="0"/>
                        </a:rPr>
                        <a:t>11 </a:t>
                      </a:r>
                      <a:r>
                        <a:rPr kumimoji="0" lang="en-US" sz="2000" b="0" i="0" u="none" strike="noStrike" cap="none" normalizeH="0" baseline="0" dirty="0" smtClean="0">
                          <a:ln>
                            <a:noFill/>
                          </a:ln>
                          <a:solidFill>
                            <a:schemeClr val="tx1"/>
                          </a:solidFill>
                          <a:effectLst/>
                          <a:latin typeface="Arial" charset="0"/>
                          <a:cs typeface="Arial" charset="0"/>
                        </a:rPr>
                        <a:t>neurons &amp; 10</a:t>
                      </a:r>
                      <a:r>
                        <a:rPr kumimoji="0" lang="en-US" sz="2000" b="0" i="0" u="none" strike="noStrike" cap="none" normalizeH="0" baseline="30000" dirty="0" smtClean="0">
                          <a:ln>
                            <a:noFill/>
                          </a:ln>
                          <a:solidFill>
                            <a:schemeClr val="tx1"/>
                          </a:solidFill>
                          <a:effectLst/>
                          <a:latin typeface="Arial" charset="0"/>
                          <a:cs typeface="Arial" charset="0"/>
                        </a:rPr>
                        <a:t>15 </a:t>
                      </a:r>
                      <a:r>
                        <a:rPr kumimoji="0" lang="en-US" sz="2000" b="0" i="0" u="none" strike="noStrike" cap="none" normalizeH="0" baseline="0" dirty="0" smtClean="0">
                          <a:ln>
                            <a:noFill/>
                          </a:ln>
                          <a:solidFill>
                            <a:schemeClr val="tx1"/>
                          </a:solidFill>
                          <a:effectLst/>
                          <a:latin typeface="Arial" charset="0"/>
                          <a:cs typeface="Arial" charset="0"/>
                        </a:rPr>
                        <a:t>interconnections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Depends on designer</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437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Storage capacity</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Stores information in its interconnection or in synapse.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No Loss of memory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Contiguous memory locations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loss of memory may happen sometimes.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888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Tolerance</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Has fault tolerance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No fault tolerance </a:t>
                      </a:r>
                      <a:r>
                        <a:rPr kumimoji="0" lang="en-US" sz="2000" b="0" i="0" u="none" strike="noStrike" cap="none" normalizeH="0" baseline="0" dirty="0" smtClean="0">
                          <a:ln>
                            <a:noFill/>
                          </a:ln>
                          <a:solidFill>
                            <a:schemeClr val="tx1"/>
                          </a:solidFill>
                          <a:effectLst/>
                          <a:latin typeface="Arial" charset="0"/>
                          <a:cs typeface="Arial" charset="0"/>
                        </a:rPr>
                        <a:t>It </a:t>
                      </a:r>
                      <a:r>
                        <a:rPr kumimoji="0" lang="en-US" sz="2000" b="0" i="0" u="none" strike="noStrike" cap="none" normalizeH="0" baseline="0" dirty="0" smtClean="0">
                          <a:ln>
                            <a:noFill/>
                          </a:ln>
                          <a:solidFill>
                            <a:schemeClr val="tx1"/>
                          </a:solidFill>
                          <a:effectLst/>
                          <a:latin typeface="Arial" charset="0"/>
                          <a:cs typeface="Arial" charset="0"/>
                        </a:rPr>
                        <a:t>gets disrupted when interconnections are disconnected</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145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Control mechanism</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Complicated involves chemicals in biological neuron</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Simpler in ANN</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5602" name="Rectangle 2"/>
          <p:cNvSpPr>
            <a:spLocks noGrp="1" noChangeArrowheads="1"/>
          </p:cNvSpPr>
          <p:nvPr>
            <p:ph type="title" idx="4294967295"/>
          </p:nvPr>
        </p:nvSpPr>
        <p:spPr>
          <a:xfrm>
            <a:off x="0" y="274638"/>
            <a:ext cx="8893175" cy="777875"/>
          </a:xfrm>
        </p:spPr>
        <p:txBody>
          <a:bodyPr>
            <a:normAutofit fontScale="90000"/>
          </a:bodyPr>
          <a:lstStyle/>
          <a:p>
            <a:pPr eaLnBrk="1" hangingPunct="1"/>
            <a:r>
              <a:rPr lang="en-US" altLang="en-US" sz="4000" b="1" dirty="0">
                <a:solidFill>
                  <a:srgbClr val="0070C0"/>
                </a:solidFill>
              </a:rPr>
              <a:t>Comparison between brain verses computer </a:t>
            </a:r>
          </a:p>
        </p:txBody>
      </p:sp>
    </p:spTree>
    <p:extLst>
      <p:ext uri="{BB962C8B-B14F-4D97-AF65-F5344CB8AC3E}">
        <p14:creationId xmlns:p14="http://schemas.microsoft.com/office/powerpoint/2010/main" val="39464818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z="4000" b="1" dirty="0">
                <a:solidFill>
                  <a:srgbClr val="0070C0"/>
                </a:solidFill>
              </a:rPr>
              <a:t>Features of McCulloch-Pitts </a:t>
            </a:r>
            <a:r>
              <a:rPr lang="en-US" altLang="en-US" sz="4000" b="1" dirty="0" smtClean="0">
                <a:solidFill>
                  <a:srgbClr val="0070C0"/>
                </a:solidFill>
              </a:rPr>
              <a:t>model (1943)</a:t>
            </a:r>
            <a:endParaRPr lang="en-US" altLang="en-US" sz="4000" b="1" dirty="0">
              <a:solidFill>
                <a:srgbClr val="0070C0"/>
              </a:solidFill>
            </a:endParaRPr>
          </a:p>
        </p:txBody>
      </p:sp>
      <p:sp>
        <p:nvSpPr>
          <p:cNvPr id="18435" name="Rectangle 3"/>
          <p:cNvSpPr>
            <a:spLocks noGrp="1" noChangeArrowheads="1"/>
          </p:cNvSpPr>
          <p:nvPr>
            <p:ph idx="1"/>
          </p:nvPr>
        </p:nvSpPr>
        <p:spPr>
          <a:xfrm>
            <a:off x="412955" y="2011680"/>
            <a:ext cx="11651225" cy="4575933"/>
          </a:xfrm>
        </p:spPr>
        <p:txBody>
          <a:bodyPr>
            <a:normAutofit/>
          </a:bodyPr>
          <a:lstStyle/>
          <a:p>
            <a:pPr marL="457200" indent="-457200" eaLnBrk="1" hangingPunct="1">
              <a:buFont typeface="+mj-lt"/>
              <a:buAutoNum type="arabicPeriod"/>
            </a:pPr>
            <a:r>
              <a:rPr lang="en-US" altLang="en-US" sz="3200" dirty="0" smtClean="0"/>
              <a:t>Allows binary 0,1 states only</a:t>
            </a:r>
          </a:p>
          <a:p>
            <a:pPr marL="457200" indent="-457200" eaLnBrk="1" hangingPunct="1">
              <a:buFont typeface="+mj-lt"/>
              <a:buAutoNum type="arabicPeriod"/>
            </a:pPr>
            <a:r>
              <a:rPr lang="en-US" altLang="en-US" sz="3200" dirty="0" smtClean="0"/>
              <a:t>Operates under a discrete-time assumption</a:t>
            </a:r>
          </a:p>
          <a:p>
            <a:pPr marL="457200" indent="-457200" eaLnBrk="1" hangingPunct="1">
              <a:buFont typeface="+mj-lt"/>
              <a:buAutoNum type="arabicPeriod"/>
            </a:pPr>
            <a:r>
              <a:rPr lang="en-US" altLang="en-US" sz="3200" dirty="0" smtClean="0"/>
              <a:t>Weights and the neurons’ thresholds are fixed in the model and no interaction among network </a:t>
            </a:r>
            <a:r>
              <a:rPr lang="en-US" altLang="en-US" sz="3200" dirty="0" smtClean="0"/>
              <a:t>neurons. </a:t>
            </a:r>
            <a:endParaRPr lang="en-US" altLang="en-US" sz="3200" dirty="0" smtClean="0"/>
          </a:p>
          <a:p>
            <a:pPr marL="457200" indent="-457200" eaLnBrk="1" hangingPunct="1">
              <a:buFont typeface="+mj-lt"/>
              <a:buAutoNum type="arabicPeriod"/>
            </a:pPr>
            <a:r>
              <a:rPr lang="en-US" altLang="en-US" sz="3200" dirty="0" smtClean="0"/>
              <a:t>Just a primitive </a:t>
            </a:r>
            <a:r>
              <a:rPr lang="en-US" altLang="en-US" sz="3200" dirty="0" smtClean="0"/>
              <a:t>model.</a:t>
            </a:r>
            <a:endParaRPr lang="en-US" altLang="en-US" sz="3200" dirty="0" smtClean="0"/>
          </a:p>
        </p:txBody>
      </p:sp>
    </p:spTree>
    <p:extLst>
      <p:ext uri="{BB962C8B-B14F-4D97-AF65-F5344CB8AC3E}">
        <p14:creationId xmlns:p14="http://schemas.microsoft.com/office/powerpoint/2010/main" val="10544491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2"/>
          <p:cNvSpPr>
            <a:spLocks noGrp="1" noChangeArrowheads="1"/>
          </p:cNvSpPr>
          <p:nvPr>
            <p:ph type="title"/>
          </p:nvPr>
        </p:nvSpPr>
        <p:spPr/>
        <p:txBody>
          <a:bodyPr/>
          <a:lstStyle/>
          <a:p>
            <a:pPr eaLnBrk="1" hangingPunct="1"/>
            <a:r>
              <a:rPr lang="en-US" altLang="en-US" b="1" dirty="0" smtClean="0">
                <a:solidFill>
                  <a:srgbClr val="0070C0"/>
                </a:solidFill>
              </a:rPr>
              <a:t>Basic models of ANN</a:t>
            </a:r>
          </a:p>
        </p:txBody>
      </p:sp>
      <p:graphicFrame>
        <p:nvGraphicFramePr>
          <p:cNvPr id="2" name="Diagram 1"/>
          <p:cNvGraphicFramePr/>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44217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b="1" dirty="0">
                <a:solidFill>
                  <a:srgbClr val="0070C0"/>
                </a:solidFill>
              </a:rPr>
              <a:t>Classification based on interconnections</a:t>
            </a:r>
          </a:p>
        </p:txBody>
      </p:sp>
      <p:graphicFrame>
        <p:nvGraphicFramePr>
          <p:cNvPr id="7" name="Diagram 6"/>
          <p:cNvGraphicFramePr/>
          <p:nvPr>
            <p:extLst>
              <p:ext uri="{D42A27DB-BD31-4B8C-83A1-F6EECF244321}">
                <p14:modId xmlns:p14="http://schemas.microsoft.com/office/powerpoint/2010/main" val="294455429"/>
              </p:ext>
            </p:extLst>
          </p:nvPr>
        </p:nvGraphicFramePr>
        <p:xfrm>
          <a:off x="2458065" y="1396999"/>
          <a:ext cx="6685935" cy="4885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9977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b="1" dirty="0" smtClean="0">
                <a:solidFill>
                  <a:srgbClr val="0070C0"/>
                </a:solidFill>
              </a:rPr>
              <a:t>Single layer Feedforward Network</a:t>
            </a:r>
          </a:p>
        </p:txBody>
      </p:sp>
      <p:pic>
        <p:nvPicPr>
          <p:cNvPr id="3" name="Content Placeholder 2"/>
          <p:cNvPicPr>
            <a:picLocks noGrp="1" noChangeAspect="1"/>
          </p:cNvPicPr>
          <p:nvPr>
            <p:ph idx="1"/>
          </p:nvPr>
        </p:nvPicPr>
        <p:blipFill>
          <a:blip r:embed="rId2"/>
          <a:stretch>
            <a:fillRect/>
          </a:stretch>
        </p:blipFill>
        <p:spPr>
          <a:xfrm>
            <a:off x="4033837" y="1915319"/>
            <a:ext cx="4124325" cy="4171950"/>
          </a:xfrm>
          <a:prstGeom prst="rect">
            <a:avLst/>
          </a:prstGeom>
        </p:spPr>
      </p:pic>
    </p:spTree>
    <p:extLst>
      <p:ext uri="{BB962C8B-B14F-4D97-AF65-F5344CB8AC3E}">
        <p14:creationId xmlns:p14="http://schemas.microsoft.com/office/powerpoint/2010/main" val="26100513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b="1" dirty="0" smtClean="0">
                <a:solidFill>
                  <a:srgbClr val="0070C0"/>
                </a:solidFill>
              </a:rPr>
              <a:t>Multilayer feed forward network</a:t>
            </a:r>
          </a:p>
        </p:txBody>
      </p:sp>
      <p:sp>
        <p:nvSpPr>
          <p:cNvPr id="29699" name="Rectangle 3"/>
          <p:cNvSpPr>
            <a:spLocks noGrp="1" noChangeArrowheads="1"/>
          </p:cNvSpPr>
          <p:nvPr>
            <p:ph idx="1"/>
          </p:nvPr>
        </p:nvSpPr>
        <p:spPr/>
        <p:txBody>
          <a:bodyPr/>
          <a:lstStyle/>
          <a:p>
            <a:pPr eaLnBrk="1" hangingPunct="1">
              <a:buFontTx/>
              <a:buNone/>
            </a:pPr>
            <a:endParaRPr lang="en-US" altLang="en-US" smtClean="0"/>
          </a:p>
        </p:txBody>
      </p:sp>
      <p:pic>
        <p:nvPicPr>
          <p:cNvPr id="29700" name="Picture 5" descr="tualatin_an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924" y="1773239"/>
            <a:ext cx="6816828" cy="4135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6"/>
          <p:cNvSpPr txBox="1">
            <a:spLocks noChangeArrowheads="1"/>
          </p:cNvSpPr>
          <p:nvPr/>
        </p:nvSpPr>
        <p:spPr bwMode="auto">
          <a:xfrm>
            <a:off x="3143251" y="5661026"/>
            <a:ext cx="6913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endParaRPr lang="en-US" altLang="en-US" sz="1800"/>
          </a:p>
        </p:txBody>
      </p:sp>
      <p:sp>
        <p:nvSpPr>
          <p:cNvPr id="29702" name="Text Box 7"/>
          <p:cNvSpPr txBox="1">
            <a:spLocks noChangeArrowheads="1"/>
          </p:cNvSpPr>
          <p:nvPr/>
        </p:nvSpPr>
        <p:spPr bwMode="auto">
          <a:xfrm>
            <a:off x="5232401" y="5876926"/>
            <a:ext cx="4824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Can be used to solve complicated problems</a:t>
            </a:r>
            <a:endParaRPr lang="en-IN" altLang="en-US" sz="1800"/>
          </a:p>
        </p:txBody>
      </p:sp>
    </p:spTree>
    <p:extLst>
      <p:ext uri="{BB962C8B-B14F-4D97-AF65-F5344CB8AC3E}">
        <p14:creationId xmlns:p14="http://schemas.microsoft.com/office/powerpoint/2010/main" val="12526237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09612" y="135739"/>
            <a:ext cx="10772775" cy="1221574"/>
          </a:xfrm>
        </p:spPr>
        <p:txBody>
          <a:bodyPr/>
          <a:lstStyle/>
          <a:p>
            <a:pPr eaLnBrk="1" hangingPunct="1"/>
            <a:r>
              <a:rPr lang="en-US" altLang="en-US" b="1" dirty="0" smtClean="0">
                <a:solidFill>
                  <a:srgbClr val="0070C0"/>
                </a:solidFill>
              </a:rPr>
              <a:t>Recurrent </a:t>
            </a:r>
            <a:r>
              <a:rPr lang="en-US" altLang="en-US" b="1" dirty="0">
                <a:solidFill>
                  <a:srgbClr val="0070C0"/>
                </a:solidFill>
              </a:rPr>
              <a:t>N</a:t>
            </a:r>
            <a:r>
              <a:rPr lang="en-US" altLang="en-US" b="1" dirty="0" smtClean="0">
                <a:solidFill>
                  <a:srgbClr val="0070C0"/>
                </a:solidFill>
              </a:rPr>
              <a:t>etworks</a:t>
            </a:r>
            <a:endParaRPr lang="en-US" altLang="en-US" b="1" dirty="0" smtClean="0">
              <a:solidFill>
                <a:srgbClr val="0070C0"/>
              </a:solidFill>
            </a:endParaRPr>
          </a:p>
        </p:txBody>
      </p:sp>
      <p:pic>
        <p:nvPicPr>
          <p:cNvPr id="5" name="Picture 5" descr="RecurrentLayerNeural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6410" y="1648779"/>
            <a:ext cx="37147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61251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Rectangle 2"/>
          <p:cNvSpPr>
            <a:spLocks noGrp="1" noChangeArrowheads="1"/>
          </p:cNvSpPr>
          <p:nvPr>
            <p:ph type="title"/>
          </p:nvPr>
        </p:nvSpPr>
        <p:spPr/>
        <p:txBody>
          <a:bodyPr/>
          <a:lstStyle/>
          <a:p>
            <a:pPr eaLnBrk="1" hangingPunct="1"/>
            <a:r>
              <a:rPr lang="en-US" altLang="en-US" b="1" dirty="0" smtClean="0">
                <a:solidFill>
                  <a:srgbClr val="0070C0"/>
                </a:solidFill>
              </a:rPr>
              <a:t>Basic models of ANN</a:t>
            </a:r>
          </a:p>
        </p:txBody>
      </p:sp>
      <p:graphicFrame>
        <p:nvGraphicFramePr>
          <p:cNvPr id="2" name="Diagram 1"/>
          <p:cNvGraphicFramePr/>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7262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b="1" dirty="0" smtClean="0">
                <a:solidFill>
                  <a:srgbClr val="0070C0"/>
                </a:solidFill>
              </a:rPr>
              <a:t>Learning</a:t>
            </a:r>
          </a:p>
        </p:txBody>
      </p:sp>
      <p:sp>
        <p:nvSpPr>
          <p:cNvPr id="36867" name="Rectangle 3"/>
          <p:cNvSpPr>
            <a:spLocks noGrp="1" noChangeArrowheads="1"/>
          </p:cNvSpPr>
          <p:nvPr>
            <p:ph idx="1"/>
          </p:nvPr>
        </p:nvSpPr>
        <p:spPr/>
        <p:txBody>
          <a:bodyPr>
            <a:normAutofit/>
          </a:bodyPr>
          <a:lstStyle/>
          <a:p>
            <a:pPr marL="514350" indent="-514350" eaLnBrk="1" hangingPunct="1">
              <a:buFont typeface="+mj-lt"/>
              <a:buAutoNum type="arabicPeriod"/>
            </a:pPr>
            <a:r>
              <a:rPr lang="en-US" altLang="en-US" sz="3200" dirty="0" smtClean="0"/>
              <a:t>It’s a process by which a NN adapts itself to a stimulus by making proper parameter adjustments, resulting in the production of desired </a:t>
            </a:r>
            <a:r>
              <a:rPr lang="en-US" altLang="en-US" sz="3200" dirty="0" smtClean="0"/>
              <a:t>response.</a:t>
            </a:r>
            <a:endParaRPr lang="en-US" altLang="en-US" sz="3200" dirty="0" smtClean="0"/>
          </a:p>
          <a:p>
            <a:pPr marL="0" indent="0" eaLnBrk="1" hangingPunct="1">
              <a:buNone/>
            </a:pPr>
            <a:r>
              <a:rPr lang="en-US" altLang="en-US" sz="3200" dirty="0" smtClean="0"/>
              <a:t>2. Two </a:t>
            </a:r>
            <a:r>
              <a:rPr lang="en-US" altLang="en-US" sz="3200" dirty="0" smtClean="0"/>
              <a:t>kinds of learning</a:t>
            </a:r>
          </a:p>
          <a:p>
            <a:pPr marL="720090" lvl="2" indent="-514350">
              <a:buFont typeface="+mj-lt"/>
              <a:buAutoNum type="alphaLcPeriod"/>
            </a:pPr>
            <a:r>
              <a:rPr lang="en-US" altLang="en-US" sz="3200" dirty="0" smtClean="0">
                <a:solidFill>
                  <a:srgbClr val="C00000"/>
                </a:solidFill>
              </a:rPr>
              <a:t>Parameter learning:- </a:t>
            </a:r>
            <a:r>
              <a:rPr lang="en-US" altLang="en-US" sz="3200" dirty="0" smtClean="0"/>
              <a:t>connection weights are updated</a:t>
            </a:r>
          </a:p>
          <a:p>
            <a:pPr marL="720090" lvl="2" indent="-514350">
              <a:buFont typeface="+mj-lt"/>
              <a:buAutoNum type="alphaLcPeriod"/>
            </a:pPr>
            <a:r>
              <a:rPr lang="en-US" altLang="en-US" sz="3200" dirty="0" smtClean="0">
                <a:solidFill>
                  <a:srgbClr val="C00000"/>
                </a:solidFill>
              </a:rPr>
              <a:t>Structure Learning:- </a:t>
            </a:r>
            <a:r>
              <a:rPr lang="en-US" altLang="en-US" sz="3200" dirty="0" smtClean="0"/>
              <a:t>change in network structure</a:t>
            </a:r>
          </a:p>
        </p:txBody>
      </p:sp>
    </p:spTree>
    <p:extLst>
      <p:ext uri="{BB962C8B-B14F-4D97-AF65-F5344CB8AC3E}">
        <p14:creationId xmlns:p14="http://schemas.microsoft.com/office/powerpoint/2010/main" val="33021956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b="1" dirty="0" smtClean="0">
                <a:solidFill>
                  <a:srgbClr val="0070C0"/>
                </a:solidFill>
              </a:rPr>
              <a:t>Training</a:t>
            </a:r>
            <a:endParaRPr lang="en-IN" altLang="en-US" b="1" dirty="0" smtClean="0">
              <a:solidFill>
                <a:srgbClr val="0070C0"/>
              </a:solidFill>
            </a:endParaRPr>
          </a:p>
        </p:txBody>
      </p:sp>
      <p:sp>
        <p:nvSpPr>
          <p:cNvPr id="37891" name="Rectangle 3"/>
          <p:cNvSpPr>
            <a:spLocks noGrp="1" noChangeArrowheads="1"/>
          </p:cNvSpPr>
          <p:nvPr>
            <p:ph idx="1"/>
          </p:nvPr>
        </p:nvSpPr>
        <p:spPr/>
        <p:txBody>
          <a:bodyPr>
            <a:normAutofit/>
          </a:bodyPr>
          <a:lstStyle/>
          <a:p>
            <a:pPr marL="457200" indent="-457200" eaLnBrk="1" hangingPunct="1">
              <a:lnSpc>
                <a:spcPct val="90000"/>
              </a:lnSpc>
              <a:buFont typeface="+mj-lt"/>
              <a:buAutoNum type="arabicPeriod"/>
            </a:pPr>
            <a:r>
              <a:rPr lang="en-US" altLang="en-US" sz="3200" dirty="0" smtClean="0"/>
              <a:t>The process of modifying the weights in the connections between network layers with the objective of achieving the expected output is called training a network. </a:t>
            </a:r>
          </a:p>
          <a:p>
            <a:pPr marL="0" indent="0" eaLnBrk="1" hangingPunct="1">
              <a:lnSpc>
                <a:spcPct val="90000"/>
              </a:lnSpc>
              <a:buNone/>
            </a:pPr>
            <a:r>
              <a:rPr lang="en-US" altLang="en-US" sz="3200" dirty="0" smtClean="0"/>
              <a:t>This is achieved through</a:t>
            </a:r>
          </a:p>
          <a:p>
            <a:pPr marL="662940" lvl="2" indent="-457200">
              <a:lnSpc>
                <a:spcPct val="90000"/>
              </a:lnSpc>
              <a:buFont typeface="+mj-lt"/>
              <a:buAutoNum type="alphaLcPeriod"/>
            </a:pPr>
            <a:r>
              <a:rPr lang="en-US" altLang="en-US" sz="3200" dirty="0" smtClean="0"/>
              <a:t>Supervised learning</a:t>
            </a:r>
          </a:p>
          <a:p>
            <a:pPr marL="662940" lvl="2" indent="-457200">
              <a:lnSpc>
                <a:spcPct val="90000"/>
              </a:lnSpc>
              <a:buFont typeface="+mj-lt"/>
              <a:buAutoNum type="alphaLcPeriod"/>
            </a:pPr>
            <a:r>
              <a:rPr lang="en-US" altLang="en-US" sz="3200" dirty="0" smtClean="0"/>
              <a:t>Unsupervised learning</a:t>
            </a:r>
          </a:p>
          <a:p>
            <a:pPr marL="662940" lvl="2" indent="-457200">
              <a:lnSpc>
                <a:spcPct val="90000"/>
              </a:lnSpc>
              <a:buFont typeface="+mj-lt"/>
              <a:buAutoNum type="alphaLcPeriod"/>
            </a:pPr>
            <a:r>
              <a:rPr lang="en-US" altLang="en-US" sz="3200" dirty="0" smtClean="0"/>
              <a:t>Reinforcement learning</a:t>
            </a:r>
            <a:endParaRPr lang="en-IN" altLang="en-US" sz="3200" dirty="0" smtClean="0"/>
          </a:p>
        </p:txBody>
      </p:sp>
    </p:spTree>
    <p:extLst>
      <p:ext uri="{BB962C8B-B14F-4D97-AF65-F5344CB8AC3E}">
        <p14:creationId xmlns:p14="http://schemas.microsoft.com/office/powerpoint/2010/main" val="2262735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b="1" dirty="0" smtClean="0">
                <a:solidFill>
                  <a:srgbClr val="0070C0"/>
                </a:solidFill>
              </a:rPr>
              <a:t>Classification of learning</a:t>
            </a:r>
          </a:p>
        </p:txBody>
      </p:sp>
      <p:sp>
        <p:nvSpPr>
          <p:cNvPr id="38915" name="Rectangle 3"/>
          <p:cNvSpPr>
            <a:spLocks noGrp="1" noChangeArrowheads="1"/>
          </p:cNvSpPr>
          <p:nvPr>
            <p:ph idx="1"/>
          </p:nvPr>
        </p:nvSpPr>
        <p:spPr/>
        <p:txBody>
          <a:bodyPr/>
          <a:lstStyle/>
          <a:p>
            <a:pPr marL="457200" indent="-457200" eaLnBrk="1" hangingPunct="1">
              <a:buFont typeface="+mj-lt"/>
              <a:buAutoNum type="arabicPeriod"/>
            </a:pPr>
            <a:r>
              <a:rPr lang="en-US" altLang="en-US" dirty="0" smtClean="0"/>
              <a:t>Supervised learning</a:t>
            </a:r>
          </a:p>
          <a:p>
            <a:pPr marL="457200" indent="-457200" eaLnBrk="1" hangingPunct="1">
              <a:buFont typeface="+mj-lt"/>
              <a:buAutoNum type="arabicPeriod"/>
            </a:pPr>
            <a:r>
              <a:rPr lang="en-US" altLang="en-US" dirty="0" smtClean="0"/>
              <a:t>Unsupervised learning</a:t>
            </a:r>
          </a:p>
          <a:p>
            <a:pPr marL="457200" indent="-457200" eaLnBrk="1" hangingPunct="1">
              <a:buFont typeface="+mj-lt"/>
              <a:buAutoNum type="arabicPeriod"/>
            </a:pPr>
            <a:r>
              <a:rPr lang="en-US" altLang="en-US" dirty="0" smtClean="0"/>
              <a:t>Reinforcement learning</a:t>
            </a:r>
          </a:p>
        </p:txBody>
      </p:sp>
    </p:spTree>
    <p:extLst>
      <p:ext uri="{BB962C8B-B14F-4D97-AF65-F5344CB8AC3E}">
        <p14:creationId xmlns:p14="http://schemas.microsoft.com/office/powerpoint/2010/main" val="3246979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b="1" dirty="0" smtClean="0">
                <a:solidFill>
                  <a:srgbClr val="0070C0"/>
                </a:solidFill>
              </a:rPr>
              <a:t>Supervised Learning</a:t>
            </a:r>
          </a:p>
        </p:txBody>
      </p:sp>
      <p:sp>
        <p:nvSpPr>
          <p:cNvPr id="39939" name="Rectangle 3"/>
          <p:cNvSpPr>
            <a:spLocks noGrp="1" noChangeArrowheads="1"/>
          </p:cNvSpPr>
          <p:nvPr>
            <p:ph idx="1"/>
          </p:nvPr>
        </p:nvSpPr>
        <p:spPr/>
        <p:txBody>
          <a:bodyPr/>
          <a:lstStyle/>
          <a:p>
            <a:pPr eaLnBrk="1" hangingPunct="1">
              <a:buFont typeface="Wingdings" panose="05000000000000000000" pitchFamily="2" charset="2"/>
              <a:buChar char="q"/>
            </a:pPr>
            <a:r>
              <a:rPr lang="en-US" altLang="en-US" dirty="0" smtClean="0"/>
              <a:t>Child learns from a teacher</a:t>
            </a:r>
          </a:p>
          <a:p>
            <a:pPr eaLnBrk="1" hangingPunct="1">
              <a:buFont typeface="Wingdings" panose="05000000000000000000" pitchFamily="2" charset="2"/>
              <a:buChar char="q"/>
            </a:pPr>
            <a:r>
              <a:rPr lang="en-US" altLang="en-US" dirty="0" smtClean="0"/>
              <a:t>Each input vector requires a corresponding target vector. </a:t>
            </a:r>
          </a:p>
          <a:p>
            <a:pPr eaLnBrk="1" hangingPunct="1">
              <a:buFont typeface="Wingdings" panose="05000000000000000000" pitchFamily="2" charset="2"/>
              <a:buChar char="q"/>
            </a:pPr>
            <a:r>
              <a:rPr lang="en-US" altLang="en-US" dirty="0" smtClean="0"/>
              <a:t>Training pair=[input vector, target vector]</a:t>
            </a:r>
          </a:p>
          <a:p>
            <a:pPr eaLnBrk="1" hangingPunct="1">
              <a:buFontTx/>
              <a:buNone/>
            </a:pPr>
            <a:endParaRPr lang="en-US" altLang="en-US" dirty="0" smtClean="0"/>
          </a:p>
        </p:txBody>
      </p:sp>
      <p:sp>
        <p:nvSpPr>
          <p:cNvPr id="39940" name="Line 4"/>
          <p:cNvSpPr>
            <a:spLocks noChangeShapeType="1"/>
          </p:cNvSpPr>
          <p:nvPr/>
        </p:nvSpPr>
        <p:spPr bwMode="auto">
          <a:xfrm>
            <a:off x="2208214" y="4724400"/>
            <a:ext cx="11509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1" name="Rectangle 5"/>
          <p:cNvSpPr>
            <a:spLocks noChangeArrowheads="1"/>
          </p:cNvSpPr>
          <p:nvPr/>
        </p:nvSpPr>
        <p:spPr bwMode="auto">
          <a:xfrm>
            <a:off x="3359151" y="4292600"/>
            <a:ext cx="1800225" cy="10810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Neural</a:t>
            </a:r>
          </a:p>
          <a:p>
            <a:pPr algn="ctr" eaLnBrk="1" hangingPunct="1">
              <a:spcBef>
                <a:spcPct val="0"/>
              </a:spcBef>
              <a:buFontTx/>
              <a:buNone/>
            </a:pPr>
            <a:r>
              <a:rPr lang="en-US" altLang="en-US" sz="1800"/>
              <a:t>Network </a:t>
            </a:r>
          </a:p>
          <a:p>
            <a:pPr algn="ctr" eaLnBrk="1" hangingPunct="1">
              <a:spcBef>
                <a:spcPct val="0"/>
              </a:spcBef>
              <a:buFontTx/>
              <a:buNone/>
            </a:pPr>
            <a:r>
              <a:rPr lang="en-US" altLang="en-US" sz="1800"/>
              <a:t>W</a:t>
            </a:r>
          </a:p>
        </p:txBody>
      </p:sp>
      <p:sp>
        <p:nvSpPr>
          <p:cNvPr id="39942" name="Line 6"/>
          <p:cNvSpPr>
            <a:spLocks noChangeShapeType="1"/>
          </p:cNvSpPr>
          <p:nvPr/>
        </p:nvSpPr>
        <p:spPr bwMode="auto">
          <a:xfrm>
            <a:off x="5159375" y="4868863"/>
            <a:ext cx="17287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3" name="Rectangle 8"/>
          <p:cNvSpPr>
            <a:spLocks noChangeArrowheads="1"/>
          </p:cNvSpPr>
          <p:nvPr/>
        </p:nvSpPr>
        <p:spPr bwMode="auto">
          <a:xfrm>
            <a:off x="5591176" y="5661025"/>
            <a:ext cx="2016125" cy="908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Error</a:t>
            </a:r>
          </a:p>
          <a:p>
            <a:pPr algn="ctr" eaLnBrk="1" hangingPunct="1">
              <a:spcBef>
                <a:spcPct val="0"/>
              </a:spcBef>
              <a:buFontTx/>
              <a:buNone/>
            </a:pPr>
            <a:r>
              <a:rPr lang="en-US" altLang="en-US" sz="1800"/>
              <a:t>Signal</a:t>
            </a:r>
          </a:p>
          <a:p>
            <a:pPr algn="ctr" eaLnBrk="1" hangingPunct="1">
              <a:spcBef>
                <a:spcPct val="0"/>
              </a:spcBef>
              <a:buFontTx/>
              <a:buNone/>
            </a:pPr>
            <a:r>
              <a:rPr lang="en-US" altLang="en-US" sz="1800"/>
              <a:t>Generator</a:t>
            </a:r>
          </a:p>
        </p:txBody>
      </p:sp>
      <p:sp>
        <p:nvSpPr>
          <p:cNvPr id="39944" name="Line 9"/>
          <p:cNvSpPr>
            <a:spLocks noChangeShapeType="1"/>
          </p:cNvSpPr>
          <p:nvPr/>
        </p:nvSpPr>
        <p:spPr bwMode="auto">
          <a:xfrm>
            <a:off x="6167438" y="4868863"/>
            <a:ext cx="0"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5" name="Line 10"/>
          <p:cNvSpPr>
            <a:spLocks noChangeShapeType="1"/>
          </p:cNvSpPr>
          <p:nvPr/>
        </p:nvSpPr>
        <p:spPr bwMode="auto">
          <a:xfrm flipH="1">
            <a:off x="7608889" y="6021388"/>
            <a:ext cx="13668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6" name="Line 11"/>
          <p:cNvSpPr>
            <a:spLocks noChangeShapeType="1"/>
          </p:cNvSpPr>
          <p:nvPr/>
        </p:nvSpPr>
        <p:spPr bwMode="auto">
          <a:xfrm flipH="1">
            <a:off x="4151313" y="6165850"/>
            <a:ext cx="1439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7" name="Line 12"/>
          <p:cNvSpPr>
            <a:spLocks noChangeShapeType="1"/>
          </p:cNvSpPr>
          <p:nvPr/>
        </p:nvSpPr>
        <p:spPr bwMode="auto">
          <a:xfrm flipV="1">
            <a:off x="4151313" y="5373688"/>
            <a:ext cx="0"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8" name="Text Box 13"/>
          <p:cNvSpPr txBox="1">
            <a:spLocks noChangeArrowheads="1"/>
          </p:cNvSpPr>
          <p:nvPr/>
        </p:nvSpPr>
        <p:spPr bwMode="auto">
          <a:xfrm>
            <a:off x="1774826" y="4581526"/>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X</a:t>
            </a:r>
          </a:p>
        </p:txBody>
      </p:sp>
      <p:sp>
        <p:nvSpPr>
          <p:cNvPr id="39949" name="Text Box 14"/>
          <p:cNvSpPr txBox="1">
            <a:spLocks noChangeArrowheads="1"/>
          </p:cNvSpPr>
          <p:nvPr/>
        </p:nvSpPr>
        <p:spPr bwMode="auto">
          <a:xfrm>
            <a:off x="1524000" y="5157788"/>
            <a:ext cx="1187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(Input)</a:t>
            </a:r>
          </a:p>
        </p:txBody>
      </p:sp>
      <p:sp>
        <p:nvSpPr>
          <p:cNvPr id="39950" name="Text Box 15"/>
          <p:cNvSpPr txBox="1">
            <a:spLocks noChangeArrowheads="1"/>
          </p:cNvSpPr>
          <p:nvPr/>
        </p:nvSpPr>
        <p:spPr bwMode="auto">
          <a:xfrm>
            <a:off x="6959601" y="4652963"/>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Y</a:t>
            </a:r>
          </a:p>
        </p:txBody>
      </p:sp>
      <p:sp>
        <p:nvSpPr>
          <p:cNvPr id="39951" name="Text Box 16"/>
          <p:cNvSpPr txBox="1">
            <a:spLocks noChangeArrowheads="1"/>
          </p:cNvSpPr>
          <p:nvPr/>
        </p:nvSpPr>
        <p:spPr bwMode="auto">
          <a:xfrm>
            <a:off x="6888164" y="5084763"/>
            <a:ext cx="2663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(Actual output)</a:t>
            </a:r>
          </a:p>
        </p:txBody>
      </p:sp>
      <p:sp>
        <p:nvSpPr>
          <p:cNvPr id="39952" name="Text Box 17"/>
          <p:cNvSpPr txBox="1">
            <a:spLocks noChangeArrowheads="1"/>
          </p:cNvSpPr>
          <p:nvPr/>
        </p:nvSpPr>
        <p:spPr bwMode="auto">
          <a:xfrm>
            <a:off x="8256589" y="6237288"/>
            <a:ext cx="2016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(Desired Output)</a:t>
            </a:r>
          </a:p>
        </p:txBody>
      </p:sp>
      <p:sp>
        <p:nvSpPr>
          <p:cNvPr id="39953" name="Text Box 18"/>
          <p:cNvSpPr txBox="1">
            <a:spLocks noChangeArrowheads="1"/>
          </p:cNvSpPr>
          <p:nvPr/>
        </p:nvSpPr>
        <p:spPr bwMode="auto">
          <a:xfrm>
            <a:off x="3143251" y="5516563"/>
            <a:ext cx="1223963"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Error</a:t>
            </a:r>
          </a:p>
          <a:p>
            <a:pPr eaLnBrk="1" hangingPunct="1">
              <a:spcBef>
                <a:spcPct val="50000"/>
              </a:spcBef>
              <a:buFontTx/>
              <a:buNone/>
            </a:pPr>
            <a:r>
              <a:rPr lang="en-US" altLang="en-US" sz="1800"/>
              <a:t>(D-Y) signals</a:t>
            </a:r>
          </a:p>
        </p:txBody>
      </p:sp>
    </p:spTree>
    <p:extLst>
      <p:ext uri="{BB962C8B-B14F-4D97-AF65-F5344CB8AC3E}">
        <p14:creationId xmlns:p14="http://schemas.microsoft.com/office/powerpoint/2010/main" val="25791347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b="1" dirty="0" smtClean="0"/>
              <a:t>Unsupervised Learning</a:t>
            </a:r>
          </a:p>
        </p:txBody>
      </p:sp>
      <p:sp>
        <p:nvSpPr>
          <p:cNvPr id="41987" name="Rectangle 3"/>
          <p:cNvSpPr>
            <a:spLocks noGrp="1" noChangeArrowheads="1"/>
          </p:cNvSpPr>
          <p:nvPr>
            <p:ph type="body" sz="half" idx="1"/>
          </p:nvPr>
        </p:nvSpPr>
        <p:spPr>
          <a:xfrm>
            <a:off x="1981200" y="1600201"/>
            <a:ext cx="8362950" cy="2620963"/>
          </a:xfrm>
        </p:spPr>
        <p:txBody>
          <a:bodyPr>
            <a:normAutofit/>
          </a:bodyPr>
          <a:lstStyle/>
          <a:p>
            <a:pPr eaLnBrk="1" hangingPunct="1">
              <a:buFont typeface="Wingdings" panose="05000000000000000000" pitchFamily="2" charset="2"/>
              <a:buChar char="q"/>
            </a:pPr>
            <a:r>
              <a:rPr lang="en-US" altLang="en-US" sz="3200" dirty="0"/>
              <a:t>How a fish or tadpole learns</a:t>
            </a:r>
          </a:p>
          <a:p>
            <a:pPr eaLnBrk="1" hangingPunct="1">
              <a:buFont typeface="Wingdings" panose="05000000000000000000" pitchFamily="2" charset="2"/>
              <a:buChar char="q"/>
            </a:pPr>
            <a:r>
              <a:rPr lang="en-US" altLang="en-US" sz="3200" dirty="0"/>
              <a:t>All similar input patterns are grouped together as clusters.</a:t>
            </a:r>
          </a:p>
          <a:p>
            <a:pPr eaLnBrk="1" hangingPunct="1">
              <a:buFont typeface="Wingdings" panose="05000000000000000000" pitchFamily="2" charset="2"/>
              <a:buChar char="q"/>
            </a:pPr>
            <a:r>
              <a:rPr lang="en-US" altLang="en-US" sz="3200" dirty="0"/>
              <a:t>If a matching input pattern is not found a new cluster is formed</a:t>
            </a:r>
          </a:p>
          <a:p>
            <a:pPr eaLnBrk="1" hangingPunct="1">
              <a:buFontTx/>
              <a:buNone/>
            </a:pPr>
            <a:endParaRPr lang="en-US" altLang="en-US" dirty="0"/>
          </a:p>
        </p:txBody>
      </p:sp>
      <p:pic>
        <p:nvPicPr>
          <p:cNvPr id="41988" name="Picture 1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503614" y="4508500"/>
            <a:ext cx="4975225" cy="1862138"/>
          </a:xfrm>
          <a:noFill/>
        </p:spPr>
      </p:pic>
    </p:spTree>
    <p:extLst>
      <p:ext uri="{BB962C8B-B14F-4D97-AF65-F5344CB8AC3E}">
        <p14:creationId xmlns:p14="http://schemas.microsoft.com/office/powerpoint/2010/main" val="34747866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b="1" dirty="0" smtClean="0"/>
              <a:t>Reinforcement Learning</a:t>
            </a:r>
          </a:p>
        </p:txBody>
      </p:sp>
      <p:sp>
        <p:nvSpPr>
          <p:cNvPr id="45059" name="Line 4"/>
          <p:cNvSpPr>
            <a:spLocks noChangeShapeType="1"/>
          </p:cNvSpPr>
          <p:nvPr/>
        </p:nvSpPr>
        <p:spPr bwMode="auto">
          <a:xfrm>
            <a:off x="2279650" y="2708275"/>
            <a:ext cx="10795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0" name="Rectangle 5"/>
          <p:cNvSpPr>
            <a:spLocks noChangeArrowheads="1"/>
          </p:cNvSpPr>
          <p:nvPr/>
        </p:nvSpPr>
        <p:spPr bwMode="auto">
          <a:xfrm>
            <a:off x="3359150" y="2276475"/>
            <a:ext cx="1873250" cy="12969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NN</a:t>
            </a:r>
          </a:p>
          <a:p>
            <a:pPr algn="ctr" eaLnBrk="1" hangingPunct="1">
              <a:spcBef>
                <a:spcPct val="0"/>
              </a:spcBef>
              <a:buFontTx/>
              <a:buNone/>
            </a:pPr>
            <a:r>
              <a:rPr lang="en-US" altLang="en-US" sz="1800"/>
              <a:t>W</a:t>
            </a:r>
          </a:p>
        </p:txBody>
      </p:sp>
      <p:sp>
        <p:nvSpPr>
          <p:cNvPr id="45061" name="Rectangle 6"/>
          <p:cNvSpPr>
            <a:spLocks noChangeArrowheads="1"/>
          </p:cNvSpPr>
          <p:nvPr/>
        </p:nvSpPr>
        <p:spPr bwMode="auto">
          <a:xfrm>
            <a:off x="5951538" y="4652964"/>
            <a:ext cx="1873250" cy="12969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Error</a:t>
            </a:r>
          </a:p>
          <a:p>
            <a:pPr algn="ctr" eaLnBrk="1" hangingPunct="1">
              <a:spcBef>
                <a:spcPct val="0"/>
              </a:spcBef>
              <a:buFontTx/>
              <a:buNone/>
            </a:pPr>
            <a:r>
              <a:rPr lang="en-US" altLang="en-US" sz="1800"/>
              <a:t>Signal</a:t>
            </a:r>
          </a:p>
          <a:p>
            <a:pPr algn="ctr" eaLnBrk="1" hangingPunct="1">
              <a:spcBef>
                <a:spcPct val="0"/>
              </a:spcBef>
              <a:buFontTx/>
              <a:buNone/>
            </a:pPr>
            <a:r>
              <a:rPr lang="en-US" altLang="en-US" sz="1800"/>
              <a:t>Generator</a:t>
            </a:r>
          </a:p>
        </p:txBody>
      </p:sp>
      <p:sp>
        <p:nvSpPr>
          <p:cNvPr id="45062" name="Line 7"/>
          <p:cNvSpPr>
            <a:spLocks noChangeShapeType="1"/>
          </p:cNvSpPr>
          <p:nvPr/>
        </p:nvSpPr>
        <p:spPr bwMode="auto">
          <a:xfrm>
            <a:off x="5232401" y="2781300"/>
            <a:ext cx="29511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3" name="Line 8"/>
          <p:cNvSpPr>
            <a:spLocks noChangeShapeType="1"/>
          </p:cNvSpPr>
          <p:nvPr/>
        </p:nvSpPr>
        <p:spPr bwMode="auto">
          <a:xfrm>
            <a:off x="6672263" y="2781301"/>
            <a:ext cx="0" cy="18716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4" name="Line 9"/>
          <p:cNvSpPr>
            <a:spLocks noChangeShapeType="1"/>
          </p:cNvSpPr>
          <p:nvPr/>
        </p:nvSpPr>
        <p:spPr bwMode="auto">
          <a:xfrm flipH="1">
            <a:off x="7824788" y="5300663"/>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5" name="Line 10"/>
          <p:cNvSpPr>
            <a:spLocks noChangeShapeType="1"/>
          </p:cNvSpPr>
          <p:nvPr/>
        </p:nvSpPr>
        <p:spPr bwMode="auto">
          <a:xfrm flipH="1">
            <a:off x="4295776" y="5373688"/>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6" name="Line 11"/>
          <p:cNvSpPr>
            <a:spLocks noChangeShapeType="1"/>
          </p:cNvSpPr>
          <p:nvPr/>
        </p:nvSpPr>
        <p:spPr bwMode="auto">
          <a:xfrm flipV="1">
            <a:off x="4295775" y="3573464"/>
            <a:ext cx="0" cy="1800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7" name="Text Box 12"/>
          <p:cNvSpPr txBox="1">
            <a:spLocks noChangeArrowheads="1"/>
          </p:cNvSpPr>
          <p:nvPr/>
        </p:nvSpPr>
        <p:spPr bwMode="auto">
          <a:xfrm>
            <a:off x="1774826" y="2205038"/>
            <a:ext cx="360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X</a:t>
            </a:r>
          </a:p>
        </p:txBody>
      </p:sp>
      <p:sp>
        <p:nvSpPr>
          <p:cNvPr id="45068" name="Text Box 13"/>
          <p:cNvSpPr txBox="1">
            <a:spLocks noChangeArrowheads="1"/>
          </p:cNvSpPr>
          <p:nvPr/>
        </p:nvSpPr>
        <p:spPr bwMode="auto">
          <a:xfrm>
            <a:off x="1524000" y="2781301"/>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(Input)</a:t>
            </a:r>
          </a:p>
        </p:txBody>
      </p:sp>
      <p:sp>
        <p:nvSpPr>
          <p:cNvPr id="45069" name="Text Box 14"/>
          <p:cNvSpPr txBox="1">
            <a:spLocks noChangeArrowheads="1"/>
          </p:cNvSpPr>
          <p:nvPr/>
        </p:nvSpPr>
        <p:spPr bwMode="auto">
          <a:xfrm>
            <a:off x="7751763" y="2349501"/>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Y</a:t>
            </a:r>
          </a:p>
        </p:txBody>
      </p:sp>
      <p:sp>
        <p:nvSpPr>
          <p:cNvPr id="45070" name="Text Box 15"/>
          <p:cNvSpPr txBox="1">
            <a:spLocks noChangeArrowheads="1"/>
          </p:cNvSpPr>
          <p:nvPr/>
        </p:nvSpPr>
        <p:spPr bwMode="auto">
          <a:xfrm>
            <a:off x="7680326" y="2781301"/>
            <a:ext cx="2663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(Actual output)</a:t>
            </a:r>
          </a:p>
        </p:txBody>
      </p:sp>
      <p:sp>
        <p:nvSpPr>
          <p:cNvPr id="45071" name="Text Box 18"/>
          <p:cNvSpPr txBox="1">
            <a:spLocks noChangeArrowheads="1"/>
          </p:cNvSpPr>
          <p:nvPr/>
        </p:nvSpPr>
        <p:spPr bwMode="auto">
          <a:xfrm>
            <a:off x="2927351" y="4508501"/>
            <a:ext cx="122396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Error</a:t>
            </a:r>
          </a:p>
          <a:p>
            <a:pPr eaLnBrk="1" hangingPunct="1">
              <a:spcBef>
                <a:spcPct val="50000"/>
              </a:spcBef>
              <a:buFontTx/>
              <a:buNone/>
            </a:pPr>
            <a:r>
              <a:rPr lang="en-US" altLang="en-US" sz="1800"/>
              <a:t>signals</a:t>
            </a:r>
          </a:p>
        </p:txBody>
      </p:sp>
      <p:sp>
        <p:nvSpPr>
          <p:cNvPr id="45072" name="Text Box 19"/>
          <p:cNvSpPr txBox="1">
            <a:spLocks noChangeArrowheads="1"/>
          </p:cNvSpPr>
          <p:nvPr/>
        </p:nvSpPr>
        <p:spPr bwMode="auto">
          <a:xfrm>
            <a:off x="8256588" y="5013326"/>
            <a:ext cx="2411412"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R</a:t>
            </a:r>
          </a:p>
          <a:p>
            <a:pPr eaLnBrk="1" hangingPunct="1">
              <a:spcBef>
                <a:spcPct val="50000"/>
              </a:spcBef>
              <a:buFontTx/>
              <a:buNone/>
            </a:pPr>
            <a:r>
              <a:rPr lang="en-US" altLang="en-US" sz="1800"/>
              <a:t>Reinforcement signal</a:t>
            </a:r>
          </a:p>
        </p:txBody>
      </p:sp>
    </p:spTree>
    <p:extLst>
      <p:ext uri="{BB962C8B-B14F-4D97-AF65-F5344CB8AC3E}">
        <p14:creationId xmlns:p14="http://schemas.microsoft.com/office/powerpoint/2010/main" val="28322224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sz="4000" b="1" dirty="0"/>
              <a:t>When Reinforcement learning is used?</a:t>
            </a:r>
          </a:p>
        </p:txBody>
      </p:sp>
      <p:sp>
        <p:nvSpPr>
          <p:cNvPr id="46083" name="Rectangle 3"/>
          <p:cNvSpPr>
            <a:spLocks noGrp="1" noChangeArrowheads="1"/>
          </p:cNvSpPr>
          <p:nvPr>
            <p:ph idx="1"/>
          </p:nvPr>
        </p:nvSpPr>
        <p:spPr/>
        <p:txBody>
          <a:bodyPr>
            <a:normAutofit/>
          </a:bodyPr>
          <a:lstStyle/>
          <a:p>
            <a:pPr eaLnBrk="1" hangingPunct="1">
              <a:buFont typeface="Wingdings" panose="05000000000000000000" pitchFamily="2" charset="2"/>
              <a:buChar char="q"/>
            </a:pPr>
            <a:r>
              <a:rPr lang="en-US" altLang="en-US" sz="3200" dirty="0" smtClean="0"/>
              <a:t>If less information is available about the target output values (critic information)</a:t>
            </a:r>
          </a:p>
          <a:p>
            <a:pPr eaLnBrk="1" hangingPunct="1">
              <a:buFont typeface="Wingdings" panose="05000000000000000000" pitchFamily="2" charset="2"/>
              <a:buChar char="q"/>
            </a:pPr>
            <a:r>
              <a:rPr lang="en-US" altLang="en-US" sz="3200" dirty="0" smtClean="0"/>
              <a:t>Learning based on this critic information is called reinforcement learning and the feedback sent is called reinforcement </a:t>
            </a:r>
            <a:r>
              <a:rPr lang="en-US" altLang="en-US" sz="3200" dirty="0" smtClean="0"/>
              <a:t>signal</a:t>
            </a:r>
            <a:endParaRPr lang="en-US" altLang="en-US" sz="3200" dirty="0" smtClean="0"/>
          </a:p>
        </p:txBody>
      </p:sp>
    </p:spTree>
    <p:extLst>
      <p:ext uri="{BB962C8B-B14F-4D97-AF65-F5344CB8AC3E}">
        <p14:creationId xmlns:p14="http://schemas.microsoft.com/office/powerpoint/2010/main" val="7657057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3" name="Rectangle 2"/>
          <p:cNvSpPr>
            <a:spLocks noGrp="1" noChangeArrowheads="1"/>
          </p:cNvSpPr>
          <p:nvPr>
            <p:ph type="title"/>
          </p:nvPr>
        </p:nvSpPr>
        <p:spPr/>
        <p:txBody>
          <a:bodyPr/>
          <a:lstStyle/>
          <a:p>
            <a:pPr eaLnBrk="1" hangingPunct="1"/>
            <a:r>
              <a:rPr lang="en-US" altLang="en-US" b="1" dirty="0" smtClean="0"/>
              <a:t>Basic models of ANN</a:t>
            </a:r>
          </a:p>
        </p:txBody>
      </p:sp>
      <p:graphicFrame>
        <p:nvGraphicFramePr>
          <p:cNvPr id="2" name="Diagram 1"/>
          <p:cNvGraphicFramePr/>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11540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Activation Functions</a:t>
            </a:r>
          </a:p>
        </p:txBody>
      </p:sp>
      <p:sp>
        <p:nvSpPr>
          <p:cNvPr id="3" name="Content Placeholder 2"/>
          <p:cNvSpPr>
            <a:spLocks noGrp="1"/>
          </p:cNvSpPr>
          <p:nvPr>
            <p:ph idx="1"/>
          </p:nvPr>
        </p:nvSpPr>
        <p:spPr>
          <a:xfrm>
            <a:off x="676274" y="1726544"/>
            <a:ext cx="10753725" cy="3766185"/>
          </a:xfrm>
        </p:spPr>
        <p:txBody>
          <a:bodyPr>
            <a:normAutofit/>
          </a:bodyPr>
          <a:lstStyle/>
          <a:p>
            <a:r>
              <a:rPr lang="en-US" sz="3600" dirty="0"/>
              <a:t>An activation function is </a:t>
            </a:r>
            <a:r>
              <a:rPr lang="en-US" sz="3600" dirty="0"/>
              <a:t>a mathematical formula applied to a neuron's weighted input to determine whether and how much the signal should pass to the next layer</a:t>
            </a:r>
            <a:r>
              <a:rPr lang="en-US" sz="3600" dirty="0" smtClean="0"/>
              <a:t>.</a:t>
            </a:r>
          </a:p>
          <a:p>
            <a:endParaRPr lang="en-US" sz="3600" dirty="0"/>
          </a:p>
        </p:txBody>
      </p:sp>
      <p:pic>
        <p:nvPicPr>
          <p:cNvPr id="4" name="Picture 3"/>
          <p:cNvPicPr>
            <a:picLocks noChangeAspect="1"/>
          </p:cNvPicPr>
          <p:nvPr/>
        </p:nvPicPr>
        <p:blipFill>
          <a:blip r:embed="rId2"/>
          <a:stretch>
            <a:fillRect/>
          </a:stretch>
        </p:blipFill>
        <p:spPr>
          <a:xfrm>
            <a:off x="1901775" y="3316491"/>
            <a:ext cx="7075078" cy="3541509"/>
          </a:xfrm>
          <a:prstGeom prst="rect">
            <a:avLst/>
          </a:prstGeom>
        </p:spPr>
      </p:pic>
    </p:spTree>
    <p:extLst>
      <p:ext uri="{BB962C8B-B14F-4D97-AF65-F5344CB8AC3E}">
        <p14:creationId xmlns:p14="http://schemas.microsoft.com/office/powerpoint/2010/main" val="19665158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72" y="86578"/>
            <a:ext cx="10772775" cy="1658198"/>
          </a:xfrm>
        </p:spPr>
        <p:txBody>
          <a:bodyPr/>
          <a:lstStyle/>
          <a:p>
            <a:r>
              <a:rPr lang="en-US" b="1" dirty="0" smtClean="0"/>
              <a:t>Activation Functions</a:t>
            </a:r>
            <a:endParaRPr lang="en-US" b="1" dirty="0"/>
          </a:p>
        </p:txBody>
      </p:sp>
      <p:sp>
        <p:nvSpPr>
          <p:cNvPr id="3" name="Content Placeholder 2"/>
          <p:cNvSpPr>
            <a:spLocks noGrp="1"/>
          </p:cNvSpPr>
          <p:nvPr>
            <p:ph idx="1"/>
          </p:nvPr>
        </p:nvSpPr>
        <p:spPr>
          <a:xfrm>
            <a:off x="1072839" y="1504735"/>
            <a:ext cx="8229600" cy="4525963"/>
          </a:xfrm>
        </p:spPr>
        <p:txBody>
          <a:bodyPr>
            <a:normAutofit/>
          </a:bodyPr>
          <a:lstStyle/>
          <a:p>
            <a:pPr marL="457200" indent="-457200">
              <a:buFont typeface="+mj-lt"/>
              <a:buAutoNum type="arabicPeriod"/>
            </a:pPr>
            <a:r>
              <a:rPr lang="en-US" sz="3200" dirty="0" smtClean="0"/>
              <a:t>Linear</a:t>
            </a:r>
          </a:p>
          <a:p>
            <a:pPr marL="0" indent="0">
              <a:buNone/>
            </a:pPr>
            <a:r>
              <a:rPr lang="en-US" sz="3200" dirty="0" smtClean="0"/>
              <a:t>   f( 𝑥) = 𝑎𝑥 + b</a:t>
            </a:r>
          </a:p>
          <a:p>
            <a:pPr marL="457200" lvl="1" indent="0">
              <a:buNone/>
            </a:pPr>
            <a:r>
              <a:rPr lang="en-US" sz="2800" dirty="0" smtClean="0">
                <a:solidFill>
                  <a:schemeClr val="tx1"/>
                </a:solidFill>
              </a:rPr>
              <a:t>2. Non </a:t>
            </a:r>
            <a:r>
              <a:rPr lang="en-US" sz="2800" dirty="0" smtClean="0">
                <a:solidFill>
                  <a:schemeClr val="tx1"/>
                </a:solidFill>
              </a:rPr>
              <a:t>Linear Functions: </a:t>
            </a:r>
          </a:p>
          <a:p>
            <a:pPr lvl="1">
              <a:buFont typeface="Wingdings" panose="05000000000000000000" pitchFamily="2" charset="2"/>
              <a:buChar char="q"/>
            </a:pPr>
            <a:r>
              <a:rPr lang="en-US" sz="2800" dirty="0" smtClean="0"/>
              <a:t>Sigmoid (Logistic)</a:t>
            </a:r>
          </a:p>
          <a:p>
            <a:pPr lvl="1">
              <a:buFont typeface="Wingdings" panose="05000000000000000000" pitchFamily="2" charset="2"/>
              <a:buChar char="q"/>
            </a:pPr>
            <a:r>
              <a:rPr lang="en-US" sz="2800" dirty="0" smtClean="0"/>
              <a:t>Hyperbolic Tangent (</a:t>
            </a:r>
            <a:r>
              <a:rPr lang="en-US" sz="2800" dirty="0" err="1" smtClean="0"/>
              <a:t>Tanh</a:t>
            </a:r>
            <a:r>
              <a:rPr lang="en-US" sz="2800" dirty="0" smtClean="0"/>
              <a:t>) </a:t>
            </a:r>
          </a:p>
          <a:p>
            <a:pPr lvl="1">
              <a:buFont typeface="Wingdings" panose="05000000000000000000" pitchFamily="2" charset="2"/>
              <a:buChar char="q"/>
            </a:pPr>
            <a:r>
              <a:rPr lang="en-US" sz="2800" dirty="0" smtClean="0"/>
              <a:t>Rectified Linear Unit (</a:t>
            </a:r>
            <a:r>
              <a:rPr lang="en-US" sz="2800" dirty="0" err="1" smtClean="0"/>
              <a:t>ReLU</a:t>
            </a:r>
            <a:r>
              <a:rPr lang="en-US" sz="2800" dirty="0" smtClean="0"/>
              <a:t>) </a:t>
            </a:r>
          </a:p>
          <a:p>
            <a:pPr marL="457200" lvl="1" indent="0">
              <a:buNone/>
            </a:pPr>
            <a:r>
              <a:rPr lang="en-US" sz="2800" dirty="0" smtClean="0"/>
              <a:t>     a.  Leaky </a:t>
            </a:r>
            <a:r>
              <a:rPr lang="en-US" sz="2800" dirty="0" err="1" smtClean="0"/>
              <a:t>Relu</a:t>
            </a:r>
            <a:r>
              <a:rPr lang="en-US" sz="2800" dirty="0" smtClean="0"/>
              <a:t> </a:t>
            </a:r>
          </a:p>
          <a:p>
            <a:pPr lvl="1">
              <a:buFont typeface="Wingdings" panose="05000000000000000000" pitchFamily="2" charset="2"/>
              <a:buChar char="q"/>
            </a:pPr>
            <a:r>
              <a:rPr lang="en-US" sz="2800" dirty="0" err="1" smtClean="0">
                <a:solidFill>
                  <a:schemeClr val="tx1"/>
                </a:solidFill>
              </a:rPr>
              <a:t>Softmax</a:t>
            </a:r>
            <a:endParaRPr lang="en-US" sz="2800" dirty="0" smtClean="0">
              <a:solidFill>
                <a:schemeClr val="tx1"/>
              </a:solidFill>
            </a:endParaRPr>
          </a:p>
          <a:p>
            <a:endParaRPr lang="en-US" dirty="0" smtClean="0"/>
          </a:p>
          <a:p>
            <a:endParaRPr lang="en-US" dirty="0" smtClean="0"/>
          </a:p>
          <a:p>
            <a:endParaRPr lang="en-US" dirty="0"/>
          </a:p>
        </p:txBody>
      </p:sp>
    </p:spTree>
    <p:extLst>
      <p:ext uri="{BB962C8B-B14F-4D97-AF65-F5344CB8AC3E}">
        <p14:creationId xmlns:p14="http://schemas.microsoft.com/office/powerpoint/2010/main" val="7055466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en-US" sz="4000" b="1" dirty="0"/>
              <a:t>Important terminologies of ANNs</a:t>
            </a:r>
          </a:p>
        </p:txBody>
      </p:sp>
      <p:sp>
        <p:nvSpPr>
          <p:cNvPr id="53251" name="Rectangle 3"/>
          <p:cNvSpPr>
            <a:spLocks noGrp="1" noChangeArrowheads="1"/>
          </p:cNvSpPr>
          <p:nvPr>
            <p:ph idx="1"/>
          </p:nvPr>
        </p:nvSpPr>
        <p:spPr>
          <a:xfrm>
            <a:off x="676656" y="1848466"/>
            <a:ext cx="10935241" cy="3929400"/>
          </a:xfrm>
        </p:spPr>
        <p:txBody>
          <a:bodyPr>
            <a:normAutofit/>
          </a:bodyPr>
          <a:lstStyle/>
          <a:p>
            <a:pPr eaLnBrk="1" hangingPunct="1">
              <a:buFont typeface="Wingdings" panose="05000000000000000000" pitchFamily="2" charset="2"/>
              <a:buChar char="q"/>
            </a:pPr>
            <a:r>
              <a:rPr lang="en-US" altLang="en-US" sz="3600" dirty="0" smtClean="0"/>
              <a:t>Weights</a:t>
            </a:r>
          </a:p>
          <a:p>
            <a:pPr eaLnBrk="1" hangingPunct="1">
              <a:buFont typeface="Wingdings" panose="05000000000000000000" pitchFamily="2" charset="2"/>
              <a:buChar char="q"/>
            </a:pPr>
            <a:r>
              <a:rPr lang="en-US" altLang="en-US" sz="3600" dirty="0" smtClean="0"/>
              <a:t>Bias</a:t>
            </a:r>
          </a:p>
          <a:p>
            <a:pPr eaLnBrk="1" hangingPunct="1">
              <a:buFont typeface="Wingdings" panose="05000000000000000000" pitchFamily="2" charset="2"/>
              <a:buChar char="q"/>
            </a:pPr>
            <a:r>
              <a:rPr lang="en-US" altLang="en-US" sz="3600" dirty="0" smtClean="0"/>
              <a:t>Threshold</a:t>
            </a:r>
          </a:p>
          <a:p>
            <a:pPr eaLnBrk="1" hangingPunct="1">
              <a:buFont typeface="Wingdings" panose="05000000000000000000" pitchFamily="2" charset="2"/>
              <a:buChar char="q"/>
            </a:pPr>
            <a:r>
              <a:rPr lang="en-US" altLang="en-US" sz="3600" dirty="0" smtClean="0"/>
              <a:t>Learning rate</a:t>
            </a:r>
          </a:p>
        </p:txBody>
      </p:sp>
    </p:spTree>
    <p:extLst>
      <p:ext uri="{BB962C8B-B14F-4D97-AF65-F5344CB8AC3E}">
        <p14:creationId xmlns:p14="http://schemas.microsoft.com/office/powerpoint/2010/main" val="38854063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b="1" dirty="0" smtClean="0"/>
              <a:t>Weights</a:t>
            </a:r>
          </a:p>
        </p:txBody>
      </p:sp>
      <p:sp>
        <p:nvSpPr>
          <p:cNvPr id="54275" name="Rectangle 3"/>
          <p:cNvSpPr>
            <a:spLocks noGrp="1" noChangeArrowheads="1"/>
          </p:cNvSpPr>
          <p:nvPr>
            <p:ph idx="1"/>
          </p:nvPr>
        </p:nvSpPr>
        <p:spPr/>
        <p:txBody>
          <a:bodyPr/>
          <a:lstStyle/>
          <a:p>
            <a:pPr eaLnBrk="1" hangingPunct="1"/>
            <a:r>
              <a:rPr lang="en-US" altLang="en-US" smtClean="0"/>
              <a:t>Each neuron is connected to every other neuron by means of directed links</a:t>
            </a:r>
          </a:p>
          <a:p>
            <a:pPr eaLnBrk="1" hangingPunct="1"/>
            <a:r>
              <a:rPr lang="en-US" altLang="en-US" smtClean="0"/>
              <a:t>Links are associated with weights</a:t>
            </a:r>
          </a:p>
          <a:p>
            <a:pPr eaLnBrk="1" hangingPunct="1"/>
            <a:r>
              <a:rPr lang="en-US" altLang="en-US" smtClean="0"/>
              <a:t>Weights contain information about the input signal and is represented as a matrix</a:t>
            </a:r>
          </a:p>
          <a:p>
            <a:pPr eaLnBrk="1" hangingPunct="1"/>
            <a:r>
              <a:rPr lang="en-US" altLang="en-US" smtClean="0"/>
              <a:t>Weight matrix also called </a:t>
            </a:r>
            <a:r>
              <a:rPr lang="en-US" altLang="en-US" u="sng" smtClean="0"/>
              <a:t>connection matrix</a:t>
            </a:r>
          </a:p>
          <a:p>
            <a:pPr eaLnBrk="1" hangingPunct="1">
              <a:buFontTx/>
              <a:buNone/>
            </a:pPr>
            <a:endParaRPr lang="en-US" altLang="en-US" smtClean="0"/>
          </a:p>
          <a:p>
            <a:pPr eaLnBrk="1" hangingPunct="1"/>
            <a:endParaRPr lang="en-US" altLang="en-US" u="sng" smtClean="0"/>
          </a:p>
        </p:txBody>
      </p:sp>
    </p:spTree>
    <p:extLst>
      <p:ext uri="{BB962C8B-B14F-4D97-AF65-F5344CB8AC3E}">
        <p14:creationId xmlns:p14="http://schemas.microsoft.com/office/powerpoint/2010/main" val="10214862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b="1" dirty="0" smtClean="0"/>
              <a:t>Weight matrix</a:t>
            </a:r>
          </a:p>
        </p:txBody>
      </p:sp>
      <p:sp>
        <p:nvSpPr>
          <p:cNvPr id="55299" name="Rectangle 3"/>
          <p:cNvSpPr>
            <a:spLocks noGrp="1" noChangeArrowheads="1"/>
          </p:cNvSpPr>
          <p:nvPr>
            <p:ph type="body" sz="half" idx="1"/>
          </p:nvPr>
        </p:nvSpPr>
        <p:spPr/>
        <p:txBody>
          <a:bodyPr/>
          <a:lstStyle/>
          <a:p>
            <a:pPr eaLnBrk="1" hangingPunct="1">
              <a:buFontTx/>
              <a:buNone/>
            </a:pPr>
            <a:r>
              <a:rPr lang="en-US" altLang="en-US"/>
              <a:t>W=</a:t>
            </a:r>
          </a:p>
        </p:txBody>
      </p:sp>
      <p:graphicFrame>
        <p:nvGraphicFramePr>
          <p:cNvPr id="55300" name="Object 5"/>
          <p:cNvGraphicFramePr>
            <a:graphicFrameLocks noGrp="1" noChangeAspect="1"/>
          </p:cNvGraphicFramePr>
          <p:nvPr>
            <p:ph sz="quarter" idx="2"/>
          </p:nvPr>
        </p:nvGraphicFramePr>
        <p:xfrm>
          <a:off x="2803525" y="1628775"/>
          <a:ext cx="749300" cy="4537075"/>
        </p:xfrm>
        <a:graphic>
          <a:graphicData uri="http://schemas.openxmlformats.org/presentationml/2006/ole">
            <mc:AlternateContent xmlns:mc="http://schemas.openxmlformats.org/markup-compatibility/2006">
              <mc:Choice xmlns:v="urn:schemas-microsoft-com:vml" Requires="v">
                <p:oleObj spid="_x0000_s8304" name="Equation" r:id="rId3" imgW="406224" imgH="2462731" progId="Equation.DSMT4">
                  <p:embed/>
                </p:oleObj>
              </mc:Choice>
              <mc:Fallback>
                <p:oleObj name="Equation" r:id="rId3" imgW="406224" imgH="2462731" progId="Equation.DSMT4">
                  <p:embed/>
                  <p:pic>
                    <p:nvPicPr>
                      <p:cNvPr id="5530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525" y="1628775"/>
                        <a:ext cx="7493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2" name="Object 9"/>
          <p:cNvGraphicFramePr>
            <a:graphicFrameLocks noGrp="1" noChangeAspect="1"/>
          </p:cNvGraphicFramePr>
          <p:nvPr>
            <p:ph sz="quarter" idx="3"/>
          </p:nvPr>
        </p:nvGraphicFramePr>
        <p:xfrm>
          <a:off x="5729288" y="1773238"/>
          <a:ext cx="4332287" cy="4249737"/>
        </p:xfrm>
        <a:graphic>
          <a:graphicData uri="http://schemas.openxmlformats.org/presentationml/2006/ole">
            <mc:AlternateContent xmlns:mc="http://schemas.openxmlformats.org/markup-compatibility/2006">
              <mc:Choice xmlns:v="urn:schemas-microsoft-com:vml" Requires="v">
                <p:oleObj spid="_x0000_s8305" name="Equation" r:id="rId5" imgW="1320800" imgH="1295400" progId="Equation.DSMT4">
                  <p:embed/>
                </p:oleObj>
              </mc:Choice>
              <mc:Fallback>
                <p:oleObj name="Equation" r:id="rId5" imgW="1320800" imgH="1295400" progId="Equation.DSMT4">
                  <p:embed/>
                  <p:pic>
                    <p:nvPicPr>
                      <p:cNvPr id="55302"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9288" y="1773238"/>
                        <a:ext cx="4332287" cy="424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1" name="Text Box 7"/>
          <p:cNvSpPr txBox="1">
            <a:spLocks noChangeArrowheads="1"/>
          </p:cNvSpPr>
          <p:nvPr/>
        </p:nvSpPr>
        <p:spPr bwMode="auto">
          <a:xfrm>
            <a:off x="3719514" y="3573463"/>
            <a:ext cx="936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a:t>
            </a:r>
          </a:p>
        </p:txBody>
      </p:sp>
    </p:spTree>
    <p:extLst>
      <p:ext uri="{BB962C8B-B14F-4D97-AF65-F5344CB8AC3E}">
        <p14:creationId xmlns:p14="http://schemas.microsoft.com/office/powerpoint/2010/main" val="10581876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en-US" b="1" dirty="0" smtClean="0"/>
              <a:t>Weights </a:t>
            </a:r>
            <a:r>
              <a:rPr lang="en-US" altLang="en-US" b="1" dirty="0" err="1" smtClean="0"/>
              <a:t>contd</a:t>
            </a:r>
            <a:r>
              <a:rPr lang="en-US" altLang="en-US" b="1" dirty="0" smtClean="0"/>
              <a:t>…</a:t>
            </a:r>
          </a:p>
        </p:txBody>
      </p:sp>
      <p:sp>
        <p:nvSpPr>
          <p:cNvPr id="56323" name="Rectangle 3"/>
          <p:cNvSpPr>
            <a:spLocks noGrp="1" noChangeArrowheads="1"/>
          </p:cNvSpPr>
          <p:nvPr>
            <p:ph type="body" sz="half" idx="1"/>
          </p:nvPr>
        </p:nvSpPr>
        <p:spPr>
          <a:xfrm>
            <a:off x="1847851" y="1196975"/>
            <a:ext cx="8435975" cy="820738"/>
          </a:xfrm>
        </p:spPr>
        <p:txBody>
          <a:bodyPr/>
          <a:lstStyle/>
          <a:p>
            <a:pPr eaLnBrk="1" hangingPunct="1">
              <a:lnSpc>
                <a:spcPct val="90000"/>
              </a:lnSpc>
            </a:pPr>
            <a:r>
              <a:rPr lang="en-US" altLang="en-US" sz="2400" i="1" dirty="0" err="1"/>
              <a:t>w</a:t>
            </a:r>
            <a:r>
              <a:rPr lang="en-US" altLang="en-US" sz="2400" i="1" baseline="-25000" dirty="0" err="1"/>
              <a:t>ij</a:t>
            </a:r>
            <a:r>
              <a:rPr lang="en-US" altLang="en-US" sz="2400" i="1" baseline="-25000" dirty="0"/>
              <a:t> –</a:t>
            </a:r>
            <a:r>
              <a:rPr lang="en-US" altLang="en-US" sz="2400" dirty="0"/>
              <a:t>is the weight from processing element </a:t>
            </a:r>
            <a:r>
              <a:rPr lang="en-US" altLang="en-US" sz="2400" i="1" dirty="0"/>
              <a:t>”</a:t>
            </a:r>
            <a:r>
              <a:rPr lang="en-US" altLang="en-US" sz="2400" i="1" dirty="0" err="1"/>
              <a:t>i</a:t>
            </a:r>
            <a:r>
              <a:rPr lang="en-US" altLang="en-US" sz="2400" i="1" dirty="0"/>
              <a:t>”</a:t>
            </a:r>
            <a:r>
              <a:rPr lang="en-US" altLang="en-US" sz="2400" i="1" baseline="-25000" dirty="0"/>
              <a:t>  </a:t>
            </a:r>
            <a:r>
              <a:rPr lang="en-US" altLang="en-US" sz="2400" dirty="0"/>
              <a:t>(source node) to processing element </a:t>
            </a:r>
            <a:r>
              <a:rPr lang="en-US" altLang="en-US" sz="2400" i="1" dirty="0"/>
              <a:t>“j” </a:t>
            </a:r>
            <a:r>
              <a:rPr lang="en-US" altLang="en-US" sz="2400" dirty="0"/>
              <a:t>(destination node)</a:t>
            </a:r>
          </a:p>
          <a:p>
            <a:pPr eaLnBrk="1" hangingPunct="1">
              <a:lnSpc>
                <a:spcPct val="90000"/>
              </a:lnSpc>
              <a:buFontTx/>
              <a:buNone/>
            </a:pPr>
            <a:endParaRPr lang="en-US" altLang="en-US" sz="2400" i="1" dirty="0"/>
          </a:p>
          <a:p>
            <a:pPr eaLnBrk="1" hangingPunct="1">
              <a:lnSpc>
                <a:spcPct val="90000"/>
              </a:lnSpc>
              <a:buFontTx/>
              <a:buNone/>
            </a:pPr>
            <a:endParaRPr lang="en-US" altLang="en-US" sz="2400" i="1" dirty="0"/>
          </a:p>
        </p:txBody>
      </p:sp>
      <p:grpSp>
        <p:nvGrpSpPr>
          <p:cNvPr id="56324" name="Group 19"/>
          <p:cNvGrpSpPr>
            <a:grpSpLocks/>
          </p:cNvGrpSpPr>
          <p:nvPr/>
        </p:nvGrpSpPr>
        <p:grpSpPr bwMode="auto">
          <a:xfrm>
            <a:off x="1703389" y="2708275"/>
            <a:ext cx="4751387" cy="3600450"/>
            <a:chOff x="1474" y="1842"/>
            <a:chExt cx="2993" cy="2268"/>
          </a:xfrm>
        </p:grpSpPr>
        <p:sp>
          <p:nvSpPr>
            <p:cNvPr id="56326" name="Oval 4"/>
            <p:cNvSpPr>
              <a:spLocks noChangeArrowheads="1"/>
            </p:cNvSpPr>
            <p:nvPr/>
          </p:nvSpPr>
          <p:spPr bwMode="auto">
            <a:xfrm>
              <a:off x="1474" y="2115"/>
              <a:ext cx="453" cy="40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t>X</a:t>
              </a:r>
              <a:r>
                <a:rPr lang="en-US" altLang="en-US" sz="1800" i="1" baseline="-25000"/>
                <a:t>1</a:t>
              </a:r>
            </a:p>
          </p:txBody>
        </p:sp>
        <p:sp>
          <p:nvSpPr>
            <p:cNvPr id="56327" name="Oval 5"/>
            <p:cNvSpPr>
              <a:spLocks noChangeArrowheads="1"/>
            </p:cNvSpPr>
            <p:nvPr/>
          </p:nvSpPr>
          <p:spPr bwMode="auto">
            <a:xfrm>
              <a:off x="2699" y="1842"/>
              <a:ext cx="453" cy="40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1</a:t>
              </a:r>
            </a:p>
          </p:txBody>
        </p:sp>
        <p:sp>
          <p:nvSpPr>
            <p:cNvPr id="56328" name="Oval 6"/>
            <p:cNvSpPr>
              <a:spLocks noChangeArrowheads="1"/>
            </p:cNvSpPr>
            <p:nvPr/>
          </p:nvSpPr>
          <p:spPr bwMode="auto">
            <a:xfrm>
              <a:off x="1474" y="2886"/>
              <a:ext cx="453" cy="40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t>X</a:t>
              </a:r>
              <a:r>
                <a:rPr lang="en-US" altLang="en-US" sz="1800" i="1" baseline="-25000"/>
                <a:t>i</a:t>
              </a:r>
            </a:p>
          </p:txBody>
        </p:sp>
        <p:sp>
          <p:nvSpPr>
            <p:cNvPr id="56329" name="Oval 7"/>
            <p:cNvSpPr>
              <a:spLocks noChangeArrowheads="1"/>
            </p:cNvSpPr>
            <p:nvPr/>
          </p:nvSpPr>
          <p:spPr bwMode="auto">
            <a:xfrm>
              <a:off x="4014" y="2840"/>
              <a:ext cx="453" cy="45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t>Y</a:t>
              </a:r>
              <a:r>
                <a:rPr lang="en-US" altLang="en-US" sz="1800" i="1" baseline="-25000"/>
                <a:t>j</a:t>
              </a:r>
            </a:p>
          </p:txBody>
        </p:sp>
        <p:sp>
          <p:nvSpPr>
            <p:cNvPr id="56330" name="Oval 8"/>
            <p:cNvSpPr>
              <a:spLocks noChangeArrowheads="1"/>
            </p:cNvSpPr>
            <p:nvPr/>
          </p:nvSpPr>
          <p:spPr bwMode="auto">
            <a:xfrm>
              <a:off x="1474" y="3702"/>
              <a:ext cx="453" cy="40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i="1"/>
                <a:t>X</a:t>
              </a:r>
              <a:r>
                <a:rPr lang="en-US" altLang="en-US" sz="1800" i="1" baseline="-25000"/>
                <a:t>n</a:t>
              </a:r>
            </a:p>
          </p:txBody>
        </p:sp>
        <p:sp>
          <p:nvSpPr>
            <p:cNvPr id="56331" name="Line 9"/>
            <p:cNvSpPr>
              <a:spLocks noChangeShapeType="1"/>
            </p:cNvSpPr>
            <p:nvPr/>
          </p:nvSpPr>
          <p:spPr bwMode="auto">
            <a:xfrm>
              <a:off x="1701" y="2523"/>
              <a:ext cx="0" cy="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Line 10"/>
            <p:cNvSpPr>
              <a:spLocks noChangeShapeType="1"/>
            </p:cNvSpPr>
            <p:nvPr/>
          </p:nvSpPr>
          <p:spPr bwMode="auto">
            <a:xfrm>
              <a:off x="1701" y="3294"/>
              <a:ext cx="0" cy="40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6333" name="Line 11"/>
            <p:cNvSpPr>
              <a:spLocks noChangeShapeType="1"/>
            </p:cNvSpPr>
            <p:nvPr/>
          </p:nvSpPr>
          <p:spPr bwMode="auto">
            <a:xfrm>
              <a:off x="1927" y="2296"/>
              <a:ext cx="2087" cy="7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4" name="Line 12"/>
            <p:cNvSpPr>
              <a:spLocks noChangeShapeType="1"/>
            </p:cNvSpPr>
            <p:nvPr/>
          </p:nvSpPr>
          <p:spPr bwMode="auto">
            <a:xfrm>
              <a:off x="1927" y="3113"/>
              <a:ext cx="20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5" name="Line 13"/>
            <p:cNvSpPr>
              <a:spLocks noChangeShapeType="1"/>
            </p:cNvSpPr>
            <p:nvPr/>
          </p:nvSpPr>
          <p:spPr bwMode="auto">
            <a:xfrm flipV="1">
              <a:off x="1927" y="3158"/>
              <a:ext cx="2132" cy="7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6" name="Text Box 14"/>
            <p:cNvSpPr txBox="1">
              <a:spLocks noChangeArrowheads="1"/>
            </p:cNvSpPr>
            <p:nvPr/>
          </p:nvSpPr>
          <p:spPr bwMode="auto">
            <a:xfrm>
              <a:off x="2517" y="2568"/>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w</a:t>
              </a:r>
              <a:r>
                <a:rPr lang="en-US" altLang="en-US" sz="1800" i="1" baseline="-25000"/>
                <a:t>1j</a:t>
              </a:r>
            </a:p>
          </p:txBody>
        </p:sp>
        <p:sp>
          <p:nvSpPr>
            <p:cNvPr id="56337" name="Text Box 15"/>
            <p:cNvSpPr txBox="1">
              <a:spLocks noChangeArrowheads="1"/>
            </p:cNvSpPr>
            <p:nvPr/>
          </p:nvSpPr>
          <p:spPr bwMode="auto">
            <a:xfrm>
              <a:off x="2517" y="3203"/>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w</a:t>
              </a:r>
              <a:r>
                <a:rPr lang="en-US" altLang="en-US" sz="1800" i="1" baseline="-25000"/>
                <a:t>ij</a:t>
              </a:r>
            </a:p>
          </p:txBody>
        </p:sp>
        <p:sp>
          <p:nvSpPr>
            <p:cNvPr id="56338" name="Text Box 16"/>
            <p:cNvSpPr txBox="1">
              <a:spLocks noChangeArrowheads="1"/>
            </p:cNvSpPr>
            <p:nvPr/>
          </p:nvSpPr>
          <p:spPr bwMode="auto">
            <a:xfrm>
              <a:off x="2789" y="3793"/>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w</a:t>
              </a:r>
              <a:r>
                <a:rPr lang="en-US" altLang="en-US" sz="1800" i="1" baseline="-25000"/>
                <a:t>nj</a:t>
              </a:r>
            </a:p>
          </p:txBody>
        </p:sp>
        <p:sp>
          <p:nvSpPr>
            <p:cNvPr id="56339" name="Line 17"/>
            <p:cNvSpPr>
              <a:spLocks noChangeShapeType="1"/>
            </p:cNvSpPr>
            <p:nvPr/>
          </p:nvSpPr>
          <p:spPr bwMode="auto">
            <a:xfrm>
              <a:off x="3016" y="2205"/>
              <a:ext cx="1043" cy="7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40" name="Text Box 18"/>
            <p:cNvSpPr txBox="1">
              <a:spLocks noChangeArrowheads="1"/>
            </p:cNvSpPr>
            <p:nvPr/>
          </p:nvSpPr>
          <p:spPr bwMode="auto">
            <a:xfrm>
              <a:off x="3243" y="2251"/>
              <a:ext cx="5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i="1"/>
                <a:t>b</a:t>
              </a:r>
              <a:r>
                <a:rPr lang="en-US" altLang="en-US" sz="1800" i="1" baseline="-25000"/>
                <a:t>j</a:t>
              </a:r>
            </a:p>
          </p:txBody>
        </p:sp>
      </p:grpSp>
      <p:graphicFrame>
        <p:nvGraphicFramePr>
          <p:cNvPr id="56325" name="Object 20"/>
          <p:cNvGraphicFramePr>
            <a:graphicFrameLocks noChangeAspect="1"/>
          </p:cNvGraphicFramePr>
          <p:nvPr/>
        </p:nvGraphicFramePr>
        <p:xfrm>
          <a:off x="6311900" y="2311401"/>
          <a:ext cx="4356100" cy="3960813"/>
        </p:xfrm>
        <a:graphic>
          <a:graphicData uri="http://schemas.openxmlformats.org/presentationml/2006/ole">
            <mc:AlternateContent xmlns:mc="http://schemas.openxmlformats.org/markup-compatibility/2006">
              <mc:Choice xmlns:v="urn:schemas-microsoft-com:vml" Requires="v">
                <p:oleObj spid="_x0000_s9273" name="Equation" r:id="rId3" imgW="2514600" imgH="1600200" progId="Equation.DSMT4">
                  <p:embed/>
                </p:oleObj>
              </mc:Choice>
              <mc:Fallback>
                <p:oleObj name="Equation" r:id="rId3" imgW="2514600" imgH="1600200" progId="Equation.DSMT4">
                  <p:embed/>
                  <p:pic>
                    <p:nvPicPr>
                      <p:cNvPr id="56325"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1900" y="2311401"/>
                        <a:ext cx="4356100" cy="3960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2563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b="1" dirty="0" smtClean="0"/>
              <a:t>Bias</a:t>
            </a:r>
          </a:p>
        </p:txBody>
      </p:sp>
      <p:sp>
        <p:nvSpPr>
          <p:cNvPr id="58371" name="Rectangle 3"/>
          <p:cNvSpPr>
            <a:spLocks noGrp="1" noChangeArrowheads="1"/>
          </p:cNvSpPr>
          <p:nvPr>
            <p:ph idx="1"/>
          </p:nvPr>
        </p:nvSpPr>
        <p:spPr/>
        <p:txBody>
          <a:bodyPr/>
          <a:lstStyle/>
          <a:p>
            <a:pPr eaLnBrk="1" hangingPunct="1">
              <a:buFont typeface="Wingdings" panose="05000000000000000000" pitchFamily="2" charset="2"/>
              <a:buChar char="q"/>
            </a:pPr>
            <a:r>
              <a:rPr lang="en-US" altLang="en-US" sz="2800" dirty="0" smtClean="0"/>
              <a:t>Bias is like another weight. Its included by adding a component </a:t>
            </a:r>
            <a:r>
              <a:rPr lang="en-US" altLang="en-US" sz="2800" i="1" dirty="0" smtClean="0"/>
              <a:t>x</a:t>
            </a:r>
            <a:r>
              <a:rPr lang="en-US" altLang="en-US" sz="2800" i="1" baseline="-25000" dirty="0" smtClean="0"/>
              <a:t>0</a:t>
            </a:r>
            <a:r>
              <a:rPr lang="en-US" altLang="en-US" sz="2800" i="1" dirty="0" smtClean="0"/>
              <a:t>=1 </a:t>
            </a:r>
            <a:r>
              <a:rPr lang="en-US" altLang="en-US" sz="2800" dirty="0" smtClean="0"/>
              <a:t>to the input vector X.</a:t>
            </a:r>
          </a:p>
          <a:p>
            <a:pPr eaLnBrk="1" hangingPunct="1"/>
            <a:r>
              <a:rPr lang="en-US" altLang="en-US" sz="2800" i="1" dirty="0" smtClean="0"/>
              <a:t>X=(1,X</a:t>
            </a:r>
            <a:r>
              <a:rPr lang="en-US" altLang="en-US" sz="2800" i="1" baseline="-25000" dirty="0" smtClean="0"/>
              <a:t>1</a:t>
            </a:r>
            <a:r>
              <a:rPr lang="en-US" altLang="en-US" sz="2800" i="1" dirty="0" smtClean="0"/>
              <a:t>,X</a:t>
            </a:r>
            <a:r>
              <a:rPr lang="en-US" altLang="en-US" sz="2800" i="1" baseline="-25000" dirty="0" smtClean="0"/>
              <a:t>2</a:t>
            </a:r>
            <a:r>
              <a:rPr lang="en-US" altLang="en-US" sz="2800" i="1" dirty="0" smtClean="0"/>
              <a:t>…X</a:t>
            </a:r>
            <a:r>
              <a:rPr lang="en-US" altLang="en-US" sz="2800" i="1" baseline="-25000" dirty="0" smtClean="0"/>
              <a:t>i</a:t>
            </a:r>
            <a:r>
              <a:rPr lang="en-US" altLang="en-US" sz="2800" i="1" dirty="0" smtClean="0"/>
              <a:t>,…</a:t>
            </a:r>
            <a:r>
              <a:rPr lang="en-US" altLang="en-US" sz="2800" i="1" dirty="0" err="1" smtClean="0"/>
              <a:t>X</a:t>
            </a:r>
            <a:r>
              <a:rPr lang="en-US" altLang="en-US" sz="2800" i="1" baseline="-25000" dirty="0" err="1" smtClean="0"/>
              <a:t>n</a:t>
            </a:r>
            <a:r>
              <a:rPr lang="en-US" altLang="en-US" sz="2800" i="1" dirty="0" smtClean="0"/>
              <a:t>)</a:t>
            </a:r>
          </a:p>
          <a:p>
            <a:pPr eaLnBrk="1" hangingPunct="1">
              <a:buFont typeface="Wingdings" panose="05000000000000000000" pitchFamily="2" charset="2"/>
              <a:buChar char="q"/>
            </a:pPr>
            <a:r>
              <a:rPr lang="en-US" altLang="en-US" sz="2800" dirty="0" smtClean="0"/>
              <a:t>Bias is of two types</a:t>
            </a:r>
          </a:p>
          <a:p>
            <a:pPr marL="720090" lvl="2" indent="-514350">
              <a:buFont typeface="+mj-lt"/>
              <a:buAutoNum type="alphaLcPeriod"/>
            </a:pPr>
            <a:r>
              <a:rPr lang="en-US" altLang="en-US" sz="2400" dirty="0" smtClean="0"/>
              <a:t>Positive bias: increase the net input</a:t>
            </a:r>
          </a:p>
          <a:p>
            <a:pPr marL="720090" lvl="2" indent="-514350">
              <a:buFont typeface="+mj-lt"/>
              <a:buAutoNum type="alphaLcPeriod"/>
            </a:pPr>
            <a:r>
              <a:rPr lang="en-US" altLang="en-US" sz="2400" dirty="0" smtClean="0"/>
              <a:t>Negative bias: decrease the net input</a:t>
            </a:r>
          </a:p>
          <a:p>
            <a:pPr eaLnBrk="1" hangingPunct="1">
              <a:buFontTx/>
              <a:buNone/>
            </a:pPr>
            <a:endParaRPr lang="en-US" altLang="en-US" i="1" dirty="0" smtClean="0"/>
          </a:p>
        </p:txBody>
      </p:sp>
    </p:spTree>
    <p:extLst>
      <p:ext uri="{BB962C8B-B14F-4D97-AF65-F5344CB8AC3E}">
        <p14:creationId xmlns:p14="http://schemas.microsoft.com/office/powerpoint/2010/main" val="29274085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en-US" b="1" dirty="0" smtClean="0"/>
              <a:t>Why Bias is required?</a:t>
            </a:r>
            <a:endParaRPr lang="en-IN" altLang="en-US" b="1" dirty="0" smtClean="0"/>
          </a:p>
        </p:txBody>
      </p:sp>
      <p:sp>
        <p:nvSpPr>
          <p:cNvPr id="59395" name="Rectangle 3"/>
          <p:cNvSpPr>
            <a:spLocks noGrp="1" noChangeArrowheads="1"/>
          </p:cNvSpPr>
          <p:nvPr>
            <p:ph idx="1"/>
          </p:nvPr>
        </p:nvSpPr>
        <p:spPr>
          <a:xfrm>
            <a:off x="657223" y="1679575"/>
            <a:ext cx="10109099" cy="1828800"/>
          </a:xfrm>
        </p:spPr>
        <p:txBody>
          <a:bodyPr>
            <a:normAutofit/>
          </a:bodyPr>
          <a:lstStyle/>
          <a:p>
            <a:pPr eaLnBrk="1" hangingPunct="1"/>
            <a:r>
              <a:rPr lang="en-US" altLang="en-US" sz="2800" dirty="0" smtClean="0"/>
              <a:t>The relationship between input and output given by the equation of straight line y=</a:t>
            </a:r>
            <a:r>
              <a:rPr lang="en-US" altLang="en-US" sz="2800" dirty="0" err="1" smtClean="0"/>
              <a:t>mx+c</a:t>
            </a:r>
            <a:endParaRPr lang="en-US" altLang="en-US" sz="2800" dirty="0" smtClean="0"/>
          </a:p>
          <a:p>
            <a:pPr eaLnBrk="1" hangingPunct="1"/>
            <a:endParaRPr lang="en-US" altLang="en-US" sz="2800" dirty="0" smtClean="0"/>
          </a:p>
          <a:p>
            <a:pPr eaLnBrk="1" hangingPunct="1">
              <a:buFontTx/>
              <a:buNone/>
            </a:pPr>
            <a:endParaRPr lang="en-US" altLang="en-US" sz="2800" dirty="0" smtClean="0"/>
          </a:p>
          <a:p>
            <a:pPr eaLnBrk="1" hangingPunct="1"/>
            <a:endParaRPr lang="en-US" altLang="en-US" sz="2800" dirty="0" smtClean="0"/>
          </a:p>
          <a:p>
            <a:pPr eaLnBrk="1" hangingPunct="1"/>
            <a:endParaRPr lang="en-IN" altLang="en-US" sz="2800" dirty="0" smtClean="0"/>
          </a:p>
        </p:txBody>
      </p:sp>
      <p:sp>
        <p:nvSpPr>
          <p:cNvPr id="59396" name="Oval 4"/>
          <p:cNvSpPr>
            <a:spLocks noChangeArrowheads="1"/>
          </p:cNvSpPr>
          <p:nvPr/>
        </p:nvSpPr>
        <p:spPr bwMode="auto">
          <a:xfrm>
            <a:off x="3216275" y="4221164"/>
            <a:ext cx="503238" cy="50323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X</a:t>
            </a:r>
            <a:endParaRPr lang="en-IN" altLang="en-US" sz="1800"/>
          </a:p>
        </p:txBody>
      </p:sp>
      <p:sp>
        <p:nvSpPr>
          <p:cNvPr id="59397" name="Oval 5"/>
          <p:cNvSpPr>
            <a:spLocks noChangeArrowheads="1"/>
          </p:cNvSpPr>
          <p:nvPr/>
        </p:nvSpPr>
        <p:spPr bwMode="auto">
          <a:xfrm>
            <a:off x="5448300" y="4221164"/>
            <a:ext cx="503238" cy="50323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Y</a:t>
            </a:r>
            <a:endParaRPr lang="en-IN" altLang="en-US" sz="1800"/>
          </a:p>
        </p:txBody>
      </p:sp>
      <p:sp>
        <p:nvSpPr>
          <p:cNvPr id="59398" name="Line 6"/>
          <p:cNvSpPr>
            <a:spLocks noChangeShapeType="1"/>
          </p:cNvSpPr>
          <p:nvPr/>
        </p:nvSpPr>
        <p:spPr bwMode="auto">
          <a:xfrm>
            <a:off x="2566989" y="4437063"/>
            <a:ext cx="649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399" name="Text Box 7"/>
          <p:cNvSpPr txBox="1">
            <a:spLocks noChangeArrowheads="1"/>
          </p:cNvSpPr>
          <p:nvPr/>
        </p:nvSpPr>
        <p:spPr bwMode="auto">
          <a:xfrm>
            <a:off x="1919288" y="4221163"/>
            <a:ext cx="10080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Input</a:t>
            </a:r>
            <a:endParaRPr lang="en-IN" altLang="en-US" sz="1800"/>
          </a:p>
        </p:txBody>
      </p:sp>
      <p:sp>
        <p:nvSpPr>
          <p:cNvPr id="59400" name="Line 8"/>
          <p:cNvSpPr>
            <a:spLocks noChangeShapeType="1"/>
          </p:cNvSpPr>
          <p:nvPr/>
        </p:nvSpPr>
        <p:spPr bwMode="auto">
          <a:xfrm>
            <a:off x="3719514" y="4437063"/>
            <a:ext cx="1728787"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1" name="Line 9"/>
          <p:cNvSpPr>
            <a:spLocks noChangeShapeType="1"/>
          </p:cNvSpPr>
          <p:nvPr/>
        </p:nvSpPr>
        <p:spPr bwMode="auto">
          <a:xfrm>
            <a:off x="5664200" y="3284539"/>
            <a:ext cx="0" cy="936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2" name="Text Box 10"/>
          <p:cNvSpPr txBox="1">
            <a:spLocks noChangeArrowheads="1"/>
          </p:cNvSpPr>
          <p:nvPr/>
        </p:nvSpPr>
        <p:spPr bwMode="auto">
          <a:xfrm>
            <a:off x="5808664" y="3141663"/>
            <a:ext cx="1150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C(bias)</a:t>
            </a:r>
            <a:endParaRPr lang="en-IN" altLang="en-US" sz="1800"/>
          </a:p>
        </p:txBody>
      </p:sp>
      <p:sp>
        <p:nvSpPr>
          <p:cNvPr id="59403" name="Line 11"/>
          <p:cNvSpPr>
            <a:spLocks noChangeShapeType="1"/>
          </p:cNvSpPr>
          <p:nvPr/>
        </p:nvSpPr>
        <p:spPr bwMode="auto">
          <a:xfrm>
            <a:off x="5951539" y="4437063"/>
            <a:ext cx="1728787"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4" name="Text Box 12"/>
          <p:cNvSpPr txBox="1">
            <a:spLocks noChangeArrowheads="1"/>
          </p:cNvSpPr>
          <p:nvPr/>
        </p:nvSpPr>
        <p:spPr bwMode="auto">
          <a:xfrm>
            <a:off x="7824788" y="4292601"/>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y=mx+C</a:t>
            </a:r>
            <a:endParaRPr lang="en-IN" altLang="en-US" sz="1800"/>
          </a:p>
        </p:txBody>
      </p:sp>
    </p:spTree>
    <p:extLst>
      <p:ext uri="{BB962C8B-B14F-4D97-AF65-F5344CB8AC3E}">
        <p14:creationId xmlns:p14="http://schemas.microsoft.com/office/powerpoint/2010/main" val="1612717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en-US" b="1" dirty="0" smtClean="0"/>
              <a:t>Threshold</a:t>
            </a:r>
            <a:endParaRPr lang="en-IN" altLang="en-US" b="1" dirty="0" smtClean="0"/>
          </a:p>
        </p:txBody>
      </p:sp>
      <p:sp>
        <p:nvSpPr>
          <p:cNvPr id="60419" name="Rectangle 3"/>
          <p:cNvSpPr>
            <a:spLocks noGrp="1" noChangeArrowheads="1"/>
          </p:cNvSpPr>
          <p:nvPr>
            <p:ph type="body" sz="half" idx="1"/>
          </p:nvPr>
        </p:nvSpPr>
        <p:spPr>
          <a:xfrm>
            <a:off x="830825" y="1501878"/>
            <a:ext cx="8218488" cy="4525963"/>
          </a:xfrm>
        </p:spPr>
        <p:txBody>
          <a:bodyPr/>
          <a:lstStyle/>
          <a:p>
            <a:pPr eaLnBrk="1" hangingPunct="1">
              <a:buFont typeface="Wingdings" panose="05000000000000000000" pitchFamily="2" charset="2"/>
              <a:buChar char="q"/>
            </a:pPr>
            <a:r>
              <a:rPr lang="en-US" altLang="en-US" dirty="0"/>
              <a:t>Set value based upon which the final output of the network may be calculated</a:t>
            </a:r>
          </a:p>
          <a:p>
            <a:pPr eaLnBrk="1" hangingPunct="1">
              <a:buFont typeface="Wingdings" panose="05000000000000000000" pitchFamily="2" charset="2"/>
              <a:buChar char="q"/>
            </a:pPr>
            <a:r>
              <a:rPr lang="en-US" altLang="en-US" dirty="0"/>
              <a:t>Used in activation function</a:t>
            </a:r>
          </a:p>
          <a:p>
            <a:pPr eaLnBrk="1" hangingPunct="1">
              <a:buFont typeface="Wingdings" panose="05000000000000000000" pitchFamily="2" charset="2"/>
              <a:buChar char="q"/>
            </a:pPr>
            <a:r>
              <a:rPr lang="en-US" altLang="en-US" dirty="0"/>
              <a:t>The activation function using threshold can be defined as</a:t>
            </a:r>
          </a:p>
          <a:p>
            <a:pPr eaLnBrk="1" hangingPunct="1">
              <a:buFontTx/>
              <a:buNone/>
            </a:pPr>
            <a:endParaRPr lang="en-IN" altLang="en-US" dirty="0"/>
          </a:p>
        </p:txBody>
      </p:sp>
      <p:graphicFrame>
        <p:nvGraphicFramePr>
          <p:cNvPr id="60420" name="Object 6"/>
          <p:cNvGraphicFramePr>
            <a:graphicFrameLocks noGrp="1" noChangeAspect="1"/>
          </p:cNvGraphicFramePr>
          <p:nvPr>
            <p:ph sz="quarter" idx="3"/>
            <p:extLst>
              <p:ext uri="{D42A27DB-BD31-4B8C-83A1-F6EECF244321}">
                <p14:modId xmlns:p14="http://schemas.microsoft.com/office/powerpoint/2010/main" val="3746627960"/>
              </p:ext>
            </p:extLst>
          </p:nvPr>
        </p:nvGraphicFramePr>
        <p:xfrm>
          <a:off x="3076575" y="3943350"/>
          <a:ext cx="4146550" cy="1320800"/>
        </p:xfrm>
        <a:graphic>
          <a:graphicData uri="http://schemas.openxmlformats.org/presentationml/2006/ole">
            <mc:AlternateContent xmlns:mc="http://schemas.openxmlformats.org/markup-compatibility/2006">
              <mc:Choice xmlns:v="urn:schemas-microsoft-com:vml" Requires="v">
                <p:oleObj spid="_x0000_s10297" name="Equation" r:id="rId3" imgW="1435100" imgH="457200" progId="Equation.3">
                  <p:embed/>
                </p:oleObj>
              </mc:Choice>
              <mc:Fallback>
                <p:oleObj name="Equation" r:id="rId3" imgW="1435100" imgH="457200" progId="Equation.3">
                  <p:embed/>
                  <p:pic>
                    <p:nvPicPr>
                      <p:cNvPr id="6042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575" y="3943350"/>
                        <a:ext cx="4146550"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098043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b="1" dirty="0" smtClean="0"/>
              <a:t>Learning rate</a:t>
            </a:r>
            <a:endParaRPr lang="en-IN" altLang="en-US" b="1" dirty="0" smtClean="0"/>
          </a:p>
        </p:txBody>
      </p:sp>
      <p:sp>
        <p:nvSpPr>
          <p:cNvPr id="61443" name="Rectangle 3"/>
          <p:cNvSpPr>
            <a:spLocks noGrp="1" noChangeArrowheads="1"/>
          </p:cNvSpPr>
          <p:nvPr>
            <p:ph idx="1"/>
          </p:nvPr>
        </p:nvSpPr>
        <p:spPr/>
        <p:txBody>
          <a:bodyPr>
            <a:normAutofit/>
          </a:bodyPr>
          <a:lstStyle/>
          <a:p>
            <a:pPr eaLnBrk="1" hangingPunct="1">
              <a:buFont typeface="Wingdings" panose="05000000000000000000" pitchFamily="2" charset="2"/>
              <a:buChar char="q"/>
            </a:pPr>
            <a:r>
              <a:rPr lang="en-US" altLang="en-US" sz="2800" dirty="0" smtClean="0"/>
              <a:t>Denoted by </a:t>
            </a:r>
            <a:r>
              <a:rPr lang="el-GR" altLang="en-US" sz="2800" dirty="0" smtClean="0"/>
              <a:t>α</a:t>
            </a:r>
            <a:r>
              <a:rPr lang="en-US" altLang="en-US" sz="2800" dirty="0" smtClean="0"/>
              <a:t>.</a:t>
            </a:r>
          </a:p>
          <a:p>
            <a:pPr eaLnBrk="1" hangingPunct="1">
              <a:buFont typeface="Wingdings" panose="05000000000000000000" pitchFamily="2" charset="2"/>
              <a:buChar char="q"/>
            </a:pPr>
            <a:r>
              <a:rPr lang="en-US" altLang="en-US" sz="2800" dirty="0" smtClean="0"/>
              <a:t>Used to control the amount of weight adjustment at each step of training</a:t>
            </a:r>
          </a:p>
          <a:p>
            <a:pPr eaLnBrk="1" hangingPunct="1">
              <a:buFont typeface="Wingdings" panose="05000000000000000000" pitchFamily="2" charset="2"/>
              <a:buChar char="q"/>
            </a:pPr>
            <a:r>
              <a:rPr lang="en-US" altLang="en-US" sz="2800" dirty="0" smtClean="0"/>
              <a:t>Learning rate ranging from 0 to 1 determines the rate of learning in each time step</a:t>
            </a:r>
            <a:endParaRPr lang="el-GR" altLang="en-US" sz="2800" dirty="0" smtClean="0"/>
          </a:p>
        </p:txBody>
      </p:sp>
    </p:spTree>
    <p:extLst>
      <p:ext uri="{BB962C8B-B14F-4D97-AF65-F5344CB8AC3E}">
        <p14:creationId xmlns:p14="http://schemas.microsoft.com/office/powerpoint/2010/main" val="25698118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Single Layer Perceptron</a:t>
            </a:r>
            <a:endParaRPr lang="en-US" b="1" dirty="0"/>
          </a:p>
        </p:txBody>
      </p:sp>
      <p:sp>
        <p:nvSpPr>
          <p:cNvPr id="3" name="Content Placeholder 2"/>
          <p:cNvSpPr>
            <a:spLocks noGrp="1"/>
          </p:cNvSpPr>
          <p:nvPr>
            <p:ph idx="1"/>
          </p:nvPr>
        </p:nvSpPr>
        <p:spPr/>
        <p:txBody>
          <a:bodyPr/>
          <a:lstStyle/>
          <a:p>
            <a:r>
              <a:rPr lang="en-US" dirty="0" smtClean="0"/>
              <a:t>A single-layer perceptron is the simplest type of artificial neural network used for </a:t>
            </a:r>
            <a:r>
              <a:rPr lang="en-US" b="1" dirty="0" smtClean="0">
                <a:solidFill>
                  <a:srgbClr val="C00000"/>
                </a:solidFill>
              </a:rPr>
              <a:t>binary classification </a:t>
            </a:r>
            <a:r>
              <a:rPr lang="en-US" dirty="0" smtClean="0"/>
              <a:t>of </a:t>
            </a:r>
            <a:r>
              <a:rPr lang="en-US" b="1" dirty="0" smtClean="0">
                <a:solidFill>
                  <a:srgbClr val="C00000"/>
                </a:solidFill>
              </a:rPr>
              <a:t>linearly separable patterns</a:t>
            </a:r>
            <a:r>
              <a:rPr lang="en-US" dirty="0" smtClean="0"/>
              <a:t>. </a:t>
            </a:r>
          </a:p>
          <a:p>
            <a:endParaRPr lang="en-US" dirty="0"/>
          </a:p>
        </p:txBody>
      </p:sp>
      <p:pic>
        <p:nvPicPr>
          <p:cNvPr id="6" name="Picture 5"/>
          <p:cNvPicPr>
            <a:picLocks noChangeAspect="1"/>
          </p:cNvPicPr>
          <p:nvPr/>
        </p:nvPicPr>
        <p:blipFill>
          <a:blip r:embed="rId2"/>
          <a:stretch>
            <a:fillRect/>
          </a:stretch>
        </p:blipFill>
        <p:spPr>
          <a:xfrm>
            <a:off x="731521" y="2730951"/>
            <a:ext cx="9662160" cy="2540685"/>
          </a:xfrm>
          <a:prstGeom prst="rect">
            <a:avLst/>
          </a:prstGeom>
        </p:spPr>
      </p:pic>
    </p:spTree>
    <p:extLst>
      <p:ext uri="{BB962C8B-B14F-4D97-AF65-F5344CB8AC3E}">
        <p14:creationId xmlns:p14="http://schemas.microsoft.com/office/powerpoint/2010/main" val="18896900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Single Layer Perceptron</a:t>
            </a:r>
            <a:endParaRPr lang="en-US" dirty="0"/>
          </a:p>
        </p:txBody>
      </p:sp>
      <p:pic>
        <p:nvPicPr>
          <p:cNvPr id="4" name="Content Placeholder 3"/>
          <p:cNvPicPr>
            <a:picLocks noGrp="1" noChangeAspect="1"/>
          </p:cNvPicPr>
          <p:nvPr>
            <p:ph idx="1"/>
          </p:nvPr>
        </p:nvPicPr>
        <p:blipFill>
          <a:blip r:embed="rId2"/>
          <a:stretch>
            <a:fillRect/>
          </a:stretch>
        </p:blipFill>
        <p:spPr>
          <a:xfrm>
            <a:off x="1549008" y="1825625"/>
            <a:ext cx="9093983" cy="4351338"/>
          </a:xfrm>
          <a:prstGeom prst="rect">
            <a:avLst/>
          </a:prstGeom>
        </p:spPr>
      </p:pic>
    </p:spTree>
    <p:extLst>
      <p:ext uri="{BB962C8B-B14F-4D97-AF65-F5344CB8AC3E}">
        <p14:creationId xmlns:p14="http://schemas.microsoft.com/office/powerpoint/2010/main" val="6499357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Perceptron Learning Rule</a:t>
            </a:r>
            <a:endParaRPr lang="en-US" b="1" dirty="0"/>
          </a:p>
        </p:txBody>
      </p:sp>
      <p:pic>
        <p:nvPicPr>
          <p:cNvPr id="4" name="Content Placeholder 3"/>
          <p:cNvPicPr>
            <a:picLocks noGrp="1" noChangeAspect="1"/>
          </p:cNvPicPr>
          <p:nvPr>
            <p:ph idx="1"/>
          </p:nvPr>
        </p:nvPicPr>
        <p:blipFill>
          <a:blip r:embed="rId2"/>
          <a:stretch>
            <a:fillRect/>
          </a:stretch>
        </p:blipFill>
        <p:spPr>
          <a:xfrm>
            <a:off x="838200" y="1690688"/>
            <a:ext cx="9958182" cy="2962434"/>
          </a:xfrm>
          <a:prstGeom prst="rect">
            <a:avLst/>
          </a:prstGeom>
        </p:spPr>
      </p:pic>
    </p:spTree>
    <p:extLst>
      <p:ext uri="{BB962C8B-B14F-4D97-AF65-F5344CB8AC3E}">
        <p14:creationId xmlns:p14="http://schemas.microsoft.com/office/powerpoint/2010/main" val="35284199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Perceptron Learning Rule</a:t>
            </a:r>
            <a:endParaRPr lang="en-US" b="1" dirty="0"/>
          </a:p>
        </p:txBody>
      </p:sp>
      <p:pic>
        <p:nvPicPr>
          <p:cNvPr id="4" name="Content Placeholder 3"/>
          <p:cNvPicPr>
            <a:picLocks noGrp="1" noChangeAspect="1"/>
          </p:cNvPicPr>
          <p:nvPr>
            <p:ph idx="1"/>
          </p:nvPr>
        </p:nvPicPr>
        <p:blipFill>
          <a:blip r:embed="rId2"/>
          <a:stretch>
            <a:fillRect/>
          </a:stretch>
        </p:blipFill>
        <p:spPr>
          <a:xfrm>
            <a:off x="1361440" y="1351872"/>
            <a:ext cx="8986296" cy="4784452"/>
          </a:xfrm>
          <a:prstGeom prst="rect">
            <a:avLst/>
          </a:prstGeom>
        </p:spPr>
      </p:pic>
    </p:spTree>
    <p:extLst>
      <p:ext uri="{BB962C8B-B14F-4D97-AF65-F5344CB8AC3E}">
        <p14:creationId xmlns:p14="http://schemas.microsoft.com/office/powerpoint/2010/main" val="25147293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AND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88247607"/>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027512864"/>
                    </a:ext>
                  </a:extLst>
                </a:gridCol>
                <a:gridCol w="3505200">
                  <a:extLst>
                    <a:ext uri="{9D8B030D-6E8A-4147-A177-3AD203B41FA5}">
                      <a16:colId xmlns:a16="http://schemas.microsoft.com/office/drawing/2014/main" val="111237991"/>
                    </a:ext>
                  </a:extLst>
                </a:gridCol>
                <a:gridCol w="3505200">
                  <a:extLst>
                    <a:ext uri="{9D8B030D-6E8A-4147-A177-3AD203B41FA5}">
                      <a16:colId xmlns:a16="http://schemas.microsoft.com/office/drawing/2014/main" val="4159056823"/>
                    </a:ext>
                  </a:extLst>
                </a:gridCol>
              </a:tblGrid>
              <a:tr h="370840">
                <a:tc>
                  <a:txBody>
                    <a:bodyPr/>
                    <a:lstStyle/>
                    <a:p>
                      <a:r>
                        <a:rPr lang="en-US" b="1" dirty="0" smtClean="0"/>
                        <a:t>x1</a:t>
                      </a:r>
                      <a:endParaRPr lang="en-US" b="1" dirty="0"/>
                    </a:p>
                  </a:txBody>
                  <a:tcPr/>
                </a:tc>
                <a:tc>
                  <a:txBody>
                    <a:bodyPr/>
                    <a:lstStyle/>
                    <a:p>
                      <a:r>
                        <a:rPr lang="en-US" b="1" dirty="0" smtClean="0"/>
                        <a:t>x2</a:t>
                      </a:r>
                      <a:endParaRPr lang="en-US" b="1" dirty="0"/>
                    </a:p>
                  </a:txBody>
                  <a:tcPr/>
                </a:tc>
                <a:tc>
                  <a:txBody>
                    <a:bodyPr/>
                    <a:lstStyle/>
                    <a:p>
                      <a:r>
                        <a:rPr lang="en-US" b="1" dirty="0" smtClean="0"/>
                        <a:t>y</a:t>
                      </a:r>
                      <a:endParaRPr lang="en-US" b="1" dirty="0"/>
                    </a:p>
                  </a:txBody>
                  <a:tcPr/>
                </a:tc>
                <a:extLst>
                  <a:ext uri="{0D108BD9-81ED-4DB2-BD59-A6C34878D82A}">
                    <a16:rowId xmlns:a16="http://schemas.microsoft.com/office/drawing/2014/main" val="3279556291"/>
                  </a:ext>
                </a:extLst>
              </a:tr>
              <a:tr h="370840">
                <a:tc>
                  <a:txBody>
                    <a:bodyPr/>
                    <a:lstStyle/>
                    <a:p>
                      <a:r>
                        <a:rPr lang="en-US" b="1" dirty="0" smtClean="0"/>
                        <a:t>1</a:t>
                      </a:r>
                      <a:endParaRPr lang="en-US" b="1" dirty="0"/>
                    </a:p>
                  </a:txBody>
                  <a:tcPr/>
                </a:tc>
                <a:tc>
                  <a:txBody>
                    <a:bodyPr/>
                    <a:lstStyle/>
                    <a:p>
                      <a:r>
                        <a:rPr lang="en-US" b="1" dirty="0" smtClean="0"/>
                        <a:t>1</a:t>
                      </a:r>
                      <a:endParaRPr lang="en-US" b="1" dirty="0"/>
                    </a:p>
                  </a:txBody>
                  <a:tcPr/>
                </a:tc>
                <a:tc>
                  <a:txBody>
                    <a:bodyPr/>
                    <a:lstStyle/>
                    <a:p>
                      <a:r>
                        <a:rPr lang="en-US" b="1" dirty="0" smtClean="0"/>
                        <a:t>1</a:t>
                      </a:r>
                      <a:endParaRPr lang="en-US" b="1" dirty="0"/>
                    </a:p>
                  </a:txBody>
                  <a:tcPr/>
                </a:tc>
                <a:extLst>
                  <a:ext uri="{0D108BD9-81ED-4DB2-BD59-A6C34878D82A}">
                    <a16:rowId xmlns:a16="http://schemas.microsoft.com/office/drawing/2014/main" val="2491287961"/>
                  </a:ext>
                </a:extLst>
              </a:tr>
              <a:tr h="370840">
                <a:tc>
                  <a:txBody>
                    <a:bodyPr/>
                    <a:lstStyle/>
                    <a:p>
                      <a:r>
                        <a:rPr lang="en-US" b="1" dirty="0" smtClean="0"/>
                        <a:t>1</a:t>
                      </a:r>
                      <a:endParaRPr lang="en-US" b="1" dirty="0"/>
                    </a:p>
                  </a:txBody>
                  <a:tcPr/>
                </a:tc>
                <a:tc>
                  <a:txBody>
                    <a:bodyPr/>
                    <a:lstStyle/>
                    <a:p>
                      <a:r>
                        <a:rPr lang="en-US" b="1" dirty="0" smtClean="0"/>
                        <a:t>0</a:t>
                      </a:r>
                      <a:endParaRPr lang="en-US" b="1" dirty="0"/>
                    </a:p>
                  </a:txBody>
                  <a:tcPr/>
                </a:tc>
                <a:tc>
                  <a:txBody>
                    <a:bodyPr/>
                    <a:lstStyle/>
                    <a:p>
                      <a:r>
                        <a:rPr lang="en-US" b="1" dirty="0" smtClean="0"/>
                        <a:t>0</a:t>
                      </a:r>
                      <a:endParaRPr lang="en-US" b="1" dirty="0"/>
                    </a:p>
                  </a:txBody>
                  <a:tcPr/>
                </a:tc>
                <a:extLst>
                  <a:ext uri="{0D108BD9-81ED-4DB2-BD59-A6C34878D82A}">
                    <a16:rowId xmlns:a16="http://schemas.microsoft.com/office/drawing/2014/main" val="3163407045"/>
                  </a:ext>
                </a:extLst>
              </a:tr>
              <a:tr h="370840">
                <a:tc>
                  <a:txBody>
                    <a:bodyPr/>
                    <a:lstStyle/>
                    <a:p>
                      <a:r>
                        <a:rPr lang="en-US" b="1" dirty="0" smtClean="0"/>
                        <a:t>0</a:t>
                      </a:r>
                      <a:endParaRPr lang="en-US" b="1" dirty="0"/>
                    </a:p>
                  </a:txBody>
                  <a:tcPr/>
                </a:tc>
                <a:tc>
                  <a:txBody>
                    <a:bodyPr/>
                    <a:lstStyle/>
                    <a:p>
                      <a:r>
                        <a:rPr lang="en-US" b="1" dirty="0" smtClean="0"/>
                        <a:t>1</a:t>
                      </a:r>
                      <a:endParaRPr lang="en-US" b="1" dirty="0"/>
                    </a:p>
                  </a:txBody>
                  <a:tcPr/>
                </a:tc>
                <a:tc>
                  <a:txBody>
                    <a:bodyPr/>
                    <a:lstStyle/>
                    <a:p>
                      <a:r>
                        <a:rPr lang="en-US" b="1" dirty="0" smtClean="0"/>
                        <a:t>0</a:t>
                      </a:r>
                      <a:endParaRPr lang="en-US" b="1" dirty="0"/>
                    </a:p>
                  </a:txBody>
                  <a:tcPr/>
                </a:tc>
                <a:extLst>
                  <a:ext uri="{0D108BD9-81ED-4DB2-BD59-A6C34878D82A}">
                    <a16:rowId xmlns:a16="http://schemas.microsoft.com/office/drawing/2014/main" val="1303970624"/>
                  </a:ext>
                </a:extLst>
              </a:tr>
              <a:tr h="370840">
                <a:tc>
                  <a:txBody>
                    <a:bodyPr/>
                    <a:lstStyle/>
                    <a:p>
                      <a:r>
                        <a:rPr lang="en-US" b="1" dirty="0" smtClean="0"/>
                        <a:t>0</a:t>
                      </a:r>
                      <a:endParaRPr lang="en-US" b="1" dirty="0"/>
                    </a:p>
                  </a:txBody>
                  <a:tcPr/>
                </a:tc>
                <a:tc>
                  <a:txBody>
                    <a:bodyPr/>
                    <a:lstStyle/>
                    <a:p>
                      <a:r>
                        <a:rPr lang="en-US" b="1" dirty="0" smtClean="0"/>
                        <a:t>0</a:t>
                      </a:r>
                      <a:endParaRPr lang="en-US" b="1" dirty="0"/>
                    </a:p>
                  </a:txBody>
                  <a:tcPr/>
                </a:tc>
                <a:tc>
                  <a:txBody>
                    <a:bodyPr/>
                    <a:lstStyle/>
                    <a:p>
                      <a:r>
                        <a:rPr lang="en-US" b="1" dirty="0" smtClean="0"/>
                        <a:t>0</a:t>
                      </a:r>
                      <a:endParaRPr lang="en-US" b="1" dirty="0"/>
                    </a:p>
                  </a:txBody>
                  <a:tcPr/>
                </a:tc>
                <a:extLst>
                  <a:ext uri="{0D108BD9-81ED-4DB2-BD59-A6C34878D82A}">
                    <a16:rowId xmlns:a16="http://schemas.microsoft.com/office/drawing/2014/main" val="3607593858"/>
                  </a:ext>
                </a:extLst>
              </a:tr>
            </a:tbl>
          </a:graphicData>
        </a:graphic>
      </p:graphicFrame>
    </p:spTree>
    <p:extLst>
      <p:ext uri="{BB962C8B-B14F-4D97-AF65-F5344CB8AC3E}">
        <p14:creationId xmlns:p14="http://schemas.microsoft.com/office/powerpoint/2010/main" val="35555228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Multi Layer Perceptron </a:t>
            </a:r>
            <a:endParaRPr lang="en-US" b="1" dirty="0"/>
          </a:p>
        </p:txBody>
      </p:sp>
      <p:sp>
        <p:nvSpPr>
          <p:cNvPr id="3" name="Content Placeholder 2"/>
          <p:cNvSpPr>
            <a:spLocks noGrp="1"/>
          </p:cNvSpPr>
          <p:nvPr>
            <p:ph idx="1"/>
          </p:nvPr>
        </p:nvSpPr>
        <p:spPr>
          <a:xfrm>
            <a:off x="838200" y="1442720"/>
            <a:ext cx="10723880" cy="4734243"/>
          </a:xfrm>
        </p:spPr>
        <p:txBody>
          <a:bodyPr/>
          <a:lstStyle/>
          <a:p>
            <a:r>
              <a:rPr lang="en-US" b="1" dirty="0"/>
              <a:t>What is it?</a:t>
            </a:r>
            <a:r>
              <a:rPr lang="en-US" dirty="0" smtClean="0"/>
              <a:t> A class of feedforward Artificial Neural Network (ANN) that contains one or more layers of hidden units.</a:t>
            </a:r>
          </a:p>
          <a:p>
            <a:r>
              <a:rPr lang="en-US" b="1" dirty="0"/>
              <a:t>Evolution:</a:t>
            </a:r>
            <a:r>
              <a:rPr lang="en-US" dirty="0" smtClean="0"/>
              <a:t> Developed to overcome the strict linear limitations of Single-Layer </a:t>
            </a:r>
            <a:r>
              <a:rPr lang="en-US" dirty="0" err="1" smtClean="0"/>
              <a:t>Perceptrons</a:t>
            </a:r>
            <a:r>
              <a:rPr lang="en-US" dirty="0" smtClean="0"/>
              <a:t>.</a:t>
            </a:r>
          </a:p>
          <a:p>
            <a:r>
              <a:rPr lang="en-US" b="1" dirty="0"/>
              <a:t>The Core Power:</a:t>
            </a:r>
            <a:r>
              <a:rPr lang="en-US" dirty="0" smtClean="0"/>
              <a:t> Functions as a </a:t>
            </a:r>
            <a:r>
              <a:rPr lang="en-US" b="1" dirty="0"/>
              <a:t>Universal </a:t>
            </a:r>
            <a:r>
              <a:rPr lang="en-US" b="1" dirty="0" err="1"/>
              <a:t>Approximator</a:t>
            </a:r>
            <a:r>
              <a:rPr lang="en-US" dirty="0" smtClean="0"/>
              <a:t>, meaning it can model virtually any complex, non-linear relationship between inputs and outputs.</a:t>
            </a:r>
            <a:endParaRPr lang="en-US" dirty="0"/>
          </a:p>
        </p:txBody>
      </p:sp>
    </p:spTree>
    <p:extLst>
      <p:ext uri="{BB962C8B-B14F-4D97-AF65-F5344CB8AC3E}">
        <p14:creationId xmlns:p14="http://schemas.microsoft.com/office/powerpoint/2010/main" val="42370884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Architecture of Multilayer Perceptron</a:t>
            </a:r>
            <a:endParaRPr lang="en-US" b="1" dirty="0"/>
          </a:p>
        </p:txBody>
      </p:sp>
      <p:sp>
        <p:nvSpPr>
          <p:cNvPr id="3" name="Content Placeholder 2"/>
          <p:cNvSpPr>
            <a:spLocks noGrp="1"/>
          </p:cNvSpPr>
          <p:nvPr>
            <p:ph idx="1"/>
          </p:nvPr>
        </p:nvSpPr>
        <p:spPr/>
        <p:txBody>
          <a:bodyPr/>
          <a:lstStyle/>
          <a:p>
            <a:r>
              <a:rPr lang="en-US" dirty="0" smtClean="0"/>
              <a:t>Unlike an SLP, an MLP is composed of at least three layers of fully connected nodes:</a:t>
            </a:r>
          </a:p>
          <a:p>
            <a:r>
              <a:rPr lang="en-US" b="1" dirty="0"/>
              <a:t>Input Layer:</a:t>
            </a:r>
            <a:r>
              <a:rPr lang="en-US" dirty="0" smtClean="0"/>
              <a:t> Receives the raw feature data. Passes it forward without changing it.</a:t>
            </a:r>
          </a:p>
          <a:p>
            <a:r>
              <a:rPr lang="en-US" b="1" dirty="0"/>
              <a:t>Hidden Layer(s):</a:t>
            </a:r>
            <a:r>
              <a:rPr lang="en-US" dirty="0" smtClean="0"/>
              <a:t> The "brains" of the network. One or more layers that extract abstract features and patterns from data.</a:t>
            </a:r>
          </a:p>
          <a:p>
            <a:r>
              <a:rPr lang="en-US" b="1" dirty="0"/>
              <a:t>Output Layer:</a:t>
            </a:r>
            <a:r>
              <a:rPr lang="en-US" dirty="0" smtClean="0"/>
              <a:t> Produces the final prediction (e.g., probability scores, continuous values, or multiple classes).</a:t>
            </a:r>
            <a:endParaRPr lang="en-US" dirty="0"/>
          </a:p>
        </p:txBody>
      </p:sp>
    </p:spTree>
    <p:extLst>
      <p:ext uri="{BB962C8B-B14F-4D97-AF65-F5344CB8AC3E}">
        <p14:creationId xmlns:p14="http://schemas.microsoft.com/office/powerpoint/2010/main" val="26043327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Architecture of Multilayer perceptron</a:t>
            </a:r>
            <a:endParaRPr lang="en-US" b="1" dirty="0"/>
          </a:p>
        </p:txBody>
      </p:sp>
      <p:pic>
        <p:nvPicPr>
          <p:cNvPr id="4" name="Content Placeholder 3"/>
          <p:cNvPicPr>
            <a:picLocks noGrp="1" noChangeAspect="1"/>
          </p:cNvPicPr>
          <p:nvPr>
            <p:ph idx="1"/>
          </p:nvPr>
        </p:nvPicPr>
        <p:blipFill>
          <a:blip r:embed="rId2"/>
          <a:stretch>
            <a:fillRect/>
          </a:stretch>
        </p:blipFill>
        <p:spPr>
          <a:xfrm>
            <a:off x="1391919" y="1270317"/>
            <a:ext cx="8763557" cy="5079683"/>
          </a:xfrm>
          <a:prstGeom prst="rect">
            <a:avLst/>
          </a:prstGeom>
        </p:spPr>
      </p:pic>
    </p:spTree>
    <p:extLst>
      <p:ext uri="{BB962C8B-B14F-4D97-AF65-F5344CB8AC3E}">
        <p14:creationId xmlns:p14="http://schemas.microsoft.com/office/powerpoint/2010/main" val="1220242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a:t>
            </a:r>
            <a:endParaRPr lang="en-US" b="1" dirty="0"/>
          </a:p>
        </p:txBody>
      </p:sp>
      <p:sp>
        <p:nvSpPr>
          <p:cNvPr id="3" name="Content Placeholder 2"/>
          <p:cNvSpPr>
            <a:spLocks noGrp="1"/>
          </p:cNvSpPr>
          <p:nvPr>
            <p:ph idx="1"/>
          </p:nvPr>
        </p:nvSpPr>
        <p:spPr/>
        <p:txBody>
          <a:bodyPr/>
          <a:lstStyle/>
          <a:p>
            <a:r>
              <a:rPr lang="en-US" b="1" dirty="0"/>
              <a:t>Forward propagation:</a:t>
            </a:r>
            <a:r>
              <a:rPr lang="en-US" dirty="0" smtClean="0"/>
              <a:t> Data moves from input to output, making a prediction.</a:t>
            </a:r>
          </a:p>
          <a:p>
            <a:r>
              <a:rPr lang="en-US" b="1" dirty="0"/>
              <a:t>Loss calculation:</a:t>
            </a:r>
            <a:r>
              <a:rPr lang="en-US" dirty="0" smtClean="0"/>
              <a:t> The network compares its prediction to the real target value to find the error.</a:t>
            </a:r>
          </a:p>
          <a:p>
            <a:r>
              <a:rPr lang="en-US" b="1" dirty="0"/>
              <a:t>Backpropagation:</a:t>
            </a:r>
            <a:r>
              <a:rPr lang="en-US" dirty="0" smtClean="0"/>
              <a:t> The error travels backward through the layers using the chain rule to update weights and biases via gradient descent.</a:t>
            </a:r>
          </a:p>
          <a:p>
            <a:endParaRPr lang="en-US" dirty="0"/>
          </a:p>
        </p:txBody>
      </p:sp>
    </p:spTree>
    <p:extLst>
      <p:ext uri="{BB962C8B-B14F-4D97-AF65-F5344CB8AC3E}">
        <p14:creationId xmlns:p14="http://schemas.microsoft.com/office/powerpoint/2010/main" val="1214708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Forward propagation</a:t>
            </a:r>
            <a:endParaRPr lang="en-US" b="1" dirty="0"/>
          </a:p>
        </p:txBody>
      </p:sp>
      <p:sp>
        <p:nvSpPr>
          <p:cNvPr id="3" name="Content Placeholder 2"/>
          <p:cNvSpPr>
            <a:spLocks noGrp="1"/>
          </p:cNvSpPr>
          <p:nvPr>
            <p:ph idx="1"/>
          </p:nvPr>
        </p:nvSpPr>
        <p:spPr/>
        <p:txBody>
          <a:bodyPr/>
          <a:lstStyle/>
          <a:p>
            <a:r>
              <a:rPr lang="en-US" dirty="0" smtClean="0"/>
              <a:t>Data flows sequentially in one direction through the fully connected layers—from the input layer, through the hidden layers, to the output layer.</a:t>
            </a:r>
          </a:p>
          <a:p>
            <a:endParaRPr lang="en-US" dirty="0"/>
          </a:p>
        </p:txBody>
      </p:sp>
      <p:pic>
        <p:nvPicPr>
          <p:cNvPr id="4" name="Picture 3"/>
          <p:cNvPicPr>
            <a:picLocks noChangeAspect="1"/>
          </p:cNvPicPr>
          <p:nvPr/>
        </p:nvPicPr>
        <p:blipFill>
          <a:blip r:embed="rId2"/>
          <a:stretch>
            <a:fillRect/>
          </a:stretch>
        </p:blipFill>
        <p:spPr>
          <a:xfrm>
            <a:off x="838200" y="3168014"/>
            <a:ext cx="10618682" cy="2450465"/>
          </a:xfrm>
          <a:prstGeom prst="rect">
            <a:avLst/>
          </a:prstGeom>
        </p:spPr>
      </p:pic>
    </p:spTree>
    <p:extLst>
      <p:ext uri="{BB962C8B-B14F-4D97-AF65-F5344CB8AC3E}">
        <p14:creationId xmlns:p14="http://schemas.microsoft.com/office/powerpoint/2010/main" val="3535431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Loss Function Evaluation (Measuring Error</a:t>
            </a:r>
            <a:r>
              <a:rPr lang="en-US" b="1" dirty="0" smtClean="0"/>
              <a:t>)</a:t>
            </a:r>
            <a:endParaRPr lang="en-US" dirty="0"/>
          </a:p>
        </p:txBody>
      </p:sp>
      <p:pic>
        <p:nvPicPr>
          <p:cNvPr id="4" name="Content Placeholder 3"/>
          <p:cNvPicPr>
            <a:picLocks noGrp="1" noChangeAspect="1"/>
          </p:cNvPicPr>
          <p:nvPr>
            <p:ph idx="1"/>
          </p:nvPr>
        </p:nvPicPr>
        <p:blipFill>
          <a:blip r:embed="rId2"/>
          <a:stretch>
            <a:fillRect/>
          </a:stretch>
        </p:blipFill>
        <p:spPr>
          <a:xfrm>
            <a:off x="863600" y="1899920"/>
            <a:ext cx="11276724" cy="2540000"/>
          </a:xfrm>
          <a:prstGeom prst="rect">
            <a:avLst/>
          </a:prstGeom>
        </p:spPr>
      </p:pic>
    </p:spTree>
    <p:extLst>
      <p:ext uri="{BB962C8B-B14F-4D97-AF65-F5344CB8AC3E}">
        <p14:creationId xmlns:p14="http://schemas.microsoft.com/office/powerpoint/2010/main" val="2730758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Backpropagation (Distributing the Blame)</a:t>
            </a:r>
            <a:endParaRPr lang="en-US" b="1" dirty="0"/>
          </a:p>
        </p:txBody>
      </p:sp>
      <p:pic>
        <p:nvPicPr>
          <p:cNvPr id="5" name="Content Placeholder 4"/>
          <p:cNvPicPr>
            <a:picLocks noGrp="1" noChangeAspect="1"/>
          </p:cNvPicPr>
          <p:nvPr>
            <p:ph idx="1"/>
          </p:nvPr>
        </p:nvPicPr>
        <p:blipFill>
          <a:blip r:embed="rId2"/>
          <a:stretch>
            <a:fillRect/>
          </a:stretch>
        </p:blipFill>
        <p:spPr>
          <a:xfrm>
            <a:off x="838200" y="1690688"/>
            <a:ext cx="10576135" cy="3399472"/>
          </a:xfrm>
          <a:prstGeom prst="rect">
            <a:avLst/>
          </a:prstGeom>
        </p:spPr>
      </p:pic>
    </p:spTree>
    <p:extLst>
      <p:ext uri="{BB962C8B-B14F-4D97-AF65-F5344CB8AC3E}">
        <p14:creationId xmlns:p14="http://schemas.microsoft.com/office/powerpoint/2010/main" val="34855760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MLP Solved example </a:t>
            </a:r>
            <a:endParaRPr lang="en-US" b="1" dirty="0"/>
          </a:p>
        </p:txBody>
      </p:sp>
      <p:pic>
        <p:nvPicPr>
          <p:cNvPr id="4" name="Content Placeholder 3"/>
          <p:cNvPicPr>
            <a:picLocks noGrp="1" noChangeAspect="1"/>
          </p:cNvPicPr>
          <p:nvPr>
            <p:ph idx="1"/>
          </p:nvPr>
        </p:nvPicPr>
        <p:blipFill>
          <a:blip r:embed="rId2"/>
          <a:stretch>
            <a:fillRect/>
          </a:stretch>
        </p:blipFill>
        <p:spPr>
          <a:xfrm>
            <a:off x="6522836" y="515289"/>
            <a:ext cx="5181484" cy="490983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885168328"/>
              </p:ext>
            </p:extLst>
          </p:nvPr>
        </p:nvGraphicFramePr>
        <p:xfrm>
          <a:off x="335280" y="5759026"/>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491834160"/>
                    </a:ext>
                  </a:extLst>
                </a:gridCol>
                <a:gridCol w="1625600">
                  <a:extLst>
                    <a:ext uri="{9D8B030D-6E8A-4147-A177-3AD203B41FA5}">
                      <a16:colId xmlns:a16="http://schemas.microsoft.com/office/drawing/2014/main" val="507155042"/>
                    </a:ext>
                  </a:extLst>
                </a:gridCol>
                <a:gridCol w="1625600">
                  <a:extLst>
                    <a:ext uri="{9D8B030D-6E8A-4147-A177-3AD203B41FA5}">
                      <a16:colId xmlns:a16="http://schemas.microsoft.com/office/drawing/2014/main" val="2766228996"/>
                    </a:ext>
                  </a:extLst>
                </a:gridCol>
                <a:gridCol w="1625600">
                  <a:extLst>
                    <a:ext uri="{9D8B030D-6E8A-4147-A177-3AD203B41FA5}">
                      <a16:colId xmlns:a16="http://schemas.microsoft.com/office/drawing/2014/main" val="1353655783"/>
                    </a:ext>
                  </a:extLst>
                </a:gridCol>
                <a:gridCol w="1625600">
                  <a:extLst>
                    <a:ext uri="{9D8B030D-6E8A-4147-A177-3AD203B41FA5}">
                      <a16:colId xmlns:a16="http://schemas.microsoft.com/office/drawing/2014/main" val="3255000976"/>
                    </a:ext>
                  </a:extLst>
                </a:gridCol>
              </a:tblGrid>
              <a:tr h="370840">
                <a:tc>
                  <a:txBody>
                    <a:bodyPr/>
                    <a:lstStyle/>
                    <a:p>
                      <a:r>
                        <a:rPr lang="en-US" dirty="0" smtClean="0"/>
                        <a:t>x1</a:t>
                      </a:r>
                      <a:endParaRPr lang="en-US" dirty="0"/>
                    </a:p>
                  </a:txBody>
                  <a:tcPr/>
                </a:tc>
                <a:tc>
                  <a:txBody>
                    <a:bodyPr/>
                    <a:lstStyle/>
                    <a:p>
                      <a:r>
                        <a:rPr lang="en-US" dirty="0" smtClean="0"/>
                        <a:t>x2</a:t>
                      </a:r>
                      <a:endParaRPr lang="en-US" dirty="0"/>
                    </a:p>
                  </a:txBody>
                  <a:tcPr/>
                </a:tc>
                <a:tc>
                  <a:txBody>
                    <a:bodyPr/>
                    <a:lstStyle/>
                    <a:p>
                      <a:r>
                        <a:rPr lang="en-US" dirty="0" smtClean="0"/>
                        <a:t>x3</a:t>
                      </a:r>
                      <a:endParaRPr lang="en-US" dirty="0"/>
                    </a:p>
                  </a:txBody>
                  <a:tcPr/>
                </a:tc>
                <a:tc>
                  <a:txBody>
                    <a:bodyPr/>
                    <a:lstStyle/>
                    <a:p>
                      <a:r>
                        <a:rPr lang="en-US" dirty="0" smtClean="0"/>
                        <a:t>x4</a:t>
                      </a:r>
                      <a:endParaRPr lang="en-US" dirty="0"/>
                    </a:p>
                  </a:txBody>
                  <a:tcPr/>
                </a:tc>
                <a:tc>
                  <a:txBody>
                    <a:bodyPr/>
                    <a:lstStyle/>
                    <a:p>
                      <a:r>
                        <a:rPr lang="en-US" dirty="0" smtClean="0"/>
                        <a:t>y</a:t>
                      </a:r>
                      <a:endParaRPr lang="en-US" dirty="0"/>
                    </a:p>
                  </a:txBody>
                  <a:tcPr/>
                </a:tc>
                <a:extLst>
                  <a:ext uri="{0D108BD9-81ED-4DB2-BD59-A6C34878D82A}">
                    <a16:rowId xmlns:a16="http://schemas.microsoft.com/office/drawing/2014/main" val="1769630002"/>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78018641"/>
                  </a:ext>
                </a:extLst>
              </a:tr>
            </a:tbl>
          </a:graphicData>
        </a:graphic>
      </p:graphicFrame>
      <p:sp>
        <p:nvSpPr>
          <p:cNvPr id="7" name="TextBox 6"/>
          <p:cNvSpPr txBox="1"/>
          <p:nvPr/>
        </p:nvSpPr>
        <p:spPr>
          <a:xfrm>
            <a:off x="619760" y="1991360"/>
            <a:ext cx="3779520" cy="369332"/>
          </a:xfrm>
          <a:prstGeom prst="rect">
            <a:avLst/>
          </a:prstGeom>
          <a:noFill/>
        </p:spPr>
        <p:txBody>
          <a:bodyPr wrap="square" rtlCol="0">
            <a:spAutoFit/>
          </a:bodyPr>
          <a:lstStyle/>
          <a:p>
            <a:r>
              <a:rPr lang="en-US" dirty="0" smtClean="0"/>
              <a:t>alpha=0.8 </a:t>
            </a:r>
            <a:endParaRPr lang="en-US" dirty="0"/>
          </a:p>
        </p:txBody>
      </p:sp>
    </p:spTree>
    <p:extLst>
      <p:ext uri="{BB962C8B-B14F-4D97-AF65-F5344CB8AC3E}">
        <p14:creationId xmlns:p14="http://schemas.microsoft.com/office/powerpoint/2010/main" val="2950633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Weight </a:t>
            </a:r>
            <a:r>
              <a:rPr lang="en-US" b="1" dirty="0" err="1" smtClean="0"/>
              <a:t>updation</a:t>
            </a:r>
            <a:endParaRPr lang="en-US" b="1" dirty="0"/>
          </a:p>
        </p:txBody>
      </p:sp>
      <p:sp>
        <p:nvSpPr>
          <p:cNvPr id="3" name="Content Placeholder 2"/>
          <p:cNvSpPr>
            <a:spLocks noGrp="1"/>
          </p:cNvSpPr>
          <p:nvPr>
            <p:ph idx="1"/>
          </p:nvPr>
        </p:nvSpPr>
        <p:spPr/>
        <p:txBody>
          <a:bodyPr/>
          <a:lstStyle/>
          <a:p>
            <a:r>
              <a:rPr lang="en-US" dirty="0" smtClean="0"/>
              <a:t>Using the calculated gradients, an optimizer shifts the weights in the opposite direction of the gradient to reduce the overall error. The standard formula using </a:t>
            </a:r>
            <a:r>
              <a:rPr lang="en-US" b="1" dirty="0"/>
              <a:t>Stochastic Gradient Descent (SGD)</a:t>
            </a:r>
            <a:r>
              <a:rPr lang="en-US" dirty="0" smtClean="0"/>
              <a:t> is</a:t>
            </a:r>
          </a:p>
          <a:p>
            <a:endParaRPr lang="en-US" dirty="0"/>
          </a:p>
          <a:p>
            <a:pPr marL="0" indent="0">
              <a:buNone/>
            </a:pPr>
            <a:endParaRPr lang="en-US" dirty="0" smtClean="0"/>
          </a:p>
          <a:p>
            <a:r>
              <a:rPr lang="en-US" dirty="0" smtClean="0"/>
              <a:t>Where </a:t>
            </a:r>
            <a:r>
              <a:rPr lang="en-US" b="1" dirty="0"/>
              <a:t>α (alpha)</a:t>
            </a:r>
            <a:r>
              <a:rPr lang="en-US" dirty="0" smtClean="0"/>
              <a:t> is the </a:t>
            </a:r>
            <a:r>
              <a:rPr lang="en-US" b="1" dirty="0"/>
              <a:t>Learning Rate</a:t>
            </a:r>
            <a:r>
              <a:rPr lang="en-US" dirty="0" smtClean="0"/>
              <a:t>—a </a:t>
            </a:r>
            <a:r>
              <a:rPr lang="en-US" dirty="0" err="1" smtClean="0"/>
              <a:t>hyperparameter</a:t>
            </a:r>
            <a:r>
              <a:rPr lang="en-US" dirty="0" smtClean="0"/>
              <a:t> that controls how large of a step the algorithm takes toward minimizing the error.</a:t>
            </a:r>
            <a:endParaRPr lang="en-US" dirty="0"/>
          </a:p>
        </p:txBody>
      </p:sp>
      <p:pic>
        <p:nvPicPr>
          <p:cNvPr id="4" name="Picture 3"/>
          <p:cNvPicPr>
            <a:picLocks noChangeAspect="1"/>
          </p:cNvPicPr>
          <p:nvPr/>
        </p:nvPicPr>
        <p:blipFill>
          <a:blip r:embed="rId2"/>
          <a:stretch>
            <a:fillRect/>
          </a:stretch>
        </p:blipFill>
        <p:spPr>
          <a:xfrm>
            <a:off x="4192905" y="3289617"/>
            <a:ext cx="3562350" cy="542925"/>
          </a:xfrm>
          <a:prstGeom prst="rect">
            <a:avLst/>
          </a:prstGeom>
        </p:spPr>
      </p:pic>
    </p:spTree>
    <p:extLst>
      <p:ext uri="{BB962C8B-B14F-4D97-AF65-F5344CB8AC3E}">
        <p14:creationId xmlns:p14="http://schemas.microsoft.com/office/powerpoint/2010/main" val="952829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Logical XOR</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1233566"/>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7899371"/>
                    </a:ext>
                  </a:extLst>
                </a:gridCol>
                <a:gridCol w="3505200">
                  <a:extLst>
                    <a:ext uri="{9D8B030D-6E8A-4147-A177-3AD203B41FA5}">
                      <a16:colId xmlns:a16="http://schemas.microsoft.com/office/drawing/2014/main" val="3328693535"/>
                    </a:ext>
                  </a:extLst>
                </a:gridCol>
                <a:gridCol w="3505200">
                  <a:extLst>
                    <a:ext uri="{9D8B030D-6E8A-4147-A177-3AD203B41FA5}">
                      <a16:colId xmlns:a16="http://schemas.microsoft.com/office/drawing/2014/main" val="1025974548"/>
                    </a:ext>
                  </a:extLst>
                </a:gridCol>
              </a:tblGrid>
              <a:tr h="370840">
                <a:tc>
                  <a:txBody>
                    <a:bodyPr/>
                    <a:lstStyle/>
                    <a:p>
                      <a:r>
                        <a:rPr lang="en-US" dirty="0" smtClean="0"/>
                        <a:t>X1</a:t>
                      </a:r>
                      <a:endParaRPr lang="en-US" dirty="0"/>
                    </a:p>
                  </a:txBody>
                  <a:tcPr/>
                </a:tc>
                <a:tc>
                  <a:txBody>
                    <a:bodyPr/>
                    <a:lstStyle/>
                    <a:p>
                      <a:r>
                        <a:rPr lang="en-US" dirty="0" smtClean="0"/>
                        <a:t>X2</a:t>
                      </a:r>
                      <a:endParaRPr lang="en-US" dirty="0"/>
                    </a:p>
                  </a:txBody>
                  <a:tcPr/>
                </a:tc>
                <a:tc>
                  <a:txBody>
                    <a:bodyPr/>
                    <a:lstStyle/>
                    <a:p>
                      <a:r>
                        <a:rPr lang="en-US" dirty="0" smtClean="0"/>
                        <a:t>Y</a:t>
                      </a:r>
                      <a:endParaRPr lang="en-US" dirty="0"/>
                    </a:p>
                  </a:txBody>
                  <a:tcPr/>
                </a:tc>
                <a:extLst>
                  <a:ext uri="{0D108BD9-81ED-4DB2-BD59-A6C34878D82A}">
                    <a16:rowId xmlns:a16="http://schemas.microsoft.com/office/drawing/2014/main" val="1197726026"/>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219052599"/>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503419616"/>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4178195300"/>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957424765"/>
                  </a:ext>
                </a:extLst>
              </a:tr>
            </a:tbl>
          </a:graphicData>
        </a:graphic>
      </p:graphicFrame>
      <p:pic>
        <p:nvPicPr>
          <p:cNvPr id="5" name="Picture 4"/>
          <p:cNvPicPr>
            <a:picLocks noChangeAspect="1"/>
          </p:cNvPicPr>
          <p:nvPr/>
        </p:nvPicPr>
        <p:blipFill>
          <a:blip r:embed="rId2"/>
          <a:stretch>
            <a:fillRect/>
          </a:stretch>
        </p:blipFill>
        <p:spPr>
          <a:xfrm>
            <a:off x="2184396" y="4368482"/>
            <a:ext cx="6634483" cy="1275862"/>
          </a:xfrm>
          <a:prstGeom prst="rect">
            <a:avLst/>
          </a:prstGeom>
        </p:spPr>
      </p:pic>
    </p:spTree>
    <p:extLst>
      <p:ext uri="{BB962C8B-B14F-4D97-AF65-F5344CB8AC3E}">
        <p14:creationId xmlns:p14="http://schemas.microsoft.com/office/powerpoint/2010/main" val="3584676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Activation Functions (Logistics)</a:t>
            </a:r>
            <a:endParaRPr lang="en-US" dirty="0"/>
          </a:p>
        </p:txBody>
      </p:sp>
      <p:pic>
        <p:nvPicPr>
          <p:cNvPr id="4" name="Content Placeholder 3"/>
          <p:cNvPicPr>
            <a:picLocks noGrp="1" noChangeAspect="1"/>
          </p:cNvPicPr>
          <p:nvPr>
            <p:ph idx="1"/>
          </p:nvPr>
        </p:nvPicPr>
        <p:blipFill>
          <a:blip r:embed="rId2"/>
          <a:stretch>
            <a:fillRect/>
          </a:stretch>
        </p:blipFill>
        <p:spPr>
          <a:xfrm>
            <a:off x="1981201" y="1611289"/>
            <a:ext cx="2809875" cy="1304925"/>
          </a:xfrm>
          <a:prstGeom prst="rect">
            <a:avLst/>
          </a:prstGeom>
        </p:spPr>
      </p:pic>
      <p:pic>
        <p:nvPicPr>
          <p:cNvPr id="5" name="Picture 4"/>
          <p:cNvPicPr>
            <a:picLocks noChangeAspect="1"/>
          </p:cNvPicPr>
          <p:nvPr/>
        </p:nvPicPr>
        <p:blipFill>
          <a:blip r:embed="rId3"/>
          <a:stretch>
            <a:fillRect/>
          </a:stretch>
        </p:blipFill>
        <p:spPr>
          <a:xfrm>
            <a:off x="5015880" y="1700809"/>
            <a:ext cx="5393448" cy="3303587"/>
          </a:xfrm>
          <a:prstGeom prst="rect">
            <a:avLst/>
          </a:prstGeom>
        </p:spPr>
      </p:pic>
      <p:pic>
        <p:nvPicPr>
          <p:cNvPr id="6" name="Picture 5"/>
          <p:cNvPicPr>
            <a:picLocks noChangeAspect="1"/>
          </p:cNvPicPr>
          <p:nvPr/>
        </p:nvPicPr>
        <p:blipFill>
          <a:blip r:embed="rId4"/>
          <a:stretch>
            <a:fillRect/>
          </a:stretch>
        </p:blipFill>
        <p:spPr>
          <a:xfrm>
            <a:off x="1981201" y="4869160"/>
            <a:ext cx="4867275" cy="1524000"/>
          </a:xfrm>
          <a:prstGeom prst="rect">
            <a:avLst/>
          </a:prstGeom>
        </p:spPr>
      </p:pic>
    </p:spTree>
    <p:extLst>
      <p:ext uri="{BB962C8B-B14F-4D97-AF65-F5344CB8AC3E}">
        <p14:creationId xmlns:p14="http://schemas.microsoft.com/office/powerpoint/2010/main" val="42916649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Tanh</a:t>
            </a:r>
            <a:r>
              <a:rPr lang="en-US" dirty="0" smtClean="0"/>
              <a:t> Activation Function</a:t>
            </a:r>
            <a:endParaRPr lang="en-US" dirty="0"/>
          </a:p>
        </p:txBody>
      </p:sp>
      <p:pic>
        <p:nvPicPr>
          <p:cNvPr id="4" name="Content Placeholder 3"/>
          <p:cNvPicPr>
            <a:picLocks noGrp="1" noChangeAspect="1"/>
          </p:cNvPicPr>
          <p:nvPr>
            <p:ph idx="1"/>
          </p:nvPr>
        </p:nvPicPr>
        <p:blipFill>
          <a:blip r:embed="rId2"/>
          <a:stretch>
            <a:fillRect/>
          </a:stretch>
        </p:blipFill>
        <p:spPr>
          <a:xfrm>
            <a:off x="2063553" y="1556792"/>
            <a:ext cx="2752725" cy="933450"/>
          </a:xfrm>
          <a:prstGeom prst="rect">
            <a:avLst/>
          </a:prstGeom>
        </p:spPr>
      </p:pic>
      <p:pic>
        <p:nvPicPr>
          <p:cNvPr id="5" name="Picture 4"/>
          <p:cNvPicPr>
            <a:picLocks noChangeAspect="1"/>
          </p:cNvPicPr>
          <p:nvPr/>
        </p:nvPicPr>
        <p:blipFill>
          <a:blip r:embed="rId3"/>
          <a:stretch>
            <a:fillRect/>
          </a:stretch>
        </p:blipFill>
        <p:spPr>
          <a:xfrm>
            <a:off x="4816278" y="1268760"/>
            <a:ext cx="5969219" cy="3307506"/>
          </a:xfrm>
          <a:prstGeom prst="rect">
            <a:avLst/>
          </a:prstGeom>
        </p:spPr>
      </p:pic>
      <p:pic>
        <p:nvPicPr>
          <p:cNvPr id="6" name="Picture 5"/>
          <p:cNvPicPr>
            <a:picLocks noChangeAspect="1"/>
          </p:cNvPicPr>
          <p:nvPr/>
        </p:nvPicPr>
        <p:blipFill>
          <a:blip r:embed="rId4"/>
          <a:stretch>
            <a:fillRect/>
          </a:stretch>
        </p:blipFill>
        <p:spPr>
          <a:xfrm>
            <a:off x="2279577" y="4417863"/>
            <a:ext cx="6105525" cy="2305050"/>
          </a:xfrm>
          <a:prstGeom prst="rect">
            <a:avLst/>
          </a:prstGeom>
        </p:spPr>
      </p:pic>
    </p:spTree>
    <p:extLst>
      <p:ext uri="{BB962C8B-B14F-4D97-AF65-F5344CB8AC3E}">
        <p14:creationId xmlns:p14="http://schemas.microsoft.com/office/powerpoint/2010/main" val="23989310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Rectified Linear Unit(</a:t>
            </a:r>
            <a:r>
              <a:rPr lang="en-US" dirty="0" err="1" smtClean="0"/>
              <a:t>ReLU</a:t>
            </a:r>
            <a:r>
              <a:rPr lang="en-US" dirty="0" smtClean="0"/>
              <a:t>)</a:t>
            </a:r>
            <a:endParaRPr lang="en-US" dirty="0"/>
          </a:p>
        </p:txBody>
      </p:sp>
      <p:pic>
        <p:nvPicPr>
          <p:cNvPr id="4" name="Content Placeholder 3"/>
          <p:cNvPicPr>
            <a:picLocks noGrp="1" noChangeAspect="1"/>
          </p:cNvPicPr>
          <p:nvPr>
            <p:ph idx="1"/>
          </p:nvPr>
        </p:nvPicPr>
        <p:blipFill>
          <a:blip r:embed="rId2"/>
          <a:stretch>
            <a:fillRect/>
          </a:stretch>
        </p:blipFill>
        <p:spPr>
          <a:xfrm>
            <a:off x="6243115" y="1628801"/>
            <a:ext cx="4391025" cy="2524125"/>
          </a:xfrm>
          <a:prstGeom prst="rect">
            <a:avLst/>
          </a:prstGeom>
        </p:spPr>
      </p:pic>
      <p:pic>
        <p:nvPicPr>
          <p:cNvPr id="5" name="Picture 4"/>
          <p:cNvPicPr>
            <a:picLocks noChangeAspect="1"/>
          </p:cNvPicPr>
          <p:nvPr/>
        </p:nvPicPr>
        <p:blipFill>
          <a:blip r:embed="rId3"/>
          <a:stretch>
            <a:fillRect/>
          </a:stretch>
        </p:blipFill>
        <p:spPr>
          <a:xfrm>
            <a:off x="2279576" y="1700809"/>
            <a:ext cx="3124200" cy="790575"/>
          </a:xfrm>
          <a:prstGeom prst="rect">
            <a:avLst/>
          </a:prstGeom>
        </p:spPr>
      </p:pic>
      <p:pic>
        <p:nvPicPr>
          <p:cNvPr id="6" name="Picture 5"/>
          <p:cNvPicPr>
            <a:picLocks noChangeAspect="1"/>
          </p:cNvPicPr>
          <p:nvPr/>
        </p:nvPicPr>
        <p:blipFill>
          <a:blip r:embed="rId4"/>
          <a:stretch>
            <a:fillRect/>
          </a:stretch>
        </p:blipFill>
        <p:spPr>
          <a:xfrm>
            <a:off x="2207569" y="4005065"/>
            <a:ext cx="5819775" cy="2066925"/>
          </a:xfrm>
          <a:prstGeom prst="rect">
            <a:avLst/>
          </a:prstGeom>
        </p:spPr>
      </p:pic>
    </p:spTree>
    <p:extLst>
      <p:ext uri="{BB962C8B-B14F-4D97-AF65-F5344CB8AC3E}">
        <p14:creationId xmlns:p14="http://schemas.microsoft.com/office/powerpoint/2010/main" val="15213698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Leaky-</a:t>
            </a:r>
            <a:r>
              <a:rPr lang="en-US" dirty="0" err="1" smtClean="0"/>
              <a:t>ReLU</a:t>
            </a:r>
            <a:endParaRPr lang="en-US" dirty="0"/>
          </a:p>
        </p:txBody>
      </p:sp>
      <p:pic>
        <p:nvPicPr>
          <p:cNvPr id="4" name="Content Placeholder 3"/>
          <p:cNvPicPr>
            <a:picLocks noGrp="1" noChangeAspect="1"/>
          </p:cNvPicPr>
          <p:nvPr>
            <p:ph idx="1"/>
          </p:nvPr>
        </p:nvPicPr>
        <p:blipFill>
          <a:blip r:embed="rId2"/>
          <a:stretch>
            <a:fillRect/>
          </a:stretch>
        </p:blipFill>
        <p:spPr>
          <a:xfrm>
            <a:off x="1981200" y="1484784"/>
            <a:ext cx="3619500" cy="647700"/>
          </a:xfrm>
          <a:prstGeom prst="rect">
            <a:avLst/>
          </a:prstGeom>
        </p:spPr>
      </p:pic>
      <p:pic>
        <p:nvPicPr>
          <p:cNvPr id="5" name="Picture 4"/>
          <p:cNvPicPr>
            <a:picLocks noChangeAspect="1"/>
          </p:cNvPicPr>
          <p:nvPr/>
        </p:nvPicPr>
        <p:blipFill>
          <a:blip r:embed="rId3"/>
          <a:stretch>
            <a:fillRect/>
          </a:stretch>
        </p:blipFill>
        <p:spPr>
          <a:xfrm>
            <a:off x="5735960" y="1491873"/>
            <a:ext cx="4827792" cy="2999466"/>
          </a:xfrm>
          <a:prstGeom prst="rect">
            <a:avLst/>
          </a:prstGeom>
        </p:spPr>
      </p:pic>
      <p:pic>
        <p:nvPicPr>
          <p:cNvPr id="6" name="Picture 5"/>
          <p:cNvPicPr>
            <a:picLocks noChangeAspect="1"/>
          </p:cNvPicPr>
          <p:nvPr/>
        </p:nvPicPr>
        <p:blipFill>
          <a:blip r:embed="rId4"/>
          <a:stretch>
            <a:fillRect/>
          </a:stretch>
        </p:blipFill>
        <p:spPr>
          <a:xfrm>
            <a:off x="2135560" y="4725145"/>
            <a:ext cx="2381250" cy="981075"/>
          </a:xfrm>
          <a:prstGeom prst="rect">
            <a:avLst/>
          </a:prstGeom>
        </p:spPr>
      </p:pic>
    </p:spTree>
    <p:extLst>
      <p:ext uri="{BB962C8B-B14F-4D97-AF65-F5344CB8AC3E}">
        <p14:creationId xmlns:p14="http://schemas.microsoft.com/office/powerpoint/2010/main" val="4238669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Softmax</a:t>
            </a:r>
            <a:r>
              <a:rPr lang="en-US" dirty="0" smtClean="0"/>
              <a:t> </a:t>
            </a:r>
            <a:endParaRPr lang="en-US" dirty="0"/>
          </a:p>
        </p:txBody>
      </p:sp>
      <p:sp>
        <p:nvSpPr>
          <p:cNvPr id="5" name="Content Placeholder 4"/>
          <p:cNvSpPr>
            <a:spLocks noGrp="1"/>
          </p:cNvSpPr>
          <p:nvPr>
            <p:ph idx="1"/>
          </p:nvPr>
        </p:nvSpPr>
        <p:spPr>
          <a:xfrm>
            <a:off x="2033464" y="1268761"/>
            <a:ext cx="8229600" cy="4525963"/>
          </a:xfrm>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Observations:</a:t>
            </a:r>
          </a:p>
          <a:p>
            <a:pPr marL="0" indent="0">
              <a:spcBef>
                <a:spcPct val="0"/>
              </a:spcBef>
            </a:pPr>
            <a:r>
              <a:rPr lang="en-IN" altLang="en-US" b="1" dirty="0">
                <a:latin typeface="Arial Narrow" panose="020B0606020202030204" pitchFamily="34" charset="0"/>
                <a:cs typeface="Arial" panose="020B0604020202020204" pitchFamily="34" charset="0"/>
              </a:rPr>
              <a:t>Range bounds:</a:t>
            </a:r>
            <a:r>
              <a:rPr lang="en-IN" altLang="en-US" dirty="0">
                <a:latin typeface="Arial Narrow" panose="020B0606020202030204" pitchFamily="34" charset="0"/>
                <a:cs typeface="Arial" panose="020B0604020202020204" pitchFamily="34" charset="0"/>
              </a:rPr>
              <a:t> All resulting output values are strictly positive numbers between 0 and 1</a:t>
            </a:r>
            <a:r>
              <a:rPr lang="en-IN" altLang="en-US" dirty="0" smtClean="0">
                <a:latin typeface="Arial Narrow" panose="020B0606020202030204" pitchFamily="34" charset="0"/>
                <a:cs typeface="Arial" panose="020B0604020202020204" pitchFamily="34" charset="0"/>
              </a:rPr>
              <a:t>.</a:t>
            </a:r>
            <a:endParaRPr lang="en-IN" altLang="en-US" sz="800" dirty="0">
              <a:latin typeface="Arial Narrow" panose="020B0606020202030204" pitchFamily="34" charset="0"/>
              <a:cs typeface="Arial" panose="020B0604020202020204" pitchFamily="34" charset="0"/>
            </a:endParaRPr>
          </a:p>
          <a:p>
            <a:pPr marL="0" indent="0">
              <a:spcBef>
                <a:spcPct val="0"/>
              </a:spcBef>
            </a:pPr>
            <a:r>
              <a:rPr lang="en-IN" altLang="en-US" b="1" dirty="0">
                <a:latin typeface="Arial Narrow" panose="020B0606020202030204" pitchFamily="34" charset="0"/>
                <a:cs typeface="Arial" panose="020B0604020202020204" pitchFamily="34" charset="0"/>
              </a:rPr>
              <a:t>Probability sum:</a:t>
            </a:r>
            <a:r>
              <a:rPr lang="en-IN" altLang="en-US" dirty="0">
                <a:latin typeface="Arial Narrow" panose="020B0606020202030204" pitchFamily="34" charset="0"/>
                <a:cs typeface="Arial" panose="020B0604020202020204" pitchFamily="34" charset="0"/>
              </a:rPr>
              <a:t> The sum of all class probabilities in the output vector always equals exactly 1.0</a:t>
            </a:r>
            <a:r>
              <a:rPr lang="en-IN" altLang="en-US" dirty="0" smtClean="0">
                <a:latin typeface="Arial Narrow" panose="020B0606020202030204" pitchFamily="34" charset="0"/>
                <a:cs typeface="Arial" panose="020B0604020202020204" pitchFamily="34" charset="0"/>
              </a:rPr>
              <a:t>.</a:t>
            </a:r>
            <a:endParaRPr lang="en-IN" altLang="en-US" sz="4400" dirty="0">
              <a:latin typeface="Arial Narrow" panose="020B0606020202030204" pitchFamily="34" charset="0"/>
              <a:cs typeface="Arial" panose="020B0604020202020204" pitchFamily="34" charset="0"/>
            </a:endParaRPr>
          </a:p>
          <a:p>
            <a:pPr marL="0" indent="0">
              <a:buNone/>
            </a:pPr>
            <a:endParaRPr lang="en-US" dirty="0"/>
          </a:p>
        </p:txBody>
      </p:sp>
      <p:pic>
        <p:nvPicPr>
          <p:cNvPr id="6" name="Picture 5"/>
          <p:cNvPicPr>
            <a:picLocks noChangeAspect="1"/>
          </p:cNvPicPr>
          <p:nvPr/>
        </p:nvPicPr>
        <p:blipFill>
          <a:blip r:embed="rId2"/>
          <a:stretch>
            <a:fillRect/>
          </a:stretch>
        </p:blipFill>
        <p:spPr>
          <a:xfrm>
            <a:off x="2025346" y="1417639"/>
            <a:ext cx="4250166" cy="1644629"/>
          </a:xfrm>
          <a:prstGeom prst="rect">
            <a:avLst/>
          </a:prstGeom>
        </p:spPr>
      </p:pic>
      <p:sp>
        <p:nvSpPr>
          <p:cNvPr id="7" name="Rectangle 1"/>
          <p:cNvSpPr>
            <a:spLocks noChangeArrowheads="1"/>
          </p:cNvSpPr>
          <p:nvPr/>
        </p:nvSpPr>
        <p:spPr bwMode="auto">
          <a:xfrm>
            <a:off x="1703512" y="136140"/>
            <a:ext cx="80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buFontTx/>
              <a:buChar char="•"/>
            </a:pPr>
            <a:endParaRPr lang="en-I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732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 Function</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8993652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494824">
              <a:spcBef>
                <a:spcPts val="91"/>
              </a:spcBef>
            </a:pPr>
            <a:r>
              <a:rPr dirty="0"/>
              <a:t>Loss</a:t>
            </a:r>
            <a:r>
              <a:rPr spc="-59" dirty="0"/>
              <a:t> </a:t>
            </a:r>
            <a:r>
              <a:rPr spc="-9" dirty="0"/>
              <a:t>functions</a:t>
            </a:r>
          </a:p>
        </p:txBody>
      </p:sp>
      <p:pic>
        <p:nvPicPr>
          <p:cNvPr id="3" name="object 3"/>
          <p:cNvPicPr/>
          <p:nvPr/>
        </p:nvPicPr>
        <p:blipFill>
          <a:blip r:embed="rId2" cstate="print"/>
          <a:stretch>
            <a:fillRect/>
          </a:stretch>
        </p:blipFill>
        <p:spPr>
          <a:xfrm>
            <a:off x="3091586" y="1924712"/>
            <a:ext cx="5982353" cy="4074493"/>
          </a:xfrm>
          <a:prstGeom prst="rect">
            <a:avLst/>
          </a:prstGeom>
        </p:spPr>
      </p:pic>
    </p:spTree>
    <p:extLst>
      <p:ext uri="{BB962C8B-B14F-4D97-AF65-F5344CB8AC3E}">
        <p14:creationId xmlns:p14="http://schemas.microsoft.com/office/powerpoint/2010/main" val="1293219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494824">
              <a:spcBef>
                <a:spcPts val="91"/>
              </a:spcBef>
            </a:pPr>
            <a:r>
              <a:rPr dirty="0"/>
              <a:t>Loss</a:t>
            </a:r>
            <a:r>
              <a:rPr spc="-59" dirty="0"/>
              <a:t> </a:t>
            </a:r>
            <a:r>
              <a:rPr spc="-9" dirty="0"/>
              <a:t>functions</a:t>
            </a:r>
          </a:p>
        </p:txBody>
      </p:sp>
      <p:sp>
        <p:nvSpPr>
          <p:cNvPr id="3" name="object 3"/>
          <p:cNvSpPr txBox="1"/>
          <p:nvPr/>
        </p:nvSpPr>
        <p:spPr>
          <a:xfrm>
            <a:off x="1969685" y="1953504"/>
            <a:ext cx="4897913"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How</a:t>
            </a:r>
            <a:r>
              <a:rPr sz="2539" i="1" spc="-63" dirty="0">
                <a:latin typeface="Arial"/>
                <a:cs typeface="Arial"/>
              </a:rPr>
              <a:t> </a:t>
            </a:r>
            <a:r>
              <a:rPr sz="2539" i="1" dirty="0">
                <a:latin typeface="Arial"/>
                <a:cs typeface="Arial"/>
              </a:rPr>
              <a:t>good</a:t>
            </a:r>
            <a:r>
              <a:rPr sz="2539" i="1" spc="-54" dirty="0">
                <a:latin typeface="Arial"/>
                <a:cs typeface="Arial"/>
              </a:rPr>
              <a:t> </a:t>
            </a:r>
            <a:r>
              <a:rPr sz="2539" i="1" dirty="0">
                <a:latin typeface="Arial"/>
                <a:cs typeface="Arial"/>
              </a:rPr>
              <a:t>is</a:t>
            </a:r>
            <a:r>
              <a:rPr sz="2539" i="1" spc="-50" dirty="0">
                <a:latin typeface="Arial"/>
                <a:cs typeface="Arial"/>
              </a:rPr>
              <a:t> </a:t>
            </a:r>
            <a:r>
              <a:rPr sz="2539" i="1" dirty="0">
                <a:latin typeface="Arial"/>
                <a:cs typeface="Arial"/>
              </a:rPr>
              <a:t>your</a:t>
            </a:r>
            <a:r>
              <a:rPr sz="2539" i="1" spc="-45" dirty="0">
                <a:latin typeface="Arial"/>
                <a:cs typeface="Arial"/>
              </a:rPr>
              <a:t> </a:t>
            </a:r>
            <a:r>
              <a:rPr sz="2539" i="1" dirty="0">
                <a:latin typeface="Arial"/>
                <a:cs typeface="Arial"/>
              </a:rPr>
              <a:t>neural</a:t>
            </a:r>
            <a:r>
              <a:rPr sz="2539" i="1" spc="-45" dirty="0">
                <a:latin typeface="Arial"/>
                <a:cs typeface="Arial"/>
              </a:rPr>
              <a:t> </a:t>
            </a:r>
            <a:r>
              <a:rPr sz="2539" i="1" spc="-9" dirty="0">
                <a:latin typeface="Arial"/>
                <a:cs typeface="Arial"/>
              </a:rPr>
              <a:t>network?</a:t>
            </a:r>
            <a:endParaRPr sz="2539">
              <a:latin typeface="Arial"/>
              <a:cs typeface="Arial"/>
            </a:endParaRPr>
          </a:p>
        </p:txBody>
      </p:sp>
      <p:grpSp>
        <p:nvGrpSpPr>
          <p:cNvPr id="4" name="object 4"/>
          <p:cNvGrpSpPr/>
          <p:nvPr/>
        </p:nvGrpSpPr>
        <p:grpSpPr>
          <a:xfrm>
            <a:off x="1981200" y="2783834"/>
            <a:ext cx="946646" cy="392708"/>
            <a:chOff x="504190" y="2123800"/>
            <a:chExt cx="1043940" cy="433070"/>
          </a:xfrm>
        </p:grpSpPr>
        <p:sp>
          <p:nvSpPr>
            <p:cNvPr id="5" name="object 5"/>
            <p:cNvSpPr/>
            <p:nvPr/>
          </p:nvSpPr>
          <p:spPr>
            <a:xfrm>
              <a:off x="504190" y="2123800"/>
              <a:ext cx="1043940" cy="433070"/>
            </a:xfrm>
            <a:custGeom>
              <a:avLst/>
              <a:gdLst/>
              <a:ahLst/>
              <a:cxnLst/>
              <a:rect l="l" t="t" r="r" b="b"/>
              <a:pathLst>
                <a:path w="1043940" h="433069">
                  <a:moveTo>
                    <a:pt x="971550" y="0"/>
                  </a:moveTo>
                  <a:lnTo>
                    <a:pt x="72389" y="0"/>
                  </a:lnTo>
                  <a:lnTo>
                    <a:pt x="45541" y="6310"/>
                  </a:lnTo>
                  <a:lnTo>
                    <a:pt x="22383" y="22860"/>
                  </a:lnTo>
                  <a:lnTo>
                    <a:pt x="6131" y="46077"/>
                  </a:lnTo>
                  <a:lnTo>
                    <a:pt x="0" y="72389"/>
                  </a:lnTo>
                  <a:lnTo>
                    <a:pt x="0" y="360679"/>
                  </a:lnTo>
                  <a:lnTo>
                    <a:pt x="6131" y="386992"/>
                  </a:lnTo>
                  <a:lnTo>
                    <a:pt x="22383" y="410210"/>
                  </a:lnTo>
                  <a:lnTo>
                    <a:pt x="45541" y="426759"/>
                  </a:lnTo>
                  <a:lnTo>
                    <a:pt x="72389" y="433069"/>
                  </a:lnTo>
                  <a:lnTo>
                    <a:pt x="971550" y="433069"/>
                  </a:lnTo>
                  <a:lnTo>
                    <a:pt x="998398" y="426759"/>
                  </a:lnTo>
                  <a:lnTo>
                    <a:pt x="1021556" y="410210"/>
                  </a:lnTo>
                  <a:lnTo>
                    <a:pt x="1037808" y="386992"/>
                  </a:lnTo>
                  <a:lnTo>
                    <a:pt x="1043940" y="360679"/>
                  </a:lnTo>
                  <a:lnTo>
                    <a:pt x="1043940" y="72389"/>
                  </a:lnTo>
                  <a:lnTo>
                    <a:pt x="1037808" y="46077"/>
                  </a:lnTo>
                  <a:lnTo>
                    <a:pt x="1021556" y="22860"/>
                  </a:lnTo>
                  <a:lnTo>
                    <a:pt x="998398" y="6310"/>
                  </a:lnTo>
                  <a:lnTo>
                    <a:pt x="971550" y="0"/>
                  </a:lnTo>
                  <a:close/>
                </a:path>
              </a:pathLst>
            </a:custGeom>
            <a:solidFill>
              <a:srgbClr val="719ECE"/>
            </a:solidFill>
          </p:spPr>
          <p:txBody>
            <a:bodyPr wrap="square" lIns="0" tIns="0" rIns="0" bIns="0" rtlCol="0"/>
            <a:lstStyle/>
            <a:p>
              <a:endParaRPr/>
            </a:p>
          </p:txBody>
        </p:sp>
        <p:sp>
          <p:nvSpPr>
            <p:cNvPr id="6" name="object 6"/>
            <p:cNvSpPr/>
            <p:nvPr/>
          </p:nvSpPr>
          <p:spPr>
            <a:xfrm>
              <a:off x="504190" y="2123800"/>
              <a:ext cx="1043940" cy="433070"/>
            </a:xfrm>
            <a:custGeom>
              <a:avLst/>
              <a:gdLst/>
              <a:ahLst/>
              <a:cxnLst/>
              <a:rect l="l" t="t" r="r" b="b"/>
              <a:pathLst>
                <a:path w="1043940" h="433069">
                  <a:moveTo>
                    <a:pt x="72389" y="0"/>
                  </a:moveTo>
                  <a:lnTo>
                    <a:pt x="45541" y="6310"/>
                  </a:lnTo>
                  <a:lnTo>
                    <a:pt x="22383" y="22859"/>
                  </a:lnTo>
                  <a:lnTo>
                    <a:pt x="6131" y="46077"/>
                  </a:lnTo>
                  <a:lnTo>
                    <a:pt x="0" y="72389"/>
                  </a:lnTo>
                  <a:lnTo>
                    <a:pt x="0" y="360679"/>
                  </a:lnTo>
                  <a:lnTo>
                    <a:pt x="6131" y="386992"/>
                  </a:lnTo>
                  <a:lnTo>
                    <a:pt x="22383" y="410209"/>
                  </a:lnTo>
                  <a:lnTo>
                    <a:pt x="45541" y="426759"/>
                  </a:lnTo>
                  <a:lnTo>
                    <a:pt x="72389" y="433069"/>
                  </a:lnTo>
                  <a:lnTo>
                    <a:pt x="971550" y="433069"/>
                  </a:lnTo>
                  <a:lnTo>
                    <a:pt x="998398" y="426759"/>
                  </a:lnTo>
                  <a:lnTo>
                    <a:pt x="1021556" y="410210"/>
                  </a:lnTo>
                  <a:lnTo>
                    <a:pt x="1037808" y="386992"/>
                  </a:lnTo>
                  <a:lnTo>
                    <a:pt x="1043940" y="360679"/>
                  </a:lnTo>
                  <a:lnTo>
                    <a:pt x="1043940" y="72389"/>
                  </a:lnTo>
                  <a:lnTo>
                    <a:pt x="1037808" y="46077"/>
                  </a:lnTo>
                  <a:lnTo>
                    <a:pt x="1021556" y="22860"/>
                  </a:lnTo>
                  <a:lnTo>
                    <a:pt x="998398" y="6310"/>
                  </a:lnTo>
                  <a:lnTo>
                    <a:pt x="971550" y="0"/>
                  </a:lnTo>
                  <a:lnTo>
                    <a:pt x="72389" y="0"/>
                  </a:lnTo>
                  <a:close/>
                </a:path>
              </a:pathLst>
            </a:custGeom>
            <a:ln w="3175">
              <a:solidFill>
                <a:srgbClr val="3364A3"/>
              </a:solidFill>
            </a:ln>
          </p:spPr>
          <p:txBody>
            <a:bodyPr wrap="square" lIns="0" tIns="0" rIns="0" bIns="0" rtlCol="0"/>
            <a:lstStyle/>
            <a:p>
              <a:endParaRPr/>
            </a:p>
          </p:txBody>
        </p:sp>
      </p:grpSp>
      <p:sp>
        <p:nvSpPr>
          <p:cNvPr id="7" name="object 7"/>
          <p:cNvSpPr txBox="1"/>
          <p:nvPr/>
        </p:nvSpPr>
        <p:spPr>
          <a:xfrm>
            <a:off x="1969684" y="2811472"/>
            <a:ext cx="845302" cy="652958"/>
          </a:xfrm>
          <a:prstGeom prst="rect">
            <a:avLst/>
          </a:prstGeom>
        </p:spPr>
        <p:txBody>
          <a:bodyPr vert="horz" wrap="square" lIns="0" tIns="11516" rIns="0" bIns="0" rtlCol="0">
            <a:spAutoFit/>
          </a:bodyPr>
          <a:lstStyle/>
          <a:p>
            <a:pPr marL="142227">
              <a:spcBef>
                <a:spcPts val="91"/>
              </a:spcBef>
            </a:pPr>
            <a:r>
              <a:rPr sz="1814" b="1" spc="-9" dirty="0">
                <a:latin typeface="Arial"/>
                <a:cs typeface="Arial"/>
              </a:rPr>
              <a:t>Inputs</a:t>
            </a:r>
            <a:endParaRPr sz="1814">
              <a:latin typeface="Arial"/>
              <a:cs typeface="Arial"/>
            </a:endParaRPr>
          </a:p>
          <a:p>
            <a:pPr marL="11516">
              <a:spcBef>
                <a:spcPts val="1260"/>
              </a:spcBef>
            </a:pPr>
            <a:r>
              <a:rPr sz="1270" i="1" spc="-18" dirty="0">
                <a:latin typeface="Arial"/>
                <a:cs typeface="Arial"/>
              </a:rPr>
              <a:t>e.g.</a:t>
            </a:r>
            <a:endParaRPr sz="1270">
              <a:latin typeface="Arial"/>
              <a:cs typeface="Arial"/>
            </a:endParaRPr>
          </a:p>
        </p:txBody>
      </p:sp>
      <p:grpSp>
        <p:nvGrpSpPr>
          <p:cNvPr id="8" name="object 8"/>
          <p:cNvGrpSpPr/>
          <p:nvPr/>
        </p:nvGrpSpPr>
        <p:grpSpPr>
          <a:xfrm>
            <a:off x="1981200" y="4445647"/>
            <a:ext cx="978892" cy="391557"/>
            <a:chOff x="504190" y="3956410"/>
            <a:chExt cx="1079500" cy="431800"/>
          </a:xfrm>
        </p:grpSpPr>
        <p:sp>
          <p:nvSpPr>
            <p:cNvPr id="9" name="object 9"/>
            <p:cNvSpPr/>
            <p:nvPr/>
          </p:nvSpPr>
          <p:spPr>
            <a:xfrm>
              <a:off x="504190" y="3956410"/>
              <a:ext cx="1079500" cy="431800"/>
            </a:xfrm>
            <a:custGeom>
              <a:avLst/>
              <a:gdLst/>
              <a:ahLst/>
              <a:cxnLst/>
              <a:rect l="l" t="t" r="r" b="b"/>
              <a:pathLst>
                <a:path w="1079500" h="431800">
                  <a:moveTo>
                    <a:pt x="1007110" y="0"/>
                  </a:moveTo>
                  <a:lnTo>
                    <a:pt x="72389" y="0"/>
                  </a:lnTo>
                  <a:lnTo>
                    <a:pt x="45541" y="6131"/>
                  </a:lnTo>
                  <a:lnTo>
                    <a:pt x="22383" y="22383"/>
                  </a:lnTo>
                  <a:lnTo>
                    <a:pt x="6131" y="45541"/>
                  </a:lnTo>
                  <a:lnTo>
                    <a:pt x="0" y="72389"/>
                  </a:lnTo>
                  <a:lnTo>
                    <a:pt x="0" y="359409"/>
                  </a:lnTo>
                  <a:lnTo>
                    <a:pt x="6131" y="386258"/>
                  </a:lnTo>
                  <a:lnTo>
                    <a:pt x="22383" y="409416"/>
                  </a:lnTo>
                  <a:lnTo>
                    <a:pt x="45541" y="425668"/>
                  </a:lnTo>
                  <a:lnTo>
                    <a:pt x="72389" y="431799"/>
                  </a:lnTo>
                  <a:lnTo>
                    <a:pt x="1007110" y="431799"/>
                  </a:lnTo>
                  <a:lnTo>
                    <a:pt x="1033958" y="425668"/>
                  </a:lnTo>
                  <a:lnTo>
                    <a:pt x="1057116" y="409416"/>
                  </a:lnTo>
                  <a:lnTo>
                    <a:pt x="1073368" y="386258"/>
                  </a:lnTo>
                  <a:lnTo>
                    <a:pt x="1079500" y="359409"/>
                  </a:lnTo>
                  <a:lnTo>
                    <a:pt x="1079500" y="72389"/>
                  </a:lnTo>
                  <a:lnTo>
                    <a:pt x="1073368" y="45541"/>
                  </a:lnTo>
                  <a:lnTo>
                    <a:pt x="1057116" y="22383"/>
                  </a:lnTo>
                  <a:lnTo>
                    <a:pt x="1033958" y="6131"/>
                  </a:lnTo>
                  <a:lnTo>
                    <a:pt x="1007110" y="0"/>
                  </a:lnTo>
                  <a:close/>
                </a:path>
              </a:pathLst>
            </a:custGeom>
            <a:solidFill>
              <a:srgbClr val="719ECE"/>
            </a:solidFill>
          </p:spPr>
          <p:txBody>
            <a:bodyPr wrap="square" lIns="0" tIns="0" rIns="0" bIns="0" rtlCol="0"/>
            <a:lstStyle/>
            <a:p>
              <a:endParaRPr/>
            </a:p>
          </p:txBody>
        </p:sp>
        <p:sp>
          <p:nvSpPr>
            <p:cNvPr id="10" name="object 10"/>
            <p:cNvSpPr/>
            <p:nvPr/>
          </p:nvSpPr>
          <p:spPr>
            <a:xfrm>
              <a:off x="504190" y="3956410"/>
              <a:ext cx="1079500" cy="431800"/>
            </a:xfrm>
            <a:custGeom>
              <a:avLst/>
              <a:gdLst/>
              <a:ahLst/>
              <a:cxnLst/>
              <a:rect l="l" t="t" r="r" b="b"/>
              <a:pathLst>
                <a:path w="1079500" h="431800">
                  <a:moveTo>
                    <a:pt x="72389" y="0"/>
                  </a:moveTo>
                  <a:lnTo>
                    <a:pt x="45541" y="6131"/>
                  </a:lnTo>
                  <a:lnTo>
                    <a:pt x="22383" y="22383"/>
                  </a:lnTo>
                  <a:lnTo>
                    <a:pt x="6131" y="45541"/>
                  </a:lnTo>
                  <a:lnTo>
                    <a:pt x="0" y="72389"/>
                  </a:lnTo>
                  <a:lnTo>
                    <a:pt x="0" y="359409"/>
                  </a:lnTo>
                  <a:lnTo>
                    <a:pt x="6131" y="386258"/>
                  </a:lnTo>
                  <a:lnTo>
                    <a:pt x="22383" y="409416"/>
                  </a:lnTo>
                  <a:lnTo>
                    <a:pt x="45541" y="425668"/>
                  </a:lnTo>
                  <a:lnTo>
                    <a:pt x="72389" y="431799"/>
                  </a:lnTo>
                  <a:lnTo>
                    <a:pt x="1007110" y="431799"/>
                  </a:lnTo>
                  <a:lnTo>
                    <a:pt x="1033958" y="425668"/>
                  </a:lnTo>
                  <a:lnTo>
                    <a:pt x="1057116" y="409416"/>
                  </a:lnTo>
                  <a:lnTo>
                    <a:pt x="1073368" y="386258"/>
                  </a:lnTo>
                  <a:lnTo>
                    <a:pt x="1079500" y="359409"/>
                  </a:lnTo>
                  <a:lnTo>
                    <a:pt x="1079500" y="72389"/>
                  </a:lnTo>
                  <a:lnTo>
                    <a:pt x="1073368" y="45541"/>
                  </a:lnTo>
                  <a:lnTo>
                    <a:pt x="1057116" y="22383"/>
                  </a:lnTo>
                  <a:lnTo>
                    <a:pt x="1033958" y="6131"/>
                  </a:lnTo>
                  <a:lnTo>
                    <a:pt x="1007110" y="0"/>
                  </a:lnTo>
                  <a:lnTo>
                    <a:pt x="72389" y="0"/>
                  </a:lnTo>
                  <a:close/>
                </a:path>
              </a:pathLst>
            </a:custGeom>
            <a:ln w="3175">
              <a:solidFill>
                <a:srgbClr val="3364A3"/>
              </a:solidFill>
            </a:ln>
          </p:spPr>
          <p:txBody>
            <a:bodyPr wrap="square" lIns="0" tIns="0" rIns="0" bIns="0" rtlCol="0"/>
            <a:lstStyle/>
            <a:p>
              <a:endParaRPr/>
            </a:p>
          </p:txBody>
        </p:sp>
      </p:grpSp>
      <p:sp>
        <p:nvSpPr>
          <p:cNvPr id="11" name="object 11"/>
          <p:cNvSpPr txBox="1"/>
          <p:nvPr/>
        </p:nvSpPr>
        <p:spPr>
          <a:xfrm>
            <a:off x="1969684" y="4472133"/>
            <a:ext cx="938584" cy="652958"/>
          </a:xfrm>
          <a:prstGeom prst="rect">
            <a:avLst/>
          </a:prstGeom>
        </p:spPr>
        <p:txBody>
          <a:bodyPr vert="horz" wrap="square" lIns="0" tIns="11516" rIns="0" bIns="0" rtlCol="0">
            <a:spAutoFit/>
          </a:bodyPr>
          <a:lstStyle/>
          <a:p>
            <a:pPr marL="109405">
              <a:spcBef>
                <a:spcPts val="91"/>
              </a:spcBef>
            </a:pPr>
            <a:r>
              <a:rPr sz="1814" b="1" spc="-18" dirty="0">
                <a:latin typeface="Arial"/>
                <a:cs typeface="Arial"/>
              </a:rPr>
              <a:t>Targets</a:t>
            </a:r>
            <a:endParaRPr sz="1814">
              <a:latin typeface="Arial"/>
              <a:cs typeface="Arial"/>
            </a:endParaRPr>
          </a:p>
          <a:p>
            <a:pPr marL="11516">
              <a:spcBef>
                <a:spcPts val="1260"/>
              </a:spcBef>
            </a:pPr>
            <a:r>
              <a:rPr sz="1270" i="1" spc="-18" dirty="0">
                <a:latin typeface="Arial"/>
                <a:cs typeface="Arial"/>
              </a:rPr>
              <a:t>e.g.</a:t>
            </a:r>
            <a:endParaRPr sz="1270">
              <a:latin typeface="Arial"/>
              <a:cs typeface="Arial"/>
            </a:endParaRPr>
          </a:p>
        </p:txBody>
      </p:sp>
      <p:sp>
        <p:nvSpPr>
          <p:cNvPr id="12" name="object 12"/>
          <p:cNvSpPr txBox="1"/>
          <p:nvPr/>
        </p:nvSpPr>
        <p:spPr>
          <a:xfrm>
            <a:off x="1969684" y="3478270"/>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3" name="object 13"/>
          <p:cNvSpPr txBox="1"/>
          <p:nvPr/>
        </p:nvSpPr>
        <p:spPr>
          <a:xfrm>
            <a:off x="2165463" y="3428752"/>
            <a:ext cx="1478126" cy="574951"/>
          </a:xfrm>
          <a:prstGeom prst="rect">
            <a:avLst/>
          </a:prstGeom>
        </p:spPr>
        <p:txBody>
          <a:bodyPr vert="horz" wrap="square" lIns="0" tIns="23608" rIns="0" bIns="0" rtlCol="0">
            <a:spAutoFit/>
          </a:bodyPr>
          <a:lstStyle/>
          <a:p>
            <a:pPr marL="11516" marR="4607" algn="just">
              <a:lnSpc>
                <a:spcPct val="93700"/>
              </a:lnSpc>
              <a:spcBef>
                <a:spcPts val="185"/>
              </a:spcBef>
            </a:pPr>
            <a:r>
              <a:rPr sz="1270" i="1" dirty="0">
                <a:latin typeface="Arial"/>
                <a:cs typeface="Arial"/>
              </a:rPr>
              <a:t>Image</a:t>
            </a:r>
            <a:r>
              <a:rPr sz="1270" i="1" spc="-5" dirty="0">
                <a:latin typeface="Arial"/>
                <a:cs typeface="Arial"/>
              </a:rPr>
              <a:t> </a:t>
            </a:r>
            <a:r>
              <a:rPr sz="1270" i="1" dirty="0">
                <a:latin typeface="Arial"/>
                <a:cs typeface="Arial"/>
              </a:rPr>
              <a:t>(pixel</a:t>
            </a:r>
            <a:r>
              <a:rPr sz="1270" i="1" spc="-5" dirty="0">
                <a:latin typeface="Arial"/>
                <a:cs typeface="Arial"/>
              </a:rPr>
              <a:t> </a:t>
            </a:r>
            <a:r>
              <a:rPr sz="1270" i="1" spc="-9" dirty="0">
                <a:latin typeface="Arial"/>
                <a:cs typeface="Arial"/>
              </a:rPr>
              <a:t>values) </a:t>
            </a:r>
            <a:r>
              <a:rPr sz="1270" i="1" dirty="0">
                <a:latin typeface="Arial"/>
                <a:cs typeface="Arial"/>
              </a:rPr>
              <a:t>Sentence</a:t>
            </a:r>
            <a:r>
              <a:rPr sz="1270" i="1" spc="-18" dirty="0">
                <a:latin typeface="Arial"/>
                <a:cs typeface="Arial"/>
              </a:rPr>
              <a:t> </a:t>
            </a:r>
            <a:r>
              <a:rPr sz="1270" i="1" spc="-9" dirty="0">
                <a:latin typeface="Arial"/>
                <a:cs typeface="Arial"/>
              </a:rPr>
              <a:t>(encoded) </a:t>
            </a:r>
            <a:r>
              <a:rPr sz="1270" i="1" dirty="0">
                <a:latin typeface="Arial"/>
                <a:cs typeface="Arial"/>
              </a:rPr>
              <a:t>State (for </a:t>
            </a:r>
            <a:r>
              <a:rPr sz="1270" i="1" spc="-23" dirty="0">
                <a:latin typeface="Arial"/>
                <a:cs typeface="Arial"/>
              </a:rPr>
              <a:t>RL)</a:t>
            </a:r>
            <a:endParaRPr sz="1270">
              <a:latin typeface="Arial"/>
              <a:cs typeface="Arial"/>
            </a:endParaRPr>
          </a:p>
        </p:txBody>
      </p:sp>
      <p:sp>
        <p:nvSpPr>
          <p:cNvPr id="14" name="object 14"/>
          <p:cNvSpPr txBox="1"/>
          <p:nvPr/>
        </p:nvSpPr>
        <p:spPr>
          <a:xfrm>
            <a:off x="1969684" y="365907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5" name="object 15"/>
          <p:cNvSpPr txBox="1"/>
          <p:nvPr/>
        </p:nvSpPr>
        <p:spPr>
          <a:xfrm>
            <a:off x="1969684" y="3841037"/>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6" name="object 16"/>
          <p:cNvSpPr txBox="1"/>
          <p:nvPr/>
        </p:nvSpPr>
        <p:spPr>
          <a:xfrm>
            <a:off x="1969684" y="5138931"/>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7" name="object 17"/>
          <p:cNvSpPr txBox="1"/>
          <p:nvPr/>
        </p:nvSpPr>
        <p:spPr>
          <a:xfrm>
            <a:off x="2165462" y="5090564"/>
            <a:ext cx="1523616" cy="566518"/>
          </a:xfrm>
          <a:prstGeom prst="rect">
            <a:avLst/>
          </a:prstGeom>
        </p:spPr>
        <p:txBody>
          <a:bodyPr vert="horz" wrap="square" lIns="0" tIns="27639" rIns="0" bIns="0" rtlCol="0">
            <a:spAutoFit/>
          </a:bodyPr>
          <a:lstStyle/>
          <a:p>
            <a:pPr marL="11516" marR="4607" algn="just">
              <a:lnSpc>
                <a:spcPts val="1424"/>
              </a:lnSpc>
              <a:spcBef>
                <a:spcPts val="218"/>
              </a:spcBef>
            </a:pPr>
            <a:r>
              <a:rPr sz="1270" i="1" spc="-9" dirty="0">
                <a:latin typeface="Arial"/>
                <a:cs typeface="Arial"/>
              </a:rPr>
              <a:t>‘Cat’/’Dog’</a:t>
            </a:r>
            <a:r>
              <a:rPr sz="1270" i="1" spc="-5" dirty="0">
                <a:latin typeface="Arial"/>
                <a:cs typeface="Arial"/>
              </a:rPr>
              <a:t> </a:t>
            </a:r>
            <a:r>
              <a:rPr sz="1270" i="1" spc="-9" dirty="0">
                <a:latin typeface="Arial"/>
                <a:cs typeface="Arial"/>
              </a:rPr>
              <a:t>(encoded) </a:t>
            </a:r>
            <a:r>
              <a:rPr sz="1270" i="1" dirty="0">
                <a:latin typeface="Arial"/>
                <a:cs typeface="Arial"/>
              </a:rPr>
              <a:t>Next</a:t>
            </a:r>
            <a:r>
              <a:rPr sz="1270" i="1" spc="-5" dirty="0">
                <a:latin typeface="Arial"/>
                <a:cs typeface="Arial"/>
              </a:rPr>
              <a:t> </a:t>
            </a:r>
            <a:r>
              <a:rPr sz="1270" i="1" dirty="0">
                <a:latin typeface="Arial"/>
                <a:cs typeface="Arial"/>
              </a:rPr>
              <a:t>word</a:t>
            </a:r>
            <a:r>
              <a:rPr sz="1270" i="1" spc="-9" dirty="0">
                <a:latin typeface="Arial"/>
                <a:cs typeface="Arial"/>
              </a:rPr>
              <a:t> (encoded) </a:t>
            </a:r>
            <a:r>
              <a:rPr sz="1270" i="1" dirty="0">
                <a:latin typeface="Arial"/>
                <a:cs typeface="Arial"/>
              </a:rPr>
              <a:t>TD(0) (for</a:t>
            </a:r>
            <a:r>
              <a:rPr sz="1270" i="1" spc="-14" dirty="0">
                <a:latin typeface="Arial"/>
                <a:cs typeface="Arial"/>
              </a:rPr>
              <a:t> </a:t>
            </a:r>
            <a:r>
              <a:rPr sz="1270" i="1" spc="-23" dirty="0">
                <a:latin typeface="Arial"/>
                <a:cs typeface="Arial"/>
              </a:rPr>
              <a:t>RL)</a:t>
            </a:r>
            <a:endParaRPr sz="1270">
              <a:latin typeface="Arial"/>
              <a:cs typeface="Arial"/>
            </a:endParaRPr>
          </a:p>
        </p:txBody>
      </p:sp>
      <p:sp>
        <p:nvSpPr>
          <p:cNvPr id="18" name="object 18"/>
          <p:cNvSpPr txBox="1"/>
          <p:nvPr/>
        </p:nvSpPr>
        <p:spPr>
          <a:xfrm>
            <a:off x="1969684" y="5320891"/>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9" name="object 19"/>
          <p:cNvSpPr txBox="1"/>
          <p:nvPr/>
        </p:nvSpPr>
        <p:spPr>
          <a:xfrm>
            <a:off x="1969684" y="5501697"/>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20" name="object 20"/>
          <p:cNvSpPr/>
          <p:nvPr/>
        </p:nvSpPr>
        <p:spPr>
          <a:xfrm>
            <a:off x="3940135" y="2653698"/>
            <a:ext cx="0" cy="3003470"/>
          </a:xfrm>
          <a:custGeom>
            <a:avLst/>
            <a:gdLst/>
            <a:ahLst/>
            <a:cxnLst/>
            <a:rect l="l" t="t" r="r" b="b"/>
            <a:pathLst>
              <a:path h="3312160">
                <a:moveTo>
                  <a:pt x="0" y="0"/>
                </a:moveTo>
                <a:lnTo>
                  <a:pt x="0" y="3312160"/>
                </a:lnTo>
              </a:path>
            </a:pathLst>
          </a:custGeom>
          <a:ln w="3175">
            <a:solidFill>
              <a:srgbClr val="000000"/>
            </a:solidFill>
          </a:ln>
        </p:spPr>
        <p:txBody>
          <a:bodyPr wrap="square" lIns="0" tIns="0" rIns="0" bIns="0" rtlCol="0"/>
          <a:lstStyle/>
          <a:p>
            <a:endParaRPr/>
          </a:p>
        </p:txBody>
      </p:sp>
      <p:grpSp>
        <p:nvGrpSpPr>
          <p:cNvPr id="21" name="object 21"/>
          <p:cNvGrpSpPr/>
          <p:nvPr/>
        </p:nvGrpSpPr>
        <p:grpSpPr>
          <a:xfrm>
            <a:off x="5197551" y="2814928"/>
            <a:ext cx="2440895" cy="1566227"/>
            <a:chOff x="4051109" y="2158089"/>
            <a:chExt cx="2691765" cy="1727200"/>
          </a:xfrm>
        </p:grpSpPr>
        <p:pic>
          <p:nvPicPr>
            <p:cNvPr id="22" name="object 22"/>
            <p:cNvPicPr/>
            <p:nvPr/>
          </p:nvPicPr>
          <p:blipFill>
            <a:blip r:embed="rId2" cstate="print"/>
            <a:stretch>
              <a:fillRect/>
            </a:stretch>
          </p:blipFill>
          <p:spPr>
            <a:xfrm>
              <a:off x="4334509" y="2158089"/>
              <a:ext cx="2127250" cy="1727200"/>
            </a:xfrm>
            <a:prstGeom prst="rect">
              <a:avLst/>
            </a:prstGeom>
          </p:spPr>
        </p:pic>
        <p:sp>
          <p:nvSpPr>
            <p:cNvPr id="23" name="object 23"/>
            <p:cNvSpPr/>
            <p:nvPr/>
          </p:nvSpPr>
          <p:spPr>
            <a:xfrm>
              <a:off x="4069079" y="2414629"/>
              <a:ext cx="205740" cy="1238250"/>
            </a:xfrm>
            <a:custGeom>
              <a:avLst/>
              <a:gdLst/>
              <a:ahLst/>
              <a:cxnLst/>
              <a:rect l="l" t="t" r="r" b="b"/>
              <a:pathLst>
                <a:path w="205739" h="1238250">
                  <a:moveTo>
                    <a:pt x="205740" y="0"/>
                  </a:moveTo>
                  <a:lnTo>
                    <a:pt x="168235" y="8949"/>
                  </a:lnTo>
                  <a:lnTo>
                    <a:pt x="135255" y="32543"/>
                  </a:lnTo>
                  <a:lnTo>
                    <a:pt x="111799" y="65901"/>
                  </a:lnTo>
                  <a:lnTo>
                    <a:pt x="102870" y="104140"/>
                  </a:lnTo>
                  <a:lnTo>
                    <a:pt x="102870" y="515620"/>
                  </a:lnTo>
                  <a:lnTo>
                    <a:pt x="93940" y="553858"/>
                  </a:lnTo>
                  <a:lnTo>
                    <a:pt x="70485" y="587216"/>
                  </a:lnTo>
                  <a:lnTo>
                    <a:pt x="37504" y="610810"/>
                  </a:lnTo>
                  <a:lnTo>
                    <a:pt x="0" y="619760"/>
                  </a:lnTo>
                  <a:lnTo>
                    <a:pt x="37504" y="628511"/>
                  </a:lnTo>
                  <a:lnTo>
                    <a:pt x="70485" y="651668"/>
                  </a:lnTo>
                  <a:lnTo>
                    <a:pt x="93940" y="684589"/>
                  </a:lnTo>
                  <a:lnTo>
                    <a:pt x="102870" y="722630"/>
                  </a:lnTo>
                  <a:lnTo>
                    <a:pt x="102870" y="1135380"/>
                  </a:lnTo>
                  <a:lnTo>
                    <a:pt x="111799" y="1172884"/>
                  </a:lnTo>
                  <a:lnTo>
                    <a:pt x="135255" y="1205865"/>
                  </a:lnTo>
                  <a:lnTo>
                    <a:pt x="168235" y="1229320"/>
                  </a:lnTo>
                  <a:lnTo>
                    <a:pt x="205740" y="1238250"/>
                  </a:lnTo>
                </a:path>
              </a:pathLst>
            </a:custGeom>
            <a:ln w="35940">
              <a:solidFill>
                <a:srgbClr val="3364A3"/>
              </a:solidFill>
            </a:ln>
          </p:spPr>
          <p:txBody>
            <a:bodyPr wrap="square" lIns="0" tIns="0" rIns="0" bIns="0" rtlCol="0"/>
            <a:lstStyle/>
            <a:p>
              <a:endParaRPr/>
            </a:p>
          </p:txBody>
        </p:sp>
        <p:sp>
          <p:nvSpPr>
            <p:cNvPr id="24" name="object 24"/>
            <p:cNvSpPr/>
            <p:nvPr/>
          </p:nvSpPr>
          <p:spPr>
            <a:xfrm>
              <a:off x="4051096" y="2396659"/>
              <a:ext cx="241935" cy="1274445"/>
            </a:xfrm>
            <a:custGeom>
              <a:avLst/>
              <a:gdLst/>
              <a:ahLst/>
              <a:cxnLst/>
              <a:rect l="l" t="t" r="r" b="b"/>
              <a:pathLst>
                <a:path w="241935"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1935" h="1274445">
                  <a:moveTo>
                    <a:pt x="241693" y="1256220"/>
                  </a:moveTo>
                  <a:lnTo>
                    <a:pt x="236423" y="1243520"/>
                  </a:lnTo>
                  <a:lnTo>
                    <a:pt x="223723" y="1238250"/>
                  </a:lnTo>
                  <a:lnTo>
                    <a:pt x="211010" y="1243520"/>
                  </a:lnTo>
                  <a:lnTo>
                    <a:pt x="205752" y="1256220"/>
                  </a:lnTo>
                  <a:lnTo>
                    <a:pt x="211010" y="1268933"/>
                  </a:lnTo>
                  <a:lnTo>
                    <a:pt x="223723" y="1274191"/>
                  </a:lnTo>
                  <a:lnTo>
                    <a:pt x="236423" y="1268933"/>
                  </a:lnTo>
                  <a:lnTo>
                    <a:pt x="241693" y="1256220"/>
                  </a:lnTo>
                  <a:close/>
                </a:path>
              </a:pathLst>
            </a:custGeom>
            <a:solidFill>
              <a:srgbClr val="3364A3"/>
            </a:solidFill>
          </p:spPr>
          <p:txBody>
            <a:bodyPr wrap="square" lIns="0" tIns="0" rIns="0" bIns="0" rtlCol="0"/>
            <a:lstStyle/>
            <a:p>
              <a:endParaRPr/>
            </a:p>
          </p:txBody>
        </p:sp>
        <p:sp>
          <p:nvSpPr>
            <p:cNvPr id="25" name="object 25"/>
            <p:cNvSpPr/>
            <p:nvPr/>
          </p:nvSpPr>
          <p:spPr>
            <a:xfrm>
              <a:off x="6517639" y="2647039"/>
              <a:ext cx="207010" cy="1031240"/>
            </a:xfrm>
            <a:custGeom>
              <a:avLst/>
              <a:gdLst/>
              <a:ahLst/>
              <a:cxnLst/>
              <a:rect l="l" t="t" r="r" b="b"/>
              <a:pathLst>
                <a:path w="207009" h="1031239">
                  <a:moveTo>
                    <a:pt x="0" y="0"/>
                  </a:moveTo>
                  <a:lnTo>
                    <a:pt x="38040" y="7421"/>
                  </a:lnTo>
                  <a:lnTo>
                    <a:pt x="70961" y="26987"/>
                  </a:lnTo>
                  <a:lnTo>
                    <a:pt x="94118" y="54649"/>
                  </a:lnTo>
                  <a:lnTo>
                    <a:pt x="102869" y="86360"/>
                  </a:lnTo>
                  <a:lnTo>
                    <a:pt x="102869" y="429260"/>
                  </a:lnTo>
                  <a:lnTo>
                    <a:pt x="111819" y="461506"/>
                  </a:lnTo>
                  <a:lnTo>
                    <a:pt x="135413" y="489108"/>
                  </a:lnTo>
                  <a:lnTo>
                    <a:pt x="168771" y="508377"/>
                  </a:lnTo>
                  <a:lnTo>
                    <a:pt x="207009" y="515619"/>
                  </a:lnTo>
                  <a:lnTo>
                    <a:pt x="168771" y="523041"/>
                  </a:lnTo>
                  <a:lnTo>
                    <a:pt x="135413" y="542607"/>
                  </a:lnTo>
                  <a:lnTo>
                    <a:pt x="111819" y="570269"/>
                  </a:lnTo>
                  <a:lnTo>
                    <a:pt x="102869" y="601980"/>
                  </a:lnTo>
                  <a:lnTo>
                    <a:pt x="102869" y="946150"/>
                  </a:lnTo>
                  <a:lnTo>
                    <a:pt x="94118" y="977126"/>
                  </a:lnTo>
                  <a:lnTo>
                    <a:pt x="70961" y="1004411"/>
                  </a:lnTo>
                  <a:lnTo>
                    <a:pt x="38040" y="1023838"/>
                  </a:lnTo>
                  <a:lnTo>
                    <a:pt x="0" y="1031239"/>
                  </a:lnTo>
                </a:path>
              </a:pathLst>
            </a:custGeom>
            <a:ln w="35941">
              <a:solidFill>
                <a:srgbClr val="3364A3"/>
              </a:solidFill>
            </a:ln>
          </p:spPr>
          <p:txBody>
            <a:bodyPr wrap="square" lIns="0" tIns="0" rIns="0" bIns="0" rtlCol="0"/>
            <a:lstStyle/>
            <a:p>
              <a:endParaRPr/>
            </a:p>
          </p:txBody>
        </p:sp>
        <p:sp>
          <p:nvSpPr>
            <p:cNvPr id="26" name="object 26"/>
            <p:cNvSpPr/>
            <p:nvPr/>
          </p:nvSpPr>
          <p:spPr>
            <a:xfrm>
              <a:off x="6499669" y="2629069"/>
              <a:ext cx="243204" cy="1067435"/>
            </a:xfrm>
            <a:custGeom>
              <a:avLst/>
              <a:gdLst/>
              <a:ahLst/>
              <a:cxnLst/>
              <a:rect l="l" t="t" r="r" b="b"/>
              <a:pathLst>
                <a:path w="243204" h="1067435">
                  <a:moveTo>
                    <a:pt x="35941" y="1049210"/>
                  </a:moveTo>
                  <a:lnTo>
                    <a:pt x="30670" y="1036510"/>
                  </a:lnTo>
                  <a:lnTo>
                    <a:pt x="17970" y="1031240"/>
                  </a:lnTo>
                  <a:lnTo>
                    <a:pt x="5257" y="1036510"/>
                  </a:lnTo>
                  <a:lnTo>
                    <a:pt x="0" y="1049210"/>
                  </a:lnTo>
                  <a:lnTo>
                    <a:pt x="5257" y="1061923"/>
                  </a:lnTo>
                  <a:lnTo>
                    <a:pt x="17970" y="1067181"/>
                  </a:lnTo>
                  <a:lnTo>
                    <a:pt x="30670" y="1061923"/>
                  </a:lnTo>
                  <a:lnTo>
                    <a:pt x="35941" y="1049210"/>
                  </a:lnTo>
                  <a:close/>
                </a:path>
                <a:path w="243204" h="106743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grpSp>
      <p:grpSp>
        <p:nvGrpSpPr>
          <p:cNvPr id="27" name="object 27"/>
          <p:cNvGrpSpPr/>
          <p:nvPr/>
        </p:nvGrpSpPr>
        <p:grpSpPr>
          <a:xfrm>
            <a:off x="4168159" y="3405719"/>
            <a:ext cx="946646" cy="391557"/>
            <a:chOff x="2915920" y="2809600"/>
            <a:chExt cx="1043940" cy="431800"/>
          </a:xfrm>
        </p:grpSpPr>
        <p:sp>
          <p:nvSpPr>
            <p:cNvPr id="28" name="object 28"/>
            <p:cNvSpPr/>
            <p:nvPr/>
          </p:nvSpPr>
          <p:spPr>
            <a:xfrm>
              <a:off x="2915920" y="2809600"/>
              <a:ext cx="1043940" cy="431800"/>
            </a:xfrm>
            <a:custGeom>
              <a:avLst/>
              <a:gdLst/>
              <a:ahLst/>
              <a:cxnLst/>
              <a:rect l="l" t="t" r="r" b="b"/>
              <a:pathLst>
                <a:path w="1043939" h="431800">
                  <a:moveTo>
                    <a:pt x="971550" y="0"/>
                  </a:moveTo>
                  <a:lnTo>
                    <a:pt x="72390" y="0"/>
                  </a:lnTo>
                  <a:lnTo>
                    <a:pt x="45541" y="6131"/>
                  </a:lnTo>
                  <a:lnTo>
                    <a:pt x="22383" y="22383"/>
                  </a:lnTo>
                  <a:lnTo>
                    <a:pt x="6131" y="45541"/>
                  </a:lnTo>
                  <a:lnTo>
                    <a:pt x="0" y="72389"/>
                  </a:lnTo>
                  <a:lnTo>
                    <a:pt x="0" y="359409"/>
                  </a:lnTo>
                  <a:lnTo>
                    <a:pt x="6131" y="386258"/>
                  </a:lnTo>
                  <a:lnTo>
                    <a:pt x="22383" y="409416"/>
                  </a:lnTo>
                  <a:lnTo>
                    <a:pt x="45541" y="425668"/>
                  </a:lnTo>
                  <a:lnTo>
                    <a:pt x="72390" y="431800"/>
                  </a:lnTo>
                  <a:lnTo>
                    <a:pt x="971550" y="431800"/>
                  </a:lnTo>
                  <a:lnTo>
                    <a:pt x="998398" y="425668"/>
                  </a:lnTo>
                  <a:lnTo>
                    <a:pt x="1021556" y="409416"/>
                  </a:lnTo>
                  <a:lnTo>
                    <a:pt x="1037808" y="386258"/>
                  </a:lnTo>
                  <a:lnTo>
                    <a:pt x="1043940" y="359409"/>
                  </a:lnTo>
                  <a:lnTo>
                    <a:pt x="1043940" y="72389"/>
                  </a:lnTo>
                  <a:lnTo>
                    <a:pt x="1037808" y="45541"/>
                  </a:lnTo>
                  <a:lnTo>
                    <a:pt x="1021556" y="22383"/>
                  </a:lnTo>
                  <a:lnTo>
                    <a:pt x="998398" y="6131"/>
                  </a:lnTo>
                  <a:lnTo>
                    <a:pt x="971550" y="0"/>
                  </a:lnTo>
                  <a:close/>
                </a:path>
              </a:pathLst>
            </a:custGeom>
            <a:solidFill>
              <a:srgbClr val="719ECE"/>
            </a:solidFill>
          </p:spPr>
          <p:txBody>
            <a:bodyPr wrap="square" lIns="0" tIns="0" rIns="0" bIns="0" rtlCol="0"/>
            <a:lstStyle/>
            <a:p>
              <a:endParaRPr/>
            </a:p>
          </p:txBody>
        </p:sp>
        <p:sp>
          <p:nvSpPr>
            <p:cNvPr id="29" name="object 29"/>
            <p:cNvSpPr/>
            <p:nvPr/>
          </p:nvSpPr>
          <p:spPr>
            <a:xfrm>
              <a:off x="2915920" y="2809600"/>
              <a:ext cx="1043940" cy="431800"/>
            </a:xfrm>
            <a:custGeom>
              <a:avLst/>
              <a:gdLst/>
              <a:ahLst/>
              <a:cxnLst/>
              <a:rect l="l" t="t" r="r" b="b"/>
              <a:pathLst>
                <a:path w="1043939" h="431800">
                  <a:moveTo>
                    <a:pt x="72390" y="0"/>
                  </a:moveTo>
                  <a:lnTo>
                    <a:pt x="45541" y="6131"/>
                  </a:lnTo>
                  <a:lnTo>
                    <a:pt x="22383" y="22383"/>
                  </a:lnTo>
                  <a:lnTo>
                    <a:pt x="6131" y="45541"/>
                  </a:lnTo>
                  <a:lnTo>
                    <a:pt x="0" y="72389"/>
                  </a:lnTo>
                  <a:lnTo>
                    <a:pt x="0" y="359409"/>
                  </a:lnTo>
                  <a:lnTo>
                    <a:pt x="6131" y="386258"/>
                  </a:lnTo>
                  <a:lnTo>
                    <a:pt x="22383" y="409416"/>
                  </a:lnTo>
                  <a:lnTo>
                    <a:pt x="45541" y="425668"/>
                  </a:lnTo>
                  <a:lnTo>
                    <a:pt x="72390" y="431800"/>
                  </a:lnTo>
                  <a:lnTo>
                    <a:pt x="971550" y="431800"/>
                  </a:lnTo>
                  <a:lnTo>
                    <a:pt x="998398" y="425668"/>
                  </a:lnTo>
                  <a:lnTo>
                    <a:pt x="1021556" y="409416"/>
                  </a:lnTo>
                  <a:lnTo>
                    <a:pt x="1037808" y="386258"/>
                  </a:lnTo>
                  <a:lnTo>
                    <a:pt x="1043940" y="359409"/>
                  </a:lnTo>
                  <a:lnTo>
                    <a:pt x="1043940" y="72389"/>
                  </a:lnTo>
                  <a:lnTo>
                    <a:pt x="1037808" y="45541"/>
                  </a:lnTo>
                  <a:lnTo>
                    <a:pt x="1021556" y="22383"/>
                  </a:lnTo>
                  <a:lnTo>
                    <a:pt x="998398" y="6131"/>
                  </a:lnTo>
                  <a:lnTo>
                    <a:pt x="971550" y="0"/>
                  </a:lnTo>
                  <a:lnTo>
                    <a:pt x="72390" y="0"/>
                  </a:lnTo>
                  <a:close/>
                </a:path>
              </a:pathLst>
            </a:custGeom>
            <a:ln w="3175">
              <a:solidFill>
                <a:srgbClr val="3364A3"/>
              </a:solidFill>
            </a:ln>
          </p:spPr>
          <p:txBody>
            <a:bodyPr wrap="square" lIns="0" tIns="0" rIns="0" bIns="0" rtlCol="0"/>
            <a:lstStyle/>
            <a:p>
              <a:endParaRPr/>
            </a:p>
          </p:txBody>
        </p:sp>
      </p:grpSp>
      <p:sp>
        <p:nvSpPr>
          <p:cNvPr id="30" name="object 30"/>
          <p:cNvSpPr txBox="1"/>
          <p:nvPr/>
        </p:nvSpPr>
        <p:spPr>
          <a:xfrm>
            <a:off x="4287931" y="3432207"/>
            <a:ext cx="714015"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Inputs</a:t>
            </a:r>
            <a:endParaRPr sz="1814">
              <a:latin typeface="Arial"/>
              <a:cs typeface="Arial"/>
            </a:endParaRPr>
          </a:p>
        </p:txBody>
      </p:sp>
      <p:sp>
        <p:nvSpPr>
          <p:cNvPr id="31" name="object 31"/>
          <p:cNvSpPr txBox="1"/>
          <p:nvPr/>
        </p:nvSpPr>
        <p:spPr>
          <a:xfrm>
            <a:off x="7681806" y="3566948"/>
            <a:ext cx="908065"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Outputs</a:t>
            </a:r>
            <a:endParaRPr sz="1814">
              <a:latin typeface="Arial"/>
              <a:cs typeface="Arial"/>
            </a:endParaRPr>
          </a:p>
        </p:txBody>
      </p:sp>
      <p:grpSp>
        <p:nvGrpSpPr>
          <p:cNvPr id="32" name="object 32"/>
          <p:cNvGrpSpPr/>
          <p:nvPr/>
        </p:nvGrpSpPr>
        <p:grpSpPr>
          <a:xfrm>
            <a:off x="7661075" y="4644879"/>
            <a:ext cx="978892" cy="392708"/>
            <a:chOff x="6767830" y="4176119"/>
            <a:chExt cx="1079500" cy="433070"/>
          </a:xfrm>
        </p:grpSpPr>
        <p:sp>
          <p:nvSpPr>
            <p:cNvPr id="33" name="object 33"/>
            <p:cNvSpPr/>
            <p:nvPr/>
          </p:nvSpPr>
          <p:spPr>
            <a:xfrm>
              <a:off x="6767830" y="4176119"/>
              <a:ext cx="1079500" cy="433070"/>
            </a:xfrm>
            <a:custGeom>
              <a:avLst/>
              <a:gdLst/>
              <a:ahLst/>
              <a:cxnLst/>
              <a:rect l="l" t="t" r="r" b="b"/>
              <a:pathLst>
                <a:path w="1079500" h="433070">
                  <a:moveTo>
                    <a:pt x="1007110" y="0"/>
                  </a:moveTo>
                  <a:lnTo>
                    <a:pt x="72390" y="0"/>
                  </a:lnTo>
                  <a:lnTo>
                    <a:pt x="45541" y="6310"/>
                  </a:lnTo>
                  <a:lnTo>
                    <a:pt x="22383" y="22860"/>
                  </a:lnTo>
                  <a:lnTo>
                    <a:pt x="6131" y="46077"/>
                  </a:lnTo>
                  <a:lnTo>
                    <a:pt x="0" y="72390"/>
                  </a:lnTo>
                  <a:lnTo>
                    <a:pt x="0" y="360680"/>
                  </a:lnTo>
                  <a:lnTo>
                    <a:pt x="6131" y="386992"/>
                  </a:lnTo>
                  <a:lnTo>
                    <a:pt x="22383" y="410210"/>
                  </a:lnTo>
                  <a:lnTo>
                    <a:pt x="45541" y="426759"/>
                  </a:lnTo>
                  <a:lnTo>
                    <a:pt x="72390" y="433070"/>
                  </a:lnTo>
                  <a:lnTo>
                    <a:pt x="1007110" y="433070"/>
                  </a:lnTo>
                  <a:lnTo>
                    <a:pt x="1033958" y="426759"/>
                  </a:lnTo>
                  <a:lnTo>
                    <a:pt x="1057116" y="410210"/>
                  </a:lnTo>
                  <a:lnTo>
                    <a:pt x="1073368" y="386992"/>
                  </a:lnTo>
                  <a:lnTo>
                    <a:pt x="1079500" y="360680"/>
                  </a:lnTo>
                  <a:lnTo>
                    <a:pt x="1079500" y="72390"/>
                  </a:lnTo>
                  <a:lnTo>
                    <a:pt x="1073368" y="46077"/>
                  </a:lnTo>
                  <a:lnTo>
                    <a:pt x="1057116" y="22860"/>
                  </a:lnTo>
                  <a:lnTo>
                    <a:pt x="1033958" y="6310"/>
                  </a:lnTo>
                  <a:lnTo>
                    <a:pt x="1007110" y="0"/>
                  </a:lnTo>
                  <a:close/>
                </a:path>
              </a:pathLst>
            </a:custGeom>
            <a:solidFill>
              <a:srgbClr val="719ECE"/>
            </a:solidFill>
          </p:spPr>
          <p:txBody>
            <a:bodyPr wrap="square" lIns="0" tIns="0" rIns="0" bIns="0" rtlCol="0"/>
            <a:lstStyle/>
            <a:p>
              <a:endParaRPr/>
            </a:p>
          </p:txBody>
        </p:sp>
        <p:sp>
          <p:nvSpPr>
            <p:cNvPr id="34" name="object 34"/>
            <p:cNvSpPr/>
            <p:nvPr/>
          </p:nvSpPr>
          <p:spPr>
            <a:xfrm>
              <a:off x="6767830" y="4176119"/>
              <a:ext cx="1079500" cy="433070"/>
            </a:xfrm>
            <a:custGeom>
              <a:avLst/>
              <a:gdLst/>
              <a:ahLst/>
              <a:cxnLst/>
              <a:rect l="l" t="t" r="r" b="b"/>
              <a:pathLst>
                <a:path w="1079500" h="433070">
                  <a:moveTo>
                    <a:pt x="72390" y="0"/>
                  </a:moveTo>
                  <a:lnTo>
                    <a:pt x="45541" y="6310"/>
                  </a:lnTo>
                  <a:lnTo>
                    <a:pt x="22383" y="22860"/>
                  </a:lnTo>
                  <a:lnTo>
                    <a:pt x="6131" y="46077"/>
                  </a:lnTo>
                  <a:lnTo>
                    <a:pt x="0" y="72390"/>
                  </a:lnTo>
                  <a:lnTo>
                    <a:pt x="0" y="360680"/>
                  </a:lnTo>
                  <a:lnTo>
                    <a:pt x="6131" y="386992"/>
                  </a:lnTo>
                  <a:lnTo>
                    <a:pt x="22383" y="410210"/>
                  </a:lnTo>
                  <a:lnTo>
                    <a:pt x="45541" y="426759"/>
                  </a:lnTo>
                  <a:lnTo>
                    <a:pt x="72390" y="433070"/>
                  </a:lnTo>
                  <a:lnTo>
                    <a:pt x="1007110" y="433070"/>
                  </a:lnTo>
                  <a:lnTo>
                    <a:pt x="1033958" y="426759"/>
                  </a:lnTo>
                  <a:lnTo>
                    <a:pt x="1057116" y="410210"/>
                  </a:lnTo>
                  <a:lnTo>
                    <a:pt x="1073368" y="386992"/>
                  </a:lnTo>
                  <a:lnTo>
                    <a:pt x="1079500" y="360680"/>
                  </a:lnTo>
                  <a:lnTo>
                    <a:pt x="1079500" y="72390"/>
                  </a:lnTo>
                  <a:lnTo>
                    <a:pt x="1073368" y="46077"/>
                  </a:lnTo>
                  <a:lnTo>
                    <a:pt x="1057116" y="22860"/>
                  </a:lnTo>
                  <a:lnTo>
                    <a:pt x="1033958" y="6310"/>
                  </a:lnTo>
                  <a:lnTo>
                    <a:pt x="1007110" y="0"/>
                  </a:lnTo>
                  <a:lnTo>
                    <a:pt x="72390" y="0"/>
                  </a:lnTo>
                  <a:close/>
                </a:path>
              </a:pathLst>
            </a:custGeom>
            <a:ln w="3175">
              <a:solidFill>
                <a:srgbClr val="3364A3"/>
              </a:solidFill>
            </a:ln>
          </p:spPr>
          <p:txBody>
            <a:bodyPr wrap="square" lIns="0" tIns="0" rIns="0" bIns="0" rtlCol="0"/>
            <a:lstStyle/>
            <a:p>
              <a:endParaRPr/>
            </a:p>
          </p:txBody>
        </p:sp>
      </p:grpSp>
      <p:sp>
        <p:nvSpPr>
          <p:cNvPr id="35" name="object 35"/>
          <p:cNvSpPr txBox="1"/>
          <p:nvPr/>
        </p:nvSpPr>
        <p:spPr>
          <a:xfrm>
            <a:off x="7747449" y="4671369"/>
            <a:ext cx="840695"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Targets</a:t>
            </a:r>
            <a:endParaRPr sz="1814">
              <a:latin typeface="Arial"/>
              <a:cs typeface="Arial"/>
            </a:endParaRPr>
          </a:p>
        </p:txBody>
      </p:sp>
      <p:grpSp>
        <p:nvGrpSpPr>
          <p:cNvPr id="36" name="object 36"/>
          <p:cNvGrpSpPr/>
          <p:nvPr/>
        </p:nvGrpSpPr>
        <p:grpSpPr>
          <a:xfrm>
            <a:off x="8698528" y="3601324"/>
            <a:ext cx="219387" cy="1485035"/>
            <a:chOff x="7911909" y="3025309"/>
            <a:chExt cx="241935" cy="1637664"/>
          </a:xfrm>
        </p:grpSpPr>
        <p:sp>
          <p:nvSpPr>
            <p:cNvPr id="37" name="object 37"/>
            <p:cNvSpPr/>
            <p:nvPr/>
          </p:nvSpPr>
          <p:spPr>
            <a:xfrm>
              <a:off x="7929879" y="3043280"/>
              <a:ext cx="205740" cy="1601470"/>
            </a:xfrm>
            <a:custGeom>
              <a:avLst/>
              <a:gdLst/>
              <a:ahLst/>
              <a:cxnLst/>
              <a:rect l="l" t="t" r="r" b="b"/>
              <a:pathLst>
                <a:path w="205740" h="1601470">
                  <a:moveTo>
                    <a:pt x="0" y="0"/>
                  </a:moveTo>
                  <a:lnTo>
                    <a:pt x="37504" y="11549"/>
                  </a:lnTo>
                  <a:lnTo>
                    <a:pt x="70484" y="41910"/>
                  </a:lnTo>
                  <a:lnTo>
                    <a:pt x="93940" y="84653"/>
                  </a:lnTo>
                  <a:lnTo>
                    <a:pt x="102870" y="133350"/>
                  </a:lnTo>
                  <a:lnTo>
                    <a:pt x="102870" y="666750"/>
                  </a:lnTo>
                  <a:lnTo>
                    <a:pt x="111799" y="716180"/>
                  </a:lnTo>
                  <a:lnTo>
                    <a:pt x="135254" y="759301"/>
                  </a:lnTo>
                  <a:lnTo>
                    <a:pt x="168235" y="789801"/>
                  </a:lnTo>
                  <a:lnTo>
                    <a:pt x="205740" y="801370"/>
                  </a:lnTo>
                  <a:lnTo>
                    <a:pt x="168235" y="812720"/>
                  </a:lnTo>
                  <a:lnTo>
                    <a:pt x="135255" y="842645"/>
                  </a:lnTo>
                  <a:lnTo>
                    <a:pt x="111799" y="884951"/>
                  </a:lnTo>
                  <a:lnTo>
                    <a:pt x="102870" y="933450"/>
                  </a:lnTo>
                  <a:lnTo>
                    <a:pt x="102870" y="1468120"/>
                  </a:lnTo>
                  <a:lnTo>
                    <a:pt x="93940" y="1516816"/>
                  </a:lnTo>
                  <a:lnTo>
                    <a:pt x="70485" y="1559560"/>
                  </a:lnTo>
                  <a:lnTo>
                    <a:pt x="37504" y="1589920"/>
                  </a:lnTo>
                  <a:lnTo>
                    <a:pt x="0" y="1601470"/>
                  </a:lnTo>
                </a:path>
              </a:pathLst>
            </a:custGeom>
            <a:ln w="35940">
              <a:solidFill>
                <a:srgbClr val="3364A3"/>
              </a:solidFill>
            </a:ln>
          </p:spPr>
          <p:txBody>
            <a:bodyPr wrap="square" lIns="0" tIns="0" rIns="0" bIns="0" rtlCol="0"/>
            <a:lstStyle/>
            <a:p>
              <a:endParaRPr/>
            </a:p>
          </p:txBody>
        </p:sp>
        <p:sp>
          <p:nvSpPr>
            <p:cNvPr id="38" name="object 38"/>
            <p:cNvSpPr/>
            <p:nvPr/>
          </p:nvSpPr>
          <p:spPr>
            <a:xfrm>
              <a:off x="7911909" y="3025309"/>
              <a:ext cx="241935" cy="1637664"/>
            </a:xfrm>
            <a:custGeom>
              <a:avLst/>
              <a:gdLst/>
              <a:ahLst/>
              <a:cxnLst/>
              <a:rect l="l" t="t" r="r" b="b"/>
              <a:pathLst>
                <a:path w="241934" h="1637664">
                  <a:moveTo>
                    <a:pt x="35928" y="1619440"/>
                  </a:moveTo>
                  <a:lnTo>
                    <a:pt x="30670" y="1606740"/>
                  </a:lnTo>
                  <a:lnTo>
                    <a:pt x="17970" y="1601470"/>
                  </a:lnTo>
                  <a:lnTo>
                    <a:pt x="5257" y="1606740"/>
                  </a:lnTo>
                  <a:lnTo>
                    <a:pt x="0" y="1619440"/>
                  </a:lnTo>
                  <a:lnTo>
                    <a:pt x="5257" y="1632153"/>
                  </a:lnTo>
                  <a:lnTo>
                    <a:pt x="17970" y="1637411"/>
                  </a:lnTo>
                  <a:lnTo>
                    <a:pt x="30670" y="1632153"/>
                  </a:lnTo>
                  <a:lnTo>
                    <a:pt x="35928" y="1619440"/>
                  </a:lnTo>
                  <a:close/>
                </a:path>
                <a:path w="241934" h="1637664">
                  <a:moveTo>
                    <a:pt x="241681" y="17970"/>
                  </a:moveTo>
                  <a:lnTo>
                    <a:pt x="236410" y="5270"/>
                  </a:lnTo>
                  <a:lnTo>
                    <a:pt x="223710" y="0"/>
                  </a:lnTo>
                  <a:lnTo>
                    <a:pt x="210997" y="5270"/>
                  </a:lnTo>
                  <a:lnTo>
                    <a:pt x="205740" y="17970"/>
                  </a:lnTo>
                  <a:lnTo>
                    <a:pt x="210997" y="30683"/>
                  </a:lnTo>
                  <a:lnTo>
                    <a:pt x="223710" y="35941"/>
                  </a:lnTo>
                  <a:lnTo>
                    <a:pt x="236410" y="30683"/>
                  </a:lnTo>
                  <a:lnTo>
                    <a:pt x="241681" y="17970"/>
                  </a:lnTo>
                  <a:close/>
                </a:path>
              </a:pathLst>
            </a:custGeom>
            <a:solidFill>
              <a:srgbClr val="3364A3"/>
            </a:solidFill>
          </p:spPr>
          <p:txBody>
            <a:bodyPr wrap="square" lIns="0" tIns="0" rIns="0" bIns="0" rtlCol="0"/>
            <a:lstStyle/>
            <a:p>
              <a:endParaRPr/>
            </a:p>
          </p:txBody>
        </p:sp>
      </p:grpSp>
      <p:sp>
        <p:nvSpPr>
          <p:cNvPr id="39" name="object 39"/>
          <p:cNvSpPr txBox="1"/>
          <p:nvPr/>
        </p:nvSpPr>
        <p:spPr>
          <a:xfrm>
            <a:off x="8987761" y="4183073"/>
            <a:ext cx="561999"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Loss</a:t>
            </a:r>
            <a:endParaRPr sz="1814">
              <a:latin typeface="Arial"/>
              <a:cs typeface="Arial"/>
            </a:endParaRPr>
          </a:p>
        </p:txBody>
      </p:sp>
      <p:pic>
        <p:nvPicPr>
          <p:cNvPr id="40" name="object 40"/>
          <p:cNvPicPr/>
          <p:nvPr/>
        </p:nvPicPr>
        <p:blipFill>
          <a:blip r:embed="rId3" cstate="print"/>
          <a:stretch>
            <a:fillRect/>
          </a:stretch>
        </p:blipFill>
        <p:spPr>
          <a:xfrm>
            <a:off x="5964715" y="4363879"/>
            <a:ext cx="3562013" cy="1549734"/>
          </a:xfrm>
          <a:prstGeom prst="rect">
            <a:avLst/>
          </a:prstGeom>
        </p:spPr>
      </p:pic>
    </p:spTree>
    <p:extLst>
      <p:ext uri="{BB962C8B-B14F-4D97-AF65-F5344CB8AC3E}">
        <p14:creationId xmlns:p14="http://schemas.microsoft.com/office/powerpoint/2010/main" val="30801493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494824">
              <a:spcBef>
                <a:spcPts val="91"/>
              </a:spcBef>
            </a:pPr>
            <a:r>
              <a:rPr dirty="0"/>
              <a:t>Loss</a:t>
            </a:r>
            <a:r>
              <a:rPr spc="-59" dirty="0"/>
              <a:t> </a:t>
            </a:r>
            <a:r>
              <a:rPr spc="-9" dirty="0"/>
              <a:t>functions</a:t>
            </a:r>
          </a:p>
        </p:txBody>
      </p:sp>
      <p:sp>
        <p:nvSpPr>
          <p:cNvPr id="3" name="object 3"/>
          <p:cNvSpPr txBox="1"/>
          <p:nvPr/>
        </p:nvSpPr>
        <p:spPr>
          <a:xfrm>
            <a:off x="1969684" y="1953505"/>
            <a:ext cx="6481414" cy="764527"/>
          </a:xfrm>
          <a:prstGeom prst="rect">
            <a:avLst/>
          </a:prstGeom>
        </p:spPr>
        <p:txBody>
          <a:bodyPr vert="horz" wrap="square" lIns="0" tIns="11516" rIns="0" bIns="0" rtlCol="0">
            <a:spAutoFit/>
          </a:bodyPr>
          <a:lstStyle/>
          <a:p>
            <a:pPr marL="11516">
              <a:spcBef>
                <a:spcPts val="91"/>
              </a:spcBef>
            </a:pPr>
            <a:r>
              <a:rPr sz="2539" i="1" dirty="0">
                <a:latin typeface="Arial"/>
                <a:cs typeface="Arial"/>
              </a:rPr>
              <a:t>Some</a:t>
            </a:r>
            <a:r>
              <a:rPr sz="2539" i="1" spc="-63" dirty="0">
                <a:latin typeface="Arial"/>
                <a:cs typeface="Arial"/>
              </a:rPr>
              <a:t> </a:t>
            </a:r>
            <a:r>
              <a:rPr sz="2539" i="1" spc="-9" dirty="0">
                <a:latin typeface="Arial"/>
                <a:cs typeface="Arial"/>
              </a:rPr>
              <a:t>pedantry</a:t>
            </a:r>
            <a:endParaRPr sz="2539">
              <a:latin typeface="Arial"/>
              <a:cs typeface="Arial"/>
            </a:endParaRPr>
          </a:p>
          <a:p>
            <a:pPr marL="169866">
              <a:spcBef>
                <a:spcPts val="1342"/>
              </a:spcBef>
            </a:pPr>
            <a:r>
              <a:rPr sz="1270" b="1" i="1" dirty="0">
                <a:latin typeface="Arial"/>
                <a:cs typeface="Arial"/>
              </a:rPr>
              <a:t>Loss</a:t>
            </a:r>
            <a:r>
              <a:rPr sz="1270" b="1" i="1" spc="-14" dirty="0">
                <a:latin typeface="Arial"/>
                <a:cs typeface="Arial"/>
              </a:rPr>
              <a:t> </a:t>
            </a:r>
            <a:r>
              <a:rPr sz="1270" b="1" i="1" dirty="0">
                <a:latin typeface="Arial"/>
                <a:cs typeface="Arial"/>
              </a:rPr>
              <a:t>function</a:t>
            </a:r>
            <a:r>
              <a:rPr sz="1270" b="1" i="1" spc="5" dirty="0">
                <a:latin typeface="Arial"/>
                <a:cs typeface="Arial"/>
              </a:rPr>
              <a:t> </a:t>
            </a:r>
            <a:r>
              <a:rPr sz="1270" i="1" dirty="0">
                <a:latin typeface="Arial"/>
                <a:cs typeface="Arial"/>
              </a:rPr>
              <a:t>and </a:t>
            </a:r>
            <a:r>
              <a:rPr sz="1270" b="1" i="1" dirty="0">
                <a:latin typeface="Arial"/>
                <a:cs typeface="Arial"/>
              </a:rPr>
              <a:t>Cost</a:t>
            </a:r>
            <a:r>
              <a:rPr sz="1270" b="1" i="1" spc="-9" dirty="0">
                <a:latin typeface="Arial"/>
                <a:cs typeface="Arial"/>
              </a:rPr>
              <a:t> </a:t>
            </a:r>
            <a:r>
              <a:rPr sz="1270" b="1" i="1" dirty="0">
                <a:latin typeface="Arial"/>
                <a:cs typeface="Arial"/>
              </a:rPr>
              <a:t>function </a:t>
            </a:r>
            <a:r>
              <a:rPr sz="1270" i="1" dirty="0">
                <a:latin typeface="Arial"/>
                <a:cs typeface="Arial"/>
              </a:rPr>
              <a:t>are</a:t>
            </a:r>
            <a:r>
              <a:rPr sz="1270" i="1" spc="-14" dirty="0">
                <a:latin typeface="Arial"/>
                <a:cs typeface="Arial"/>
              </a:rPr>
              <a:t> </a:t>
            </a:r>
            <a:r>
              <a:rPr sz="1270" i="1" dirty="0">
                <a:latin typeface="Arial"/>
                <a:cs typeface="Arial"/>
              </a:rPr>
              <a:t>often</a:t>
            </a:r>
            <a:r>
              <a:rPr sz="1270" i="1" spc="-5" dirty="0">
                <a:latin typeface="Arial"/>
                <a:cs typeface="Arial"/>
              </a:rPr>
              <a:t> </a:t>
            </a:r>
            <a:r>
              <a:rPr sz="1270" i="1" dirty="0">
                <a:latin typeface="Arial"/>
                <a:cs typeface="Arial"/>
              </a:rPr>
              <a:t>used</a:t>
            </a:r>
            <a:r>
              <a:rPr sz="1270" i="1" spc="-14" dirty="0">
                <a:latin typeface="Arial"/>
                <a:cs typeface="Arial"/>
              </a:rPr>
              <a:t> </a:t>
            </a:r>
            <a:r>
              <a:rPr sz="1270" i="1" dirty="0">
                <a:latin typeface="Arial"/>
                <a:cs typeface="Arial"/>
              </a:rPr>
              <a:t>interchangeably</a:t>
            </a:r>
            <a:r>
              <a:rPr sz="1270" i="1" spc="-5" dirty="0">
                <a:latin typeface="Arial"/>
                <a:cs typeface="Arial"/>
              </a:rPr>
              <a:t> </a:t>
            </a:r>
            <a:r>
              <a:rPr sz="1270" i="1" dirty="0">
                <a:latin typeface="Arial"/>
                <a:cs typeface="Arial"/>
              </a:rPr>
              <a:t>but</a:t>
            </a:r>
            <a:r>
              <a:rPr sz="1270" i="1" spc="9" dirty="0">
                <a:latin typeface="Arial"/>
                <a:cs typeface="Arial"/>
              </a:rPr>
              <a:t> </a:t>
            </a:r>
            <a:r>
              <a:rPr sz="1270" i="1" dirty="0">
                <a:latin typeface="Arial"/>
                <a:cs typeface="Arial"/>
              </a:rPr>
              <a:t>they</a:t>
            </a:r>
            <a:r>
              <a:rPr sz="1270" i="1" spc="-9" dirty="0">
                <a:latin typeface="Arial"/>
                <a:cs typeface="Arial"/>
              </a:rPr>
              <a:t> </a:t>
            </a:r>
            <a:r>
              <a:rPr sz="1270" i="1" dirty="0">
                <a:latin typeface="Arial"/>
                <a:cs typeface="Arial"/>
              </a:rPr>
              <a:t>are</a:t>
            </a:r>
            <a:r>
              <a:rPr sz="1270" i="1" spc="-5" dirty="0">
                <a:latin typeface="Arial"/>
                <a:cs typeface="Arial"/>
              </a:rPr>
              <a:t> </a:t>
            </a:r>
            <a:r>
              <a:rPr sz="1270" i="1" spc="-9" dirty="0">
                <a:latin typeface="Arial"/>
                <a:cs typeface="Arial"/>
              </a:rPr>
              <a:t>different:</a:t>
            </a:r>
            <a:endParaRPr sz="1270">
              <a:latin typeface="Arial"/>
              <a:cs typeface="Arial"/>
            </a:endParaRPr>
          </a:p>
        </p:txBody>
      </p:sp>
      <p:sp>
        <p:nvSpPr>
          <p:cNvPr id="4" name="object 4"/>
          <p:cNvSpPr txBox="1"/>
          <p:nvPr/>
        </p:nvSpPr>
        <p:spPr>
          <a:xfrm>
            <a:off x="2128610"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39" y="2691702"/>
            <a:ext cx="5713273" cy="386400"/>
          </a:xfrm>
          <a:prstGeom prst="rect">
            <a:avLst/>
          </a:prstGeom>
        </p:spPr>
        <p:txBody>
          <a:bodyPr vert="horz" wrap="square" lIns="0" tIns="27063" rIns="0" bIns="0" rtlCol="0">
            <a:spAutoFit/>
          </a:bodyPr>
          <a:lstStyle/>
          <a:p>
            <a:pPr marL="11516" marR="4607">
              <a:lnSpc>
                <a:spcPts val="1433"/>
              </a:lnSpc>
              <a:spcBef>
                <a:spcPts val="213"/>
              </a:spcBef>
            </a:pPr>
            <a:r>
              <a:rPr sz="1270" i="1" dirty="0">
                <a:latin typeface="Arial"/>
                <a:cs typeface="Arial"/>
              </a:rPr>
              <a:t>The</a:t>
            </a:r>
            <a:r>
              <a:rPr sz="1270" i="1" spc="-9" dirty="0">
                <a:latin typeface="Arial"/>
                <a:cs typeface="Arial"/>
              </a:rPr>
              <a:t> </a:t>
            </a:r>
            <a:r>
              <a:rPr sz="1270" b="1" i="1" dirty="0">
                <a:latin typeface="Arial"/>
                <a:cs typeface="Arial"/>
              </a:rPr>
              <a:t>loss</a:t>
            </a:r>
            <a:r>
              <a:rPr sz="1270" b="1" i="1" spc="-5" dirty="0">
                <a:latin typeface="Arial"/>
                <a:cs typeface="Arial"/>
              </a:rPr>
              <a:t> </a:t>
            </a:r>
            <a:r>
              <a:rPr sz="1270" b="1" i="1" dirty="0">
                <a:latin typeface="Arial"/>
                <a:cs typeface="Arial"/>
              </a:rPr>
              <a:t>function</a:t>
            </a:r>
            <a:r>
              <a:rPr sz="1270" b="1" i="1" spc="-5" dirty="0">
                <a:latin typeface="Arial"/>
                <a:cs typeface="Arial"/>
              </a:rPr>
              <a:t> </a:t>
            </a:r>
            <a:r>
              <a:rPr sz="1270" i="1" dirty="0">
                <a:latin typeface="Arial"/>
                <a:cs typeface="Arial"/>
              </a:rPr>
              <a:t>measures</a:t>
            </a:r>
            <a:r>
              <a:rPr sz="1270" i="1" spc="9" dirty="0">
                <a:latin typeface="Arial"/>
                <a:cs typeface="Arial"/>
              </a:rPr>
              <a:t> </a:t>
            </a:r>
            <a:r>
              <a:rPr sz="1270" i="1" dirty="0">
                <a:latin typeface="Arial"/>
                <a:cs typeface="Arial"/>
              </a:rPr>
              <a:t>the</a:t>
            </a:r>
            <a:r>
              <a:rPr sz="1270" i="1" spc="-9" dirty="0">
                <a:latin typeface="Arial"/>
                <a:cs typeface="Arial"/>
              </a:rPr>
              <a:t> </a:t>
            </a:r>
            <a:r>
              <a:rPr sz="1270" i="1" dirty="0">
                <a:latin typeface="Arial"/>
                <a:cs typeface="Arial"/>
              </a:rPr>
              <a:t>network</a:t>
            </a:r>
            <a:r>
              <a:rPr sz="1270" i="1" spc="5" dirty="0">
                <a:latin typeface="Arial"/>
                <a:cs typeface="Arial"/>
              </a:rPr>
              <a:t> </a:t>
            </a:r>
            <a:r>
              <a:rPr sz="1270" i="1" dirty="0">
                <a:latin typeface="Arial"/>
                <a:cs typeface="Arial"/>
              </a:rPr>
              <a:t>performance</a:t>
            </a:r>
            <a:r>
              <a:rPr sz="1270" i="1" spc="32" dirty="0">
                <a:latin typeface="Arial"/>
                <a:cs typeface="Arial"/>
              </a:rPr>
              <a:t> </a:t>
            </a:r>
            <a:r>
              <a:rPr sz="1270" b="1" i="1" dirty="0">
                <a:latin typeface="Arial"/>
                <a:cs typeface="Arial"/>
              </a:rPr>
              <a:t>on</a:t>
            </a:r>
            <a:r>
              <a:rPr sz="1270" b="1" i="1" spc="-5" dirty="0">
                <a:latin typeface="Arial"/>
                <a:cs typeface="Arial"/>
              </a:rPr>
              <a:t> </a:t>
            </a:r>
            <a:r>
              <a:rPr sz="1270" b="1" i="1" dirty="0">
                <a:latin typeface="Arial"/>
                <a:cs typeface="Arial"/>
              </a:rPr>
              <a:t>a</a:t>
            </a:r>
            <a:r>
              <a:rPr sz="1270" b="1" i="1" spc="-9" dirty="0">
                <a:latin typeface="Arial"/>
                <a:cs typeface="Arial"/>
              </a:rPr>
              <a:t> </a:t>
            </a:r>
            <a:r>
              <a:rPr sz="1270" b="1" i="1" dirty="0">
                <a:latin typeface="Arial"/>
                <a:cs typeface="Arial"/>
              </a:rPr>
              <a:t>single</a:t>
            </a:r>
            <a:r>
              <a:rPr sz="1270" b="1" i="1" spc="-9" dirty="0">
                <a:latin typeface="Arial"/>
                <a:cs typeface="Arial"/>
              </a:rPr>
              <a:t> datapoint </a:t>
            </a:r>
            <a:r>
              <a:rPr sz="1270" i="1" dirty="0">
                <a:latin typeface="Arial"/>
                <a:cs typeface="Arial"/>
              </a:rPr>
              <a:t>The</a:t>
            </a:r>
            <a:r>
              <a:rPr sz="1270" i="1" spc="-9" dirty="0">
                <a:latin typeface="Arial"/>
                <a:cs typeface="Arial"/>
              </a:rPr>
              <a:t> </a:t>
            </a:r>
            <a:r>
              <a:rPr sz="1270" b="1" i="1" dirty="0">
                <a:latin typeface="Arial"/>
                <a:cs typeface="Arial"/>
              </a:rPr>
              <a:t>cost</a:t>
            </a:r>
            <a:r>
              <a:rPr sz="1270" b="1" i="1" spc="-9" dirty="0">
                <a:latin typeface="Arial"/>
                <a:cs typeface="Arial"/>
              </a:rPr>
              <a:t> </a:t>
            </a:r>
            <a:r>
              <a:rPr sz="1270" b="1" i="1" dirty="0">
                <a:latin typeface="Arial"/>
                <a:cs typeface="Arial"/>
              </a:rPr>
              <a:t>function</a:t>
            </a:r>
            <a:r>
              <a:rPr sz="1270" b="1" i="1" spc="5" dirty="0">
                <a:latin typeface="Arial"/>
                <a:cs typeface="Arial"/>
              </a:rPr>
              <a:t> </a:t>
            </a:r>
            <a:r>
              <a:rPr sz="1270" i="1" dirty="0">
                <a:latin typeface="Arial"/>
                <a:cs typeface="Arial"/>
              </a:rPr>
              <a:t>is</a:t>
            </a:r>
            <a:r>
              <a:rPr sz="1270" i="1" spc="-5" dirty="0">
                <a:latin typeface="Arial"/>
                <a:cs typeface="Arial"/>
              </a:rPr>
              <a:t> </a:t>
            </a:r>
            <a:r>
              <a:rPr sz="1270" i="1" dirty="0">
                <a:latin typeface="Arial"/>
                <a:cs typeface="Arial"/>
              </a:rPr>
              <a:t>the</a:t>
            </a:r>
            <a:r>
              <a:rPr sz="1270" i="1" spc="-5" dirty="0">
                <a:latin typeface="Arial"/>
                <a:cs typeface="Arial"/>
              </a:rPr>
              <a:t> </a:t>
            </a:r>
            <a:r>
              <a:rPr sz="1270" b="1" i="1" dirty="0">
                <a:latin typeface="Arial"/>
                <a:cs typeface="Arial"/>
              </a:rPr>
              <a:t>average</a:t>
            </a:r>
            <a:r>
              <a:rPr sz="1270" b="1" i="1" spc="-5" dirty="0">
                <a:latin typeface="Arial"/>
                <a:cs typeface="Arial"/>
              </a:rPr>
              <a:t> </a:t>
            </a:r>
            <a:r>
              <a:rPr sz="1270" b="1" i="1" dirty="0">
                <a:latin typeface="Arial"/>
                <a:cs typeface="Arial"/>
              </a:rPr>
              <a:t>of</a:t>
            </a:r>
            <a:r>
              <a:rPr sz="1270" b="1" i="1" spc="-9" dirty="0">
                <a:latin typeface="Arial"/>
                <a:cs typeface="Arial"/>
              </a:rPr>
              <a:t> </a:t>
            </a:r>
            <a:r>
              <a:rPr sz="1270" b="1" i="1" dirty="0">
                <a:latin typeface="Arial"/>
                <a:cs typeface="Arial"/>
              </a:rPr>
              <a:t>the</a:t>
            </a:r>
            <a:r>
              <a:rPr sz="1270" b="1" i="1" spc="-5" dirty="0">
                <a:latin typeface="Arial"/>
                <a:cs typeface="Arial"/>
              </a:rPr>
              <a:t> </a:t>
            </a:r>
            <a:r>
              <a:rPr sz="1270" b="1" i="1" dirty="0">
                <a:latin typeface="Arial"/>
                <a:cs typeface="Arial"/>
              </a:rPr>
              <a:t>losses</a:t>
            </a:r>
            <a:r>
              <a:rPr sz="1270" b="1" i="1" spc="14" dirty="0">
                <a:latin typeface="Arial"/>
                <a:cs typeface="Arial"/>
              </a:rPr>
              <a:t> </a:t>
            </a:r>
            <a:r>
              <a:rPr sz="1270" i="1" dirty="0">
                <a:latin typeface="Arial"/>
                <a:cs typeface="Arial"/>
              </a:rPr>
              <a:t>over</a:t>
            </a:r>
            <a:r>
              <a:rPr sz="1270" i="1" spc="-9" dirty="0">
                <a:latin typeface="Arial"/>
                <a:cs typeface="Arial"/>
              </a:rPr>
              <a:t> </a:t>
            </a:r>
            <a:r>
              <a:rPr sz="1270" i="1" dirty="0">
                <a:latin typeface="Arial"/>
                <a:cs typeface="Arial"/>
              </a:rPr>
              <a:t>the</a:t>
            </a:r>
            <a:r>
              <a:rPr sz="1270" i="1" spc="-9" dirty="0">
                <a:latin typeface="Arial"/>
                <a:cs typeface="Arial"/>
              </a:rPr>
              <a:t> </a:t>
            </a:r>
            <a:r>
              <a:rPr sz="1270" i="1" dirty="0">
                <a:latin typeface="Arial"/>
                <a:cs typeface="Arial"/>
              </a:rPr>
              <a:t>entire</a:t>
            </a:r>
            <a:r>
              <a:rPr sz="1270" i="1" spc="-5" dirty="0">
                <a:latin typeface="Arial"/>
                <a:cs typeface="Arial"/>
              </a:rPr>
              <a:t> </a:t>
            </a:r>
            <a:r>
              <a:rPr sz="1270" i="1" dirty="0">
                <a:latin typeface="Arial"/>
                <a:cs typeface="Arial"/>
              </a:rPr>
              <a:t>training</a:t>
            </a:r>
            <a:r>
              <a:rPr sz="1270" i="1" spc="-5" dirty="0">
                <a:latin typeface="Arial"/>
                <a:cs typeface="Arial"/>
              </a:rPr>
              <a:t> </a:t>
            </a:r>
            <a:r>
              <a:rPr sz="1270" i="1" spc="-9" dirty="0">
                <a:latin typeface="Arial"/>
                <a:cs typeface="Arial"/>
              </a:rPr>
              <a:t>dataset</a:t>
            </a:r>
            <a:endParaRPr sz="1270">
              <a:latin typeface="Arial"/>
              <a:cs typeface="Arial"/>
            </a:endParaRPr>
          </a:p>
        </p:txBody>
      </p:sp>
      <p:sp>
        <p:nvSpPr>
          <p:cNvPr id="6" name="object 6"/>
          <p:cNvSpPr txBox="1"/>
          <p:nvPr/>
        </p:nvSpPr>
        <p:spPr>
          <a:xfrm>
            <a:off x="2128610" y="2922030"/>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128611" y="3235276"/>
            <a:ext cx="5146667" cy="569217"/>
          </a:xfrm>
          <a:prstGeom prst="rect">
            <a:avLst/>
          </a:prstGeom>
        </p:spPr>
        <p:txBody>
          <a:bodyPr vert="horz" wrap="square" lIns="0" tIns="11516" rIns="0" bIns="0" rtlCol="0">
            <a:spAutoFit/>
          </a:bodyPr>
          <a:lstStyle/>
          <a:p>
            <a:pPr marL="11516">
              <a:spcBef>
                <a:spcPts val="91"/>
              </a:spcBef>
            </a:pPr>
            <a:r>
              <a:rPr sz="1270" i="1" dirty="0">
                <a:latin typeface="Arial"/>
                <a:cs typeface="Arial"/>
              </a:rPr>
              <a:t>Our</a:t>
            </a:r>
            <a:r>
              <a:rPr sz="1270" i="1" spc="-9" dirty="0">
                <a:latin typeface="Arial"/>
                <a:cs typeface="Arial"/>
              </a:rPr>
              <a:t> </a:t>
            </a:r>
            <a:r>
              <a:rPr sz="1270" i="1" dirty="0">
                <a:latin typeface="Arial"/>
                <a:cs typeface="Arial"/>
              </a:rPr>
              <a:t>goal is to</a:t>
            </a:r>
            <a:r>
              <a:rPr sz="1270" i="1" spc="18" dirty="0">
                <a:latin typeface="Arial"/>
                <a:cs typeface="Arial"/>
              </a:rPr>
              <a:t> </a:t>
            </a:r>
            <a:r>
              <a:rPr sz="1270" b="1" i="1" dirty="0">
                <a:latin typeface="Arial"/>
                <a:cs typeface="Arial"/>
              </a:rPr>
              <a:t>minimize the</a:t>
            </a:r>
            <a:r>
              <a:rPr sz="1270" b="1" i="1" spc="-5" dirty="0">
                <a:latin typeface="Arial"/>
                <a:cs typeface="Arial"/>
              </a:rPr>
              <a:t> </a:t>
            </a:r>
            <a:r>
              <a:rPr sz="1270" b="1" i="1" dirty="0">
                <a:latin typeface="Arial"/>
                <a:cs typeface="Arial"/>
              </a:rPr>
              <a:t>cost</a:t>
            </a:r>
            <a:r>
              <a:rPr sz="1270" b="1" i="1" spc="-5" dirty="0">
                <a:latin typeface="Arial"/>
                <a:cs typeface="Arial"/>
              </a:rPr>
              <a:t> </a:t>
            </a:r>
            <a:r>
              <a:rPr sz="1270" b="1" i="1" spc="-9" dirty="0">
                <a:latin typeface="Arial"/>
                <a:cs typeface="Arial"/>
              </a:rPr>
              <a:t>function</a:t>
            </a:r>
            <a:r>
              <a:rPr sz="1270" i="1" spc="-9" dirty="0">
                <a:latin typeface="Arial"/>
                <a:cs typeface="Arial"/>
              </a:rPr>
              <a:t>.</a:t>
            </a:r>
            <a:endParaRPr sz="1270">
              <a:latin typeface="Arial"/>
              <a:cs typeface="Arial"/>
            </a:endParaRPr>
          </a:p>
          <a:p>
            <a:pPr marL="11516">
              <a:spcBef>
                <a:spcPts val="1333"/>
              </a:spcBef>
            </a:pPr>
            <a:r>
              <a:rPr sz="1270" i="1" dirty="0">
                <a:latin typeface="Arial"/>
                <a:cs typeface="Arial"/>
              </a:rPr>
              <a:t>In </a:t>
            </a:r>
            <a:r>
              <a:rPr sz="1270" i="1" spc="-9" dirty="0">
                <a:latin typeface="Arial"/>
                <a:cs typeface="Arial"/>
              </a:rPr>
              <a:t>reality,</a:t>
            </a:r>
            <a:r>
              <a:rPr sz="1270" i="1" spc="5" dirty="0">
                <a:latin typeface="Arial"/>
                <a:cs typeface="Arial"/>
              </a:rPr>
              <a:t> </a:t>
            </a:r>
            <a:r>
              <a:rPr sz="1270" i="1" dirty="0">
                <a:latin typeface="Arial"/>
                <a:cs typeface="Arial"/>
              </a:rPr>
              <a:t>we</a:t>
            </a:r>
            <a:r>
              <a:rPr sz="1270" i="1" spc="-5" dirty="0">
                <a:latin typeface="Arial"/>
                <a:cs typeface="Arial"/>
              </a:rPr>
              <a:t> </a:t>
            </a:r>
            <a:r>
              <a:rPr sz="1270" i="1" dirty="0">
                <a:latin typeface="Arial"/>
                <a:cs typeface="Arial"/>
              </a:rPr>
              <a:t>actually use</a:t>
            </a:r>
            <a:r>
              <a:rPr sz="1270" i="1" spc="27" dirty="0">
                <a:latin typeface="Arial"/>
                <a:cs typeface="Arial"/>
              </a:rPr>
              <a:t> </a:t>
            </a:r>
            <a:r>
              <a:rPr sz="1270" b="1" i="1" dirty="0">
                <a:latin typeface="Arial"/>
                <a:cs typeface="Arial"/>
              </a:rPr>
              <a:t>batch</a:t>
            </a:r>
            <a:r>
              <a:rPr sz="1270" b="1" i="1" spc="-14" dirty="0">
                <a:latin typeface="Arial"/>
                <a:cs typeface="Arial"/>
              </a:rPr>
              <a:t> </a:t>
            </a:r>
            <a:r>
              <a:rPr sz="1270" b="1" i="1" dirty="0">
                <a:latin typeface="Arial"/>
                <a:cs typeface="Arial"/>
              </a:rPr>
              <a:t>losses</a:t>
            </a:r>
            <a:r>
              <a:rPr sz="1270" b="1" i="1" spc="18" dirty="0">
                <a:latin typeface="Arial"/>
                <a:cs typeface="Arial"/>
              </a:rPr>
              <a:t> </a:t>
            </a:r>
            <a:r>
              <a:rPr sz="1270" i="1" dirty="0">
                <a:latin typeface="Arial"/>
                <a:cs typeface="Arial"/>
              </a:rPr>
              <a:t>as a proxy</a:t>
            </a:r>
            <a:r>
              <a:rPr sz="1270" i="1" spc="9" dirty="0">
                <a:latin typeface="Arial"/>
                <a:cs typeface="Arial"/>
              </a:rPr>
              <a:t> </a:t>
            </a:r>
            <a:r>
              <a:rPr sz="1270" i="1" dirty="0">
                <a:latin typeface="Arial"/>
                <a:cs typeface="Arial"/>
              </a:rPr>
              <a:t>for</a:t>
            </a:r>
            <a:r>
              <a:rPr sz="1270" i="1" spc="-5" dirty="0">
                <a:latin typeface="Arial"/>
                <a:cs typeface="Arial"/>
              </a:rPr>
              <a:t> </a:t>
            </a:r>
            <a:r>
              <a:rPr sz="1270" i="1" dirty="0">
                <a:latin typeface="Arial"/>
                <a:cs typeface="Arial"/>
              </a:rPr>
              <a:t>the cost</a:t>
            </a:r>
            <a:r>
              <a:rPr sz="1270" i="1" spc="9" dirty="0">
                <a:latin typeface="Arial"/>
                <a:cs typeface="Arial"/>
              </a:rPr>
              <a:t> </a:t>
            </a:r>
            <a:r>
              <a:rPr sz="1270" i="1" spc="-9" dirty="0">
                <a:latin typeface="Arial"/>
                <a:cs typeface="Arial"/>
              </a:rPr>
              <a:t>function.</a:t>
            </a:r>
            <a:endParaRPr sz="1270">
              <a:latin typeface="Arial"/>
              <a:cs typeface="Arial"/>
            </a:endParaRPr>
          </a:p>
        </p:txBody>
      </p:sp>
    </p:spTree>
    <p:extLst>
      <p:ext uri="{BB962C8B-B14F-4D97-AF65-F5344CB8AC3E}">
        <p14:creationId xmlns:p14="http://schemas.microsoft.com/office/powerpoint/2010/main" val="4100030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901731">
              <a:spcBef>
                <a:spcPts val="91"/>
              </a:spcBef>
            </a:pPr>
            <a:r>
              <a:rPr dirty="0"/>
              <a:t>Loss/Cost</a:t>
            </a:r>
            <a:r>
              <a:rPr spc="-159" dirty="0"/>
              <a:t> </a:t>
            </a:r>
            <a:r>
              <a:rPr spc="-9" dirty="0"/>
              <a:t>functions</a:t>
            </a:r>
          </a:p>
        </p:txBody>
      </p:sp>
      <p:sp>
        <p:nvSpPr>
          <p:cNvPr id="3" name="object 3"/>
          <p:cNvSpPr txBox="1"/>
          <p:nvPr/>
        </p:nvSpPr>
        <p:spPr>
          <a:xfrm>
            <a:off x="1969685" y="1953504"/>
            <a:ext cx="3479671"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Some</a:t>
            </a:r>
            <a:r>
              <a:rPr sz="2539" i="1" spc="-36" dirty="0">
                <a:latin typeface="Arial"/>
                <a:cs typeface="Arial"/>
              </a:rPr>
              <a:t> </a:t>
            </a:r>
            <a:r>
              <a:rPr sz="2539" i="1" dirty="0">
                <a:latin typeface="Arial"/>
                <a:cs typeface="Arial"/>
              </a:rPr>
              <a:t>stuff</a:t>
            </a:r>
            <a:r>
              <a:rPr sz="2539" i="1" spc="-36" dirty="0">
                <a:latin typeface="Arial"/>
                <a:cs typeface="Arial"/>
              </a:rPr>
              <a:t> </a:t>
            </a:r>
            <a:r>
              <a:rPr sz="2539" i="1" dirty="0">
                <a:latin typeface="Arial"/>
                <a:cs typeface="Arial"/>
              </a:rPr>
              <a:t>to</a:t>
            </a:r>
            <a:r>
              <a:rPr sz="2539" i="1" spc="-36" dirty="0">
                <a:latin typeface="Arial"/>
                <a:cs typeface="Arial"/>
              </a:rPr>
              <a:t> </a:t>
            </a:r>
            <a:r>
              <a:rPr sz="2539" i="1" spc="-9" dirty="0">
                <a:latin typeface="Arial"/>
                <a:cs typeface="Arial"/>
              </a:rPr>
              <a:t>remember</a:t>
            </a:r>
            <a:endParaRPr sz="2539">
              <a:latin typeface="Arial"/>
              <a:cs typeface="Arial"/>
            </a:endParaRPr>
          </a:p>
        </p:txBody>
      </p:sp>
      <p:sp>
        <p:nvSpPr>
          <p:cNvPr id="4" name="object 4"/>
          <p:cNvSpPr txBox="1"/>
          <p:nvPr/>
        </p:nvSpPr>
        <p:spPr>
          <a:xfrm>
            <a:off x="2128610" y="256041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40" y="2510896"/>
            <a:ext cx="6454927" cy="386982"/>
          </a:xfrm>
          <a:prstGeom prst="rect">
            <a:avLst/>
          </a:prstGeom>
        </p:spPr>
        <p:txBody>
          <a:bodyPr vert="horz" wrap="square" lIns="0" tIns="27639" rIns="0" bIns="0" rtlCol="0">
            <a:spAutoFit/>
          </a:bodyPr>
          <a:lstStyle/>
          <a:p>
            <a:pPr marL="11516" marR="4607">
              <a:lnSpc>
                <a:spcPts val="1424"/>
              </a:lnSpc>
              <a:spcBef>
                <a:spcPts val="218"/>
              </a:spcBef>
            </a:pPr>
            <a:r>
              <a:rPr sz="1270" i="1" dirty="0">
                <a:latin typeface="Arial"/>
                <a:cs typeface="Arial"/>
              </a:rPr>
              <a:t>The</a:t>
            </a:r>
            <a:r>
              <a:rPr sz="1270" i="1" spc="-9" dirty="0">
                <a:latin typeface="Arial"/>
                <a:cs typeface="Arial"/>
              </a:rPr>
              <a:t> </a:t>
            </a:r>
            <a:r>
              <a:rPr sz="1270" i="1" dirty="0">
                <a:latin typeface="Arial"/>
                <a:cs typeface="Arial"/>
              </a:rPr>
              <a:t>cost</a:t>
            </a:r>
            <a:r>
              <a:rPr sz="1270" i="1" spc="5" dirty="0">
                <a:latin typeface="Arial"/>
                <a:cs typeface="Arial"/>
              </a:rPr>
              <a:t> </a:t>
            </a:r>
            <a:r>
              <a:rPr sz="1270" i="1" dirty="0">
                <a:latin typeface="Arial"/>
                <a:cs typeface="Arial"/>
              </a:rPr>
              <a:t>function distils the</a:t>
            </a:r>
            <a:r>
              <a:rPr sz="1270" i="1" spc="-5" dirty="0">
                <a:latin typeface="Arial"/>
                <a:cs typeface="Arial"/>
              </a:rPr>
              <a:t> </a:t>
            </a:r>
            <a:r>
              <a:rPr sz="1270" i="1" dirty="0">
                <a:latin typeface="Arial"/>
                <a:cs typeface="Arial"/>
              </a:rPr>
              <a:t>performance</a:t>
            </a:r>
            <a:r>
              <a:rPr sz="1270" i="1" spc="-5" dirty="0">
                <a:latin typeface="Arial"/>
                <a:cs typeface="Arial"/>
              </a:rPr>
              <a:t> </a:t>
            </a:r>
            <a:r>
              <a:rPr sz="1270" i="1" dirty="0">
                <a:latin typeface="Arial"/>
                <a:cs typeface="Arial"/>
              </a:rPr>
              <a:t>of</a:t>
            </a:r>
            <a:r>
              <a:rPr sz="1270" i="1" spc="5" dirty="0">
                <a:latin typeface="Arial"/>
                <a:cs typeface="Arial"/>
              </a:rPr>
              <a:t> </a:t>
            </a:r>
            <a:r>
              <a:rPr sz="1270" i="1" dirty="0">
                <a:latin typeface="Arial"/>
                <a:cs typeface="Arial"/>
              </a:rPr>
              <a:t>the network</a:t>
            </a:r>
            <a:r>
              <a:rPr sz="1270" i="1" spc="5" dirty="0">
                <a:latin typeface="Arial"/>
                <a:cs typeface="Arial"/>
              </a:rPr>
              <a:t> </a:t>
            </a:r>
            <a:r>
              <a:rPr sz="1270" i="1" dirty="0">
                <a:latin typeface="Arial"/>
                <a:cs typeface="Arial"/>
              </a:rPr>
              <a:t>down to</a:t>
            </a:r>
            <a:r>
              <a:rPr sz="1270" i="1" spc="-5" dirty="0">
                <a:latin typeface="Arial"/>
                <a:cs typeface="Arial"/>
              </a:rPr>
              <a:t> </a:t>
            </a:r>
            <a:r>
              <a:rPr sz="1270" i="1" dirty="0">
                <a:latin typeface="Arial"/>
                <a:cs typeface="Arial"/>
              </a:rPr>
              <a:t>a</a:t>
            </a:r>
            <a:r>
              <a:rPr sz="1270" i="1" spc="73" dirty="0">
                <a:latin typeface="Arial"/>
                <a:cs typeface="Arial"/>
              </a:rPr>
              <a:t> </a:t>
            </a:r>
            <a:r>
              <a:rPr sz="1270" b="1" i="1" dirty="0">
                <a:latin typeface="Arial"/>
                <a:cs typeface="Arial"/>
              </a:rPr>
              <a:t>single scalar</a:t>
            </a:r>
            <a:r>
              <a:rPr sz="1270" b="1" i="1" spc="5" dirty="0">
                <a:latin typeface="Arial"/>
                <a:cs typeface="Arial"/>
              </a:rPr>
              <a:t> </a:t>
            </a:r>
            <a:r>
              <a:rPr sz="1270" b="1" i="1" spc="-9" dirty="0">
                <a:latin typeface="Arial"/>
                <a:cs typeface="Arial"/>
              </a:rPr>
              <a:t>number</a:t>
            </a:r>
            <a:r>
              <a:rPr sz="1270" i="1" spc="-9" dirty="0">
                <a:latin typeface="Arial"/>
                <a:cs typeface="Arial"/>
              </a:rPr>
              <a:t>. </a:t>
            </a:r>
            <a:r>
              <a:rPr sz="1270" i="1" dirty="0">
                <a:latin typeface="Arial"/>
                <a:cs typeface="Arial"/>
              </a:rPr>
              <a:t>Generally</a:t>
            </a:r>
            <a:r>
              <a:rPr sz="1270" i="1" spc="-5" dirty="0">
                <a:latin typeface="Arial"/>
                <a:cs typeface="Arial"/>
              </a:rPr>
              <a:t> </a:t>
            </a:r>
            <a:r>
              <a:rPr sz="1270" i="1" dirty="0">
                <a:latin typeface="Arial"/>
                <a:cs typeface="Arial"/>
              </a:rPr>
              <a:t>(although</a:t>
            </a:r>
            <a:r>
              <a:rPr sz="1270" i="1" spc="-5" dirty="0">
                <a:latin typeface="Arial"/>
                <a:cs typeface="Arial"/>
              </a:rPr>
              <a:t> </a:t>
            </a:r>
            <a:r>
              <a:rPr sz="1270" i="1" dirty="0">
                <a:latin typeface="Arial"/>
                <a:cs typeface="Arial"/>
              </a:rPr>
              <a:t>not</a:t>
            </a:r>
            <a:r>
              <a:rPr sz="1270" i="1" spc="5" dirty="0">
                <a:latin typeface="Arial"/>
                <a:cs typeface="Arial"/>
              </a:rPr>
              <a:t> </a:t>
            </a:r>
            <a:r>
              <a:rPr sz="1270" i="1" dirty="0">
                <a:latin typeface="Arial"/>
                <a:cs typeface="Arial"/>
              </a:rPr>
              <a:t>necessarily)</a:t>
            </a:r>
            <a:r>
              <a:rPr sz="1270" i="1" spc="41" dirty="0">
                <a:latin typeface="Arial"/>
                <a:cs typeface="Arial"/>
              </a:rPr>
              <a:t> </a:t>
            </a:r>
            <a:r>
              <a:rPr sz="1270" b="1" i="1" dirty="0">
                <a:latin typeface="Arial"/>
                <a:cs typeface="Arial"/>
              </a:rPr>
              <a:t>loss</a:t>
            </a:r>
            <a:r>
              <a:rPr sz="1270" b="1" i="1" spc="9" dirty="0">
                <a:latin typeface="Arial"/>
                <a:cs typeface="Arial"/>
              </a:rPr>
              <a:t> </a:t>
            </a:r>
            <a:r>
              <a:rPr sz="1270" b="1" i="1" dirty="0">
                <a:latin typeface="Times New Roman"/>
                <a:cs typeface="Times New Roman"/>
              </a:rPr>
              <a:t>≥</a:t>
            </a:r>
            <a:r>
              <a:rPr sz="1270" b="1" i="1" spc="41" dirty="0">
                <a:latin typeface="Times New Roman"/>
                <a:cs typeface="Times New Roman"/>
              </a:rPr>
              <a:t> </a:t>
            </a:r>
            <a:r>
              <a:rPr sz="1270" b="1" i="1" dirty="0">
                <a:latin typeface="Arial"/>
                <a:cs typeface="Arial"/>
              </a:rPr>
              <a:t>0</a:t>
            </a:r>
            <a:r>
              <a:rPr sz="1270" b="1" i="1" spc="-5" dirty="0">
                <a:latin typeface="Arial"/>
                <a:cs typeface="Arial"/>
              </a:rPr>
              <a:t> </a:t>
            </a:r>
            <a:r>
              <a:rPr sz="1270" i="1" dirty="0">
                <a:latin typeface="Arial"/>
                <a:cs typeface="Arial"/>
              </a:rPr>
              <a:t>(so</a:t>
            </a:r>
            <a:r>
              <a:rPr sz="1270" i="1" spc="5" dirty="0">
                <a:latin typeface="Arial"/>
                <a:cs typeface="Arial"/>
              </a:rPr>
              <a:t> </a:t>
            </a:r>
            <a:r>
              <a:rPr sz="1270" b="1" i="1" dirty="0">
                <a:latin typeface="Arial"/>
                <a:cs typeface="Arial"/>
              </a:rPr>
              <a:t>cost </a:t>
            </a:r>
            <a:r>
              <a:rPr sz="1270" b="1" i="1" dirty="0">
                <a:latin typeface="Times New Roman"/>
                <a:cs typeface="Times New Roman"/>
              </a:rPr>
              <a:t>≥</a:t>
            </a:r>
            <a:r>
              <a:rPr sz="1270" b="1" i="1" spc="41" dirty="0">
                <a:latin typeface="Times New Roman"/>
                <a:cs typeface="Times New Roman"/>
              </a:rPr>
              <a:t> </a:t>
            </a:r>
            <a:r>
              <a:rPr sz="1270" b="1" i="1" dirty="0">
                <a:latin typeface="Arial"/>
                <a:cs typeface="Arial"/>
              </a:rPr>
              <a:t>0</a:t>
            </a:r>
            <a:r>
              <a:rPr sz="1270" b="1" i="1" spc="-5" dirty="0">
                <a:latin typeface="Arial"/>
                <a:cs typeface="Arial"/>
              </a:rPr>
              <a:t> </a:t>
            </a:r>
            <a:r>
              <a:rPr sz="1270" i="1" spc="-9" dirty="0">
                <a:latin typeface="Arial"/>
                <a:cs typeface="Arial"/>
              </a:rPr>
              <a:t>also)</a:t>
            </a:r>
            <a:endParaRPr sz="1270">
              <a:latin typeface="Arial"/>
              <a:cs typeface="Arial"/>
            </a:endParaRPr>
          </a:p>
        </p:txBody>
      </p:sp>
      <p:sp>
        <p:nvSpPr>
          <p:cNvPr id="6" name="object 6"/>
          <p:cNvSpPr txBox="1"/>
          <p:nvPr/>
        </p:nvSpPr>
        <p:spPr>
          <a:xfrm>
            <a:off x="2128610"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325539" y="2922030"/>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8" name="object 8"/>
          <p:cNvSpPr txBox="1"/>
          <p:nvPr/>
        </p:nvSpPr>
        <p:spPr>
          <a:xfrm>
            <a:off x="2521318" y="2873663"/>
            <a:ext cx="3789462"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cost=0</a:t>
            </a:r>
            <a:r>
              <a:rPr sz="1270" i="1" spc="5" dirty="0">
                <a:latin typeface="Arial"/>
                <a:cs typeface="Arial"/>
              </a:rPr>
              <a:t> </a:t>
            </a:r>
            <a:r>
              <a:rPr sz="1270" spc="-458" dirty="0">
                <a:latin typeface="Trebuchet MS"/>
                <a:cs typeface="Trebuchet MS"/>
              </a:rPr>
              <a:t>⇒</a:t>
            </a:r>
            <a:r>
              <a:rPr sz="1270" spc="222" dirty="0">
                <a:latin typeface="Trebuchet MS"/>
                <a:cs typeface="Trebuchet MS"/>
              </a:rPr>
              <a:t> </a:t>
            </a:r>
            <a:r>
              <a:rPr sz="1270" i="1" dirty="0">
                <a:latin typeface="Arial"/>
                <a:cs typeface="Arial"/>
              </a:rPr>
              <a:t>perfect</a:t>
            </a:r>
            <a:r>
              <a:rPr sz="1270" i="1" spc="18" dirty="0">
                <a:latin typeface="Arial"/>
                <a:cs typeface="Arial"/>
              </a:rPr>
              <a:t> </a:t>
            </a:r>
            <a:r>
              <a:rPr sz="1270" i="1" dirty="0">
                <a:latin typeface="Arial"/>
                <a:cs typeface="Arial"/>
              </a:rPr>
              <a:t>performance</a:t>
            </a:r>
            <a:r>
              <a:rPr sz="1270" i="1" spc="5" dirty="0">
                <a:latin typeface="Arial"/>
                <a:cs typeface="Arial"/>
              </a:rPr>
              <a:t> </a:t>
            </a:r>
            <a:r>
              <a:rPr sz="1270" i="1" dirty="0">
                <a:latin typeface="Arial"/>
                <a:cs typeface="Arial"/>
              </a:rPr>
              <a:t>(on the given</a:t>
            </a:r>
            <a:r>
              <a:rPr sz="1270" i="1" spc="5" dirty="0">
                <a:latin typeface="Arial"/>
                <a:cs typeface="Arial"/>
              </a:rPr>
              <a:t> </a:t>
            </a:r>
            <a:r>
              <a:rPr sz="1270" i="1" spc="-9" dirty="0">
                <a:latin typeface="Arial"/>
                <a:cs typeface="Arial"/>
              </a:rPr>
              <a:t>dataset)</a:t>
            </a:r>
            <a:endParaRPr sz="1270">
              <a:latin typeface="Arial"/>
              <a:cs typeface="Arial"/>
            </a:endParaRPr>
          </a:p>
        </p:txBody>
      </p:sp>
      <p:sp>
        <p:nvSpPr>
          <p:cNvPr id="9" name="object 9"/>
          <p:cNvSpPr txBox="1"/>
          <p:nvPr/>
        </p:nvSpPr>
        <p:spPr>
          <a:xfrm>
            <a:off x="2128610" y="310398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0" name="object 10"/>
          <p:cNvSpPr txBox="1"/>
          <p:nvPr/>
        </p:nvSpPr>
        <p:spPr>
          <a:xfrm>
            <a:off x="2325540" y="3054470"/>
            <a:ext cx="6305789"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The</a:t>
            </a:r>
            <a:r>
              <a:rPr sz="1270" i="1" spc="-14" dirty="0">
                <a:latin typeface="Arial"/>
                <a:cs typeface="Arial"/>
              </a:rPr>
              <a:t> </a:t>
            </a:r>
            <a:r>
              <a:rPr sz="1270" b="1" i="1" dirty="0">
                <a:latin typeface="Arial"/>
                <a:cs typeface="Arial"/>
              </a:rPr>
              <a:t>lower</a:t>
            </a:r>
            <a:r>
              <a:rPr sz="1270" b="1" i="1" spc="-14"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value</a:t>
            </a:r>
            <a:r>
              <a:rPr sz="1270" b="1" i="1" spc="-14" dirty="0">
                <a:latin typeface="Arial"/>
                <a:cs typeface="Arial"/>
              </a:rPr>
              <a:t> </a:t>
            </a:r>
            <a:r>
              <a:rPr sz="1270" b="1" i="1" dirty="0">
                <a:latin typeface="Arial"/>
                <a:cs typeface="Arial"/>
              </a:rPr>
              <a:t>of</a:t>
            </a:r>
            <a:r>
              <a:rPr sz="1270" b="1" i="1" spc="-14" dirty="0">
                <a:latin typeface="Arial"/>
                <a:cs typeface="Arial"/>
              </a:rPr>
              <a:t> </a:t>
            </a:r>
            <a:r>
              <a:rPr sz="1270" b="1" i="1" dirty="0">
                <a:latin typeface="Arial"/>
                <a:cs typeface="Arial"/>
              </a:rPr>
              <a:t>the</a:t>
            </a:r>
            <a:r>
              <a:rPr sz="1270" b="1" i="1" spc="-14" dirty="0">
                <a:latin typeface="Arial"/>
                <a:cs typeface="Arial"/>
              </a:rPr>
              <a:t> </a:t>
            </a:r>
            <a:r>
              <a:rPr sz="1270" b="1" i="1" dirty="0">
                <a:latin typeface="Arial"/>
                <a:cs typeface="Arial"/>
              </a:rPr>
              <a:t>cost</a:t>
            </a:r>
            <a:r>
              <a:rPr sz="1270" b="1" i="1" spc="-14" dirty="0">
                <a:latin typeface="Arial"/>
                <a:cs typeface="Arial"/>
              </a:rPr>
              <a:t> </a:t>
            </a:r>
            <a:r>
              <a:rPr sz="1270" b="1" i="1" dirty="0">
                <a:latin typeface="Arial"/>
                <a:cs typeface="Arial"/>
              </a:rPr>
              <a:t>function,</a:t>
            </a:r>
            <a:r>
              <a:rPr sz="1270" b="1" i="1" spc="-5"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better</a:t>
            </a:r>
            <a:r>
              <a:rPr sz="1270" b="1" i="1" spc="-5"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performance</a:t>
            </a:r>
            <a:r>
              <a:rPr sz="1270" b="1" i="1" spc="41" dirty="0">
                <a:latin typeface="Arial"/>
                <a:cs typeface="Arial"/>
              </a:rPr>
              <a:t> </a:t>
            </a:r>
            <a:r>
              <a:rPr sz="1270" i="1" dirty="0">
                <a:latin typeface="Arial"/>
                <a:cs typeface="Arial"/>
              </a:rPr>
              <a:t>of</a:t>
            </a:r>
            <a:r>
              <a:rPr sz="1270" i="1" spc="-5" dirty="0">
                <a:latin typeface="Arial"/>
                <a:cs typeface="Arial"/>
              </a:rPr>
              <a:t> </a:t>
            </a:r>
            <a:r>
              <a:rPr sz="1270" i="1" dirty="0">
                <a:latin typeface="Arial"/>
                <a:cs typeface="Arial"/>
              </a:rPr>
              <a:t>the</a:t>
            </a:r>
            <a:r>
              <a:rPr sz="1270" i="1" spc="-9" dirty="0">
                <a:latin typeface="Arial"/>
                <a:cs typeface="Arial"/>
              </a:rPr>
              <a:t> network.</a:t>
            </a:r>
            <a:endParaRPr sz="1270">
              <a:latin typeface="Arial"/>
              <a:cs typeface="Arial"/>
            </a:endParaRPr>
          </a:p>
        </p:txBody>
      </p:sp>
      <p:sp>
        <p:nvSpPr>
          <p:cNvPr id="11" name="object 11"/>
          <p:cNvSpPr txBox="1"/>
          <p:nvPr/>
        </p:nvSpPr>
        <p:spPr>
          <a:xfrm>
            <a:off x="2325539" y="328479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2" name="object 12"/>
          <p:cNvSpPr txBox="1"/>
          <p:nvPr/>
        </p:nvSpPr>
        <p:spPr>
          <a:xfrm>
            <a:off x="2521317" y="3235276"/>
            <a:ext cx="1732062"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Hence</a:t>
            </a:r>
            <a:r>
              <a:rPr sz="1270" i="1" spc="-18" dirty="0">
                <a:latin typeface="Arial"/>
                <a:cs typeface="Arial"/>
              </a:rPr>
              <a:t> </a:t>
            </a:r>
            <a:r>
              <a:rPr sz="1270" i="1" dirty="0">
                <a:latin typeface="Arial"/>
                <a:cs typeface="Arial"/>
              </a:rPr>
              <a:t>gradient </a:t>
            </a:r>
            <a:r>
              <a:rPr sz="1270" i="1" u="sng" spc="-9" dirty="0">
                <a:uFill>
                  <a:solidFill>
                    <a:srgbClr val="000000"/>
                  </a:solidFill>
                </a:uFill>
                <a:latin typeface="Arial"/>
                <a:cs typeface="Arial"/>
              </a:rPr>
              <a:t>descent</a:t>
            </a:r>
            <a:endParaRPr sz="1270">
              <a:latin typeface="Arial"/>
              <a:cs typeface="Arial"/>
            </a:endParaRPr>
          </a:p>
        </p:txBody>
      </p:sp>
      <p:sp>
        <p:nvSpPr>
          <p:cNvPr id="13" name="object 13"/>
          <p:cNvSpPr txBox="1"/>
          <p:nvPr/>
        </p:nvSpPr>
        <p:spPr>
          <a:xfrm>
            <a:off x="2128610" y="346560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4" name="object 14"/>
          <p:cNvSpPr txBox="1"/>
          <p:nvPr/>
        </p:nvSpPr>
        <p:spPr>
          <a:xfrm>
            <a:off x="2325540" y="3417235"/>
            <a:ext cx="5056839"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A</a:t>
            </a:r>
            <a:r>
              <a:rPr sz="1270" i="1" spc="-54" dirty="0">
                <a:latin typeface="Arial"/>
                <a:cs typeface="Arial"/>
              </a:rPr>
              <a:t> </a:t>
            </a:r>
            <a:r>
              <a:rPr sz="1270" i="1" dirty="0">
                <a:latin typeface="Arial"/>
                <a:cs typeface="Arial"/>
              </a:rPr>
              <a:t>cost function</a:t>
            </a:r>
            <a:r>
              <a:rPr sz="1270" i="1" spc="-5" dirty="0">
                <a:latin typeface="Arial"/>
                <a:cs typeface="Arial"/>
              </a:rPr>
              <a:t> </a:t>
            </a:r>
            <a:r>
              <a:rPr sz="1270" i="1" dirty="0">
                <a:latin typeface="Arial"/>
                <a:cs typeface="Arial"/>
              </a:rPr>
              <a:t>must</a:t>
            </a:r>
            <a:r>
              <a:rPr sz="1270" i="1" spc="14" dirty="0">
                <a:latin typeface="Arial"/>
                <a:cs typeface="Arial"/>
              </a:rPr>
              <a:t> </a:t>
            </a:r>
            <a:r>
              <a:rPr sz="1270" b="1" i="1" dirty="0">
                <a:latin typeface="Arial"/>
                <a:cs typeface="Arial"/>
              </a:rPr>
              <a:t>faithfully</a:t>
            </a:r>
            <a:r>
              <a:rPr sz="1270" b="1" i="1" spc="-9" dirty="0">
                <a:latin typeface="Arial"/>
                <a:cs typeface="Arial"/>
              </a:rPr>
              <a:t> </a:t>
            </a:r>
            <a:r>
              <a:rPr sz="1270" b="1" i="1" dirty="0">
                <a:latin typeface="Arial"/>
                <a:cs typeface="Arial"/>
              </a:rPr>
              <a:t>represent</a:t>
            </a:r>
            <a:r>
              <a:rPr sz="1270" b="1" i="1" spc="-5" dirty="0">
                <a:latin typeface="Arial"/>
                <a:cs typeface="Arial"/>
              </a:rPr>
              <a:t> </a:t>
            </a:r>
            <a:r>
              <a:rPr sz="1270" b="1" i="1" dirty="0">
                <a:latin typeface="Arial"/>
                <a:cs typeface="Arial"/>
              </a:rPr>
              <a:t>the</a:t>
            </a:r>
            <a:r>
              <a:rPr sz="1270" b="1" i="1" spc="-5" dirty="0">
                <a:latin typeface="Arial"/>
                <a:cs typeface="Arial"/>
              </a:rPr>
              <a:t> </a:t>
            </a:r>
            <a:r>
              <a:rPr sz="1270" b="1" i="1" dirty="0">
                <a:latin typeface="Arial"/>
                <a:cs typeface="Arial"/>
              </a:rPr>
              <a:t>purpose</a:t>
            </a:r>
            <a:r>
              <a:rPr sz="1270" b="1" i="1" spc="27" dirty="0">
                <a:latin typeface="Arial"/>
                <a:cs typeface="Arial"/>
              </a:rPr>
              <a:t> </a:t>
            </a:r>
            <a:r>
              <a:rPr sz="1270" i="1" dirty="0">
                <a:latin typeface="Arial"/>
                <a:cs typeface="Arial"/>
              </a:rPr>
              <a:t>of the</a:t>
            </a:r>
            <a:r>
              <a:rPr sz="1270" i="1" spc="-5" dirty="0">
                <a:latin typeface="Arial"/>
                <a:cs typeface="Arial"/>
              </a:rPr>
              <a:t> </a:t>
            </a:r>
            <a:r>
              <a:rPr sz="1270" i="1" spc="-9" dirty="0">
                <a:latin typeface="Arial"/>
                <a:cs typeface="Arial"/>
              </a:rPr>
              <a:t>network.</a:t>
            </a:r>
            <a:endParaRPr sz="1270">
              <a:latin typeface="Arial"/>
              <a:cs typeface="Arial"/>
            </a:endParaRPr>
          </a:p>
        </p:txBody>
      </p:sp>
    </p:spTree>
    <p:extLst>
      <p:ext uri="{BB962C8B-B14F-4D97-AF65-F5344CB8AC3E}">
        <p14:creationId xmlns:p14="http://schemas.microsoft.com/office/powerpoint/2010/main" val="35070252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901731">
              <a:spcBef>
                <a:spcPts val="91"/>
              </a:spcBef>
            </a:pPr>
            <a:r>
              <a:rPr dirty="0"/>
              <a:t>Loss/Cost</a:t>
            </a:r>
            <a:r>
              <a:rPr spc="-141" dirty="0"/>
              <a:t> </a:t>
            </a:r>
            <a:r>
              <a:rPr spc="-9" dirty="0"/>
              <a:t>functions</a:t>
            </a:r>
          </a:p>
        </p:txBody>
      </p:sp>
      <p:sp>
        <p:nvSpPr>
          <p:cNvPr id="3" name="object 3"/>
          <p:cNvSpPr txBox="1"/>
          <p:nvPr/>
        </p:nvSpPr>
        <p:spPr>
          <a:xfrm>
            <a:off x="1969684" y="1953504"/>
            <a:ext cx="3482550"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Some</a:t>
            </a:r>
            <a:r>
              <a:rPr sz="2539" i="1" spc="-36" dirty="0">
                <a:latin typeface="Arial"/>
                <a:cs typeface="Arial"/>
              </a:rPr>
              <a:t> </a:t>
            </a:r>
            <a:r>
              <a:rPr sz="2539" i="1" dirty="0">
                <a:latin typeface="Arial"/>
                <a:cs typeface="Arial"/>
              </a:rPr>
              <a:t>stuff</a:t>
            </a:r>
            <a:r>
              <a:rPr sz="2539" i="1" spc="-36" dirty="0">
                <a:latin typeface="Arial"/>
                <a:cs typeface="Arial"/>
              </a:rPr>
              <a:t> </a:t>
            </a:r>
            <a:r>
              <a:rPr sz="2539" i="1" dirty="0">
                <a:latin typeface="Arial"/>
                <a:cs typeface="Arial"/>
              </a:rPr>
              <a:t>to</a:t>
            </a:r>
            <a:r>
              <a:rPr sz="2539" i="1" spc="-14" dirty="0">
                <a:latin typeface="Arial"/>
                <a:cs typeface="Arial"/>
              </a:rPr>
              <a:t> </a:t>
            </a:r>
            <a:r>
              <a:rPr sz="2539" i="1" spc="-9" dirty="0">
                <a:latin typeface="Arial"/>
                <a:cs typeface="Arial"/>
              </a:rPr>
              <a:t>remember</a:t>
            </a:r>
            <a:endParaRPr sz="2539">
              <a:latin typeface="Arial"/>
              <a:cs typeface="Arial"/>
            </a:endParaRPr>
          </a:p>
        </p:txBody>
      </p:sp>
      <p:sp>
        <p:nvSpPr>
          <p:cNvPr id="4" name="object 4"/>
          <p:cNvSpPr txBox="1"/>
          <p:nvPr/>
        </p:nvSpPr>
        <p:spPr>
          <a:xfrm>
            <a:off x="2128610" y="256041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40" y="2510896"/>
            <a:ext cx="6454927" cy="386982"/>
          </a:xfrm>
          <a:prstGeom prst="rect">
            <a:avLst/>
          </a:prstGeom>
        </p:spPr>
        <p:txBody>
          <a:bodyPr vert="horz" wrap="square" lIns="0" tIns="27639" rIns="0" bIns="0" rtlCol="0">
            <a:spAutoFit/>
          </a:bodyPr>
          <a:lstStyle/>
          <a:p>
            <a:pPr marL="11516" marR="4607">
              <a:lnSpc>
                <a:spcPts val="1424"/>
              </a:lnSpc>
              <a:spcBef>
                <a:spcPts val="218"/>
              </a:spcBef>
            </a:pPr>
            <a:r>
              <a:rPr sz="1270" i="1" dirty="0">
                <a:latin typeface="Arial"/>
                <a:cs typeface="Arial"/>
              </a:rPr>
              <a:t>The</a:t>
            </a:r>
            <a:r>
              <a:rPr sz="1270" i="1" spc="-9" dirty="0">
                <a:latin typeface="Arial"/>
                <a:cs typeface="Arial"/>
              </a:rPr>
              <a:t> </a:t>
            </a:r>
            <a:r>
              <a:rPr sz="1270" i="1" dirty="0">
                <a:latin typeface="Arial"/>
                <a:cs typeface="Arial"/>
              </a:rPr>
              <a:t>cost</a:t>
            </a:r>
            <a:r>
              <a:rPr sz="1270" i="1" spc="5" dirty="0">
                <a:latin typeface="Arial"/>
                <a:cs typeface="Arial"/>
              </a:rPr>
              <a:t> </a:t>
            </a:r>
            <a:r>
              <a:rPr sz="1270" i="1" dirty="0">
                <a:latin typeface="Arial"/>
                <a:cs typeface="Arial"/>
              </a:rPr>
              <a:t>function distils the</a:t>
            </a:r>
            <a:r>
              <a:rPr sz="1270" i="1" spc="-5" dirty="0">
                <a:latin typeface="Arial"/>
                <a:cs typeface="Arial"/>
              </a:rPr>
              <a:t> </a:t>
            </a:r>
            <a:r>
              <a:rPr sz="1270" i="1" dirty="0">
                <a:latin typeface="Arial"/>
                <a:cs typeface="Arial"/>
              </a:rPr>
              <a:t>performance</a:t>
            </a:r>
            <a:r>
              <a:rPr sz="1270" i="1" spc="-5" dirty="0">
                <a:latin typeface="Arial"/>
                <a:cs typeface="Arial"/>
              </a:rPr>
              <a:t> </a:t>
            </a:r>
            <a:r>
              <a:rPr sz="1270" i="1" dirty="0">
                <a:latin typeface="Arial"/>
                <a:cs typeface="Arial"/>
              </a:rPr>
              <a:t>of</a:t>
            </a:r>
            <a:r>
              <a:rPr sz="1270" i="1" spc="5" dirty="0">
                <a:latin typeface="Arial"/>
                <a:cs typeface="Arial"/>
              </a:rPr>
              <a:t> </a:t>
            </a:r>
            <a:r>
              <a:rPr sz="1270" i="1" dirty="0">
                <a:latin typeface="Arial"/>
                <a:cs typeface="Arial"/>
              </a:rPr>
              <a:t>the network</a:t>
            </a:r>
            <a:r>
              <a:rPr sz="1270" i="1" spc="5" dirty="0">
                <a:latin typeface="Arial"/>
                <a:cs typeface="Arial"/>
              </a:rPr>
              <a:t> </a:t>
            </a:r>
            <a:r>
              <a:rPr sz="1270" i="1" dirty="0">
                <a:latin typeface="Arial"/>
                <a:cs typeface="Arial"/>
              </a:rPr>
              <a:t>down to</a:t>
            </a:r>
            <a:r>
              <a:rPr sz="1270" i="1" spc="-5" dirty="0">
                <a:latin typeface="Arial"/>
                <a:cs typeface="Arial"/>
              </a:rPr>
              <a:t> </a:t>
            </a:r>
            <a:r>
              <a:rPr sz="1270" i="1" dirty="0">
                <a:latin typeface="Arial"/>
                <a:cs typeface="Arial"/>
              </a:rPr>
              <a:t>a</a:t>
            </a:r>
            <a:r>
              <a:rPr sz="1270" i="1" spc="73" dirty="0">
                <a:latin typeface="Arial"/>
                <a:cs typeface="Arial"/>
              </a:rPr>
              <a:t> </a:t>
            </a:r>
            <a:r>
              <a:rPr sz="1270" b="1" i="1" dirty="0">
                <a:latin typeface="Arial"/>
                <a:cs typeface="Arial"/>
              </a:rPr>
              <a:t>single scalar</a:t>
            </a:r>
            <a:r>
              <a:rPr sz="1270" b="1" i="1" spc="5" dirty="0">
                <a:latin typeface="Arial"/>
                <a:cs typeface="Arial"/>
              </a:rPr>
              <a:t> </a:t>
            </a:r>
            <a:r>
              <a:rPr sz="1270" b="1" i="1" spc="-9" dirty="0">
                <a:latin typeface="Arial"/>
                <a:cs typeface="Arial"/>
              </a:rPr>
              <a:t>number</a:t>
            </a:r>
            <a:r>
              <a:rPr sz="1270" i="1" spc="-9" dirty="0">
                <a:latin typeface="Arial"/>
                <a:cs typeface="Arial"/>
              </a:rPr>
              <a:t>. </a:t>
            </a:r>
            <a:r>
              <a:rPr sz="1270" i="1" dirty="0">
                <a:latin typeface="Arial"/>
                <a:cs typeface="Arial"/>
              </a:rPr>
              <a:t>Generally</a:t>
            </a:r>
            <a:r>
              <a:rPr sz="1270" i="1" spc="-5" dirty="0">
                <a:latin typeface="Arial"/>
                <a:cs typeface="Arial"/>
              </a:rPr>
              <a:t> </a:t>
            </a:r>
            <a:r>
              <a:rPr sz="1270" i="1" dirty="0">
                <a:latin typeface="Arial"/>
                <a:cs typeface="Arial"/>
              </a:rPr>
              <a:t>(although</a:t>
            </a:r>
            <a:r>
              <a:rPr sz="1270" i="1" spc="-5" dirty="0">
                <a:latin typeface="Arial"/>
                <a:cs typeface="Arial"/>
              </a:rPr>
              <a:t> </a:t>
            </a:r>
            <a:r>
              <a:rPr sz="1270" i="1" dirty="0">
                <a:latin typeface="Arial"/>
                <a:cs typeface="Arial"/>
              </a:rPr>
              <a:t>not</a:t>
            </a:r>
            <a:r>
              <a:rPr sz="1270" i="1" spc="5" dirty="0">
                <a:latin typeface="Arial"/>
                <a:cs typeface="Arial"/>
              </a:rPr>
              <a:t> </a:t>
            </a:r>
            <a:r>
              <a:rPr sz="1270" i="1" dirty="0">
                <a:latin typeface="Arial"/>
                <a:cs typeface="Arial"/>
              </a:rPr>
              <a:t>necessarily)</a:t>
            </a:r>
            <a:r>
              <a:rPr sz="1270" i="1" spc="41" dirty="0">
                <a:latin typeface="Arial"/>
                <a:cs typeface="Arial"/>
              </a:rPr>
              <a:t> </a:t>
            </a:r>
            <a:r>
              <a:rPr sz="1270" b="1" i="1" dirty="0">
                <a:latin typeface="Arial"/>
                <a:cs typeface="Arial"/>
              </a:rPr>
              <a:t>loss</a:t>
            </a:r>
            <a:r>
              <a:rPr sz="1270" b="1" i="1" spc="9" dirty="0">
                <a:latin typeface="Arial"/>
                <a:cs typeface="Arial"/>
              </a:rPr>
              <a:t> </a:t>
            </a:r>
            <a:r>
              <a:rPr sz="1270" b="1" i="1" dirty="0">
                <a:latin typeface="Times New Roman"/>
                <a:cs typeface="Times New Roman"/>
              </a:rPr>
              <a:t>≥</a:t>
            </a:r>
            <a:r>
              <a:rPr sz="1270" b="1" i="1" spc="41" dirty="0">
                <a:latin typeface="Times New Roman"/>
                <a:cs typeface="Times New Roman"/>
              </a:rPr>
              <a:t> </a:t>
            </a:r>
            <a:r>
              <a:rPr sz="1270" b="1" i="1" dirty="0">
                <a:latin typeface="Arial"/>
                <a:cs typeface="Arial"/>
              </a:rPr>
              <a:t>0</a:t>
            </a:r>
            <a:r>
              <a:rPr sz="1270" b="1" i="1" spc="-5" dirty="0">
                <a:latin typeface="Arial"/>
                <a:cs typeface="Arial"/>
              </a:rPr>
              <a:t> </a:t>
            </a:r>
            <a:r>
              <a:rPr sz="1270" i="1" dirty="0">
                <a:latin typeface="Arial"/>
                <a:cs typeface="Arial"/>
              </a:rPr>
              <a:t>(so</a:t>
            </a:r>
            <a:r>
              <a:rPr sz="1270" i="1" spc="5" dirty="0">
                <a:latin typeface="Arial"/>
                <a:cs typeface="Arial"/>
              </a:rPr>
              <a:t> </a:t>
            </a:r>
            <a:r>
              <a:rPr sz="1270" b="1" i="1" dirty="0">
                <a:latin typeface="Arial"/>
                <a:cs typeface="Arial"/>
              </a:rPr>
              <a:t>cost </a:t>
            </a:r>
            <a:r>
              <a:rPr sz="1270" b="1" i="1" dirty="0">
                <a:latin typeface="Times New Roman"/>
                <a:cs typeface="Times New Roman"/>
              </a:rPr>
              <a:t>≥</a:t>
            </a:r>
            <a:r>
              <a:rPr sz="1270" b="1" i="1" spc="41" dirty="0">
                <a:latin typeface="Times New Roman"/>
                <a:cs typeface="Times New Roman"/>
              </a:rPr>
              <a:t> </a:t>
            </a:r>
            <a:r>
              <a:rPr sz="1270" b="1" i="1" dirty="0">
                <a:latin typeface="Arial"/>
                <a:cs typeface="Arial"/>
              </a:rPr>
              <a:t>0</a:t>
            </a:r>
            <a:r>
              <a:rPr sz="1270" b="1" i="1" spc="-5" dirty="0">
                <a:latin typeface="Arial"/>
                <a:cs typeface="Arial"/>
              </a:rPr>
              <a:t> </a:t>
            </a:r>
            <a:r>
              <a:rPr sz="1270" i="1" spc="-9" dirty="0">
                <a:latin typeface="Arial"/>
                <a:cs typeface="Arial"/>
              </a:rPr>
              <a:t>also)</a:t>
            </a:r>
            <a:endParaRPr sz="1270">
              <a:latin typeface="Arial"/>
              <a:cs typeface="Arial"/>
            </a:endParaRPr>
          </a:p>
        </p:txBody>
      </p:sp>
      <p:sp>
        <p:nvSpPr>
          <p:cNvPr id="6" name="object 6"/>
          <p:cNvSpPr txBox="1"/>
          <p:nvPr/>
        </p:nvSpPr>
        <p:spPr>
          <a:xfrm>
            <a:off x="2128610"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325539" y="2922030"/>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8" name="object 8"/>
          <p:cNvSpPr txBox="1"/>
          <p:nvPr/>
        </p:nvSpPr>
        <p:spPr>
          <a:xfrm>
            <a:off x="2521318" y="2873663"/>
            <a:ext cx="3789462"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cost=0</a:t>
            </a:r>
            <a:r>
              <a:rPr sz="1270" i="1" spc="5" dirty="0">
                <a:latin typeface="Arial"/>
                <a:cs typeface="Arial"/>
              </a:rPr>
              <a:t> </a:t>
            </a:r>
            <a:r>
              <a:rPr sz="1270" spc="-458" dirty="0">
                <a:latin typeface="Trebuchet MS"/>
                <a:cs typeface="Trebuchet MS"/>
              </a:rPr>
              <a:t>⇒</a:t>
            </a:r>
            <a:r>
              <a:rPr sz="1270" spc="222" dirty="0">
                <a:latin typeface="Trebuchet MS"/>
                <a:cs typeface="Trebuchet MS"/>
              </a:rPr>
              <a:t> </a:t>
            </a:r>
            <a:r>
              <a:rPr sz="1270" i="1" dirty="0">
                <a:latin typeface="Arial"/>
                <a:cs typeface="Arial"/>
              </a:rPr>
              <a:t>perfect</a:t>
            </a:r>
            <a:r>
              <a:rPr sz="1270" i="1" spc="18" dirty="0">
                <a:latin typeface="Arial"/>
                <a:cs typeface="Arial"/>
              </a:rPr>
              <a:t> </a:t>
            </a:r>
            <a:r>
              <a:rPr sz="1270" i="1" dirty="0">
                <a:latin typeface="Arial"/>
                <a:cs typeface="Arial"/>
              </a:rPr>
              <a:t>performance</a:t>
            </a:r>
            <a:r>
              <a:rPr sz="1270" i="1" spc="5" dirty="0">
                <a:latin typeface="Arial"/>
                <a:cs typeface="Arial"/>
              </a:rPr>
              <a:t> </a:t>
            </a:r>
            <a:r>
              <a:rPr sz="1270" i="1" dirty="0">
                <a:latin typeface="Arial"/>
                <a:cs typeface="Arial"/>
              </a:rPr>
              <a:t>(on the given</a:t>
            </a:r>
            <a:r>
              <a:rPr sz="1270" i="1" spc="5" dirty="0">
                <a:latin typeface="Arial"/>
                <a:cs typeface="Arial"/>
              </a:rPr>
              <a:t> </a:t>
            </a:r>
            <a:r>
              <a:rPr sz="1270" i="1" spc="-9" dirty="0">
                <a:latin typeface="Arial"/>
                <a:cs typeface="Arial"/>
              </a:rPr>
              <a:t>dataset)</a:t>
            </a:r>
            <a:endParaRPr sz="1270">
              <a:latin typeface="Arial"/>
              <a:cs typeface="Arial"/>
            </a:endParaRPr>
          </a:p>
        </p:txBody>
      </p:sp>
      <p:sp>
        <p:nvSpPr>
          <p:cNvPr id="9" name="object 9"/>
          <p:cNvSpPr txBox="1"/>
          <p:nvPr/>
        </p:nvSpPr>
        <p:spPr>
          <a:xfrm>
            <a:off x="2128610" y="310398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0" name="object 10"/>
          <p:cNvSpPr txBox="1"/>
          <p:nvPr/>
        </p:nvSpPr>
        <p:spPr>
          <a:xfrm>
            <a:off x="2325540" y="3054470"/>
            <a:ext cx="6305789"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The</a:t>
            </a:r>
            <a:r>
              <a:rPr sz="1270" i="1" spc="-14" dirty="0">
                <a:latin typeface="Arial"/>
                <a:cs typeface="Arial"/>
              </a:rPr>
              <a:t> </a:t>
            </a:r>
            <a:r>
              <a:rPr sz="1270" b="1" i="1" dirty="0">
                <a:latin typeface="Arial"/>
                <a:cs typeface="Arial"/>
              </a:rPr>
              <a:t>lower</a:t>
            </a:r>
            <a:r>
              <a:rPr sz="1270" b="1" i="1" spc="-14"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value</a:t>
            </a:r>
            <a:r>
              <a:rPr sz="1270" b="1" i="1" spc="-14" dirty="0">
                <a:latin typeface="Arial"/>
                <a:cs typeface="Arial"/>
              </a:rPr>
              <a:t> </a:t>
            </a:r>
            <a:r>
              <a:rPr sz="1270" b="1" i="1" dirty="0">
                <a:latin typeface="Arial"/>
                <a:cs typeface="Arial"/>
              </a:rPr>
              <a:t>of</a:t>
            </a:r>
            <a:r>
              <a:rPr sz="1270" b="1" i="1" spc="-14" dirty="0">
                <a:latin typeface="Arial"/>
                <a:cs typeface="Arial"/>
              </a:rPr>
              <a:t> </a:t>
            </a:r>
            <a:r>
              <a:rPr sz="1270" b="1" i="1" dirty="0">
                <a:latin typeface="Arial"/>
                <a:cs typeface="Arial"/>
              </a:rPr>
              <a:t>the</a:t>
            </a:r>
            <a:r>
              <a:rPr sz="1270" b="1" i="1" spc="-14" dirty="0">
                <a:latin typeface="Arial"/>
                <a:cs typeface="Arial"/>
              </a:rPr>
              <a:t> </a:t>
            </a:r>
            <a:r>
              <a:rPr sz="1270" b="1" i="1" dirty="0">
                <a:latin typeface="Arial"/>
                <a:cs typeface="Arial"/>
              </a:rPr>
              <a:t>cost</a:t>
            </a:r>
            <a:r>
              <a:rPr sz="1270" b="1" i="1" spc="-14" dirty="0">
                <a:latin typeface="Arial"/>
                <a:cs typeface="Arial"/>
              </a:rPr>
              <a:t> </a:t>
            </a:r>
            <a:r>
              <a:rPr sz="1270" b="1" i="1" dirty="0">
                <a:latin typeface="Arial"/>
                <a:cs typeface="Arial"/>
              </a:rPr>
              <a:t>function,</a:t>
            </a:r>
            <a:r>
              <a:rPr sz="1270" b="1" i="1" spc="-5"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better</a:t>
            </a:r>
            <a:r>
              <a:rPr sz="1270" b="1" i="1" spc="-5" dirty="0">
                <a:latin typeface="Arial"/>
                <a:cs typeface="Arial"/>
              </a:rPr>
              <a:t> </a:t>
            </a:r>
            <a:r>
              <a:rPr sz="1270" b="1" i="1" dirty="0">
                <a:latin typeface="Arial"/>
                <a:cs typeface="Arial"/>
              </a:rPr>
              <a:t>the</a:t>
            </a:r>
            <a:r>
              <a:rPr sz="1270" b="1" i="1" spc="-9" dirty="0">
                <a:latin typeface="Arial"/>
                <a:cs typeface="Arial"/>
              </a:rPr>
              <a:t> </a:t>
            </a:r>
            <a:r>
              <a:rPr sz="1270" b="1" i="1" dirty="0">
                <a:latin typeface="Arial"/>
                <a:cs typeface="Arial"/>
              </a:rPr>
              <a:t>performance</a:t>
            </a:r>
            <a:r>
              <a:rPr sz="1270" b="1" i="1" spc="41" dirty="0">
                <a:latin typeface="Arial"/>
                <a:cs typeface="Arial"/>
              </a:rPr>
              <a:t> </a:t>
            </a:r>
            <a:r>
              <a:rPr sz="1270" i="1" dirty="0">
                <a:latin typeface="Arial"/>
                <a:cs typeface="Arial"/>
              </a:rPr>
              <a:t>of</a:t>
            </a:r>
            <a:r>
              <a:rPr sz="1270" i="1" spc="-5" dirty="0">
                <a:latin typeface="Arial"/>
                <a:cs typeface="Arial"/>
              </a:rPr>
              <a:t> </a:t>
            </a:r>
            <a:r>
              <a:rPr sz="1270" i="1" dirty="0">
                <a:latin typeface="Arial"/>
                <a:cs typeface="Arial"/>
              </a:rPr>
              <a:t>the</a:t>
            </a:r>
            <a:r>
              <a:rPr sz="1270" i="1" spc="-9" dirty="0">
                <a:latin typeface="Arial"/>
                <a:cs typeface="Arial"/>
              </a:rPr>
              <a:t> network.</a:t>
            </a:r>
            <a:endParaRPr sz="1270">
              <a:latin typeface="Arial"/>
              <a:cs typeface="Arial"/>
            </a:endParaRPr>
          </a:p>
        </p:txBody>
      </p:sp>
      <p:sp>
        <p:nvSpPr>
          <p:cNvPr id="11" name="object 11"/>
          <p:cNvSpPr txBox="1"/>
          <p:nvPr/>
        </p:nvSpPr>
        <p:spPr>
          <a:xfrm>
            <a:off x="2325539" y="328479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2" name="object 12"/>
          <p:cNvSpPr txBox="1"/>
          <p:nvPr/>
        </p:nvSpPr>
        <p:spPr>
          <a:xfrm>
            <a:off x="2521317" y="3235276"/>
            <a:ext cx="1732062"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Hence</a:t>
            </a:r>
            <a:r>
              <a:rPr sz="1270" i="1" spc="-18" dirty="0">
                <a:latin typeface="Arial"/>
                <a:cs typeface="Arial"/>
              </a:rPr>
              <a:t> </a:t>
            </a:r>
            <a:r>
              <a:rPr sz="1270" i="1" dirty="0">
                <a:latin typeface="Arial"/>
                <a:cs typeface="Arial"/>
              </a:rPr>
              <a:t>gradient </a:t>
            </a:r>
            <a:r>
              <a:rPr sz="1270" i="1" u="sng" spc="-9" dirty="0">
                <a:uFill>
                  <a:solidFill>
                    <a:srgbClr val="000000"/>
                  </a:solidFill>
                </a:uFill>
                <a:latin typeface="Arial"/>
                <a:cs typeface="Arial"/>
              </a:rPr>
              <a:t>descent</a:t>
            </a:r>
            <a:endParaRPr sz="1270">
              <a:latin typeface="Arial"/>
              <a:cs typeface="Arial"/>
            </a:endParaRPr>
          </a:p>
        </p:txBody>
      </p:sp>
      <p:sp>
        <p:nvSpPr>
          <p:cNvPr id="13" name="object 13"/>
          <p:cNvSpPr txBox="1"/>
          <p:nvPr/>
        </p:nvSpPr>
        <p:spPr>
          <a:xfrm>
            <a:off x="2128610" y="346560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4" name="object 14"/>
          <p:cNvSpPr txBox="1"/>
          <p:nvPr/>
        </p:nvSpPr>
        <p:spPr>
          <a:xfrm>
            <a:off x="2325540" y="3417235"/>
            <a:ext cx="5056839" cy="207067"/>
          </a:xfrm>
          <a:prstGeom prst="rect">
            <a:avLst/>
          </a:prstGeom>
        </p:spPr>
        <p:txBody>
          <a:bodyPr vert="horz" wrap="square" lIns="0" tIns="11516" rIns="0" bIns="0" rtlCol="0">
            <a:spAutoFit/>
          </a:bodyPr>
          <a:lstStyle/>
          <a:p>
            <a:pPr marL="11516">
              <a:spcBef>
                <a:spcPts val="91"/>
              </a:spcBef>
            </a:pPr>
            <a:r>
              <a:rPr sz="1270" i="1" dirty="0">
                <a:latin typeface="Arial"/>
                <a:cs typeface="Arial"/>
              </a:rPr>
              <a:t>A</a:t>
            </a:r>
            <a:r>
              <a:rPr sz="1270" i="1" spc="-54" dirty="0">
                <a:latin typeface="Arial"/>
                <a:cs typeface="Arial"/>
              </a:rPr>
              <a:t> </a:t>
            </a:r>
            <a:r>
              <a:rPr sz="1270" i="1" dirty="0">
                <a:latin typeface="Arial"/>
                <a:cs typeface="Arial"/>
              </a:rPr>
              <a:t>cost function</a:t>
            </a:r>
            <a:r>
              <a:rPr sz="1270" i="1" spc="-5" dirty="0">
                <a:latin typeface="Arial"/>
                <a:cs typeface="Arial"/>
              </a:rPr>
              <a:t> </a:t>
            </a:r>
            <a:r>
              <a:rPr sz="1270" i="1" dirty="0">
                <a:latin typeface="Arial"/>
                <a:cs typeface="Arial"/>
              </a:rPr>
              <a:t>must</a:t>
            </a:r>
            <a:r>
              <a:rPr sz="1270" i="1" spc="14" dirty="0">
                <a:latin typeface="Arial"/>
                <a:cs typeface="Arial"/>
              </a:rPr>
              <a:t> </a:t>
            </a:r>
            <a:r>
              <a:rPr sz="1270" b="1" i="1" dirty="0">
                <a:latin typeface="Arial"/>
                <a:cs typeface="Arial"/>
              </a:rPr>
              <a:t>faithfully</a:t>
            </a:r>
            <a:r>
              <a:rPr sz="1270" b="1" i="1" spc="-9" dirty="0">
                <a:latin typeface="Arial"/>
                <a:cs typeface="Arial"/>
              </a:rPr>
              <a:t> </a:t>
            </a:r>
            <a:r>
              <a:rPr sz="1270" b="1" i="1" dirty="0">
                <a:latin typeface="Arial"/>
                <a:cs typeface="Arial"/>
              </a:rPr>
              <a:t>represent</a:t>
            </a:r>
            <a:r>
              <a:rPr sz="1270" b="1" i="1" spc="-5" dirty="0">
                <a:latin typeface="Arial"/>
                <a:cs typeface="Arial"/>
              </a:rPr>
              <a:t> </a:t>
            </a:r>
            <a:r>
              <a:rPr sz="1270" b="1" i="1" dirty="0">
                <a:latin typeface="Arial"/>
                <a:cs typeface="Arial"/>
              </a:rPr>
              <a:t>the</a:t>
            </a:r>
            <a:r>
              <a:rPr sz="1270" b="1" i="1" spc="-5" dirty="0">
                <a:latin typeface="Arial"/>
                <a:cs typeface="Arial"/>
              </a:rPr>
              <a:t> </a:t>
            </a:r>
            <a:r>
              <a:rPr sz="1270" b="1" i="1" dirty="0">
                <a:latin typeface="Arial"/>
                <a:cs typeface="Arial"/>
              </a:rPr>
              <a:t>purpose</a:t>
            </a:r>
            <a:r>
              <a:rPr sz="1270" b="1" i="1" spc="27" dirty="0">
                <a:latin typeface="Arial"/>
                <a:cs typeface="Arial"/>
              </a:rPr>
              <a:t> </a:t>
            </a:r>
            <a:r>
              <a:rPr sz="1270" i="1" dirty="0">
                <a:latin typeface="Arial"/>
                <a:cs typeface="Arial"/>
              </a:rPr>
              <a:t>of the</a:t>
            </a:r>
            <a:r>
              <a:rPr sz="1270" i="1" spc="-5" dirty="0">
                <a:latin typeface="Arial"/>
                <a:cs typeface="Arial"/>
              </a:rPr>
              <a:t> </a:t>
            </a:r>
            <a:r>
              <a:rPr sz="1270" i="1" spc="-9" dirty="0">
                <a:latin typeface="Arial"/>
                <a:cs typeface="Arial"/>
              </a:rPr>
              <a:t>network.</a:t>
            </a:r>
            <a:endParaRPr sz="1270">
              <a:latin typeface="Arial"/>
              <a:cs typeface="Arial"/>
            </a:endParaRPr>
          </a:p>
        </p:txBody>
      </p:sp>
      <p:pic>
        <p:nvPicPr>
          <p:cNvPr id="15" name="object 15"/>
          <p:cNvPicPr/>
          <p:nvPr/>
        </p:nvPicPr>
        <p:blipFill>
          <a:blip r:embed="rId2" cstate="print"/>
          <a:stretch>
            <a:fillRect/>
          </a:stretch>
        </p:blipFill>
        <p:spPr>
          <a:xfrm>
            <a:off x="2502893" y="4286721"/>
            <a:ext cx="1209219" cy="1043383"/>
          </a:xfrm>
          <a:prstGeom prst="rect">
            <a:avLst/>
          </a:prstGeom>
        </p:spPr>
      </p:pic>
      <p:pic>
        <p:nvPicPr>
          <p:cNvPr id="16" name="object 16"/>
          <p:cNvPicPr/>
          <p:nvPr/>
        </p:nvPicPr>
        <p:blipFill>
          <a:blip r:embed="rId3" cstate="print"/>
          <a:stretch>
            <a:fillRect/>
          </a:stretch>
        </p:blipFill>
        <p:spPr>
          <a:xfrm>
            <a:off x="4113654" y="4165421"/>
            <a:ext cx="2907489" cy="1312471"/>
          </a:xfrm>
          <a:prstGeom prst="rect">
            <a:avLst/>
          </a:prstGeom>
        </p:spPr>
      </p:pic>
      <p:grpSp>
        <p:nvGrpSpPr>
          <p:cNvPr id="17" name="object 17"/>
          <p:cNvGrpSpPr/>
          <p:nvPr/>
        </p:nvGrpSpPr>
        <p:grpSpPr>
          <a:xfrm>
            <a:off x="3824798" y="4269273"/>
            <a:ext cx="220538" cy="1078508"/>
            <a:chOff x="2537269" y="3761909"/>
            <a:chExt cx="243204" cy="1189355"/>
          </a:xfrm>
        </p:grpSpPr>
        <p:sp>
          <p:nvSpPr>
            <p:cNvPr id="18" name="object 18"/>
            <p:cNvSpPr/>
            <p:nvPr/>
          </p:nvSpPr>
          <p:spPr>
            <a:xfrm>
              <a:off x="2555240" y="3779880"/>
              <a:ext cx="207010" cy="1153160"/>
            </a:xfrm>
            <a:custGeom>
              <a:avLst/>
              <a:gdLst/>
              <a:ahLst/>
              <a:cxnLst/>
              <a:rect l="l" t="t" r="r" b="b"/>
              <a:pathLst>
                <a:path w="207010" h="1153160">
                  <a:moveTo>
                    <a:pt x="207010" y="0"/>
                  </a:moveTo>
                  <a:lnTo>
                    <a:pt x="168969" y="8294"/>
                  </a:lnTo>
                  <a:lnTo>
                    <a:pt x="136048" y="30162"/>
                  </a:lnTo>
                  <a:lnTo>
                    <a:pt x="112891" y="61079"/>
                  </a:lnTo>
                  <a:lnTo>
                    <a:pt x="104140" y="96520"/>
                  </a:lnTo>
                  <a:lnTo>
                    <a:pt x="104140" y="480060"/>
                  </a:lnTo>
                  <a:lnTo>
                    <a:pt x="95190" y="515500"/>
                  </a:lnTo>
                  <a:lnTo>
                    <a:pt x="71596" y="546417"/>
                  </a:lnTo>
                  <a:lnTo>
                    <a:pt x="38238" y="568285"/>
                  </a:lnTo>
                  <a:lnTo>
                    <a:pt x="0" y="576580"/>
                  </a:lnTo>
                  <a:lnTo>
                    <a:pt x="38238" y="584874"/>
                  </a:lnTo>
                  <a:lnTo>
                    <a:pt x="71596" y="606742"/>
                  </a:lnTo>
                  <a:lnTo>
                    <a:pt x="95190" y="637659"/>
                  </a:lnTo>
                  <a:lnTo>
                    <a:pt x="104140" y="673100"/>
                  </a:lnTo>
                  <a:lnTo>
                    <a:pt x="104140" y="1056640"/>
                  </a:lnTo>
                  <a:lnTo>
                    <a:pt x="112891" y="1092080"/>
                  </a:lnTo>
                  <a:lnTo>
                    <a:pt x="136048" y="1122997"/>
                  </a:lnTo>
                  <a:lnTo>
                    <a:pt x="168969" y="1144865"/>
                  </a:lnTo>
                  <a:lnTo>
                    <a:pt x="207010" y="1153160"/>
                  </a:lnTo>
                </a:path>
              </a:pathLst>
            </a:custGeom>
            <a:ln w="35941">
              <a:solidFill>
                <a:srgbClr val="3364A3"/>
              </a:solidFill>
            </a:ln>
          </p:spPr>
          <p:txBody>
            <a:bodyPr wrap="square" lIns="0" tIns="0" rIns="0" bIns="0" rtlCol="0"/>
            <a:lstStyle/>
            <a:p>
              <a:endParaRPr/>
            </a:p>
          </p:txBody>
        </p:sp>
        <p:sp>
          <p:nvSpPr>
            <p:cNvPr id="19" name="object 19"/>
            <p:cNvSpPr/>
            <p:nvPr/>
          </p:nvSpPr>
          <p:spPr>
            <a:xfrm>
              <a:off x="2537269" y="3761909"/>
              <a:ext cx="243204" cy="1189355"/>
            </a:xfrm>
            <a:custGeom>
              <a:avLst/>
              <a:gdLst/>
              <a:ahLst/>
              <a:cxnLst/>
              <a:rect l="l" t="t" r="r" b="b"/>
              <a:pathLst>
                <a:path w="243205" h="1189354">
                  <a:moveTo>
                    <a:pt x="35928" y="17970"/>
                  </a:moveTo>
                  <a:lnTo>
                    <a:pt x="30670" y="5270"/>
                  </a:lnTo>
                  <a:lnTo>
                    <a:pt x="17970" y="0"/>
                  </a:lnTo>
                  <a:lnTo>
                    <a:pt x="5257" y="5270"/>
                  </a:lnTo>
                  <a:lnTo>
                    <a:pt x="0" y="17970"/>
                  </a:lnTo>
                  <a:lnTo>
                    <a:pt x="5257" y="30683"/>
                  </a:lnTo>
                  <a:lnTo>
                    <a:pt x="17970" y="35941"/>
                  </a:lnTo>
                  <a:lnTo>
                    <a:pt x="30670" y="30683"/>
                  </a:lnTo>
                  <a:lnTo>
                    <a:pt x="35928" y="17970"/>
                  </a:lnTo>
                  <a:close/>
                </a:path>
                <a:path w="243205" h="1189354">
                  <a:moveTo>
                    <a:pt x="242951" y="1171130"/>
                  </a:moveTo>
                  <a:lnTo>
                    <a:pt x="237680" y="1158430"/>
                  </a:lnTo>
                  <a:lnTo>
                    <a:pt x="224980" y="1153160"/>
                  </a:lnTo>
                  <a:lnTo>
                    <a:pt x="212267" y="1158430"/>
                  </a:lnTo>
                  <a:lnTo>
                    <a:pt x="207010" y="1171130"/>
                  </a:lnTo>
                  <a:lnTo>
                    <a:pt x="212267" y="1183843"/>
                  </a:lnTo>
                  <a:lnTo>
                    <a:pt x="224980" y="1189101"/>
                  </a:lnTo>
                  <a:lnTo>
                    <a:pt x="237680" y="1183843"/>
                  </a:lnTo>
                  <a:lnTo>
                    <a:pt x="242951" y="1171130"/>
                  </a:lnTo>
                  <a:close/>
                </a:path>
              </a:pathLst>
            </a:custGeom>
            <a:solidFill>
              <a:srgbClr val="3364A3"/>
            </a:solidFill>
          </p:spPr>
          <p:txBody>
            <a:bodyPr wrap="square" lIns="0" tIns="0" rIns="0" bIns="0" rtlCol="0"/>
            <a:lstStyle/>
            <a:p>
              <a:endParaRPr/>
            </a:p>
          </p:txBody>
        </p:sp>
      </p:grpSp>
      <p:sp>
        <p:nvSpPr>
          <p:cNvPr id="20" name="object 20"/>
          <p:cNvSpPr txBox="1"/>
          <p:nvPr/>
        </p:nvSpPr>
        <p:spPr>
          <a:xfrm rot="20400000">
            <a:off x="6815235" y="4993096"/>
            <a:ext cx="313537" cy="166712"/>
          </a:xfrm>
          <a:prstGeom prst="rect">
            <a:avLst/>
          </a:prstGeom>
        </p:spPr>
        <p:txBody>
          <a:bodyPr vert="horz" wrap="square" lIns="0" tIns="0" rIns="0" bIns="0" rtlCol="0">
            <a:spAutoFit/>
          </a:bodyPr>
          <a:lstStyle/>
          <a:p>
            <a:pPr>
              <a:lnSpc>
                <a:spcPts val="1270"/>
              </a:lnSpc>
            </a:pPr>
            <a:r>
              <a:rPr sz="1270" i="1" spc="-23" dirty="0">
                <a:latin typeface="Arial"/>
                <a:cs typeface="Arial"/>
              </a:rPr>
              <a:t>dog</a:t>
            </a:r>
            <a:endParaRPr sz="1270">
              <a:latin typeface="Arial"/>
              <a:cs typeface="Arial"/>
            </a:endParaRPr>
          </a:p>
        </p:txBody>
      </p:sp>
      <p:sp>
        <p:nvSpPr>
          <p:cNvPr id="21" name="object 21"/>
          <p:cNvSpPr txBox="1"/>
          <p:nvPr/>
        </p:nvSpPr>
        <p:spPr>
          <a:xfrm rot="1140000">
            <a:off x="6841401" y="4492987"/>
            <a:ext cx="271795" cy="166712"/>
          </a:xfrm>
          <a:prstGeom prst="rect">
            <a:avLst/>
          </a:prstGeom>
        </p:spPr>
        <p:txBody>
          <a:bodyPr vert="horz" wrap="square" lIns="0" tIns="0" rIns="0" bIns="0" rtlCol="0">
            <a:spAutoFit/>
          </a:bodyPr>
          <a:lstStyle/>
          <a:p>
            <a:pPr>
              <a:lnSpc>
                <a:spcPts val="1270"/>
              </a:lnSpc>
            </a:pPr>
            <a:r>
              <a:rPr sz="1270" i="1" spc="-23" dirty="0">
                <a:latin typeface="Arial"/>
                <a:cs typeface="Arial"/>
              </a:rPr>
              <a:t>cat</a:t>
            </a:r>
            <a:endParaRPr sz="1270">
              <a:latin typeface="Arial"/>
              <a:cs typeface="Arial"/>
            </a:endParaRPr>
          </a:p>
        </p:txBody>
      </p:sp>
      <p:sp>
        <p:nvSpPr>
          <p:cNvPr id="22" name="object 22"/>
          <p:cNvSpPr txBox="1"/>
          <p:nvPr/>
        </p:nvSpPr>
        <p:spPr>
          <a:xfrm>
            <a:off x="7282188" y="4492865"/>
            <a:ext cx="294243" cy="545575"/>
          </a:xfrm>
          <a:prstGeom prst="rect">
            <a:avLst/>
          </a:prstGeom>
        </p:spPr>
        <p:txBody>
          <a:bodyPr vert="horz" wrap="square" lIns="0" tIns="107102" rIns="0" bIns="0" rtlCol="0">
            <a:spAutoFit/>
          </a:bodyPr>
          <a:lstStyle/>
          <a:p>
            <a:pPr marL="11516">
              <a:spcBef>
                <a:spcPts val="843"/>
              </a:spcBef>
            </a:pPr>
            <a:r>
              <a:rPr sz="1088" i="1" spc="-18" dirty="0">
                <a:latin typeface="Arial"/>
                <a:cs typeface="Arial"/>
              </a:rPr>
              <a:t>0.85</a:t>
            </a:r>
            <a:endParaRPr sz="1088">
              <a:latin typeface="Arial"/>
              <a:cs typeface="Arial"/>
            </a:endParaRPr>
          </a:p>
          <a:p>
            <a:pPr marL="12668">
              <a:spcBef>
                <a:spcPts val="753"/>
              </a:spcBef>
            </a:pPr>
            <a:r>
              <a:rPr sz="1088" i="1" spc="-18" dirty="0">
                <a:latin typeface="Arial"/>
                <a:cs typeface="Arial"/>
              </a:rPr>
              <a:t>0.15</a:t>
            </a:r>
            <a:endParaRPr sz="1088">
              <a:latin typeface="Arial"/>
              <a:cs typeface="Arial"/>
            </a:endParaRPr>
          </a:p>
        </p:txBody>
      </p:sp>
      <p:sp>
        <p:nvSpPr>
          <p:cNvPr id="23" name="object 23"/>
          <p:cNvSpPr txBox="1"/>
          <p:nvPr/>
        </p:nvSpPr>
        <p:spPr>
          <a:xfrm>
            <a:off x="8052632" y="4481347"/>
            <a:ext cx="1633022" cy="503334"/>
          </a:xfrm>
          <a:prstGeom prst="rect">
            <a:avLst/>
          </a:prstGeom>
          <a:ln w="35940">
            <a:solidFill>
              <a:srgbClr val="3364A3"/>
            </a:solidFill>
          </a:ln>
        </p:spPr>
        <p:txBody>
          <a:bodyPr vert="horz" wrap="square" lIns="0" tIns="117466" rIns="0" bIns="0" rtlCol="0">
            <a:spAutoFit/>
          </a:bodyPr>
          <a:lstStyle/>
          <a:p>
            <a:pPr marL="155471">
              <a:lnSpc>
                <a:spcPts val="1478"/>
              </a:lnSpc>
              <a:spcBef>
                <a:spcPts val="924"/>
              </a:spcBef>
              <a:tabLst>
                <a:tab pos="1109601" algn="l"/>
              </a:tabLst>
            </a:pPr>
            <a:r>
              <a:rPr sz="1270" b="1" i="1" spc="-9" dirty="0">
                <a:latin typeface="Arial"/>
                <a:cs typeface="Arial"/>
              </a:rPr>
              <a:t>Accuracy</a:t>
            </a:r>
            <a:r>
              <a:rPr sz="1270" i="1" spc="-9" dirty="0">
                <a:latin typeface="Arial"/>
                <a:cs typeface="Arial"/>
              </a:rPr>
              <a:t>:</a:t>
            </a:r>
            <a:r>
              <a:rPr sz="1270" i="1" dirty="0">
                <a:latin typeface="Arial"/>
                <a:cs typeface="Arial"/>
              </a:rPr>
              <a:t>	</a:t>
            </a:r>
            <a:r>
              <a:rPr sz="1270" i="1" spc="-45" dirty="0">
                <a:latin typeface="Arial"/>
                <a:cs typeface="Arial"/>
              </a:rPr>
              <a:t>1</a:t>
            </a:r>
            <a:endParaRPr sz="1270">
              <a:latin typeface="Arial"/>
              <a:cs typeface="Arial"/>
            </a:endParaRPr>
          </a:p>
          <a:p>
            <a:pPr marL="155471">
              <a:lnSpc>
                <a:spcPts val="1478"/>
              </a:lnSpc>
            </a:pPr>
            <a:r>
              <a:rPr sz="1270" b="1" i="1" dirty="0">
                <a:latin typeface="Arial"/>
                <a:cs typeface="Arial"/>
              </a:rPr>
              <a:t>Loss</a:t>
            </a:r>
            <a:r>
              <a:rPr sz="1270" b="1" i="1" spc="-27" dirty="0">
                <a:latin typeface="Arial"/>
                <a:cs typeface="Arial"/>
              </a:rPr>
              <a:t> </a:t>
            </a:r>
            <a:r>
              <a:rPr sz="1270" b="1" i="1" dirty="0">
                <a:latin typeface="Arial"/>
                <a:cs typeface="Arial"/>
              </a:rPr>
              <a:t>(CCE)</a:t>
            </a:r>
            <a:r>
              <a:rPr sz="1270" i="1" dirty="0">
                <a:latin typeface="Arial"/>
                <a:cs typeface="Arial"/>
              </a:rPr>
              <a:t>:</a:t>
            </a:r>
            <a:r>
              <a:rPr sz="1270" i="1" spc="-18" dirty="0">
                <a:latin typeface="Arial"/>
                <a:cs typeface="Arial"/>
              </a:rPr>
              <a:t> 0.07</a:t>
            </a:r>
            <a:endParaRPr sz="1270">
              <a:latin typeface="Arial"/>
              <a:cs typeface="Arial"/>
            </a:endParaRPr>
          </a:p>
        </p:txBody>
      </p:sp>
      <p:grpSp>
        <p:nvGrpSpPr>
          <p:cNvPr id="24" name="object 24"/>
          <p:cNvGrpSpPr/>
          <p:nvPr/>
        </p:nvGrpSpPr>
        <p:grpSpPr>
          <a:xfrm>
            <a:off x="7012703" y="4654094"/>
            <a:ext cx="247602" cy="325913"/>
            <a:chOff x="6052820" y="4186280"/>
            <a:chExt cx="273050" cy="359410"/>
          </a:xfrm>
        </p:grpSpPr>
        <p:sp>
          <p:nvSpPr>
            <p:cNvPr id="25" name="object 25"/>
            <p:cNvSpPr/>
            <p:nvPr/>
          </p:nvSpPr>
          <p:spPr>
            <a:xfrm>
              <a:off x="6052820" y="4239620"/>
              <a:ext cx="194310" cy="0"/>
            </a:xfrm>
            <a:custGeom>
              <a:avLst/>
              <a:gdLst/>
              <a:ahLst/>
              <a:cxnLst/>
              <a:rect l="l" t="t" r="r" b="b"/>
              <a:pathLst>
                <a:path w="194310">
                  <a:moveTo>
                    <a:pt x="0" y="0"/>
                  </a:moveTo>
                  <a:lnTo>
                    <a:pt x="194309" y="0"/>
                  </a:lnTo>
                </a:path>
              </a:pathLst>
            </a:custGeom>
            <a:ln w="3175">
              <a:solidFill>
                <a:srgbClr val="000000"/>
              </a:solidFill>
            </a:ln>
          </p:spPr>
          <p:txBody>
            <a:bodyPr wrap="square" lIns="0" tIns="0" rIns="0" bIns="0" rtlCol="0"/>
            <a:lstStyle/>
            <a:p>
              <a:endParaRPr/>
            </a:p>
          </p:txBody>
        </p:sp>
        <p:sp>
          <p:nvSpPr>
            <p:cNvPr id="26" name="object 26"/>
            <p:cNvSpPr/>
            <p:nvPr/>
          </p:nvSpPr>
          <p:spPr>
            <a:xfrm>
              <a:off x="6239510" y="4186280"/>
              <a:ext cx="86360" cy="107950"/>
            </a:xfrm>
            <a:custGeom>
              <a:avLst/>
              <a:gdLst/>
              <a:ahLst/>
              <a:cxnLst/>
              <a:rect l="l" t="t" r="r" b="b"/>
              <a:pathLst>
                <a:path w="86360" h="107950">
                  <a:moveTo>
                    <a:pt x="0" y="0"/>
                  </a:moveTo>
                  <a:lnTo>
                    <a:pt x="0" y="107950"/>
                  </a:lnTo>
                  <a:lnTo>
                    <a:pt x="86360" y="53340"/>
                  </a:lnTo>
                  <a:lnTo>
                    <a:pt x="0" y="0"/>
                  </a:lnTo>
                  <a:close/>
                </a:path>
              </a:pathLst>
            </a:custGeom>
            <a:solidFill>
              <a:srgbClr val="000000"/>
            </a:solidFill>
          </p:spPr>
          <p:txBody>
            <a:bodyPr wrap="square" lIns="0" tIns="0" rIns="0" bIns="0" rtlCol="0"/>
            <a:lstStyle/>
            <a:p>
              <a:endParaRPr/>
            </a:p>
          </p:txBody>
        </p:sp>
        <p:sp>
          <p:nvSpPr>
            <p:cNvPr id="27" name="object 27"/>
            <p:cNvSpPr/>
            <p:nvPr/>
          </p:nvSpPr>
          <p:spPr>
            <a:xfrm>
              <a:off x="6052820" y="4492350"/>
              <a:ext cx="194310" cy="0"/>
            </a:xfrm>
            <a:custGeom>
              <a:avLst/>
              <a:gdLst/>
              <a:ahLst/>
              <a:cxnLst/>
              <a:rect l="l" t="t" r="r" b="b"/>
              <a:pathLst>
                <a:path w="194310">
                  <a:moveTo>
                    <a:pt x="0" y="0"/>
                  </a:moveTo>
                  <a:lnTo>
                    <a:pt x="194309" y="0"/>
                  </a:lnTo>
                </a:path>
              </a:pathLst>
            </a:custGeom>
            <a:ln w="3175">
              <a:solidFill>
                <a:srgbClr val="000000"/>
              </a:solidFill>
            </a:ln>
          </p:spPr>
          <p:txBody>
            <a:bodyPr wrap="square" lIns="0" tIns="0" rIns="0" bIns="0" rtlCol="0"/>
            <a:lstStyle/>
            <a:p>
              <a:endParaRPr/>
            </a:p>
          </p:txBody>
        </p:sp>
        <p:sp>
          <p:nvSpPr>
            <p:cNvPr id="28" name="object 28"/>
            <p:cNvSpPr/>
            <p:nvPr/>
          </p:nvSpPr>
          <p:spPr>
            <a:xfrm>
              <a:off x="6239510" y="4437740"/>
              <a:ext cx="86360" cy="107950"/>
            </a:xfrm>
            <a:custGeom>
              <a:avLst/>
              <a:gdLst/>
              <a:ahLst/>
              <a:cxnLst/>
              <a:rect l="l" t="t" r="r" b="b"/>
              <a:pathLst>
                <a:path w="86360" h="107950">
                  <a:moveTo>
                    <a:pt x="0" y="0"/>
                  </a:moveTo>
                  <a:lnTo>
                    <a:pt x="0" y="107950"/>
                  </a:lnTo>
                  <a:lnTo>
                    <a:pt x="86360" y="54609"/>
                  </a:lnTo>
                  <a:lnTo>
                    <a:pt x="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6242704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901731">
              <a:spcBef>
                <a:spcPts val="91"/>
              </a:spcBef>
            </a:pPr>
            <a:r>
              <a:rPr dirty="0"/>
              <a:t>Loss/Cost</a:t>
            </a:r>
            <a:r>
              <a:rPr spc="-141" dirty="0"/>
              <a:t> </a:t>
            </a:r>
            <a:r>
              <a:rPr spc="-9" dirty="0"/>
              <a:t>functions</a:t>
            </a:r>
          </a:p>
        </p:txBody>
      </p:sp>
      <p:sp>
        <p:nvSpPr>
          <p:cNvPr id="3" name="object 3"/>
          <p:cNvSpPr txBox="1"/>
          <p:nvPr/>
        </p:nvSpPr>
        <p:spPr>
          <a:xfrm>
            <a:off x="1969685" y="1953504"/>
            <a:ext cx="2085615"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Loss</a:t>
            </a:r>
            <a:r>
              <a:rPr sz="2539" i="1" spc="-50" dirty="0">
                <a:latin typeface="Arial"/>
                <a:cs typeface="Arial"/>
              </a:rPr>
              <a:t> </a:t>
            </a:r>
            <a:r>
              <a:rPr sz="2539" i="1" spc="-9" dirty="0">
                <a:latin typeface="Arial"/>
                <a:cs typeface="Arial"/>
              </a:rPr>
              <a:t>functions</a:t>
            </a:r>
            <a:endParaRPr sz="2539">
              <a:latin typeface="Arial"/>
              <a:cs typeface="Arial"/>
            </a:endParaRPr>
          </a:p>
        </p:txBody>
      </p:sp>
      <p:sp>
        <p:nvSpPr>
          <p:cNvPr id="4" name="object 4"/>
          <p:cNvSpPr txBox="1"/>
          <p:nvPr/>
        </p:nvSpPr>
        <p:spPr>
          <a:xfrm>
            <a:off x="2129761" y="256041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39" y="2510897"/>
            <a:ext cx="1073326" cy="207067"/>
          </a:xfrm>
          <a:prstGeom prst="rect">
            <a:avLst/>
          </a:prstGeom>
        </p:spPr>
        <p:txBody>
          <a:bodyPr vert="horz" wrap="square" lIns="0" tIns="11516" rIns="0" bIns="0" rtlCol="0">
            <a:spAutoFit/>
          </a:bodyPr>
          <a:lstStyle/>
          <a:p>
            <a:pPr marL="11516">
              <a:spcBef>
                <a:spcPts val="91"/>
              </a:spcBef>
            </a:pPr>
            <a:r>
              <a:rPr sz="1270" b="1" i="1" spc="-9" dirty="0">
                <a:latin typeface="Arial"/>
                <a:cs typeface="Arial"/>
              </a:rPr>
              <a:t>Classification</a:t>
            </a:r>
            <a:endParaRPr sz="1270">
              <a:latin typeface="Arial"/>
              <a:cs typeface="Arial"/>
            </a:endParaRPr>
          </a:p>
        </p:txBody>
      </p:sp>
      <p:sp>
        <p:nvSpPr>
          <p:cNvPr id="6" name="object 6"/>
          <p:cNvSpPr txBox="1"/>
          <p:nvPr/>
        </p:nvSpPr>
        <p:spPr>
          <a:xfrm>
            <a:off x="2325539"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521318" y="2692855"/>
            <a:ext cx="2516327" cy="575885"/>
          </a:xfrm>
          <a:prstGeom prst="rect">
            <a:avLst/>
          </a:prstGeom>
        </p:spPr>
        <p:txBody>
          <a:bodyPr vert="horz" wrap="square" lIns="0" tIns="11516" rIns="0" bIns="0" rtlCol="0">
            <a:spAutoFit/>
          </a:bodyPr>
          <a:lstStyle/>
          <a:p>
            <a:pPr marL="11516">
              <a:lnSpc>
                <a:spcPts val="1474"/>
              </a:lnSpc>
              <a:spcBef>
                <a:spcPts val="91"/>
              </a:spcBef>
            </a:pPr>
            <a:r>
              <a:rPr sz="1270" i="1" dirty="0">
                <a:latin typeface="Arial"/>
                <a:cs typeface="Arial"/>
              </a:rPr>
              <a:t>Maximum</a:t>
            </a:r>
            <a:r>
              <a:rPr sz="1270" i="1" spc="-14" dirty="0">
                <a:latin typeface="Arial"/>
                <a:cs typeface="Arial"/>
              </a:rPr>
              <a:t> </a:t>
            </a:r>
            <a:r>
              <a:rPr sz="1270" i="1" spc="-9" dirty="0">
                <a:latin typeface="Arial"/>
                <a:cs typeface="Arial"/>
              </a:rPr>
              <a:t>likelihood</a:t>
            </a:r>
            <a:endParaRPr sz="1270">
              <a:latin typeface="Arial"/>
              <a:cs typeface="Arial"/>
            </a:endParaRPr>
          </a:p>
          <a:p>
            <a:pPr marL="11516" marR="4607">
              <a:lnSpc>
                <a:spcPts val="1424"/>
              </a:lnSpc>
              <a:spcBef>
                <a:spcPts val="82"/>
              </a:spcBef>
            </a:pPr>
            <a:r>
              <a:rPr sz="1270" i="1" dirty="0">
                <a:latin typeface="Arial"/>
                <a:cs typeface="Arial"/>
              </a:rPr>
              <a:t>Binary cross-entropy</a:t>
            </a:r>
            <a:r>
              <a:rPr sz="1270" i="1" spc="5" dirty="0">
                <a:latin typeface="Arial"/>
                <a:cs typeface="Arial"/>
              </a:rPr>
              <a:t> </a:t>
            </a:r>
            <a:r>
              <a:rPr sz="1270" i="1" dirty="0">
                <a:latin typeface="Arial"/>
                <a:cs typeface="Arial"/>
              </a:rPr>
              <a:t>(aka</a:t>
            </a:r>
            <a:r>
              <a:rPr sz="1270" i="1" spc="-5" dirty="0">
                <a:latin typeface="Arial"/>
                <a:cs typeface="Arial"/>
              </a:rPr>
              <a:t> </a:t>
            </a:r>
            <a:r>
              <a:rPr sz="1270" i="1" dirty="0">
                <a:latin typeface="Arial"/>
                <a:cs typeface="Arial"/>
              </a:rPr>
              <a:t>log</a:t>
            </a:r>
            <a:r>
              <a:rPr sz="1270" i="1" spc="-5" dirty="0">
                <a:latin typeface="Arial"/>
                <a:cs typeface="Arial"/>
              </a:rPr>
              <a:t> </a:t>
            </a:r>
            <a:r>
              <a:rPr sz="1270" i="1" spc="-18" dirty="0">
                <a:latin typeface="Arial"/>
                <a:cs typeface="Arial"/>
              </a:rPr>
              <a:t>loss) </a:t>
            </a:r>
            <a:r>
              <a:rPr sz="1270" i="1" dirty="0">
                <a:latin typeface="Arial"/>
                <a:cs typeface="Arial"/>
              </a:rPr>
              <a:t>Categorical</a:t>
            </a:r>
            <a:r>
              <a:rPr sz="1270" i="1" spc="-14" dirty="0">
                <a:latin typeface="Arial"/>
                <a:cs typeface="Arial"/>
              </a:rPr>
              <a:t> </a:t>
            </a:r>
            <a:r>
              <a:rPr sz="1270" i="1" dirty="0">
                <a:latin typeface="Arial"/>
                <a:cs typeface="Arial"/>
              </a:rPr>
              <a:t>cross-</a:t>
            </a:r>
            <a:r>
              <a:rPr sz="1270" i="1" spc="-9" dirty="0">
                <a:latin typeface="Arial"/>
                <a:cs typeface="Arial"/>
              </a:rPr>
              <a:t>entropy</a:t>
            </a:r>
            <a:endParaRPr sz="1270">
              <a:latin typeface="Arial"/>
              <a:cs typeface="Arial"/>
            </a:endParaRPr>
          </a:p>
        </p:txBody>
      </p:sp>
      <p:sp>
        <p:nvSpPr>
          <p:cNvPr id="8" name="object 8"/>
          <p:cNvSpPr txBox="1"/>
          <p:nvPr/>
        </p:nvSpPr>
        <p:spPr>
          <a:xfrm>
            <a:off x="2325539" y="292318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9" name="object 9"/>
          <p:cNvSpPr txBox="1"/>
          <p:nvPr/>
        </p:nvSpPr>
        <p:spPr>
          <a:xfrm>
            <a:off x="2325539" y="310398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0" name="object 10"/>
          <p:cNvSpPr txBox="1"/>
          <p:nvPr/>
        </p:nvSpPr>
        <p:spPr>
          <a:xfrm>
            <a:off x="2129761" y="328479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1" name="object 11"/>
          <p:cNvSpPr txBox="1"/>
          <p:nvPr/>
        </p:nvSpPr>
        <p:spPr>
          <a:xfrm>
            <a:off x="2325540" y="3236428"/>
            <a:ext cx="2943009" cy="207067"/>
          </a:xfrm>
          <a:prstGeom prst="rect">
            <a:avLst/>
          </a:prstGeom>
        </p:spPr>
        <p:txBody>
          <a:bodyPr vert="horz" wrap="square" lIns="0" tIns="11516" rIns="0" bIns="0" rtlCol="0">
            <a:spAutoFit/>
          </a:bodyPr>
          <a:lstStyle/>
          <a:p>
            <a:pPr marL="11516">
              <a:spcBef>
                <a:spcPts val="91"/>
              </a:spcBef>
            </a:pPr>
            <a:r>
              <a:rPr sz="1270" b="1" i="1" dirty="0">
                <a:latin typeface="Arial"/>
                <a:cs typeface="Arial"/>
              </a:rPr>
              <a:t>Regression</a:t>
            </a:r>
            <a:r>
              <a:rPr sz="1270" b="1" i="1" spc="-5" dirty="0">
                <a:latin typeface="Arial"/>
                <a:cs typeface="Arial"/>
              </a:rPr>
              <a:t> </a:t>
            </a:r>
            <a:r>
              <a:rPr sz="1270" i="1" dirty="0">
                <a:latin typeface="Arial"/>
                <a:cs typeface="Arial"/>
              </a:rPr>
              <a:t>(i.e.</a:t>
            </a:r>
            <a:r>
              <a:rPr sz="1270" i="1" spc="-5" dirty="0">
                <a:latin typeface="Arial"/>
                <a:cs typeface="Arial"/>
              </a:rPr>
              <a:t> </a:t>
            </a:r>
            <a:r>
              <a:rPr sz="1270" i="1" dirty="0">
                <a:latin typeface="Arial"/>
                <a:cs typeface="Arial"/>
              </a:rPr>
              <a:t>function</a:t>
            </a:r>
            <a:r>
              <a:rPr sz="1270" i="1" spc="-18" dirty="0">
                <a:latin typeface="Arial"/>
                <a:cs typeface="Arial"/>
              </a:rPr>
              <a:t> </a:t>
            </a:r>
            <a:r>
              <a:rPr sz="1270" i="1" spc="-9" dirty="0">
                <a:latin typeface="Arial"/>
                <a:cs typeface="Arial"/>
              </a:rPr>
              <a:t>approximation)</a:t>
            </a:r>
            <a:endParaRPr sz="1270">
              <a:latin typeface="Arial"/>
              <a:cs typeface="Arial"/>
            </a:endParaRPr>
          </a:p>
        </p:txBody>
      </p:sp>
      <p:sp>
        <p:nvSpPr>
          <p:cNvPr id="12" name="object 12"/>
          <p:cNvSpPr txBox="1"/>
          <p:nvPr/>
        </p:nvSpPr>
        <p:spPr>
          <a:xfrm>
            <a:off x="2325539" y="3466754"/>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3" name="object 13"/>
          <p:cNvSpPr txBox="1"/>
          <p:nvPr/>
        </p:nvSpPr>
        <p:spPr>
          <a:xfrm>
            <a:off x="2521317" y="3417236"/>
            <a:ext cx="1498280" cy="574951"/>
          </a:xfrm>
          <a:prstGeom prst="rect">
            <a:avLst/>
          </a:prstGeom>
        </p:spPr>
        <p:txBody>
          <a:bodyPr vert="horz" wrap="square" lIns="0" tIns="23608" rIns="0" bIns="0" rtlCol="0">
            <a:spAutoFit/>
          </a:bodyPr>
          <a:lstStyle/>
          <a:p>
            <a:pPr marL="11516" marR="4607" algn="just">
              <a:lnSpc>
                <a:spcPct val="93700"/>
              </a:lnSpc>
              <a:spcBef>
                <a:spcPts val="185"/>
              </a:spcBef>
            </a:pPr>
            <a:r>
              <a:rPr sz="1270" i="1" dirty="0">
                <a:latin typeface="Arial"/>
                <a:cs typeface="Arial"/>
              </a:rPr>
              <a:t>Mean</a:t>
            </a:r>
            <a:r>
              <a:rPr sz="1270" i="1" spc="-23" dirty="0">
                <a:latin typeface="Arial"/>
                <a:cs typeface="Arial"/>
              </a:rPr>
              <a:t> </a:t>
            </a:r>
            <a:r>
              <a:rPr sz="1270" i="1" dirty="0">
                <a:latin typeface="Arial"/>
                <a:cs typeface="Arial"/>
              </a:rPr>
              <a:t>Squared</a:t>
            </a:r>
            <a:r>
              <a:rPr sz="1270" i="1" spc="-18" dirty="0">
                <a:latin typeface="Arial"/>
                <a:cs typeface="Arial"/>
              </a:rPr>
              <a:t> Error </a:t>
            </a:r>
            <a:r>
              <a:rPr sz="1270" i="1" dirty="0">
                <a:latin typeface="Arial"/>
                <a:cs typeface="Arial"/>
              </a:rPr>
              <a:t>Mean</a:t>
            </a:r>
            <a:r>
              <a:rPr sz="1270" i="1" spc="-63" dirty="0">
                <a:latin typeface="Arial"/>
                <a:cs typeface="Arial"/>
              </a:rPr>
              <a:t> </a:t>
            </a:r>
            <a:r>
              <a:rPr sz="1270" i="1" dirty="0">
                <a:latin typeface="Arial"/>
                <a:cs typeface="Arial"/>
              </a:rPr>
              <a:t>Absolute</a:t>
            </a:r>
            <a:r>
              <a:rPr sz="1270" i="1" spc="-14" dirty="0">
                <a:latin typeface="Arial"/>
                <a:cs typeface="Arial"/>
              </a:rPr>
              <a:t> </a:t>
            </a:r>
            <a:r>
              <a:rPr sz="1270" i="1" spc="-18" dirty="0">
                <a:latin typeface="Arial"/>
                <a:cs typeface="Arial"/>
              </a:rPr>
              <a:t>Error </a:t>
            </a:r>
            <a:r>
              <a:rPr sz="1270" i="1" dirty="0">
                <a:latin typeface="Arial"/>
                <a:cs typeface="Arial"/>
              </a:rPr>
              <a:t>Huber</a:t>
            </a:r>
            <a:r>
              <a:rPr sz="1270" i="1" spc="-18" dirty="0">
                <a:latin typeface="Arial"/>
                <a:cs typeface="Arial"/>
              </a:rPr>
              <a:t> Loss</a:t>
            </a:r>
            <a:endParaRPr sz="1270">
              <a:latin typeface="Arial"/>
              <a:cs typeface="Arial"/>
            </a:endParaRPr>
          </a:p>
        </p:txBody>
      </p:sp>
      <p:sp>
        <p:nvSpPr>
          <p:cNvPr id="14" name="object 14"/>
          <p:cNvSpPr txBox="1"/>
          <p:nvPr/>
        </p:nvSpPr>
        <p:spPr>
          <a:xfrm>
            <a:off x="2325539" y="364756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15" name="object 15"/>
          <p:cNvSpPr txBox="1"/>
          <p:nvPr/>
        </p:nvSpPr>
        <p:spPr>
          <a:xfrm>
            <a:off x="2325539" y="382836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Tree>
    <p:extLst>
      <p:ext uri="{BB962C8B-B14F-4D97-AF65-F5344CB8AC3E}">
        <p14:creationId xmlns:p14="http://schemas.microsoft.com/office/powerpoint/2010/main" val="11138895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3" name="object 3"/>
          <p:cNvSpPr txBox="1"/>
          <p:nvPr/>
        </p:nvSpPr>
        <p:spPr>
          <a:xfrm>
            <a:off x="1969685" y="1953504"/>
            <a:ext cx="2085615"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Loss</a:t>
            </a:r>
            <a:r>
              <a:rPr sz="2539" i="1" spc="-50" dirty="0">
                <a:latin typeface="Arial"/>
                <a:cs typeface="Arial"/>
              </a:rPr>
              <a:t> </a:t>
            </a:r>
            <a:r>
              <a:rPr sz="2539" i="1" spc="-9" dirty="0">
                <a:latin typeface="Arial"/>
                <a:cs typeface="Arial"/>
              </a:rPr>
              <a:t>functions</a:t>
            </a:r>
            <a:endParaRPr sz="2539">
              <a:latin typeface="Arial"/>
              <a:cs typeface="Arial"/>
            </a:endParaRPr>
          </a:p>
        </p:txBody>
      </p:sp>
      <p:sp>
        <p:nvSpPr>
          <p:cNvPr id="4" name="object 4"/>
          <p:cNvSpPr txBox="1"/>
          <p:nvPr/>
        </p:nvSpPr>
        <p:spPr>
          <a:xfrm>
            <a:off x="2129761" y="256041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39" y="2510897"/>
            <a:ext cx="1073326" cy="207067"/>
          </a:xfrm>
          <a:prstGeom prst="rect">
            <a:avLst/>
          </a:prstGeom>
        </p:spPr>
        <p:txBody>
          <a:bodyPr vert="horz" wrap="square" lIns="0" tIns="11516" rIns="0" bIns="0" rtlCol="0">
            <a:spAutoFit/>
          </a:bodyPr>
          <a:lstStyle/>
          <a:p>
            <a:pPr marL="11516">
              <a:spcBef>
                <a:spcPts val="91"/>
              </a:spcBef>
            </a:pPr>
            <a:r>
              <a:rPr sz="1270" b="1" i="1" spc="-9" dirty="0">
                <a:latin typeface="Arial"/>
                <a:cs typeface="Arial"/>
              </a:rPr>
              <a:t>Classification</a:t>
            </a:r>
            <a:endParaRPr sz="1270">
              <a:latin typeface="Arial"/>
              <a:cs typeface="Arial"/>
            </a:endParaRPr>
          </a:p>
        </p:txBody>
      </p:sp>
      <p:sp>
        <p:nvSpPr>
          <p:cNvPr id="6" name="object 6"/>
          <p:cNvSpPr txBox="1"/>
          <p:nvPr/>
        </p:nvSpPr>
        <p:spPr>
          <a:xfrm>
            <a:off x="2325539"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521318" y="2692855"/>
            <a:ext cx="2516327" cy="575885"/>
          </a:xfrm>
          <a:prstGeom prst="rect">
            <a:avLst/>
          </a:prstGeom>
        </p:spPr>
        <p:txBody>
          <a:bodyPr vert="horz" wrap="square" lIns="0" tIns="11516" rIns="0" bIns="0" rtlCol="0">
            <a:spAutoFit/>
          </a:bodyPr>
          <a:lstStyle/>
          <a:p>
            <a:pPr marL="11516">
              <a:lnSpc>
                <a:spcPts val="1474"/>
              </a:lnSpc>
              <a:spcBef>
                <a:spcPts val="91"/>
              </a:spcBef>
            </a:pPr>
            <a:r>
              <a:rPr sz="1270" i="1" dirty="0">
                <a:latin typeface="Arial"/>
                <a:cs typeface="Arial"/>
              </a:rPr>
              <a:t>Maximum</a:t>
            </a:r>
            <a:r>
              <a:rPr sz="1270" i="1" spc="-14" dirty="0">
                <a:latin typeface="Arial"/>
                <a:cs typeface="Arial"/>
              </a:rPr>
              <a:t> </a:t>
            </a:r>
            <a:r>
              <a:rPr sz="1270" i="1" spc="-9" dirty="0">
                <a:latin typeface="Arial"/>
                <a:cs typeface="Arial"/>
              </a:rPr>
              <a:t>likelihood</a:t>
            </a:r>
            <a:endParaRPr sz="1270">
              <a:latin typeface="Arial"/>
              <a:cs typeface="Arial"/>
            </a:endParaRPr>
          </a:p>
          <a:p>
            <a:pPr marL="11516" marR="4607">
              <a:lnSpc>
                <a:spcPts val="1424"/>
              </a:lnSpc>
              <a:spcBef>
                <a:spcPts val="82"/>
              </a:spcBef>
            </a:pPr>
            <a:r>
              <a:rPr sz="1270" i="1" dirty="0">
                <a:latin typeface="Arial"/>
                <a:cs typeface="Arial"/>
              </a:rPr>
              <a:t>Binary cross-entropy</a:t>
            </a:r>
            <a:r>
              <a:rPr sz="1270" i="1" spc="5" dirty="0">
                <a:latin typeface="Arial"/>
                <a:cs typeface="Arial"/>
              </a:rPr>
              <a:t> </a:t>
            </a:r>
            <a:r>
              <a:rPr sz="1270" i="1" dirty="0">
                <a:latin typeface="Arial"/>
                <a:cs typeface="Arial"/>
              </a:rPr>
              <a:t>(aka</a:t>
            </a:r>
            <a:r>
              <a:rPr sz="1270" i="1" spc="-5" dirty="0">
                <a:latin typeface="Arial"/>
                <a:cs typeface="Arial"/>
              </a:rPr>
              <a:t> </a:t>
            </a:r>
            <a:r>
              <a:rPr sz="1270" i="1" dirty="0">
                <a:latin typeface="Arial"/>
                <a:cs typeface="Arial"/>
              </a:rPr>
              <a:t>log</a:t>
            </a:r>
            <a:r>
              <a:rPr sz="1270" i="1" spc="-5" dirty="0">
                <a:latin typeface="Arial"/>
                <a:cs typeface="Arial"/>
              </a:rPr>
              <a:t> </a:t>
            </a:r>
            <a:r>
              <a:rPr sz="1270" i="1" spc="-18" dirty="0">
                <a:latin typeface="Arial"/>
                <a:cs typeface="Arial"/>
              </a:rPr>
              <a:t>loss) </a:t>
            </a:r>
            <a:r>
              <a:rPr sz="1270" i="1" dirty="0">
                <a:latin typeface="Arial"/>
                <a:cs typeface="Arial"/>
              </a:rPr>
              <a:t>Categorical</a:t>
            </a:r>
            <a:r>
              <a:rPr sz="1270" i="1" spc="-14" dirty="0">
                <a:latin typeface="Arial"/>
                <a:cs typeface="Arial"/>
              </a:rPr>
              <a:t> </a:t>
            </a:r>
            <a:r>
              <a:rPr sz="1270" i="1" dirty="0">
                <a:latin typeface="Arial"/>
                <a:cs typeface="Arial"/>
              </a:rPr>
              <a:t>cross-</a:t>
            </a:r>
            <a:r>
              <a:rPr sz="1270" i="1" spc="-9" dirty="0">
                <a:latin typeface="Arial"/>
                <a:cs typeface="Arial"/>
              </a:rPr>
              <a:t>entropy</a:t>
            </a:r>
            <a:endParaRPr sz="1270">
              <a:latin typeface="Arial"/>
              <a:cs typeface="Arial"/>
            </a:endParaRPr>
          </a:p>
        </p:txBody>
      </p:sp>
      <p:sp>
        <p:nvSpPr>
          <p:cNvPr id="8" name="object 8"/>
          <p:cNvSpPr txBox="1"/>
          <p:nvPr/>
        </p:nvSpPr>
        <p:spPr>
          <a:xfrm>
            <a:off x="2325539" y="292318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9" name="object 9"/>
          <p:cNvSpPr txBox="1"/>
          <p:nvPr/>
        </p:nvSpPr>
        <p:spPr>
          <a:xfrm>
            <a:off x="2325539" y="310398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Tree>
    <p:extLst>
      <p:ext uri="{BB962C8B-B14F-4D97-AF65-F5344CB8AC3E}">
        <p14:creationId xmlns:p14="http://schemas.microsoft.com/office/powerpoint/2010/main" val="7476262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grpSp>
        <p:nvGrpSpPr>
          <p:cNvPr id="3" name="object 3"/>
          <p:cNvGrpSpPr/>
          <p:nvPr/>
        </p:nvGrpSpPr>
        <p:grpSpPr>
          <a:xfrm>
            <a:off x="2307114" y="2652547"/>
            <a:ext cx="2220357" cy="2220357"/>
            <a:chOff x="863600" y="1979019"/>
            <a:chExt cx="2448560" cy="2448560"/>
          </a:xfrm>
        </p:grpSpPr>
        <p:pic>
          <p:nvPicPr>
            <p:cNvPr id="4" name="object 4"/>
            <p:cNvPicPr/>
            <p:nvPr/>
          </p:nvPicPr>
          <p:blipFill>
            <a:blip r:embed="rId2" cstate="print"/>
            <a:stretch>
              <a:fillRect/>
            </a:stretch>
          </p:blipFill>
          <p:spPr>
            <a:xfrm>
              <a:off x="863600" y="1979019"/>
              <a:ext cx="2448560" cy="2448560"/>
            </a:xfrm>
            <a:prstGeom prst="rect">
              <a:avLst/>
            </a:prstGeom>
          </p:spPr>
        </p:pic>
        <p:sp>
          <p:nvSpPr>
            <p:cNvPr id="5" name="object 5"/>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6" name="object 6"/>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7" name="object 7"/>
          <p:cNvSpPr txBox="1"/>
          <p:nvPr/>
        </p:nvSpPr>
        <p:spPr>
          <a:xfrm>
            <a:off x="1969685" y="1953505"/>
            <a:ext cx="2853181" cy="1097951"/>
          </a:xfrm>
          <a:prstGeom prst="rect">
            <a:avLst/>
          </a:prstGeom>
        </p:spPr>
        <p:txBody>
          <a:bodyPr vert="horz" wrap="square" lIns="0" tIns="11516" rIns="0" bIns="0" rtlCol="0">
            <a:spAutoFit/>
          </a:bodyPr>
          <a:lstStyle/>
          <a:p>
            <a:pPr marL="11516">
              <a:spcBef>
                <a:spcPts val="91"/>
              </a:spcBef>
            </a:pPr>
            <a:r>
              <a:rPr sz="2539" i="1" dirty="0">
                <a:latin typeface="Arial"/>
                <a:cs typeface="Arial"/>
              </a:rPr>
              <a:t>Maximum</a:t>
            </a:r>
            <a:r>
              <a:rPr sz="2539" i="1" spc="-141" dirty="0">
                <a:latin typeface="Arial"/>
                <a:cs typeface="Arial"/>
              </a:rPr>
              <a:t> </a:t>
            </a:r>
            <a:r>
              <a:rPr sz="2539" i="1" spc="-9" dirty="0">
                <a:latin typeface="Arial"/>
                <a:cs typeface="Arial"/>
              </a:rPr>
              <a:t>likelihood</a:t>
            </a:r>
            <a:endParaRPr sz="2539">
              <a:latin typeface="Arial"/>
              <a:cs typeface="Arial"/>
            </a:endParaRPr>
          </a:p>
          <a:p>
            <a:pPr>
              <a:spcBef>
                <a:spcPts val="163"/>
              </a:spcBef>
            </a:pPr>
            <a:endParaRPr sz="2539">
              <a:latin typeface="Arial"/>
              <a:cs typeface="Arial"/>
            </a:endParaRPr>
          </a:p>
          <a:p>
            <a:pPr marL="483687"/>
            <a:r>
              <a:rPr sz="1814" b="1" spc="-9" dirty="0">
                <a:latin typeface="Arial"/>
                <a:cs typeface="Arial"/>
              </a:rPr>
              <a:t>Input</a:t>
            </a:r>
            <a:endParaRPr sz="1814">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grpSp>
        <p:nvGrpSpPr>
          <p:cNvPr id="9" name="object 9"/>
          <p:cNvGrpSpPr/>
          <p:nvPr/>
        </p:nvGrpSpPr>
        <p:grpSpPr>
          <a:xfrm>
            <a:off x="2339359" y="5120507"/>
            <a:ext cx="914400" cy="391557"/>
            <a:chOff x="899160" y="4700630"/>
            <a:chExt cx="1008380" cy="431800"/>
          </a:xfrm>
        </p:grpSpPr>
        <p:sp>
          <p:nvSpPr>
            <p:cNvPr id="10" name="object 10"/>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1" name="object 11"/>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2" name="object 12"/>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3" name="object 13"/>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(1,</a:t>
            </a:r>
            <a:r>
              <a:rPr sz="1270" spc="5" dirty="0">
                <a:latin typeface="Arial MT"/>
                <a:cs typeface="Arial MT"/>
              </a:rPr>
              <a:t> </a:t>
            </a: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0)</a:t>
            </a:r>
            <a:endParaRPr sz="1270">
              <a:latin typeface="Arial MT"/>
              <a:cs typeface="Arial MT"/>
            </a:endParaRPr>
          </a:p>
        </p:txBody>
      </p:sp>
      <p:sp>
        <p:nvSpPr>
          <p:cNvPr id="14" name="object 14"/>
          <p:cNvSpPr txBox="1"/>
          <p:nvPr/>
        </p:nvSpPr>
        <p:spPr>
          <a:xfrm>
            <a:off x="7261459" y="3315890"/>
            <a:ext cx="1170639"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(.5,</a:t>
            </a:r>
            <a:r>
              <a:rPr sz="1270" spc="9" dirty="0">
                <a:latin typeface="Arial MT"/>
                <a:cs typeface="Arial MT"/>
              </a:rPr>
              <a:t> </a:t>
            </a:r>
            <a:r>
              <a:rPr sz="1270" dirty="0">
                <a:latin typeface="Arial MT"/>
                <a:cs typeface="Arial MT"/>
              </a:rPr>
              <a:t>.9,</a:t>
            </a:r>
            <a:r>
              <a:rPr sz="1270" spc="18" dirty="0">
                <a:latin typeface="Arial MT"/>
                <a:cs typeface="Arial MT"/>
              </a:rPr>
              <a:t> </a:t>
            </a:r>
            <a:r>
              <a:rPr sz="1270" dirty="0">
                <a:latin typeface="Arial MT"/>
                <a:cs typeface="Arial MT"/>
              </a:rPr>
              <a:t>.2,</a:t>
            </a:r>
            <a:r>
              <a:rPr sz="1270" spc="9" dirty="0">
                <a:latin typeface="Arial MT"/>
                <a:cs typeface="Arial MT"/>
              </a:rPr>
              <a:t> </a:t>
            </a:r>
            <a:r>
              <a:rPr sz="1270" dirty="0">
                <a:latin typeface="Arial MT"/>
                <a:cs typeface="Arial MT"/>
              </a:rPr>
              <a:t>.6,</a:t>
            </a:r>
            <a:r>
              <a:rPr sz="1270" spc="9" dirty="0">
                <a:latin typeface="Arial MT"/>
                <a:cs typeface="Arial MT"/>
              </a:rPr>
              <a:t> </a:t>
            </a:r>
            <a:r>
              <a:rPr sz="1270" spc="-23" dirty="0">
                <a:latin typeface="Arial MT"/>
                <a:cs typeface="Arial MT"/>
              </a:rPr>
              <a:t>.1)</a:t>
            </a:r>
            <a:endParaRPr sz="1270">
              <a:latin typeface="Arial MT"/>
              <a:cs typeface="Arial MT"/>
            </a:endParaRPr>
          </a:p>
        </p:txBody>
      </p:sp>
      <p:sp>
        <p:nvSpPr>
          <p:cNvPr id="15" name="object 15"/>
          <p:cNvSpPr txBox="1"/>
          <p:nvPr/>
        </p:nvSpPr>
        <p:spPr>
          <a:xfrm>
            <a:off x="7319463"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5586" indent="-84069">
              <a:spcBef>
                <a:spcPts val="481"/>
              </a:spcBef>
              <a:buChar char="-"/>
              <a:tabLst>
                <a:tab pos="95586" algn="l"/>
              </a:tabLst>
            </a:pPr>
            <a:r>
              <a:rPr sz="1088" spc="-23" dirty="0">
                <a:latin typeface="Arial MT"/>
                <a:cs typeface="Arial MT"/>
              </a:rPr>
              <a:t>Dog</a:t>
            </a:r>
            <a:endParaRPr sz="1088">
              <a:latin typeface="Arial MT"/>
              <a:cs typeface="Arial MT"/>
            </a:endParaRPr>
          </a:p>
          <a:p>
            <a:pPr marL="95586" indent="-84069">
              <a:spcBef>
                <a:spcPts val="472"/>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16" name="object 16"/>
          <p:cNvGrpSpPr/>
          <p:nvPr/>
        </p:nvGrpSpPr>
        <p:grpSpPr>
          <a:xfrm>
            <a:off x="4751868" y="2668671"/>
            <a:ext cx="2440895" cy="1566227"/>
            <a:chOff x="3559619" y="1996800"/>
            <a:chExt cx="2691765" cy="1727200"/>
          </a:xfrm>
        </p:grpSpPr>
        <p:pic>
          <p:nvPicPr>
            <p:cNvPr id="17" name="object 17"/>
            <p:cNvPicPr/>
            <p:nvPr/>
          </p:nvPicPr>
          <p:blipFill>
            <a:blip r:embed="rId3" cstate="print"/>
            <a:stretch>
              <a:fillRect/>
            </a:stretch>
          </p:blipFill>
          <p:spPr>
            <a:xfrm>
              <a:off x="3841750" y="1996800"/>
              <a:ext cx="2127250" cy="1727200"/>
            </a:xfrm>
            <a:prstGeom prst="rect">
              <a:avLst/>
            </a:prstGeom>
          </p:spPr>
        </p:pic>
        <p:sp>
          <p:nvSpPr>
            <p:cNvPr id="18" name="object 18"/>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858"/>
                  </a:lnTo>
                  <a:lnTo>
                    <a:pt x="70961" y="587216"/>
                  </a:lnTo>
                  <a:lnTo>
                    <a:pt x="38040" y="610810"/>
                  </a:lnTo>
                  <a:lnTo>
                    <a:pt x="0" y="619760"/>
                  </a:lnTo>
                  <a:lnTo>
                    <a:pt x="38040" y="628511"/>
                  </a:lnTo>
                  <a:lnTo>
                    <a:pt x="70961" y="651668"/>
                  </a:lnTo>
                  <a:lnTo>
                    <a:pt x="94118" y="684589"/>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9" name="object 19"/>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0" name="object 20"/>
            <p:cNvSpPr/>
            <p:nvPr/>
          </p:nvSpPr>
          <p:spPr>
            <a:xfrm>
              <a:off x="6026150" y="2233020"/>
              <a:ext cx="207010" cy="1224280"/>
            </a:xfrm>
            <a:custGeom>
              <a:avLst/>
              <a:gdLst/>
              <a:ahLst/>
              <a:cxnLst/>
              <a:rect l="l" t="t" r="r" b="b"/>
              <a:pathLst>
                <a:path w="207010" h="1224279">
                  <a:moveTo>
                    <a:pt x="0" y="0"/>
                  </a:moveTo>
                  <a:lnTo>
                    <a:pt x="38238" y="8731"/>
                  </a:lnTo>
                  <a:lnTo>
                    <a:pt x="71596" y="31750"/>
                  </a:lnTo>
                  <a:lnTo>
                    <a:pt x="95190" y="64293"/>
                  </a:lnTo>
                  <a:lnTo>
                    <a:pt x="104139" y="101600"/>
                  </a:lnTo>
                  <a:lnTo>
                    <a:pt x="104139" y="509270"/>
                  </a:lnTo>
                  <a:lnTo>
                    <a:pt x="113069" y="546774"/>
                  </a:lnTo>
                  <a:lnTo>
                    <a:pt x="136525" y="579755"/>
                  </a:lnTo>
                  <a:lnTo>
                    <a:pt x="169505" y="603210"/>
                  </a:lnTo>
                  <a:lnTo>
                    <a:pt x="207010" y="612140"/>
                  </a:lnTo>
                  <a:lnTo>
                    <a:pt x="169505" y="620871"/>
                  </a:lnTo>
                  <a:lnTo>
                    <a:pt x="136525" y="643890"/>
                  </a:lnTo>
                  <a:lnTo>
                    <a:pt x="113069" y="676433"/>
                  </a:lnTo>
                  <a:lnTo>
                    <a:pt x="104139" y="713740"/>
                  </a:lnTo>
                  <a:lnTo>
                    <a:pt x="104139" y="1121410"/>
                  </a:lnTo>
                  <a:lnTo>
                    <a:pt x="95190" y="1159450"/>
                  </a:lnTo>
                  <a:lnTo>
                    <a:pt x="71596" y="1192371"/>
                  </a:lnTo>
                  <a:lnTo>
                    <a:pt x="38238" y="1215528"/>
                  </a:lnTo>
                  <a:lnTo>
                    <a:pt x="0" y="1224280"/>
                  </a:lnTo>
                </a:path>
              </a:pathLst>
            </a:custGeom>
            <a:ln w="35941">
              <a:solidFill>
                <a:srgbClr val="3364A3"/>
              </a:solidFill>
            </a:ln>
          </p:spPr>
          <p:txBody>
            <a:bodyPr wrap="square" lIns="0" tIns="0" rIns="0" bIns="0" rtlCol="0"/>
            <a:lstStyle/>
            <a:p>
              <a:endParaRPr/>
            </a:p>
          </p:txBody>
        </p:sp>
        <p:sp>
          <p:nvSpPr>
            <p:cNvPr id="21" name="object 21"/>
            <p:cNvSpPr/>
            <p:nvPr/>
          </p:nvSpPr>
          <p:spPr>
            <a:xfrm>
              <a:off x="6008179" y="2215049"/>
              <a:ext cx="243204" cy="1260475"/>
            </a:xfrm>
            <a:custGeom>
              <a:avLst/>
              <a:gdLst/>
              <a:ahLst/>
              <a:cxnLst/>
              <a:rect l="l" t="t" r="r" b="b"/>
              <a:pathLst>
                <a:path w="243204" h="1260475">
                  <a:moveTo>
                    <a:pt x="35941" y="1242250"/>
                  </a:moveTo>
                  <a:lnTo>
                    <a:pt x="30670" y="1229550"/>
                  </a:lnTo>
                  <a:lnTo>
                    <a:pt x="17970" y="1224292"/>
                  </a:lnTo>
                  <a:lnTo>
                    <a:pt x="5257" y="1229550"/>
                  </a:lnTo>
                  <a:lnTo>
                    <a:pt x="0" y="1242250"/>
                  </a:lnTo>
                  <a:lnTo>
                    <a:pt x="5257" y="1254963"/>
                  </a:lnTo>
                  <a:lnTo>
                    <a:pt x="17970" y="1260221"/>
                  </a:lnTo>
                  <a:lnTo>
                    <a:pt x="30670" y="1254963"/>
                  </a:lnTo>
                  <a:lnTo>
                    <a:pt x="35941" y="1242250"/>
                  </a:lnTo>
                  <a:close/>
                </a:path>
                <a:path w="243204" h="126047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grpSp>
    </p:spTree>
    <p:extLst>
      <p:ext uri="{BB962C8B-B14F-4D97-AF65-F5344CB8AC3E}">
        <p14:creationId xmlns:p14="http://schemas.microsoft.com/office/powerpoint/2010/main" val="27231764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grpSp>
        <p:nvGrpSpPr>
          <p:cNvPr id="3" name="object 3"/>
          <p:cNvGrpSpPr/>
          <p:nvPr/>
        </p:nvGrpSpPr>
        <p:grpSpPr>
          <a:xfrm>
            <a:off x="2307114" y="2652547"/>
            <a:ext cx="2220357" cy="2220357"/>
            <a:chOff x="863600" y="1979019"/>
            <a:chExt cx="2448560" cy="2448560"/>
          </a:xfrm>
        </p:grpSpPr>
        <p:pic>
          <p:nvPicPr>
            <p:cNvPr id="4" name="object 4"/>
            <p:cNvPicPr/>
            <p:nvPr/>
          </p:nvPicPr>
          <p:blipFill>
            <a:blip r:embed="rId2" cstate="print"/>
            <a:stretch>
              <a:fillRect/>
            </a:stretch>
          </p:blipFill>
          <p:spPr>
            <a:xfrm>
              <a:off x="863600" y="1979019"/>
              <a:ext cx="2448560" cy="2448560"/>
            </a:xfrm>
            <a:prstGeom prst="rect">
              <a:avLst/>
            </a:prstGeom>
          </p:spPr>
        </p:pic>
        <p:sp>
          <p:nvSpPr>
            <p:cNvPr id="5" name="object 5"/>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6" name="object 6"/>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7" name="object 7"/>
          <p:cNvSpPr txBox="1"/>
          <p:nvPr/>
        </p:nvSpPr>
        <p:spPr>
          <a:xfrm>
            <a:off x="1969685" y="1953505"/>
            <a:ext cx="2853181" cy="1097951"/>
          </a:xfrm>
          <a:prstGeom prst="rect">
            <a:avLst/>
          </a:prstGeom>
        </p:spPr>
        <p:txBody>
          <a:bodyPr vert="horz" wrap="square" lIns="0" tIns="11516" rIns="0" bIns="0" rtlCol="0">
            <a:spAutoFit/>
          </a:bodyPr>
          <a:lstStyle/>
          <a:p>
            <a:pPr marL="11516">
              <a:spcBef>
                <a:spcPts val="91"/>
              </a:spcBef>
            </a:pPr>
            <a:r>
              <a:rPr sz="2539" i="1" dirty="0">
                <a:latin typeface="Arial"/>
                <a:cs typeface="Arial"/>
              </a:rPr>
              <a:t>Maximum</a:t>
            </a:r>
            <a:r>
              <a:rPr sz="2539" i="1" spc="-141" dirty="0">
                <a:latin typeface="Arial"/>
                <a:cs typeface="Arial"/>
              </a:rPr>
              <a:t> </a:t>
            </a:r>
            <a:r>
              <a:rPr sz="2539" i="1" spc="-9" dirty="0">
                <a:latin typeface="Arial"/>
                <a:cs typeface="Arial"/>
              </a:rPr>
              <a:t>likelihood</a:t>
            </a:r>
            <a:endParaRPr sz="2539">
              <a:latin typeface="Arial"/>
              <a:cs typeface="Arial"/>
            </a:endParaRPr>
          </a:p>
          <a:p>
            <a:pPr>
              <a:spcBef>
                <a:spcPts val="163"/>
              </a:spcBef>
            </a:pPr>
            <a:endParaRPr sz="2539">
              <a:latin typeface="Arial"/>
              <a:cs typeface="Arial"/>
            </a:endParaRPr>
          </a:p>
          <a:p>
            <a:pPr marL="483687"/>
            <a:r>
              <a:rPr sz="1814" b="1" spc="-9" dirty="0">
                <a:latin typeface="Arial"/>
                <a:cs typeface="Arial"/>
              </a:rPr>
              <a:t>Input</a:t>
            </a:r>
            <a:endParaRPr sz="1814">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grpSp>
        <p:nvGrpSpPr>
          <p:cNvPr id="9" name="object 9"/>
          <p:cNvGrpSpPr/>
          <p:nvPr/>
        </p:nvGrpSpPr>
        <p:grpSpPr>
          <a:xfrm>
            <a:off x="2339359" y="5120507"/>
            <a:ext cx="914400" cy="391557"/>
            <a:chOff x="899160" y="4700630"/>
            <a:chExt cx="1008380" cy="431800"/>
          </a:xfrm>
        </p:grpSpPr>
        <p:sp>
          <p:nvSpPr>
            <p:cNvPr id="10" name="object 10"/>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1" name="object 11"/>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2" name="object 12"/>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3" name="object 13"/>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(1,</a:t>
            </a:r>
            <a:r>
              <a:rPr sz="1270" spc="5" dirty="0">
                <a:latin typeface="Arial MT"/>
                <a:cs typeface="Arial MT"/>
              </a:rPr>
              <a:t> </a:t>
            </a: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0)</a:t>
            </a:r>
            <a:endParaRPr sz="1270">
              <a:latin typeface="Arial MT"/>
              <a:cs typeface="Arial MT"/>
            </a:endParaRPr>
          </a:p>
        </p:txBody>
      </p:sp>
      <p:sp>
        <p:nvSpPr>
          <p:cNvPr id="14" name="object 14"/>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sp>
        <p:nvSpPr>
          <p:cNvPr id="15" name="object 15"/>
          <p:cNvSpPr txBox="1"/>
          <p:nvPr/>
        </p:nvSpPr>
        <p:spPr>
          <a:xfrm>
            <a:off x="5456843" y="5095169"/>
            <a:ext cx="5063173" cy="678478"/>
          </a:xfrm>
          <a:prstGeom prst="rect">
            <a:avLst/>
          </a:prstGeom>
        </p:spPr>
        <p:txBody>
          <a:bodyPr vert="horz" wrap="square" lIns="0" tIns="11516" rIns="0" bIns="0" rtlCol="0">
            <a:spAutoFit/>
          </a:bodyPr>
          <a:lstStyle/>
          <a:p>
            <a:pPr marL="23033" algn="ctr">
              <a:lnSpc>
                <a:spcPts val="1795"/>
              </a:lnSpc>
              <a:spcBef>
                <a:spcPts val="91"/>
              </a:spcBef>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a:t>
            </a:r>
            <a:r>
              <a:rPr sz="1428" b="1" i="1" baseline="31746" dirty="0">
                <a:solidFill>
                  <a:srgbClr val="333333"/>
                </a:solidFill>
                <a:latin typeface="Times New Roman"/>
                <a:cs typeface="Times New Roman"/>
              </a:rPr>
              <a:t>1</a:t>
            </a:r>
            <a:r>
              <a:rPr sz="1632" b="1" i="1" dirty="0">
                <a:solidFill>
                  <a:srgbClr val="333333"/>
                </a:solidFill>
                <a:latin typeface="Times New Roman"/>
                <a:cs typeface="Times New Roman"/>
              </a:rPr>
              <a:t>/</a:t>
            </a:r>
            <a:r>
              <a:rPr sz="907" b="1" i="1" dirty="0">
                <a:solidFill>
                  <a:srgbClr val="333333"/>
                </a:solidFill>
                <a:latin typeface="Times New Roman"/>
                <a:cs typeface="Times New Roman"/>
              </a:rPr>
              <a:t>5</a:t>
            </a:r>
            <a:r>
              <a:rPr sz="907" b="1" i="1" spc="185" dirty="0">
                <a:solidFill>
                  <a:srgbClr val="333333"/>
                </a:solidFill>
                <a:latin typeface="Times New Roman"/>
                <a:cs typeface="Times New Roman"/>
              </a:rPr>
              <a:t> </a:t>
            </a:r>
            <a:r>
              <a:rPr sz="1632" b="1" i="1" dirty="0">
                <a:solidFill>
                  <a:srgbClr val="333333"/>
                </a:solidFill>
                <a:latin typeface="Times New Roman"/>
                <a:cs typeface="Times New Roman"/>
              </a:rPr>
              <a:t>[ (1*0.5</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0*0.5)</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(1*0.9</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0*0.1) + (0*0.2 +</a:t>
            </a:r>
            <a:r>
              <a:rPr sz="1632" b="1" i="1" spc="5" dirty="0">
                <a:solidFill>
                  <a:srgbClr val="333333"/>
                </a:solidFill>
                <a:latin typeface="Times New Roman"/>
                <a:cs typeface="Times New Roman"/>
              </a:rPr>
              <a:t> </a:t>
            </a:r>
            <a:r>
              <a:rPr sz="1632" b="1" i="1" spc="-9" dirty="0">
                <a:solidFill>
                  <a:srgbClr val="333333"/>
                </a:solidFill>
                <a:latin typeface="Times New Roman"/>
                <a:cs typeface="Times New Roman"/>
              </a:rPr>
              <a:t>1*0.8)</a:t>
            </a:r>
            <a:endParaRPr sz="1632">
              <a:latin typeface="Times New Roman"/>
              <a:cs typeface="Times New Roman"/>
            </a:endParaRPr>
          </a:p>
          <a:p>
            <a:pPr marR="305759" algn="ctr">
              <a:lnSpc>
                <a:spcPts val="1632"/>
              </a:lnSpc>
            </a:pP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(0*0.6</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+ 1*0.4)</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 (0*0.1</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+ 1*0.9)</a:t>
            </a:r>
            <a:r>
              <a:rPr sz="1632" b="1" i="1" spc="-9"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a:p>
            <a:pPr marR="4452801" algn="ctr">
              <a:lnSpc>
                <a:spcPts val="1795"/>
              </a:lnSpc>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23" dirty="0">
                <a:solidFill>
                  <a:srgbClr val="333333"/>
                </a:solidFill>
                <a:latin typeface="Times New Roman"/>
                <a:cs typeface="Times New Roman"/>
              </a:rPr>
              <a:t>0.7</a:t>
            </a:r>
            <a:endParaRPr sz="1632">
              <a:latin typeface="Times New Roman"/>
              <a:cs typeface="Times New Roman"/>
            </a:endParaRPr>
          </a:p>
        </p:txBody>
      </p:sp>
      <p:grpSp>
        <p:nvGrpSpPr>
          <p:cNvPr id="16" name="object 16"/>
          <p:cNvGrpSpPr/>
          <p:nvPr/>
        </p:nvGrpSpPr>
        <p:grpSpPr>
          <a:xfrm>
            <a:off x="5650883" y="4318967"/>
            <a:ext cx="3347810" cy="664495"/>
            <a:chOff x="4551035" y="3816710"/>
            <a:chExt cx="3691890" cy="732790"/>
          </a:xfrm>
        </p:grpSpPr>
        <p:pic>
          <p:nvPicPr>
            <p:cNvPr id="17" name="object 17"/>
            <p:cNvPicPr/>
            <p:nvPr/>
          </p:nvPicPr>
          <p:blipFill>
            <a:blip r:embed="rId3" cstate="print"/>
            <a:stretch>
              <a:fillRect/>
            </a:stretch>
          </p:blipFill>
          <p:spPr>
            <a:xfrm>
              <a:off x="4551035" y="3854777"/>
              <a:ext cx="1208414" cy="637622"/>
            </a:xfrm>
            <a:prstGeom prst="rect">
              <a:avLst/>
            </a:prstGeom>
          </p:spPr>
        </p:pic>
        <p:pic>
          <p:nvPicPr>
            <p:cNvPr id="18" name="object 18"/>
            <p:cNvPicPr/>
            <p:nvPr/>
          </p:nvPicPr>
          <p:blipFill>
            <a:blip r:embed="rId4" cstate="print"/>
            <a:stretch>
              <a:fillRect/>
            </a:stretch>
          </p:blipFill>
          <p:spPr>
            <a:xfrm>
              <a:off x="5651499" y="3816710"/>
              <a:ext cx="2590800" cy="732790"/>
            </a:xfrm>
            <a:prstGeom prst="rect">
              <a:avLst/>
            </a:prstGeom>
          </p:spPr>
        </p:pic>
      </p:grpSp>
      <p:sp>
        <p:nvSpPr>
          <p:cNvPr id="19" name="object 19"/>
          <p:cNvSpPr txBox="1"/>
          <p:nvPr/>
        </p:nvSpPr>
        <p:spPr>
          <a:xfrm>
            <a:off x="7253397" y="3315890"/>
            <a:ext cx="1170639"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(.5,</a:t>
            </a:r>
            <a:r>
              <a:rPr sz="1270" spc="14" dirty="0">
                <a:latin typeface="Arial MT"/>
                <a:cs typeface="Arial MT"/>
              </a:rPr>
              <a:t> </a:t>
            </a:r>
            <a:r>
              <a:rPr sz="1270" dirty="0">
                <a:latin typeface="Arial MT"/>
                <a:cs typeface="Arial MT"/>
              </a:rPr>
              <a:t>.9,</a:t>
            </a:r>
            <a:r>
              <a:rPr sz="1270" spc="14" dirty="0">
                <a:latin typeface="Arial MT"/>
                <a:cs typeface="Arial MT"/>
              </a:rPr>
              <a:t> </a:t>
            </a:r>
            <a:r>
              <a:rPr sz="1270" dirty="0">
                <a:latin typeface="Arial MT"/>
                <a:cs typeface="Arial MT"/>
              </a:rPr>
              <a:t>.2,</a:t>
            </a:r>
            <a:r>
              <a:rPr sz="1270" spc="9" dirty="0">
                <a:latin typeface="Arial MT"/>
                <a:cs typeface="Arial MT"/>
              </a:rPr>
              <a:t> </a:t>
            </a:r>
            <a:r>
              <a:rPr sz="1270" dirty="0">
                <a:latin typeface="Arial MT"/>
                <a:cs typeface="Arial MT"/>
              </a:rPr>
              <a:t>.6,</a:t>
            </a:r>
            <a:r>
              <a:rPr sz="1270" spc="9" dirty="0">
                <a:latin typeface="Arial MT"/>
                <a:cs typeface="Arial MT"/>
              </a:rPr>
              <a:t> </a:t>
            </a:r>
            <a:r>
              <a:rPr sz="1270" spc="-23" dirty="0">
                <a:latin typeface="Arial MT"/>
                <a:cs typeface="Arial MT"/>
              </a:rPr>
              <a:t>.1)</a:t>
            </a:r>
            <a:endParaRPr sz="1270">
              <a:latin typeface="Arial MT"/>
              <a:cs typeface="Arial MT"/>
            </a:endParaRPr>
          </a:p>
        </p:txBody>
      </p:sp>
      <p:sp>
        <p:nvSpPr>
          <p:cNvPr id="20" name="object 20"/>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1" name="object 21"/>
          <p:cNvGrpSpPr/>
          <p:nvPr/>
        </p:nvGrpSpPr>
        <p:grpSpPr>
          <a:xfrm>
            <a:off x="4751868" y="2668671"/>
            <a:ext cx="2440895" cy="1566227"/>
            <a:chOff x="3559619" y="1996800"/>
            <a:chExt cx="2691765" cy="1727200"/>
          </a:xfrm>
        </p:grpSpPr>
        <p:pic>
          <p:nvPicPr>
            <p:cNvPr id="22" name="object 22"/>
            <p:cNvPicPr/>
            <p:nvPr/>
          </p:nvPicPr>
          <p:blipFill>
            <a:blip r:embed="rId5" cstate="print"/>
            <a:stretch>
              <a:fillRect/>
            </a:stretch>
          </p:blipFill>
          <p:spPr>
            <a:xfrm>
              <a:off x="3841750" y="1996800"/>
              <a:ext cx="2127250" cy="1727200"/>
            </a:xfrm>
            <a:prstGeom prst="rect">
              <a:avLst/>
            </a:prstGeom>
          </p:spPr>
        </p:pic>
        <p:sp>
          <p:nvSpPr>
            <p:cNvPr id="23" name="object 23"/>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858"/>
                  </a:lnTo>
                  <a:lnTo>
                    <a:pt x="70961" y="587216"/>
                  </a:lnTo>
                  <a:lnTo>
                    <a:pt x="38040" y="610810"/>
                  </a:lnTo>
                  <a:lnTo>
                    <a:pt x="0" y="619760"/>
                  </a:lnTo>
                  <a:lnTo>
                    <a:pt x="38040" y="628511"/>
                  </a:lnTo>
                  <a:lnTo>
                    <a:pt x="70961" y="651668"/>
                  </a:lnTo>
                  <a:lnTo>
                    <a:pt x="94118" y="684589"/>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4" name="object 24"/>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5" name="object 25"/>
            <p:cNvSpPr/>
            <p:nvPr/>
          </p:nvSpPr>
          <p:spPr>
            <a:xfrm>
              <a:off x="6026150" y="2233020"/>
              <a:ext cx="207010" cy="1224280"/>
            </a:xfrm>
            <a:custGeom>
              <a:avLst/>
              <a:gdLst/>
              <a:ahLst/>
              <a:cxnLst/>
              <a:rect l="l" t="t" r="r" b="b"/>
              <a:pathLst>
                <a:path w="207010" h="1224279">
                  <a:moveTo>
                    <a:pt x="0" y="0"/>
                  </a:moveTo>
                  <a:lnTo>
                    <a:pt x="38238" y="8731"/>
                  </a:lnTo>
                  <a:lnTo>
                    <a:pt x="71596" y="31750"/>
                  </a:lnTo>
                  <a:lnTo>
                    <a:pt x="95190" y="64293"/>
                  </a:lnTo>
                  <a:lnTo>
                    <a:pt x="104139" y="101600"/>
                  </a:lnTo>
                  <a:lnTo>
                    <a:pt x="104139" y="509270"/>
                  </a:lnTo>
                  <a:lnTo>
                    <a:pt x="113069" y="546774"/>
                  </a:lnTo>
                  <a:lnTo>
                    <a:pt x="136525" y="579755"/>
                  </a:lnTo>
                  <a:lnTo>
                    <a:pt x="169505" y="603210"/>
                  </a:lnTo>
                  <a:lnTo>
                    <a:pt x="207010" y="612140"/>
                  </a:lnTo>
                  <a:lnTo>
                    <a:pt x="169505" y="620871"/>
                  </a:lnTo>
                  <a:lnTo>
                    <a:pt x="136525" y="643890"/>
                  </a:lnTo>
                  <a:lnTo>
                    <a:pt x="113069" y="676433"/>
                  </a:lnTo>
                  <a:lnTo>
                    <a:pt x="104139" y="713740"/>
                  </a:lnTo>
                  <a:lnTo>
                    <a:pt x="104139" y="1121410"/>
                  </a:lnTo>
                  <a:lnTo>
                    <a:pt x="95190" y="1159450"/>
                  </a:lnTo>
                  <a:lnTo>
                    <a:pt x="71596" y="1192371"/>
                  </a:lnTo>
                  <a:lnTo>
                    <a:pt x="38238" y="1215528"/>
                  </a:lnTo>
                  <a:lnTo>
                    <a:pt x="0" y="1224280"/>
                  </a:lnTo>
                </a:path>
              </a:pathLst>
            </a:custGeom>
            <a:ln w="35941">
              <a:solidFill>
                <a:srgbClr val="3364A3"/>
              </a:solidFill>
            </a:ln>
          </p:spPr>
          <p:txBody>
            <a:bodyPr wrap="square" lIns="0" tIns="0" rIns="0" bIns="0" rtlCol="0"/>
            <a:lstStyle/>
            <a:p>
              <a:endParaRPr/>
            </a:p>
          </p:txBody>
        </p:sp>
        <p:sp>
          <p:nvSpPr>
            <p:cNvPr id="26" name="object 26"/>
            <p:cNvSpPr/>
            <p:nvPr/>
          </p:nvSpPr>
          <p:spPr>
            <a:xfrm>
              <a:off x="6008179" y="2215049"/>
              <a:ext cx="243204" cy="1260475"/>
            </a:xfrm>
            <a:custGeom>
              <a:avLst/>
              <a:gdLst/>
              <a:ahLst/>
              <a:cxnLst/>
              <a:rect l="l" t="t" r="r" b="b"/>
              <a:pathLst>
                <a:path w="243204" h="1260475">
                  <a:moveTo>
                    <a:pt x="35941" y="1242250"/>
                  </a:moveTo>
                  <a:lnTo>
                    <a:pt x="30670" y="1229550"/>
                  </a:lnTo>
                  <a:lnTo>
                    <a:pt x="17970" y="1224292"/>
                  </a:lnTo>
                  <a:lnTo>
                    <a:pt x="5257" y="1229550"/>
                  </a:lnTo>
                  <a:lnTo>
                    <a:pt x="0" y="1242250"/>
                  </a:lnTo>
                  <a:lnTo>
                    <a:pt x="5257" y="1254963"/>
                  </a:lnTo>
                  <a:lnTo>
                    <a:pt x="17970" y="1260221"/>
                  </a:lnTo>
                  <a:lnTo>
                    <a:pt x="30670" y="1254963"/>
                  </a:lnTo>
                  <a:lnTo>
                    <a:pt x="35941" y="1242250"/>
                  </a:lnTo>
                  <a:close/>
                </a:path>
                <a:path w="243204" h="126047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grpSp>
    </p:spTree>
    <p:extLst>
      <p:ext uri="{BB962C8B-B14F-4D97-AF65-F5344CB8AC3E}">
        <p14:creationId xmlns:p14="http://schemas.microsoft.com/office/powerpoint/2010/main" val="140437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7114" y="2654852"/>
            <a:ext cx="2219205" cy="2218053"/>
            <a:chOff x="863600" y="1981560"/>
            <a:chExt cx="2447290" cy="2446020"/>
          </a:xfrm>
        </p:grpSpPr>
        <p:pic>
          <p:nvPicPr>
            <p:cNvPr id="3" name="object 3"/>
            <p:cNvPicPr/>
            <p:nvPr/>
          </p:nvPicPr>
          <p:blipFill>
            <a:blip r:embed="rId2" cstate="print"/>
            <a:stretch>
              <a:fillRect/>
            </a:stretch>
          </p:blipFill>
          <p:spPr>
            <a:xfrm>
              <a:off x="863600" y="1981560"/>
              <a:ext cx="2447290" cy="2446019"/>
            </a:xfrm>
            <a:prstGeom prst="rect">
              <a:avLst/>
            </a:prstGeom>
          </p:spPr>
        </p:pic>
        <p:sp>
          <p:nvSpPr>
            <p:cNvPr id="4" name="object 4"/>
            <p:cNvSpPr/>
            <p:nvPr/>
          </p:nvSpPr>
          <p:spPr>
            <a:xfrm>
              <a:off x="900430" y="2036170"/>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70"/>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7" name="object 7"/>
          <p:cNvSpPr txBox="1">
            <a:spLocks noGrp="1"/>
          </p:cNvSpPr>
          <p:nvPr>
            <p:ph idx="1"/>
          </p:nvPr>
        </p:nvSpPr>
        <p:spPr>
          <a:xfrm>
            <a:off x="1938589" y="2309034"/>
            <a:ext cx="7462610" cy="1192401"/>
          </a:xfrm>
          <a:prstGeom prst="rect">
            <a:avLst/>
          </a:prstGeom>
        </p:spPr>
        <p:txBody>
          <a:bodyPr vert="horz" wrap="square" lIns="0" tIns="11516" rIns="0" bIns="0" numCol="1" rtlCol="0" anchor="t" anchorCtr="0" compatLnSpc="1">
            <a:prstTxWarp prst="textNoShape">
              <a:avLst/>
            </a:prstTxWarp>
            <a:spAutoFit/>
          </a:bodyPr>
          <a:lstStyle/>
          <a:p>
            <a:pPr marL="11516">
              <a:spcBef>
                <a:spcPts val="91"/>
              </a:spcBef>
            </a:pPr>
            <a:r>
              <a:rPr dirty="0"/>
              <a:t>Binary</a:t>
            </a:r>
            <a:r>
              <a:rPr spc="-63" dirty="0"/>
              <a:t> </a:t>
            </a:r>
            <a:r>
              <a:rPr spc="-9" dirty="0"/>
              <a:t>cross-</a:t>
            </a:r>
            <a:r>
              <a:rPr dirty="0"/>
              <a:t>entropy</a:t>
            </a:r>
            <a:r>
              <a:rPr spc="-54" dirty="0"/>
              <a:t> </a:t>
            </a:r>
            <a:r>
              <a:rPr dirty="0"/>
              <a:t>(aka</a:t>
            </a:r>
            <a:r>
              <a:rPr spc="-63" dirty="0"/>
              <a:t> </a:t>
            </a:r>
            <a:r>
              <a:rPr dirty="0"/>
              <a:t>Log</a:t>
            </a:r>
            <a:r>
              <a:rPr spc="-59" dirty="0"/>
              <a:t> </a:t>
            </a:r>
            <a:r>
              <a:rPr spc="-9" dirty="0"/>
              <a:t>loss)</a:t>
            </a:r>
          </a:p>
          <a:p>
            <a:pPr>
              <a:spcBef>
                <a:spcPts val="163"/>
              </a:spcBef>
            </a:pPr>
            <a:endParaRPr spc="-9" dirty="0"/>
          </a:p>
          <a:p>
            <a:pPr marL="483687"/>
            <a:r>
              <a:rPr sz="1814" b="1" spc="-9" dirty="0">
                <a:latin typeface="Arial"/>
                <a:cs typeface="Arial"/>
              </a:rPr>
              <a:t>Input</a:t>
            </a:r>
            <a:endParaRPr sz="1814">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grpSp>
        <p:nvGrpSpPr>
          <p:cNvPr id="9" name="object 9"/>
          <p:cNvGrpSpPr/>
          <p:nvPr/>
        </p:nvGrpSpPr>
        <p:grpSpPr>
          <a:xfrm>
            <a:off x="2339359" y="5120507"/>
            <a:ext cx="914400" cy="391557"/>
            <a:chOff x="899160" y="4700630"/>
            <a:chExt cx="1008380" cy="431800"/>
          </a:xfrm>
        </p:grpSpPr>
        <p:sp>
          <p:nvSpPr>
            <p:cNvPr id="10" name="object 10"/>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1" name="object 11"/>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2" name="object 12"/>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3" name="object 13"/>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1)</a:t>
            </a:r>
            <a:endParaRPr sz="1270">
              <a:latin typeface="Arial MT"/>
              <a:cs typeface="Arial MT"/>
            </a:endParaRPr>
          </a:p>
        </p:txBody>
      </p:sp>
      <p:sp>
        <p:nvSpPr>
          <p:cNvPr id="14" name="object 14"/>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pic>
        <p:nvPicPr>
          <p:cNvPr id="15" name="object 15"/>
          <p:cNvPicPr/>
          <p:nvPr/>
        </p:nvPicPr>
        <p:blipFill>
          <a:blip r:embed="rId3" cstate="print"/>
          <a:stretch>
            <a:fillRect/>
          </a:stretch>
        </p:blipFill>
        <p:spPr>
          <a:xfrm>
            <a:off x="5650890" y="4353486"/>
            <a:ext cx="3868932" cy="578196"/>
          </a:xfrm>
          <a:prstGeom prst="rect">
            <a:avLst/>
          </a:prstGeom>
        </p:spPr>
      </p:pic>
      <p:grpSp>
        <p:nvGrpSpPr>
          <p:cNvPr id="16" name="object 16"/>
          <p:cNvGrpSpPr/>
          <p:nvPr/>
        </p:nvGrpSpPr>
        <p:grpSpPr>
          <a:xfrm>
            <a:off x="4751868" y="2668671"/>
            <a:ext cx="2440895" cy="1566227"/>
            <a:chOff x="3559619" y="1996800"/>
            <a:chExt cx="2691765" cy="1727200"/>
          </a:xfrm>
        </p:grpSpPr>
        <p:pic>
          <p:nvPicPr>
            <p:cNvPr id="17" name="object 17"/>
            <p:cNvPicPr/>
            <p:nvPr/>
          </p:nvPicPr>
          <p:blipFill>
            <a:blip r:embed="rId4" cstate="print"/>
            <a:stretch>
              <a:fillRect/>
            </a:stretch>
          </p:blipFill>
          <p:spPr>
            <a:xfrm>
              <a:off x="3841750" y="1996800"/>
              <a:ext cx="2127250" cy="1727200"/>
            </a:xfrm>
            <a:prstGeom prst="rect">
              <a:avLst/>
            </a:prstGeom>
          </p:spPr>
        </p:pic>
        <p:sp>
          <p:nvSpPr>
            <p:cNvPr id="18" name="object 18"/>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9" name="object 19"/>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0" name="object 20"/>
            <p:cNvSpPr/>
            <p:nvPr/>
          </p:nvSpPr>
          <p:spPr>
            <a:xfrm>
              <a:off x="6026150" y="2231750"/>
              <a:ext cx="207010" cy="1225550"/>
            </a:xfrm>
            <a:custGeom>
              <a:avLst/>
              <a:gdLst/>
              <a:ahLst/>
              <a:cxnLst/>
              <a:rect l="l" t="t" r="r" b="b"/>
              <a:pathLst>
                <a:path w="207010" h="1225550">
                  <a:moveTo>
                    <a:pt x="0" y="0"/>
                  </a:moveTo>
                  <a:lnTo>
                    <a:pt x="38238" y="8751"/>
                  </a:lnTo>
                  <a:lnTo>
                    <a:pt x="71596" y="31908"/>
                  </a:lnTo>
                  <a:lnTo>
                    <a:pt x="95190" y="64829"/>
                  </a:lnTo>
                  <a:lnTo>
                    <a:pt x="104139" y="102869"/>
                  </a:lnTo>
                  <a:lnTo>
                    <a:pt x="104139" y="510539"/>
                  </a:lnTo>
                  <a:lnTo>
                    <a:pt x="113069" y="547846"/>
                  </a:lnTo>
                  <a:lnTo>
                    <a:pt x="136525" y="580389"/>
                  </a:lnTo>
                  <a:lnTo>
                    <a:pt x="169505" y="603408"/>
                  </a:lnTo>
                  <a:lnTo>
                    <a:pt x="207010" y="612139"/>
                  </a:lnTo>
                  <a:lnTo>
                    <a:pt x="169505" y="621069"/>
                  </a:lnTo>
                  <a:lnTo>
                    <a:pt x="136525" y="644525"/>
                  </a:lnTo>
                  <a:lnTo>
                    <a:pt x="113069" y="677505"/>
                  </a:lnTo>
                  <a:lnTo>
                    <a:pt x="104139" y="715009"/>
                  </a:lnTo>
                  <a:lnTo>
                    <a:pt x="104139" y="1122679"/>
                  </a:lnTo>
                  <a:lnTo>
                    <a:pt x="95190" y="1160184"/>
                  </a:lnTo>
                  <a:lnTo>
                    <a:pt x="71596" y="1193164"/>
                  </a:lnTo>
                  <a:lnTo>
                    <a:pt x="38238" y="1216620"/>
                  </a:lnTo>
                  <a:lnTo>
                    <a:pt x="0" y="1225550"/>
                  </a:lnTo>
                </a:path>
              </a:pathLst>
            </a:custGeom>
            <a:ln w="35940">
              <a:solidFill>
                <a:srgbClr val="3364A3"/>
              </a:solidFill>
            </a:ln>
          </p:spPr>
          <p:txBody>
            <a:bodyPr wrap="square" lIns="0" tIns="0" rIns="0" bIns="0" rtlCol="0"/>
            <a:lstStyle/>
            <a:p>
              <a:endParaRPr/>
            </a:p>
          </p:txBody>
        </p:sp>
        <p:sp>
          <p:nvSpPr>
            <p:cNvPr id="21" name="object 21"/>
            <p:cNvSpPr/>
            <p:nvPr/>
          </p:nvSpPr>
          <p:spPr>
            <a:xfrm>
              <a:off x="6008179" y="2213779"/>
              <a:ext cx="243204" cy="1261745"/>
            </a:xfrm>
            <a:custGeom>
              <a:avLst/>
              <a:gdLst/>
              <a:ahLst/>
              <a:cxnLst/>
              <a:rect l="l" t="t" r="r" b="b"/>
              <a:pathLst>
                <a:path w="243204" h="1261745">
                  <a:moveTo>
                    <a:pt x="35941" y="1243520"/>
                  </a:moveTo>
                  <a:lnTo>
                    <a:pt x="30670" y="1230820"/>
                  </a:lnTo>
                  <a:lnTo>
                    <a:pt x="17970" y="1225562"/>
                  </a:lnTo>
                  <a:lnTo>
                    <a:pt x="5257" y="1230820"/>
                  </a:lnTo>
                  <a:lnTo>
                    <a:pt x="0" y="1243520"/>
                  </a:lnTo>
                  <a:lnTo>
                    <a:pt x="5257" y="1256233"/>
                  </a:lnTo>
                  <a:lnTo>
                    <a:pt x="17970" y="1261491"/>
                  </a:lnTo>
                  <a:lnTo>
                    <a:pt x="30670" y="1256233"/>
                  </a:lnTo>
                  <a:lnTo>
                    <a:pt x="35941" y="1243520"/>
                  </a:lnTo>
                  <a:close/>
                </a:path>
                <a:path w="243204" h="1261745">
                  <a:moveTo>
                    <a:pt x="242951" y="17970"/>
                  </a:moveTo>
                  <a:lnTo>
                    <a:pt x="237680" y="5270"/>
                  </a:lnTo>
                  <a:lnTo>
                    <a:pt x="224980" y="0"/>
                  </a:lnTo>
                  <a:lnTo>
                    <a:pt x="212267" y="5270"/>
                  </a:lnTo>
                  <a:lnTo>
                    <a:pt x="207010" y="17970"/>
                  </a:lnTo>
                  <a:lnTo>
                    <a:pt x="212267" y="30683"/>
                  </a:lnTo>
                  <a:lnTo>
                    <a:pt x="224980" y="35953"/>
                  </a:lnTo>
                  <a:lnTo>
                    <a:pt x="237680" y="30683"/>
                  </a:lnTo>
                  <a:lnTo>
                    <a:pt x="242951" y="17970"/>
                  </a:lnTo>
                  <a:close/>
                </a:path>
              </a:pathLst>
            </a:custGeom>
            <a:solidFill>
              <a:srgbClr val="3364A3"/>
            </a:solidFill>
          </p:spPr>
          <p:txBody>
            <a:bodyPr wrap="square" lIns="0" tIns="0" rIns="0" bIns="0" rtlCol="0"/>
            <a:lstStyle/>
            <a:p>
              <a:endParaRPr/>
            </a:p>
          </p:txBody>
        </p:sp>
      </p:grpSp>
      <p:sp>
        <p:nvSpPr>
          <p:cNvPr id="22" name="object 22"/>
          <p:cNvSpPr txBox="1"/>
          <p:nvPr/>
        </p:nvSpPr>
        <p:spPr>
          <a:xfrm>
            <a:off x="7253397" y="3315890"/>
            <a:ext cx="1170639"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(.2,</a:t>
            </a:r>
            <a:r>
              <a:rPr sz="1270" spc="14" dirty="0">
                <a:latin typeface="Arial MT"/>
                <a:cs typeface="Arial MT"/>
              </a:rPr>
              <a:t> </a:t>
            </a:r>
            <a:r>
              <a:rPr sz="1270" dirty="0">
                <a:latin typeface="Arial MT"/>
                <a:cs typeface="Arial MT"/>
              </a:rPr>
              <a:t>.4,</a:t>
            </a:r>
            <a:r>
              <a:rPr sz="1270" spc="14" dirty="0">
                <a:latin typeface="Arial MT"/>
                <a:cs typeface="Arial MT"/>
              </a:rPr>
              <a:t> </a:t>
            </a:r>
            <a:r>
              <a:rPr sz="1270" dirty="0">
                <a:latin typeface="Arial MT"/>
                <a:cs typeface="Arial MT"/>
              </a:rPr>
              <a:t>.8,</a:t>
            </a:r>
            <a:r>
              <a:rPr sz="1270" spc="9" dirty="0">
                <a:latin typeface="Arial MT"/>
                <a:cs typeface="Arial MT"/>
              </a:rPr>
              <a:t> </a:t>
            </a:r>
            <a:r>
              <a:rPr sz="1270" dirty="0">
                <a:latin typeface="Arial MT"/>
                <a:cs typeface="Arial MT"/>
              </a:rPr>
              <a:t>.3,</a:t>
            </a:r>
            <a:r>
              <a:rPr sz="1270" spc="9" dirty="0">
                <a:latin typeface="Arial MT"/>
                <a:cs typeface="Arial MT"/>
              </a:rPr>
              <a:t> </a:t>
            </a:r>
            <a:r>
              <a:rPr sz="1270" spc="-23" dirty="0">
                <a:latin typeface="Arial MT"/>
                <a:cs typeface="Arial MT"/>
              </a:rPr>
              <a:t>.9)</a:t>
            </a:r>
            <a:endParaRPr sz="1270">
              <a:latin typeface="Arial MT"/>
              <a:cs typeface="Arial MT"/>
            </a:endParaRPr>
          </a:p>
        </p:txBody>
      </p:sp>
      <p:sp>
        <p:nvSpPr>
          <p:cNvPr id="23" name="object 23"/>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4" name="object 24"/>
          <p:cNvGrpSpPr/>
          <p:nvPr/>
        </p:nvGrpSpPr>
        <p:grpSpPr>
          <a:xfrm>
            <a:off x="7109442" y="2041029"/>
            <a:ext cx="1368145" cy="484839"/>
            <a:chOff x="6159500" y="1304650"/>
            <a:chExt cx="1508760" cy="534670"/>
          </a:xfrm>
        </p:grpSpPr>
        <p:sp>
          <p:nvSpPr>
            <p:cNvPr id="25" name="object 25"/>
            <p:cNvSpPr/>
            <p:nvPr/>
          </p:nvSpPr>
          <p:spPr>
            <a:xfrm>
              <a:off x="6167120" y="1304650"/>
              <a:ext cx="1492250" cy="534670"/>
            </a:xfrm>
            <a:custGeom>
              <a:avLst/>
              <a:gdLst/>
              <a:ahLst/>
              <a:cxnLst/>
              <a:rect l="l" t="t" r="r" b="b"/>
              <a:pathLst>
                <a:path w="1492250" h="534669">
                  <a:moveTo>
                    <a:pt x="1399539" y="0"/>
                  </a:moveTo>
                  <a:lnTo>
                    <a:pt x="40639" y="240029"/>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close/>
                </a:path>
              </a:pathLst>
            </a:custGeom>
            <a:solidFill>
              <a:srgbClr val="ACD489"/>
            </a:solidFill>
          </p:spPr>
          <p:txBody>
            <a:bodyPr wrap="square" lIns="0" tIns="0" rIns="0" bIns="0" rtlCol="0"/>
            <a:lstStyle/>
            <a:p>
              <a:endParaRPr/>
            </a:p>
          </p:txBody>
        </p:sp>
        <p:sp>
          <p:nvSpPr>
            <p:cNvPr id="26" name="object 26"/>
            <p:cNvSpPr/>
            <p:nvPr/>
          </p:nvSpPr>
          <p:spPr>
            <a:xfrm>
              <a:off x="6167120" y="1304650"/>
              <a:ext cx="1492250" cy="534670"/>
            </a:xfrm>
            <a:custGeom>
              <a:avLst/>
              <a:gdLst/>
              <a:ahLst/>
              <a:cxnLst/>
              <a:rect l="l" t="t" r="r" b="b"/>
              <a:pathLst>
                <a:path w="1492250" h="534669">
                  <a:moveTo>
                    <a:pt x="40639" y="240029"/>
                  </a:moveTo>
                  <a:lnTo>
                    <a:pt x="23574" y="247173"/>
                  </a:lnTo>
                  <a:lnTo>
                    <a:pt x="9842" y="260984"/>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lnTo>
                    <a:pt x="40639" y="240029"/>
                  </a:lnTo>
                  <a:close/>
                </a:path>
              </a:pathLst>
            </a:custGeom>
            <a:ln w="3175">
              <a:solidFill>
                <a:srgbClr val="3364A3"/>
              </a:solidFill>
            </a:ln>
          </p:spPr>
          <p:txBody>
            <a:bodyPr wrap="square" lIns="0" tIns="0" rIns="0" bIns="0" rtlCol="0"/>
            <a:lstStyle/>
            <a:p>
              <a:endParaRPr/>
            </a:p>
          </p:txBody>
        </p:sp>
      </p:grpSp>
      <p:sp>
        <p:nvSpPr>
          <p:cNvPr id="27" name="object 27"/>
          <p:cNvSpPr txBox="1"/>
          <p:nvPr/>
        </p:nvSpPr>
        <p:spPr>
          <a:xfrm rot="21060000">
            <a:off x="7197859" y="2220910"/>
            <a:ext cx="115818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.BCEL</a:t>
            </a:r>
            <a:r>
              <a:rPr sz="1632" spc="-14" baseline="6944" dirty="0">
                <a:latin typeface="Arial MT"/>
                <a:cs typeface="Arial MT"/>
              </a:rPr>
              <a:t>oss</a:t>
            </a:r>
            <a:endParaRPr sz="1632" baseline="6944">
              <a:latin typeface="Arial MT"/>
              <a:cs typeface="Arial MT"/>
            </a:endParaRPr>
          </a:p>
        </p:txBody>
      </p:sp>
    </p:spTree>
    <p:extLst>
      <p:ext uri="{BB962C8B-B14F-4D97-AF65-F5344CB8AC3E}">
        <p14:creationId xmlns:p14="http://schemas.microsoft.com/office/powerpoint/2010/main" val="22011872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7114" y="2654852"/>
            <a:ext cx="2219205" cy="2218053"/>
            <a:chOff x="863600" y="1981560"/>
            <a:chExt cx="2447290" cy="2446020"/>
          </a:xfrm>
        </p:grpSpPr>
        <p:pic>
          <p:nvPicPr>
            <p:cNvPr id="3" name="object 3"/>
            <p:cNvPicPr/>
            <p:nvPr/>
          </p:nvPicPr>
          <p:blipFill>
            <a:blip r:embed="rId2" cstate="print"/>
            <a:stretch>
              <a:fillRect/>
            </a:stretch>
          </p:blipFill>
          <p:spPr>
            <a:xfrm>
              <a:off x="863600" y="1981560"/>
              <a:ext cx="2447290" cy="2446019"/>
            </a:xfrm>
            <a:prstGeom prst="rect">
              <a:avLst/>
            </a:prstGeom>
          </p:spPr>
        </p:pic>
        <p:sp>
          <p:nvSpPr>
            <p:cNvPr id="4" name="object 4"/>
            <p:cNvSpPr/>
            <p:nvPr/>
          </p:nvSpPr>
          <p:spPr>
            <a:xfrm>
              <a:off x="900430" y="2036170"/>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70"/>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7" name="object 7"/>
          <p:cNvSpPr txBox="1">
            <a:spLocks noGrp="1"/>
          </p:cNvSpPr>
          <p:nvPr>
            <p:ph idx="1"/>
          </p:nvPr>
        </p:nvSpPr>
        <p:spPr>
          <a:xfrm>
            <a:off x="1938589" y="2309034"/>
            <a:ext cx="7462610" cy="1192401"/>
          </a:xfrm>
          <a:prstGeom prst="rect">
            <a:avLst/>
          </a:prstGeom>
        </p:spPr>
        <p:txBody>
          <a:bodyPr vert="horz" wrap="square" lIns="0" tIns="11516" rIns="0" bIns="0" numCol="1" rtlCol="0" anchor="t" anchorCtr="0" compatLnSpc="1">
            <a:prstTxWarp prst="textNoShape">
              <a:avLst/>
            </a:prstTxWarp>
            <a:spAutoFit/>
          </a:bodyPr>
          <a:lstStyle/>
          <a:p>
            <a:pPr marL="11516">
              <a:spcBef>
                <a:spcPts val="91"/>
              </a:spcBef>
            </a:pPr>
            <a:r>
              <a:rPr dirty="0"/>
              <a:t>Binary</a:t>
            </a:r>
            <a:r>
              <a:rPr spc="-63" dirty="0"/>
              <a:t> </a:t>
            </a:r>
            <a:r>
              <a:rPr spc="-9" dirty="0"/>
              <a:t>cross-</a:t>
            </a:r>
            <a:r>
              <a:rPr dirty="0"/>
              <a:t>entropy</a:t>
            </a:r>
            <a:r>
              <a:rPr spc="-54" dirty="0"/>
              <a:t> </a:t>
            </a:r>
            <a:r>
              <a:rPr dirty="0"/>
              <a:t>(aka</a:t>
            </a:r>
            <a:r>
              <a:rPr spc="-63" dirty="0"/>
              <a:t> </a:t>
            </a:r>
            <a:r>
              <a:rPr dirty="0"/>
              <a:t>Log</a:t>
            </a:r>
            <a:r>
              <a:rPr spc="-59" dirty="0"/>
              <a:t> </a:t>
            </a:r>
            <a:r>
              <a:rPr spc="-9" dirty="0"/>
              <a:t>loss)</a:t>
            </a:r>
          </a:p>
          <a:p>
            <a:pPr>
              <a:spcBef>
                <a:spcPts val="163"/>
              </a:spcBef>
            </a:pPr>
            <a:endParaRPr spc="-9" dirty="0"/>
          </a:p>
          <a:p>
            <a:pPr marL="483687"/>
            <a:r>
              <a:rPr sz="1814" b="1" spc="-9" dirty="0">
                <a:latin typeface="Arial"/>
                <a:cs typeface="Arial"/>
              </a:rPr>
              <a:t>Input</a:t>
            </a:r>
            <a:endParaRPr sz="1814">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grpSp>
        <p:nvGrpSpPr>
          <p:cNvPr id="9" name="object 9"/>
          <p:cNvGrpSpPr/>
          <p:nvPr/>
        </p:nvGrpSpPr>
        <p:grpSpPr>
          <a:xfrm>
            <a:off x="2339359" y="5120507"/>
            <a:ext cx="914400" cy="391557"/>
            <a:chOff x="899160" y="4700630"/>
            <a:chExt cx="1008380" cy="431800"/>
          </a:xfrm>
        </p:grpSpPr>
        <p:sp>
          <p:nvSpPr>
            <p:cNvPr id="10" name="object 10"/>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1" name="object 11"/>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2" name="object 12"/>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3" name="object 13"/>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1)</a:t>
            </a:r>
            <a:endParaRPr sz="1270">
              <a:latin typeface="Arial MT"/>
              <a:cs typeface="Arial MT"/>
            </a:endParaRPr>
          </a:p>
        </p:txBody>
      </p:sp>
      <p:sp>
        <p:nvSpPr>
          <p:cNvPr id="14" name="object 14"/>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sp>
        <p:nvSpPr>
          <p:cNvPr id="15" name="object 15"/>
          <p:cNvSpPr txBox="1"/>
          <p:nvPr/>
        </p:nvSpPr>
        <p:spPr>
          <a:xfrm>
            <a:off x="5456843" y="5095169"/>
            <a:ext cx="4189081" cy="678478"/>
          </a:xfrm>
          <a:prstGeom prst="rect">
            <a:avLst/>
          </a:prstGeom>
        </p:spPr>
        <p:txBody>
          <a:bodyPr vert="horz" wrap="square" lIns="0" tIns="11516" rIns="0" bIns="0" rtlCol="0">
            <a:spAutoFit/>
          </a:bodyPr>
          <a:lstStyle/>
          <a:p>
            <a:pPr marL="23033" algn="ctr">
              <a:lnSpc>
                <a:spcPts val="1795"/>
              </a:lnSpc>
              <a:spcBef>
                <a:spcPts val="91"/>
              </a:spcBef>
            </a:pPr>
            <a:r>
              <a:rPr sz="1632" b="1" i="1" dirty="0">
                <a:solidFill>
                  <a:srgbClr val="333333"/>
                </a:solidFill>
                <a:latin typeface="Times New Roman"/>
                <a:cs typeface="Times New Roman"/>
              </a:rPr>
              <a:t>= –</a:t>
            </a:r>
            <a:r>
              <a:rPr sz="1428" b="1" i="1" baseline="31746" dirty="0">
                <a:solidFill>
                  <a:srgbClr val="333333"/>
                </a:solidFill>
                <a:latin typeface="Times New Roman"/>
                <a:cs typeface="Times New Roman"/>
              </a:rPr>
              <a:t>1</a:t>
            </a:r>
            <a:r>
              <a:rPr sz="1632" b="1" i="1" dirty="0">
                <a:solidFill>
                  <a:srgbClr val="333333"/>
                </a:solidFill>
                <a:latin typeface="Times New Roman"/>
                <a:cs typeface="Times New Roman"/>
              </a:rPr>
              <a:t>/</a:t>
            </a:r>
            <a:r>
              <a:rPr sz="907" b="1" i="1" dirty="0">
                <a:solidFill>
                  <a:srgbClr val="333333"/>
                </a:solidFill>
                <a:latin typeface="Times New Roman"/>
                <a:cs typeface="Times New Roman"/>
              </a:rPr>
              <a:t>5</a:t>
            </a:r>
            <a:r>
              <a:rPr sz="907" b="1" i="1" spc="190"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spc="-9" dirty="0">
                <a:solidFill>
                  <a:srgbClr val="333333"/>
                </a:solidFill>
                <a:latin typeface="Times New Roman"/>
                <a:cs typeface="Times New Roman"/>
              </a:rPr>
              <a:t>(1*log(0.8))</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(1*log(0.6)) +</a:t>
            </a:r>
            <a:r>
              <a:rPr sz="1632" b="1" i="1" spc="9" dirty="0">
                <a:solidFill>
                  <a:srgbClr val="333333"/>
                </a:solidFill>
                <a:latin typeface="Times New Roman"/>
                <a:cs typeface="Times New Roman"/>
              </a:rPr>
              <a:t> </a:t>
            </a:r>
            <a:r>
              <a:rPr sz="1632" b="1" i="1" spc="-9" dirty="0">
                <a:solidFill>
                  <a:srgbClr val="333333"/>
                </a:solidFill>
                <a:latin typeface="Times New Roman"/>
                <a:cs typeface="Times New Roman"/>
              </a:rPr>
              <a:t>(1*log(0.8))</a:t>
            </a:r>
            <a:endParaRPr sz="1632">
              <a:latin typeface="Times New Roman"/>
              <a:cs typeface="Times New Roman"/>
            </a:endParaRPr>
          </a:p>
          <a:p>
            <a:pPr marR="14971" algn="ctr">
              <a:lnSpc>
                <a:spcPts val="1632"/>
              </a:lnSpc>
            </a:pPr>
            <a:r>
              <a:rPr sz="1632" b="1" i="1" dirty="0">
                <a:solidFill>
                  <a:srgbClr val="333333"/>
                </a:solidFill>
                <a:latin typeface="Times New Roman"/>
                <a:cs typeface="Times New Roman"/>
              </a:rPr>
              <a:t>+</a:t>
            </a:r>
            <a:r>
              <a:rPr sz="1632" b="1" i="1" spc="-36" dirty="0">
                <a:solidFill>
                  <a:srgbClr val="333333"/>
                </a:solidFill>
                <a:latin typeface="Times New Roman"/>
                <a:cs typeface="Times New Roman"/>
              </a:rPr>
              <a:t> </a:t>
            </a:r>
            <a:r>
              <a:rPr sz="1632" b="1" i="1" dirty="0">
                <a:solidFill>
                  <a:srgbClr val="333333"/>
                </a:solidFill>
                <a:latin typeface="Times New Roman"/>
                <a:cs typeface="Times New Roman"/>
              </a:rPr>
              <a:t>(1*log(0.7))</a:t>
            </a:r>
            <a:r>
              <a:rPr sz="1632" b="1" i="1" spc="-41"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36" dirty="0">
                <a:solidFill>
                  <a:srgbClr val="333333"/>
                </a:solidFill>
                <a:latin typeface="Times New Roman"/>
                <a:cs typeface="Times New Roman"/>
              </a:rPr>
              <a:t> </a:t>
            </a:r>
            <a:r>
              <a:rPr sz="1632" b="1" i="1" dirty="0">
                <a:solidFill>
                  <a:srgbClr val="333333"/>
                </a:solidFill>
                <a:latin typeface="Times New Roman"/>
                <a:cs typeface="Times New Roman"/>
              </a:rPr>
              <a:t>(1*log(0.9))</a:t>
            </a:r>
            <a:r>
              <a:rPr sz="1632" b="1" i="1" spc="-36"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a:p>
            <a:pPr marR="3578133" algn="ctr">
              <a:lnSpc>
                <a:spcPts val="1795"/>
              </a:lnSpc>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spc="-18" dirty="0">
                <a:solidFill>
                  <a:srgbClr val="333333"/>
                </a:solidFill>
                <a:latin typeface="Times New Roman"/>
                <a:cs typeface="Times New Roman"/>
              </a:rPr>
              <a:t>0.28</a:t>
            </a:r>
            <a:endParaRPr sz="1632">
              <a:latin typeface="Times New Roman"/>
              <a:cs typeface="Times New Roman"/>
            </a:endParaRPr>
          </a:p>
        </p:txBody>
      </p:sp>
      <p:pic>
        <p:nvPicPr>
          <p:cNvPr id="16" name="object 16"/>
          <p:cNvPicPr/>
          <p:nvPr/>
        </p:nvPicPr>
        <p:blipFill>
          <a:blip r:embed="rId3" cstate="print"/>
          <a:stretch>
            <a:fillRect/>
          </a:stretch>
        </p:blipFill>
        <p:spPr>
          <a:xfrm>
            <a:off x="5650890" y="4353486"/>
            <a:ext cx="3868932" cy="578196"/>
          </a:xfrm>
          <a:prstGeom prst="rect">
            <a:avLst/>
          </a:prstGeom>
        </p:spPr>
      </p:pic>
      <p:grpSp>
        <p:nvGrpSpPr>
          <p:cNvPr id="17" name="object 17"/>
          <p:cNvGrpSpPr/>
          <p:nvPr/>
        </p:nvGrpSpPr>
        <p:grpSpPr>
          <a:xfrm>
            <a:off x="4751868" y="2668671"/>
            <a:ext cx="2440895" cy="1566227"/>
            <a:chOff x="3559619" y="1996800"/>
            <a:chExt cx="2691765" cy="1727200"/>
          </a:xfrm>
        </p:grpSpPr>
        <p:pic>
          <p:nvPicPr>
            <p:cNvPr id="18" name="object 18"/>
            <p:cNvPicPr/>
            <p:nvPr/>
          </p:nvPicPr>
          <p:blipFill>
            <a:blip r:embed="rId4" cstate="print"/>
            <a:stretch>
              <a:fillRect/>
            </a:stretch>
          </p:blipFill>
          <p:spPr>
            <a:xfrm>
              <a:off x="3841750" y="1996800"/>
              <a:ext cx="2127250" cy="1727200"/>
            </a:xfrm>
            <a:prstGeom prst="rect">
              <a:avLst/>
            </a:prstGeom>
          </p:spPr>
        </p:pic>
        <p:sp>
          <p:nvSpPr>
            <p:cNvPr id="19" name="object 19"/>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0" name="object 20"/>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1" name="object 21"/>
            <p:cNvSpPr/>
            <p:nvPr/>
          </p:nvSpPr>
          <p:spPr>
            <a:xfrm>
              <a:off x="6026150" y="2231750"/>
              <a:ext cx="207010" cy="1225550"/>
            </a:xfrm>
            <a:custGeom>
              <a:avLst/>
              <a:gdLst/>
              <a:ahLst/>
              <a:cxnLst/>
              <a:rect l="l" t="t" r="r" b="b"/>
              <a:pathLst>
                <a:path w="207010" h="1225550">
                  <a:moveTo>
                    <a:pt x="0" y="0"/>
                  </a:moveTo>
                  <a:lnTo>
                    <a:pt x="38238" y="8751"/>
                  </a:lnTo>
                  <a:lnTo>
                    <a:pt x="71596" y="31908"/>
                  </a:lnTo>
                  <a:lnTo>
                    <a:pt x="95190" y="64829"/>
                  </a:lnTo>
                  <a:lnTo>
                    <a:pt x="104139" y="102869"/>
                  </a:lnTo>
                  <a:lnTo>
                    <a:pt x="104139" y="510539"/>
                  </a:lnTo>
                  <a:lnTo>
                    <a:pt x="113069" y="547846"/>
                  </a:lnTo>
                  <a:lnTo>
                    <a:pt x="136525" y="580389"/>
                  </a:lnTo>
                  <a:lnTo>
                    <a:pt x="169505" y="603408"/>
                  </a:lnTo>
                  <a:lnTo>
                    <a:pt x="207010" y="612139"/>
                  </a:lnTo>
                  <a:lnTo>
                    <a:pt x="169505" y="621069"/>
                  </a:lnTo>
                  <a:lnTo>
                    <a:pt x="136525" y="644525"/>
                  </a:lnTo>
                  <a:lnTo>
                    <a:pt x="113069" y="677505"/>
                  </a:lnTo>
                  <a:lnTo>
                    <a:pt x="104139" y="715009"/>
                  </a:lnTo>
                  <a:lnTo>
                    <a:pt x="104139" y="1122679"/>
                  </a:lnTo>
                  <a:lnTo>
                    <a:pt x="95190" y="1160184"/>
                  </a:lnTo>
                  <a:lnTo>
                    <a:pt x="71596" y="1193164"/>
                  </a:lnTo>
                  <a:lnTo>
                    <a:pt x="38238" y="1216620"/>
                  </a:lnTo>
                  <a:lnTo>
                    <a:pt x="0" y="1225550"/>
                  </a:lnTo>
                </a:path>
              </a:pathLst>
            </a:custGeom>
            <a:ln w="35940">
              <a:solidFill>
                <a:srgbClr val="3364A3"/>
              </a:solidFill>
            </a:ln>
          </p:spPr>
          <p:txBody>
            <a:bodyPr wrap="square" lIns="0" tIns="0" rIns="0" bIns="0" rtlCol="0"/>
            <a:lstStyle/>
            <a:p>
              <a:endParaRPr/>
            </a:p>
          </p:txBody>
        </p:sp>
        <p:sp>
          <p:nvSpPr>
            <p:cNvPr id="22" name="object 22"/>
            <p:cNvSpPr/>
            <p:nvPr/>
          </p:nvSpPr>
          <p:spPr>
            <a:xfrm>
              <a:off x="6008179" y="2213779"/>
              <a:ext cx="243204" cy="1261745"/>
            </a:xfrm>
            <a:custGeom>
              <a:avLst/>
              <a:gdLst/>
              <a:ahLst/>
              <a:cxnLst/>
              <a:rect l="l" t="t" r="r" b="b"/>
              <a:pathLst>
                <a:path w="243204" h="1261745">
                  <a:moveTo>
                    <a:pt x="35941" y="1243520"/>
                  </a:moveTo>
                  <a:lnTo>
                    <a:pt x="30670" y="1230820"/>
                  </a:lnTo>
                  <a:lnTo>
                    <a:pt x="17970" y="1225562"/>
                  </a:lnTo>
                  <a:lnTo>
                    <a:pt x="5257" y="1230820"/>
                  </a:lnTo>
                  <a:lnTo>
                    <a:pt x="0" y="1243520"/>
                  </a:lnTo>
                  <a:lnTo>
                    <a:pt x="5257" y="1256233"/>
                  </a:lnTo>
                  <a:lnTo>
                    <a:pt x="17970" y="1261491"/>
                  </a:lnTo>
                  <a:lnTo>
                    <a:pt x="30670" y="1256233"/>
                  </a:lnTo>
                  <a:lnTo>
                    <a:pt x="35941" y="1243520"/>
                  </a:lnTo>
                  <a:close/>
                </a:path>
                <a:path w="243204" h="1261745">
                  <a:moveTo>
                    <a:pt x="242951" y="17970"/>
                  </a:moveTo>
                  <a:lnTo>
                    <a:pt x="237680" y="5270"/>
                  </a:lnTo>
                  <a:lnTo>
                    <a:pt x="224980" y="0"/>
                  </a:lnTo>
                  <a:lnTo>
                    <a:pt x="212267" y="5270"/>
                  </a:lnTo>
                  <a:lnTo>
                    <a:pt x="207010" y="17970"/>
                  </a:lnTo>
                  <a:lnTo>
                    <a:pt x="212267" y="30683"/>
                  </a:lnTo>
                  <a:lnTo>
                    <a:pt x="224980" y="35953"/>
                  </a:lnTo>
                  <a:lnTo>
                    <a:pt x="237680" y="30683"/>
                  </a:lnTo>
                  <a:lnTo>
                    <a:pt x="242951" y="17970"/>
                  </a:lnTo>
                  <a:close/>
                </a:path>
              </a:pathLst>
            </a:custGeom>
            <a:solidFill>
              <a:srgbClr val="3364A3"/>
            </a:solidFill>
          </p:spPr>
          <p:txBody>
            <a:bodyPr wrap="square" lIns="0" tIns="0" rIns="0" bIns="0" rtlCol="0"/>
            <a:lstStyle/>
            <a:p>
              <a:endParaRPr/>
            </a:p>
          </p:txBody>
        </p:sp>
      </p:grpSp>
      <p:sp>
        <p:nvSpPr>
          <p:cNvPr id="23" name="object 23"/>
          <p:cNvSpPr txBox="1"/>
          <p:nvPr/>
        </p:nvSpPr>
        <p:spPr>
          <a:xfrm>
            <a:off x="7253397" y="3315890"/>
            <a:ext cx="1170639"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(.2,</a:t>
            </a:r>
            <a:r>
              <a:rPr sz="1270" spc="14" dirty="0">
                <a:latin typeface="Arial MT"/>
                <a:cs typeface="Arial MT"/>
              </a:rPr>
              <a:t> </a:t>
            </a:r>
            <a:r>
              <a:rPr sz="1270" dirty="0">
                <a:latin typeface="Arial MT"/>
                <a:cs typeface="Arial MT"/>
              </a:rPr>
              <a:t>.4,</a:t>
            </a:r>
            <a:r>
              <a:rPr sz="1270" spc="14" dirty="0">
                <a:latin typeface="Arial MT"/>
                <a:cs typeface="Arial MT"/>
              </a:rPr>
              <a:t> </a:t>
            </a:r>
            <a:r>
              <a:rPr sz="1270" dirty="0">
                <a:latin typeface="Arial MT"/>
                <a:cs typeface="Arial MT"/>
              </a:rPr>
              <a:t>.8,</a:t>
            </a:r>
            <a:r>
              <a:rPr sz="1270" spc="9" dirty="0">
                <a:latin typeface="Arial MT"/>
                <a:cs typeface="Arial MT"/>
              </a:rPr>
              <a:t> </a:t>
            </a:r>
            <a:r>
              <a:rPr sz="1270" dirty="0">
                <a:latin typeface="Arial MT"/>
                <a:cs typeface="Arial MT"/>
              </a:rPr>
              <a:t>.3,</a:t>
            </a:r>
            <a:r>
              <a:rPr sz="1270" spc="9" dirty="0">
                <a:latin typeface="Arial MT"/>
                <a:cs typeface="Arial MT"/>
              </a:rPr>
              <a:t> </a:t>
            </a:r>
            <a:r>
              <a:rPr sz="1270" spc="-23" dirty="0">
                <a:latin typeface="Arial MT"/>
                <a:cs typeface="Arial MT"/>
              </a:rPr>
              <a:t>.9)</a:t>
            </a:r>
            <a:endParaRPr sz="1270">
              <a:latin typeface="Arial MT"/>
              <a:cs typeface="Arial MT"/>
            </a:endParaRPr>
          </a:p>
        </p:txBody>
      </p:sp>
      <p:sp>
        <p:nvSpPr>
          <p:cNvPr id="24" name="object 24"/>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5" name="object 25"/>
          <p:cNvGrpSpPr/>
          <p:nvPr/>
        </p:nvGrpSpPr>
        <p:grpSpPr>
          <a:xfrm>
            <a:off x="7109442" y="2041029"/>
            <a:ext cx="1368145" cy="484839"/>
            <a:chOff x="6159500" y="1304650"/>
            <a:chExt cx="1508760" cy="534670"/>
          </a:xfrm>
        </p:grpSpPr>
        <p:sp>
          <p:nvSpPr>
            <p:cNvPr id="26" name="object 26"/>
            <p:cNvSpPr/>
            <p:nvPr/>
          </p:nvSpPr>
          <p:spPr>
            <a:xfrm>
              <a:off x="6167120" y="1304650"/>
              <a:ext cx="1492250" cy="534670"/>
            </a:xfrm>
            <a:custGeom>
              <a:avLst/>
              <a:gdLst/>
              <a:ahLst/>
              <a:cxnLst/>
              <a:rect l="l" t="t" r="r" b="b"/>
              <a:pathLst>
                <a:path w="1492250" h="534669">
                  <a:moveTo>
                    <a:pt x="1399539" y="0"/>
                  </a:moveTo>
                  <a:lnTo>
                    <a:pt x="40639" y="240029"/>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close/>
                </a:path>
              </a:pathLst>
            </a:custGeom>
            <a:solidFill>
              <a:srgbClr val="ACD489"/>
            </a:solidFill>
          </p:spPr>
          <p:txBody>
            <a:bodyPr wrap="square" lIns="0" tIns="0" rIns="0" bIns="0" rtlCol="0"/>
            <a:lstStyle/>
            <a:p>
              <a:endParaRPr/>
            </a:p>
          </p:txBody>
        </p:sp>
        <p:sp>
          <p:nvSpPr>
            <p:cNvPr id="27" name="object 27"/>
            <p:cNvSpPr/>
            <p:nvPr/>
          </p:nvSpPr>
          <p:spPr>
            <a:xfrm>
              <a:off x="6167120" y="1304650"/>
              <a:ext cx="1492250" cy="534670"/>
            </a:xfrm>
            <a:custGeom>
              <a:avLst/>
              <a:gdLst/>
              <a:ahLst/>
              <a:cxnLst/>
              <a:rect l="l" t="t" r="r" b="b"/>
              <a:pathLst>
                <a:path w="1492250" h="534669">
                  <a:moveTo>
                    <a:pt x="40639" y="240029"/>
                  </a:moveTo>
                  <a:lnTo>
                    <a:pt x="23574" y="247173"/>
                  </a:lnTo>
                  <a:lnTo>
                    <a:pt x="9842" y="260984"/>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lnTo>
                    <a:pt x="40639" y="240029"/>
                  </a:lnTo>
                  <a:close/>
                </a:path>
              </a:pathLst>
            </a:custGeom>
            <a:ln w="3175">
              <a:solidFill>
                <a:srgbClr val="3364A3"/>
              </a:solidFill>
            </a:ln>
          </p:spPr>
          <p:txBody>
            <a:bodyPr wrap="square" lIns="0" tIns="0" rIns="0" bIns="0" rtlCol="0"/>
            <a:lstStyle/>
            <a:p>
              <a:endParaRPr/>
            </a:p>
          </p:txBody>
        </p:sp>
      </p:grpSp>
      <p:sp>
        <p:nvSpPr>
          <p:cNvPr id="28" name="object 28"/>
          <p:cNvSpPr txBox="1"/>
          <p:nvPr/>
        </p:nvSpPr>
        <p:spPr>
          <a:xfrm rot="21060000">
            <a:off x="7197859" y="2220910"/>
            <a:ext cx="115818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.BCEL</a:t>
            </a:r>
            <a:r>
              <a:rPr sz="1632" spc="-14" baseline="6944" dirty="0">
                <a:latin typeface="Arial MT"/>
                <a:cs typeface="Arial MT"/>
              </a:rPr>
              <a:t>oss</a:t>
            </a:r>
            <a:endParaRPr sz="1632" baseline="6944">
              <a:latin typeface="Arial MT"/>
              <a:cs typeface="Arial MT"/>
            </a:endParaRPr>
          </a:p>
        </p:txBody>
      </p:sp>
    </p:spTree>
    <p:extLst>
      <p:ext uri="{BB962C8B-B14F-4D97-AF65-F5344CB8AC3E}">
        <p14:creationId xmlns:p14="http://schemas.microsoft.com/office/powerpoint/2010/main" val="40611833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7114" y="2654852"/>
            <a:ext cx="2219205" cy="2218053"/>
            <a:chOff x="863600" y="1981560"/>
            <a:chExt cx="2447290" cy="2446020"/>
          </a:xfrm>
        </p:grpSpPr>
        <p:pic>
          <p:nvPicPr>
            <p:cNvPr id="3" name="object 3"/>
            <p:cNvPicPr/>
            <p:nvPr/>
          </p:nvPicPr>
          <p:blipFill>
            <a:blip r:embed="rId2" cstate="print"/>
            <a:stretch>
              <a:fillRect/>
            </a:stretch>
          </p:blipFill>
          <p:spPr>
            <a:xfrm>
              <a:off x="863600" y="1981560"/>
              <a:ext cx="2447290" cy="2446019"/>
            </a:xfrm>
            <a:prstGeom prst="rect">
              <a:avLst/>
            </a:prstGeom>
          </p:spPr>
        </p:pic>
        <p:sp>
          <p:nvSpPr>
            <p:cNvPr id="4" name="object 4"/>
            <p:cNvSpPr/>
            <p:nvPr/>
          </p:nvSpPr>
          <p:spPr>
            <a:xfrm>
              <a:off x="900430" y="2036170"/>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70"/>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2977366" y="1154695"/>
            <a:ext cx="6229782"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7" name="object 7"/>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sp>
        <p:nvSpPr>
          <p:cNvPr id="8" name="object 8"/>
          <p:cNvSpPr txBox="1"/>
          <p:nvPr/>
        </p:nvSpPr>
        <p:spPr>
          <a:xfrm>
            <a:off x="2441855" y="2732010"/>
            <a:ext cx="586183"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a:t>
            </a:r>
            <a:endParaRPr sz="1814">
              <a:latin typeface="Arial"/>
              <a:cs typeface="Arial"/>
            </a:endParaRPr>
          </a:p>
        </p:txBody>
      </p:sp>
      <p:grpSp>
        <p:nvGrpSpPr>
          <p:cNvPr id="9" name="object 9"/>
          <p:cNvGrpSpPr/>
          <p:nvPr/>
        </p:nvGrpSpPr>
        <p:grpSpPr>
          <a:xfrm>
            <a:off x="2339359" y="5120507"/>
            <a:ext cx="914400" cy="391557"/>
            <a:chOff x="899160" y="4700630"/>
            <a:chExt cx="1008380" cy="431800"/>
          </a:xfrm>
        </p:grpSpPr>
        <p:sp>
          <p:nvSpPr>
            <p:cNvPr id="10" name="object 10"/>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1" name="object 11"/>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2" name="object 12"/>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3" name="object 13"/>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1)</a:t>
            </a:r>
            <a:endParaRPr sz="1270">
              <a:latin typeface="Arial MT"/>
              <a:cs typeface="Arial MT"/>
            </a:endParaRPr>
          </a:p>
        </p:txBody>
      </p:sp>
      <p:sp>
        <p:nvSpPr>
          <p:cNvPr id="14" name="object 14"/>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sp>
        <p:nvSpPr>
          <p:cNvPr id="15" name="object 15"/>
          <p:cNvSpPr txBox="1"/>
          <p:nvPr/>
        </p:nvSpPr>
        <p:spPr>
          <a:xfrm>
            <a:off x="5456843" y="5095169"/>
            <a:ext cx="4189081" cy="678478"/>
          </a:xfrm>
          <a:prstGeom prst="rect">
            <a:avLst/>
          </a:prstGeom>
        </p:spPr>
        <p:txBody>
          <a:bodyPr vert="horz" wrap="square" lIns="0" tIns="11516" rIns="0" bIns="0" rtlCol="0">
            <a:spAutoFit/>
          </a:bodyPr>
          <a:lstStyle/>
          <a:p>
            <a:pPr marL="23033" algn="ctr">
              <a:lnSpc>
                <a:spcPts val="1795"/>
              </a:lnSpc>
              <a:spcBef>
                <a:spcPts val="91"/>
              </a:spcBef>
            </a:pPr>
            <a:r>
              <a:rPr sz="1632" b="1" i="1" dirty="0">
                <a:solidFill>
                  <a:srgbClr val="333333"/>
                </a:solidFill>
                <a:latin typeface="Times New Roman"/>
                <a:cs typeface="Times New Roman"/>
              </a:rPr>
              <a:t>= –</a:t>
            </a:r>
            <a:r>
              <a:rPr sz="1428" b="1" i="1" baseline="31746" dirty="0">
                <a:solidFill>
                  <a:srgbClr val="333333"/>
                </a:solidFill>
                <a:latin typeface="Times New Roman"/>
                <a:cs typeface="Times New Roman"/>
              </a:rPr>
              <a:t>1</a:t>
            </a:r>
            <a:r>
              <a:rPr sz="1632" b="1" i="1" dirty="0">
                <a:solidFill>
                  <a:srgbClr val="333333"/>
                </a:solidFill>
                <a:latin typeface="Times New Roman"/>
                <a:cs typeface="Times New Roman"/>
              </a:rPr>
              <a:t>/</a:t>
            </a:r>
            <a:r>
              <a:rPr sz="907" b="1" i="1" dirty="0">
                <a:solidFill>
                  <a:srgbClr val="333333"/>
                </a:solidFill>
                <a:latin typeface="Times New Roman"/>
                <a:cs typeface="Times New Roman"/>
              </a:rPr>
              <a:t>5</a:t>
            </a:r>
            <a:r>
              <a:rPr sz="907" b="1" i="1" spc="190"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5" dirty="0">
                <a:solidFill>
                  <a:srgbClr val="333333"/>
                </a:solidFill>
                <a:latin typeface="Times New Roman"/>
                <a:cs typeface="Times New Roman"/>
              </a:rPr>
              <a:t> </a:t>
            </a:r>
            <a:r>
              <a:rPr sz="1632" b="1" i="1" spc="-9" dirty="0">
                <a:solidFill>
                  <a:srgbClr val="333333"/>
                </a:solidFill>
                <a:latin typeface="Times New Roman"/>
                <a:cs typeface="Times New Roman"/>
              </a:rPr>
              <a:t>(1*log(0.8))</a:t>
            </a:r>
            <a:r>
              <a:rPr sz="1632" b="1" i="1" spc="5"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dirty="0">
                <a:solidFill>
                  <a:srgbClr val="333333"/>
                </a:solidFill>
                <a:latin typeface="Times New Roman"/>
                <a:cs typeface="Times New Roman"/>
              </a:rPr>
              <a:t>(1*log(0.6)) +</a:t>
            </a:r>
            <a:r>
              <a:rPr sz="1632" b="1" i="1" spc="9" dirty="0">
                <a:solidFill>
                  <a:srgbClr val="333333"/>
                </a:solidFill>
                <a:latin typeface="Times New Roman"/>
                <a:cs typeface="Times New Roman"/>
              </a:rPr>
              <a:t> </a:t>
            </a:r>
            <a:r>
              <a:rPr sz="1632" b="1" i="1" spc="-9" dirty="0">
                <a:solidFill>
                  <a:srgbClr val="333333"/>
                </a:solidFill>
                <a:latin typeface="Times New Roman"/>
                <a:cs typeface="Times New Roman"/>
              </a:rPr>
              <a:t>(1*log(0.8))</a:t>
            </a:r>
            <a:endParaRPr sz="1632">
              <a:latin typeface="Times New Roman"/>
              <a:cs typeface="Times New Roman"/>
            </a:endParaRPr>
          </a:p>
          <a:p>
            <a:pPr marR="14971" algn="ctr">
              <a:lnSpc>
                <a:spcPts val="1632"/>
              </a:lnSpc>
            </a:pPr>
            <a:r>
              <a:rPr sz="1632" b="1" i="1" dirty="0">
                <a:solidFill>
                  <a:srgbClr val="333333"/>
                </a:solidFill>
                <a:latin typeface="Times New Roman"/>
                <a:cs typeface="Times New Roman"/>
              </a:rPr>
              <a:t>+</a:t>
            </a:r>
            <a:r>
              <a:rPr sz="1632" b="1" i="1" spc="-36" dirty="0">
                <a:solidFill>
                  <a:srgbClr val="333333"/>
                </a:solidFill>
                <a:latin typeface="Times New Roman"/>
                <a:cs typeface="Times New Roman"/>
              </a:rPr>
              <a:t> </a:t>
            </a:r>
            <a:r>
              <a:rPr sz="1632" b="1" i="1" dirty="0">
                <a:solidFill>
                  <a:srgbClr val="333333"/>
                </a:solidFill>
                <a:latin typeface="Times New Roman"/>
                <a:cs typeface="Times New Roman"/>
              </a:rPr>
              <a:t>(1*log(0.7))</a:t>
            </a:r>
            <a:r>
              <a:rPr sz="1632" b="1" i="1" spc="-41"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36" dirty="0">
                <a:solidFill>
                  <a:srgbClr val="333333"/>
                </a:solidFill>
                <a:latin typeface="Times New Roman"/>
                <a:cs typeface="Times New Roman"/>
              </a:rPr>
              <a:t> </a:t>
            </a:r>
            <a:r>
              <a:rPr sz="1632" b="1" i="1" dirty="0">
                <a:solidFill>
                  <a:srgbClr val="333333"/>
                </a:solidFill>
                <a:latin typeface="Times New Roman"/>
                <a:cs typeface="Times New Roman"/>
              </a:rPr>
              <a:t>(1*log(0.9))</a:t>
            </a:r>
            <a:r>
              <a:rPr sz="1632" b="1" i="1" spc="-36"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a:p>
            <a:pPr marR="3578133" algn="ctr">
              <a:lnSpc>
                <a:spcPts val="1795"/>
              </a:lnSpc>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spc="-18" dirty="0">
                <a:solidFill>
                  <a:srgbClr val="333333"/>
                </a:solidFill>
                <a:latin typeface="Times New Roman"/>
                <a:cs typeface="Times New Roman"/>
              </a:rPr>
              <a:t>0.28</a:t>
            </a:r>
            <a:endParaRPr sz="1632">
              <a:latin typeface="Times New Roman"/>
              <a:cs typeface="Times New Roman"/>
            </a:endParaRPr>
          </a:p>
        </p:txBody>
      </p:sp>
      <p:pic>
        <p:nvPicPr>
          <p:cNvPr id="16" name="object 16"/>
          <p:cNvPicPr/>
          <p:nvPr/>
        </p:nvPicPr>
        <p:blipFill>
          <a:blip r:embed="rId3" cstate="print"/>
          <a:stretch>
            <a:fillRect/>
          </a:stretch>
        </p:blipFill>
        <p:spPr>
          <a:xfrm>
            <a:off x="5650890" y="4353486"/>
            <a:ext cx="3868932" cy="578196"/>
          </a:xfrm>
          <a:prstGeom prst="rect">
            <a:avLst/>
          </a:prstGeom>
        </p:spPr>
      </p:pic>
      <p:grpSp>
        <p:nvGrpSpPr>
          <p:cNvPr id="17" name="object 17"/>
          <p:cNvGrpSpPr/>
          <p:nvPr/>
        </p:nvGrpSpPr>
        <p:grpSpPr>
          <a:xfrm>
            <a:off x="4751868" y="2668671"/>
            <a:ext cx="2440895" cy="1566227"/>
            <a:chOff x="3559619" y="1996800"/>
            <a:chExt cx="2691765" cy="1727200"/>
          </a:xfrm>
        </p:grpSpPr>
        <p:pic>
          <p:nvPicPr>
            <p:cNvPr id="18" name="object 18"/>
            <p:cNvPicPr/>
            <p:nvPr/>
          </p:nvPicPr>
          <p:blipFill>
            <a:blip r:embed="rId4" cstate="print"/>
            <a:stretch>
              <a:fillRect/>
            </a:stretch>
          </p:blipFill>
          <p:spPr>
            <a:xfrm>
              <a:off x="3841750" y="1996800"/>
              <a:ext cx="2127250" cy="1727200"/>
            </a:xfrm>
            <a:prstGeom prst="rect">
              <a:avLst/>
            </a:prstGeom>
          </p:spPr>
        </p:pic>
        <p:sp>
          <p:nvSpPr>
            <p:cNvPr id="19" name="object 19"/>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0" name="object 20"/>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1" name="object 21"/>
            <p:cNvSpPr/>
            <p:nvPr/>
          </p:nvSpPr>
          <p:spPr>
            <a:xfrm>
              <a:off x="6026150" y="2231750"/>
              <a:ext cx="207010" cy="1225550"/>
            </a:xfrm>
            <a:custGeom>
              <a:avLst/>
              <a:gdLst/>
              <a:ahLst/>
              <a:cxnLst/>
              <a:rect l="l" t="t" r="r" b="b"/>
              <a:pathLst>
                <a:path w="207010" h="1225550">
                  <a:moveTo>
                    <a:pt x="0" y="0"/>
                  </a:moveTo>
                  <a:lnTo>
                    <a:pt x="38238" y="8751"/>
                  </a:lnTo>
                  <a:lnTo>
                    <a:pt x="71596" y="31908"/>
                  </a:lnTo>
                  <a:lnTo>
                    <a:pt x="95190" y="64829"/>
                  </a:lnTo>
                  <a:lnTo>
                    <a:pt x="104139" y="102869"/>
                  </a:lnTo>
                  <a:lnTo>
                    <a:pt x="104139" y="510539"/>
                  </a:lnTo>
                  <a:lnTo>
                    <a:pt x="113069" y="547846"/>
                  </a:lnTo>
                  <a:lnTo>
                    <a:pt x="136525" y="580389"/>
                  </a:lnTo>
                  <a:lnTo>
                    <a:pt x="169505" y="603408"/>
                  </a:lnTo>
                  <a:lnTo>
                    <a:pt x="207010" y="612139"/>
                  </a:lnTo>
                  <a:lnTo>
                    <a:pt x="169505" y="621069"/>
                  </a:lnTo>
                  <a:lnTo>
                    <a:pt x="136525" y="644525"/>
                  </a:lnTo>
                  <a:lnTo>
                    <a:pt x="113069" y="677505"/>
                  </a:lnTo>
                  <a:lnTo>
                    <a:pt x="104139" y="715009"/>
                  </a:lnTo>
                  <a:lnTo>
                    <a:pt x="104139" y="1122679"/>
                  </a:lnTo>
                  <a:lnTo>
                    <a:pt x="95190" y="1160184"/>
                  </a:lnTo>
                  <a:lnTo>
                    <a:pt x="71596" y="1193164"/>
                  </a:lnTo>
                  <a:lnTo>
                    <a:pt x="38238" y="1216620"/>
                  </a:lnTo>
                  <a:lnTo>
                    <a:pt x="0" y="1225550"/>
                  </a:lnTo>
                </a:path>
              </a:pathLst>
            </a:custGeom>
            <a:ln w="35940">
              <a:solidFill>
                <a:srgbClr val="3364A3"/>
              </a:solidFill>
            </a:ln>
          </p:spPr>
          <p:txBody>
            <a:bodyPr wrap="square" lIns="0" tIns="0" rIns="0" bIns="0" rtlCol="0"/>
            <a:lstStyle/>
            <a:p>
              <a:endParaRPr/>
            </a:p>
          </p:txBody>
        </p:sp>
        <p:sp>
          <p:nvSpPr>
            <p:cNvPr id="22" name="object 22"/>
            <p:cNvSpPr/>
            <p:nvPr/>
          </p:nvSpPr>
          <p:spPr>
            <a:xfrm>
              <a:off x="6008179" y="2213779"/>
              <a:ext cx="243204" cy="1261745"/>
            </a:xfrm>
            <a:custGeom>
              <a:avLst/>
              <a:gdLst/>
              <a:ahLst/>
              <a:cxnLst/>
              <a:rect l="l" t="t" r="r" b="b"/>
              <a:pathLst>
                <a:path w="243204" h="1261745">
                  <a:moveTo>
                    <a:pt x="35941" y="1243520"/>
                  </a:moveTo>
                  <a:lnTo>
                    <a:pt x="30670" y="1230820"/>
                  </a:lnTo>
                  <a:lnTo>
                    <a:pt x="17970" y="1225562"/>
                  </a:lnTo>
                  <a:lnTo>
                    <a:pt x="5257" y="1230820"/>
                  </a:lnTo>
                  <a:lnTo>
                    <a:pt x="0" y="1243520"/>
                  </a:lnTo>
                  <a:lnTo>
                    <a:pt x="5257" y="1256233"/>
                  </a:lnTo>
                  <a:lnTo>
                    <a:pt x="17970" y="1261491"/>
                  </a:lnTo>
                  <a:lnTo>
                    <a:pt x="30670" y="1256233"/>
                  </a:lnTo>
                  <a:lnTo>
                    <a:pt x="35941" y="1243520"/>
                  </a:lnTo>
                  <a:close/>
                </a:path>
                <a:path w="243204" h="1261745">
                  <a:moveTo>
                    <a:pt x="242951" y="17970"/>
                  </a:moveTo>
                  <a:lnTo>
                    <a:pt x="237680" y="5270"/>
                  </a:lnTo>
                  <a:lnTo>
                    <a:pt x="224980" y="0"/>
                  </a:lnTo>
                  <a:lnTo>
                    <a:pt x="212267" y="5270"/>
                  </a:lnTo>
                  <a:lnTo>
                    <a:pt x="207010" y="17970"/>
                  </a:lnTo>
                  <a:lnTo>
                    <a:pt x="212267" y="30683"/>
                  </a:lnTo>
                  <a:lnTo>
                    <a:pt x="224980" y="35953"/>
                  </a:lnTo>
                  <a:lnTo>
                    <a:pt x="237680" y="30683"/>
                  </a:lnTo>
                  <a:lnTo>
                    <a:pt x="242951" y="17970"/>
                  </a:lnTo>
                  <a:close/>
                </a:path>
              </a:pathLst>
            </a:custGeom>
            <a:solidFill>
              <a:srgbClr val="3364A3"/>
            </a:solidFill>
          </p:spPr>
          <p:txBody>
            <a:bodyPr wrap="square" lIns="0" tIns="0" rIns="0" bIns="0" rtlCol="0"/>
            <a:lstStyle/>
            <a:p>
              <a:endParaRPr/>
            </a:p>
          </p:txBody>
        </p:sp>
      </p:grpSp>
      <p:sp>
        <p:nvSpPr>
          <p:cNvPr id="23" name="object 23"/>
          <p:cNvSpPr txBox="1"/>
          <p:nvPr/>
        </p:nvSpPr>
        <p:spPr>
          <a:xfrm>
            <a:off x="7253397" y="3315890"/>
            <a:ext cx="1170639"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(.2,</a:t>
            </a:r>
            <a:r>
              <a:rPr sz="1270" spc="14" dirty="0">
                <a:latin typeface="Arial MT"/>
                <a:cs typeface="Arial MT"/>
              </a:rPr>
              <a:t> </a:t>
            </a:r>
            <a:r>
              <a:rPr sz="1270" dirty="0">
                <a:latin typeface="Arial MT"/>
                <a:cs typeface="Arial MT"/>
              </a:rPr>
              <a:t>.4,</a:t>
            </a:r>
            <a:r>
              <a:rPr sz="1270" spc="14" dirty="0">
                <a:latin typeface="Arial MT"/>
                <a:cs typeface="Arial MT"/>
              </a:rPr>
              <a:t> </a:t>
            </a:r>
            <a:r>
              <a:rPr sz="1270" dirty="0">
                <a:latin typeface="Arial MT"/>
                <a:cs typeface="Arial MT"/>
              </a:rPr>
              <a:t>.8,</a:t>
            </a:r>
            <a:r>
              <a:rPr sz="1270" spc="9" dirty="0">
                <a:latin typeface="Arial MT"/>
                <a:cs typeface="Arial MT"/>
              </a:rPr>
              <a:t> </a:t>
            </a:r>
            <a:r>
              <a:rPr sz="1270" dirty="0">
                <a:latin typeface="Arial MT"/>
                <a:cs typeface="Arial MT"/>
              </a:rPr>
              <a:t>.3,</a:t>
            </a:r>
            <a:r>
              <a:rPr sz="1270" spc="9" dirty="0">
                <a:latin typeface="Arial MT"/>
                <a:cs typeface="Arial MT"/>
              </a:rPr>
              <a:t> </a:t>
            </a:r>
            <a:r>
              <a:rPr sz="1270" spc="-23" dirty="0">
                <a:latin typeface="Arial MT"/>
                <a:cs typeface="Arial MT"/>
              </a:rPr>
              <a:t>.9)</a:t>
            </a:r>
            <a:endParaRPr sz="1270">
              <a:latin typeface="Arial MT"/>
              <a:cs typeface="Arial MT"/>
            </a:endParaRPr>
          </a:p>
        </p:txBody>
      </p:sp>
      <p:sp>
        <p:nvSpPr>
          <p:cNvPr id="24" name="object 24"/>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5" name="object 25"/>
          <p:cNvGrpSpPr/>
          <p:nvPr/>
        </p:nvGrpSpPr>
        <p:grpSpPr>
          <a:xfrm>
            <a:off x="9032675" y="1772696"/>
            <a:ext cx="1294440" cy="2429955"/>
            <a:chOff x="8280400" y="1008739"/>
            <a:chExt cx="1427480" cy="2679700"/>
          </a:xfrm>
        </p:grpSpPr>
        <p:pic>
          <p:nvPicPr>
            <p:cNvPr id="26" name="object 26"/>
            <p:cNvPicPr/>
            <p:nvPr/>
          </p:nvPicPr>
          <p:blipFill>
            <a:blip r:embed="rId5" cstate="print"/>
            <a:stretch>
              <a:fillRect/>
            </a:stretch>
          </p:blipFill>
          <p:spPr>
            <a:xfrm>
              <a:off x="8280400" y="1008739"/>
              <a:ext cx="1427479" cy="2679700"/>
            </a:xfrm>
            <a:prstGeom prst="rect">
              <a:avLst/>
            </a:prstGeom>
          </p:spPr>
        </p:pic>
        <p:sp>
          <p:nvSpPr>
            <p:cNvPr id="27" name="object 27"/>
            <p:cNvSpPr/>
            <p:nvPr/>
          </p:nvSpPr>
          <p:spPr>
            <a:xfrm>
              <a:off x="8646159" y="1344019"/>
              <a:ext cx="698500" cy="552450"/>
            </a:xfrm>
            <a:custGeom>
              <a:avLst/>
              <a:gdLst/>
              <a:ahLst/>
              <a:cxnLst/>
              <a:rect l="l" t="t" r="r" b="b"/>
              <a:pathLst>
                <a:path w="698500" h="552450">
                  <a:moveTo>
                    <a:pt x="698500" y="0"/>
                  </a:moveTo>
                  <a:lnTo>
                    <a:pt x="0" y="552450"/>
                  </a:lnTo>
                </a:path>
              </a:pathLst>
            </a:custGeom>
            <a:ln w="25158">
              <a:solidFill>
                <a:srgbClr val="EC1B23"/>
              </a:solidFill>
            </a:ln>
          </p:spPr>
          <p:txBody>
            <a:bodyPr wrap="square" lIns="0" tIns="0" rIns="0" bIns="0" rtlCol="0"/>
            <a:lstStyle/>
            <a:p>
              <a:endParaRPr/>
            </a:p>
          </p:txBody>
        </p:sp>
      </p:grpSp>
      <p:sp>
        <p:nvSpPr>
          <p:cNvPr id="28" name="object 28"/>
          <p:cNvSpPr txBox="1"/>
          <p:nvPr/>
        </p:nvSpPr>
        <p:spPr>
          <a:xfrm>
            <a:off x="9700626" y="3588829"/>
            <a:ext cx="834361" cy="473293"/>
          </a:xfrm>
          <a:prstGeom prst="rect">
            <a:avLst/>
          </a:prstGeom>
        </p:spPr>
        <p:txBody>
          <a:bodyPr vert="horz" wrap="square" lIns="0" tIns="11516" rIns="0" bIns="0" rtlCol="0">
            <a:spAutoFit/>
          </a:bodyPr>
          <a:lstStyle/>
          <a:p>
            <a:pPr marL="11516">
              <a:lnSpc>
                <a:spcPts val="1795"/>
              </a:lnSpc>
              <a:spcBef>
                <a:spcPts val="91"/>
              </a:spcBef>
            </a:pPr>
            <a:r>
              <a:rPr sz="1632" b="1" i="1" dirty="0">
                <a:solidFill>
                  <a:srgbClr val="EC1B23"/>
                </a:solidFill>
                <a:latin typeface="Times New Roman"/>
                <a:cs typeface="Times New Roman"/>
              </a:rPr>
              <a:t>y</a:t>
            </a:r>
            <a:r>
              <a:rPr sz="1632" b="1" i="1" spc="-9" dirty="0">
                <a:solidFill>
                  <a:srgbClr val="EC1B23"/>
                </a:solidFill>
                <a:latin typeface="Times New Roman"/>
                <a:cs typeface="Times New Roman"/>
              </a:rPr>
              <a:t> </a:t>
            </a:r>
            <a:r>
              <a:rPr sz="1632" b="1" i="1" dirty="0">
                <a:solidFill>
                  <a:srgbClr val="EC1B23"/>
                </a:solidFill>
                <a:latin typeface="Times New Roman"/>
                <a:cs typeface="Times New Roman"/>
              </a:rPr>
              <a:t>=</a:t>
            </a:r>
            <a:r>
              <a:rPr sz="1632" b="1" i="1" spc="-5" dirty="0">
                <a:solidFill>
                  <a:srgbClr val="EC1B23"/>
                </a:solidFill>
                <a:latin typeface="Times New Roman"/>
                <a:cs typeface="Times New Roman"/>
              </a:rPr>
              <a:t> </a:t>
            </a:r>
            <a:r>
              <a:rPr sz="1632" b="1" i="1" spc="-45" dirty="0">
                <a:solidFill>
                  <a:srgbClr val="EC1B23"/>
                </a:solidFill>
                <a:latin typeface="Times New Roman"/>
                <a:cs typeface="Times New Roman"/>
              </a:rPr>
              <a:t>p</a:t>
            </a:r>
            <a:endParaRPr sz="1632">
              <a:latin typeface="Times New Roman"/>
              <a:cs typeface="Times New Roman"/>
            </a:endParaRPr>
          </a:p>
          <a:p>
            <a:pPr marL="11516">
              <a:lnSpc>
                <a:spcPts val="1795"/>
              </a:lnSpc>
            </a:pPr>
            <a:r>
              <a:rPr sz="1632" b="1" i="1" dirty="0">
                <a:solidFill>
                  <a:srgbClr val="0713C5"/>
                </a:solidFill>
                <a:latin typeface="Times New Roman"/>
                <a:cs typeface="Times New Roman"/>
              </a:rPr>
              <a:t>y</a:t>
            </a:r>
            <a:r>
              <a:rPr sz="1632" b="1" i="1" spc="-9" dirty="0">
                <a:solidFill>
                  <a:srgbClr val="0713C5"/>
                </a:solidFill>
                <a:latin typeface="Times New Roman"/>
                <a:cs typeface="Times New Roman"/>
              </a:rPr>
              <a:t> </a:t>
            </a:r>
            <a:r>
              <a:rPr sz="1632" b="1" i="1" dirty="0">
                <a:solidFill>
                  <a:srgbClr val="0713C5"/>
                </a:solidFill>
                <a:latin typeface="Times New Roman"/>
                <a:cs typeface="Times New Roman"/>
              </a:rPr>
              <a:t>=</a:t>
            </a:r>
            <a:r>
              <a:rPr sz="1632" b="1" i="1" spc="-5" dirty="0">
                <a:solidFill>
                  <a:srgbClr val="0713C5"/>
                </a:solidFill>
                <a:latin typeface="Times New Roman"/>
                <a:cs typeface="Times New Roman"/>
              </a:rPr>
              <a:t> </a:t>
            </a:r>
            <a:r>
              <a:rPr sz="1632" b="1" i="1" spc="-9" dirty="0">
                <a:solidFill>
                  <a:srgbClr val="0713C5"/>
                </a:solidFill>
                <a:latin typeface="Times New Roman"/>
                <a:cs typeface="Times New Roman"/>
              </a:rPr>
              <a:t>log(p)</a:t>
            </a:r>
            <a:endParaRPr sz="1632">
              <a:latin typeface="Times New Roman"/>
              <a:cs typeface="Times New Roman"/>
            </a:endParaRPr>
          </a:p>
        </p:txBody>
      </p:sp>
      <p:sp>
        <p:nvSpPr>
          <p:cNvPr id="29" name="object 29"/>
          <p:cNvSpPr txBox="1"/>
          <p:nvPr/>
        </p:nvSpPr>
        <p:spPr>
          <a:xfrm>
            <a:off x="1969684" y="1462576"/>
            <a:ext cx="7378540" cy="902780"/>
          </a:xfrm>
          <a:prstGeom prst="rect">
            <a:avLst/>
          </a:prstGeom>
        </p:spPr>
        <p:txBody>
          <a:bodyPr vert="horz" wrap="square" lIns="0" tIns="105950" rIns="0" bIns="0" rtlCol="0">
            <a:spAutoFit/>
          </a:bodyPr>
          <a:lstStyle/>
          <a:p>
            <a:pPr marR="4607" algn="r">
              <a:spcBef>
                <a:spcPts val="833"/>
              </a:spcBef>
            </a:pPr>
            <a:r>
              <a:rPr sz="1632" b="1" i="1" spc="-45" dirty="0">
                <a:latin typeface="Times New Roman"/>
                <a:cs typeface="Times New Roman"/>
              </a:rPr>
              <a:t>y</a:t>
            </a:r>
            <a:endParaRPr sz="1632">
              <a:latin typeface="Times New Roman"/>
              <a:cs typeface="Times New Roman"/>
            </a:endParaRPr>
          </a:p>
          <a:p>
            <a:pPr marL="11516">
              <a:spcBef>
                <a:spcPts val="1161"/>
              </a:spcBef>
            </a:pPr>
            <a:r>
              <a:rPr sz="2539" i="1" dirty="0">
                <a:latin typeface="Arial"/>
                <a:cs typeface="Arial"/>
              </a:rPr>
              <a:t>Binary</a:t>
            </a:r>
            <a:r>
              <a:rPr sz="2539" i="1" spc="-63" dirty="0">
                <a:latin typeface="Arial"/>
                <a:cs typeface="Arial"/>
              </a:rPr>
              <a:t> </a:t>
            </a:r>
            <a:r>
              <a:rPr sz="2539" i="1" spc="-9" dirty="0">
                <a:latin typeface="Arial"/>
                <a:cs typeface="Arial"/>
              </a:rPr>
              <a:t>cross-</a:t>
            </a:r>
            <a:r>
              <a:rPr sz="2539" i="1" dirty="0">
                <a:latin typeface="Arial"/>
                <a:cs typeface="Arial"/>
              </a:rPr>
              <a:t>entropy</a:t>
            </a:r>
            <a:r>
              <a:rPr sz="2539" i="1" spc="-54" dirty="0">
                <a:latin typeface="Arial"/>
                <a:cs typeface="Arial"/>
              </a:rPr>
              <a:t> </a:t>
            </a:r>
            <a:r>
              <a:rPr sz="2539" i="1" dirty="0">
                <a:latin typeface="Arial"/>
                <a:cs typeface="Arial"/>
              </a:rPr>
              <a:t>(aka</a:t>
            </a:r>
            <a:r>
              <a:rPr sz="2539" i="1" spc="-63" dirty="0">
                <a:latin typeface="Arial"/>
                <a:cs typeface="Arial"/>
              </a:rPr>
              <a:t> </a:t>
            </a:r>
            <a:r>
              <a:rPr sz="2539" i="1" dirty="0">
                <a:latin typeface="Arial"/>
                <a:cs typeface="Arial"/>
              </a:rPr>
              <a:t>Log</a:t>
            </a:r>
            <a:r>
              <a:rPr sz="2539" i="1" spc="-59" dirty="0">
                <a:latin typeface="Arial"/>
                <a:cs typeface="Arial"/>
              </a:rPr>
              <a:t> </a:t>
            </a:r>
            <a:r>
              <a:rPr sz="2539" i="1" spc="-9" dirty="0">
                <a:latin typeface="Arial"/>
                <a:cs typeface="Arial"/>
              </a:rPr>
              <a:t>loss)</a:t>
            </a:r>
            <a:endParaRPr sz="2539">
              <a:latin typeface="Arial"/>
              <a:cs typeface="Arial"/>
            </a:endParaRPr>
          </a:p>
        </p:txBody>
      </p:sp>
      <p:sp>
        <p:nvSpPr>
          <p:cNvPr id="30" name="object 30"/>
          <p:cNvSpPr txBox="1"/>
          <p:nvPr/>
        </p:nvSpPr>
        <p:spPr>
          <a:xfrm>
            <a:off x="10277595" y="2515503"/>
            <a:ext cx="123225" cy="262787"/>
          </a:xfrm>
          <a:prstGeom prst="rect">
            <a:avLst/>
          </a:prstGeom>
        </p:spPr>
        <p:txBody>
          <a:bodyPr vert="horz" wrap="square" lIns="0" tIns="11516" rIns="0" bIns="0" rtlCol="0">
            <a:spAutoFit/>
          </a:bodyPr>
          <a:lstStyle/>
          <a:p>
            <a:pPr marL="11516">
              <a:spcBef>
                <a:spcPts val="91"/>
              </a:spcBef>
            </a:pPr>
            <a:r>
              <a:rPr sz="1632" b="1" i="1" spc="-45" dirty="0">
                <a:latin typeface="Times New Roman"/>
                <a:cs typeface="Times New Roman"/>
              </a:rPr>
              <a:t>p</a:t>
            </a:r>
            <a:endParaRPr sz="1632">
              <a:latin typeface="Times New Roman"/>
              <a:cs typeface="Times New Roman"/>
            </a:endParaRPr>
          </a:p>
        </p:txBody>
      </p:sp>
      <p:grpSp>
        <p:nvGrpSpPr>
          <p:cNvPr id="31" name="object 31"/>
          <p:cNvGrpSpPr/>
          <p:nvPr/>
        </p:nvGrpSpPr>
        <p:grpSpPr>
          <a:xfrm>
            <a:off x="10015022" y="2436040"/>
            <a:ext cx="391557" cy="130135"/>
            <a:chOff x="9363709" y="1740260"/>
            <a:chExt cx="431800" cy="143510"/>
          </a:xfrm>
        </p:grpSpPr>
        <p:sp>
          <p:nvSpPr>
            <p:cNvPr id="32" name="object 32"/>
            <p:cNvSpPr/>
            <p:nvPr/>
          </p:nvSpPr>
          <p:spPr>
            <a:xfrm>
              <a:off x="9363709" y="1740260"/>
              <a:ext cx="431800" cy="143510"/>
            </a:xfrm>
            <a:custGeom>
              <a:avLst/>
              <a:gdLst/>
              <a:ahLst/>
              <a:cxnLst/>
              <a:rect l="l" t="t" r="r" b="b"/>
              <a:pathLst>
                <a:path w="431800" h="143510">
                  <a:moveTo>
                    <a:pt x="431800" y="0"/>
                  </a:moveTo>
                  <a:lnTo>
                    <a:pt x="0" y="0"/>
                  </a:lnTo>
                  <a:lnTo>
                    <a:pt x="0" y="143509"/>
                  </a:lnTo>
                  <a:lnTo>
                    <a:pt x="215900" y="143509"/>
                  </a:lnTo>
                  <a:lnTo>
                    <a:pt x="431800" y="143509"/>
                  </a:lnTo>
                  <a:lnTo>
                    <a:pt x="431800" y="0"/>
                  </a:lnTo>
                  <a:close/>
                </a:path>
              </a:pathLst>
            </a:custGeom>
            <a:solidFill>
              <a:srgbClr val="FFFFFF"/>
            </a:solidFill>
          </p:spPr>
          <p:txBody>
            <a:bodyPr wrap="square" lIns="0" tIns="0" rIns="0" bIns="0" rtlCol="0"/>
            <a:lstStyle/>
            <a:p>
              <a:endParaRPr/>
            </a:p>
          </p:txBody>
        </p:sp>
        <p:sp>
          <p:nvSpPr>
            <p:cNvPr id="33" name="object 33"/>
            <p:cNvSpPr/>
            <p:nvPr/>
          </p:nvSpPr>
          <p:spPr>
            <a:xfrm>
              <a:off x="9363709" y="1740260"/>
              <a:ext cx="431800" cy="143510"/>
            </a:xfrm>
            <a:custGeom>
              <a:avLst/>
              <a:gdLst/>
              <a:ahLst/>
              <a:cxnLst/>
              <a:rect l="l" t="t" r="r" b="b"/>
              <a:pathLst>
                <a:path w="431800" h="143510">
                  <a:moveTo>
                    <a:pt x="215900" y="143509"/>
                  </a:moveTo>
                  <a:lnTo>
                    <a:pt x="0" y="143509"/>
                  </a:lnTo>
                  <a:lnTo>
                    <a:pt x="0" y="0"/>
                  </a:lnTo>
                  <a:lnTo>
                    <a:pt x="431800" y="0"/>
                  </a:lnTo>
                  <a:lnTo>
                    <a:pt x="431800" y="143509"/>
                  </a:lnTo>
                  <a:lnTo>
                    <a:pt x="215900" y="143509"/>
                  </a:lnTo>
                  <a:close/>
                </a:path>
              </a:pathLst>
            </a:custGeom>
            <a:ln w="3175">
              <a:solidFill>
                <a:srgbClr val="FFFFFF"/>
              </a:solidFill>
            </a:ln>
          </p:spPr>
          <p:txBody>
            <a:bodyPr wrap="square" lIns="0" tIns="0" rIns="0" bIns="0" rtlCol="0"/>
            <a:lstStyle/>
            <a:p>
              <a:endParaRPr/>
            </a:p>
          </p:txBody>
        </p:sp>
      </p:grpSp>
      <p:grpSp>
        <p:nvGrpSpPr>
          <p:cNvPr id="34" name="object 34"/>
          <p:cNvGrpSpPr/>
          <p:nvPr/>
        </p:nvGrpSpPr>
        <p:grpSpPr>
          <a:xfrm>
            <a:off x="7109442" y="2041029"/>
            <a:ext cx="1368145" cy="484839"/>
            <a:chOff x="6159500" y="1304650"/>
            <a:chExt cx="1508760" cy="534670"/>
          </a:xfrm>
        </p:grpSpPr>
        <p:sp>
          <p:nvSpPr>
            <p:cNvPr id="35" name="object 35"/>
            <p:cNvSpPr/>
            <p:nvPr/>
          </p:nvSpPr>
          <p:spPr>
            <a:xfrm>
              <a:off x="6167120" y="1304650"/>
              <a:ext cx="1492250" cy="534670"/>
            </a:xfrm>
            <a:custGeom>
              <a:avLst/>
              <a:gdLst/>
              <a:ahLst/>
              <a:cxnLst/>
              <a:rect l="l" t="t" r="r" b="b"/>
              <a:pathLst>
                <a:path w="1492250" h="534669">
                  <a:moveTo>
                    <a:pt x="1399539" y="0"/>
                  </a:moveTo>
                  <a:lnTo>
                    <a:pt x="40639" y="240029"/>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close/>
                </a:path>
              </a:pathLst>
            </a:custGeom>
            <a:solidFill>
              <a:srgbClr val="ACD489"/>
            </a:solidFill>
          </p:spPr>
          <p:txBody>
            <a:bodyPr wrap="square" lIns="0" tIns="0" rIns="0" bIns="0" rtlCol="0"/>
            <a:lstStyle/>
            <a:p>
              <a:endParaRPr/>
            </a:p>
          </p:txBody>
        </p:sp>
        <p:sp>
          <p:nvSpPr>
            <p:cNvPr id="36" name="object 36"/>
            <p:cNvSpPr/>
            <p:nvPr/>
          </p:nvSpPr>
          <p:spPr>
            <a:xfrm>
              <a:off x="6167120" y="1304650"/>
              <a:ext cx="1492250" cy="534670"/>
            </a:xfrm>
            <a:custGeom>
              <a:avLst/>
              <a:gdLst/>
              <a:ahLst/>
              <a:cxnLst/>
              <a:rect l="l" t="t" r="r" b="b"/>
              <a:pathLst>
                <a:path w="1492250" h="534669">
                  <a:moveTo>
                    <a:pt x="40639" y="240029"/>
                  </a:moveTo>
                  <a:lnTo>
                    <a:pt x="23574" y="247173"/>
                  </a:lnTo>
                  <a:lnTo>
                    <a:pt x="9842" y="260984"/>
                  </a:lnTo>
                  <a:lnTo>
                    <a:pt x="1349" y="278606"/>
                  </a:lnTo>
                  <a:lnTo>
                    <a:pt x="0" y="297179"/>
                  </a:lnTo>
                  <a:lnTo>
                    <a:pt x="35559" y="494029"/>
                  </a:lnTo>
                  <a:lnTo>
                    <a:pt x="42703" y="511274"/>
                  </a:lnTo>
                  <a:lnTo>
                    <a:pt x="56514" y="525303"/>
                  </a:lnTo>
                  <a:lnTo>
                    <a:pt x="74136" y="533856"/>
                  </a:lnTo>
                  <a:lnTo>
                    <a:pt x="92709" y="534669"/>
                  </a:lnTo>
                  <a:lnTo>
                    <a:pt x="1451609" y="294639"/>
                  </a:lnTo>
                  <a:lnTo>
                    <a:pt x="1468675" y="287496"/>
                  </a:lnTo>
                  <a:lnTo>
                    <a:pt x="1482407" y="273685"/>
                  </a:lnTo>
                  <a:lnTo>
                    <a:pt x="1490900" y="256063"/>
                  </a:lnTo>
                  <a:lnTo>
                    <a:pt x="1492250" y="237489"/>
                  </a:lnTo>
                  <a:lnTo>
                    <a:pt x="1457959" y="40639"/>
                  </a:lnTo>
                  <a:lnTo>
                    <a:pt x="1450082" y="23038"/>
                  </a:lnTo>
                  <a:lnTo>
                    <a:pt x="1435893" y="9366"/>
                  </a:lnTo>
                  <a:lnTo>
                    <a:pt x="1418133" y="1170"/>
                  </a:lnTo>
                  <a:lnTo>
                    <a:pt x="1399539" y="0"/>
                  </a:lnTo>
                  <a:lnTo>
                    <a:pt x="40639" y="240029"/>
                  </a:lnTo>
                  <a:close/>
                </a:path>
              </a:pathLst>
            </a:custGeom>
            <a:ln w="3175">
              <a:solidFill>
                <a:srgbClr val="3364A3"/>
              </a:solidFill>
            </a:ln>
          </p:spPr>
          <p:txBody>
            <a:bodyPr wrap="square" lIns="0" tIns="0" rIns="0" bIns="0" rtlCol="0"/>
            <a:lstStyle/>
            <a:p>
              <a:endParaRPr/>
            </a:p>
          </p:txBody>
        </p:sp>
      </p:grpSp>
      <p:sp>
        <p:nvSpPr>
          <p:cNvPr id="37" name="object 37"/>
          <p:cNvSpPr txBox="1"/>
          <p:nvPr/>
        </p:nvSpPr>
        <p:spPr>
          <a:xfrm rot="21060000">
            <a:off x="7197859" y="2220910"/>
            <a:ext cx="115818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.BCEL</a:t>
            </a:r>
            <a:r>
              <a:rPr sz="1632" spc="-14" baseline="6944" dirty="0">
                <a:latin typeface="Arial MT"/>
                <a:cs typeface="Arial MT"/>
              </a:rPr>
              <a:t>oss</a:t>
            </a:r>
            <a:endParaRPr sz="1632" baseline="6944">
              <a:latin typeface="Arial MT"/>
              <a:cs typeface="Arial MT"/>
            </a:endParaRPr>
          </a:p>
        </p:txBody>
      </p:sp>
    </p:spTree>
    <p:extLst>
      <p:ext uri="{BB962C8B-B14F-4D97-AF65-F5344CB8AC3E}">
        <p14:creationId xmlns:p14="http://schemas.microsoft.com/office/powerpoint/2010/main" val="7721452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7115" y="2653698"/>
            <a:ext cx="2218053" cy="2214598"/>
            <a:chOff x="863600" y="1980289"/>
            <a:chExt cx="2446020" cy="2442210"/>
          </a:xfrm>
        </p:grpSpPr>
        <p:pic>
          <p:nvPicPr>
            <p:cNvPr id="3" name="object 3"/>
            <p:cNvPicPr/>
            <p:nvPr/>
          </p:nvPicPr>
          <p:blipFill>
            <a:blip r:embed="rId2" cstate="print"/>
            <a:stretch>
              <a:fillRect/>
            </a:stretch>
          </p:blipFill>
          <p:spPr>
            <a:xfrm>
              <a:off x="863600" y="1980289"/>
              <a:ext cx="2446020" cy="2442210"/>
            </a:xfrm>
            <a:prstGeom prst="rect">
              <a:avLst/>
            </a:prstGeom>
          </p:spPr>
        </p:pic>
        <p:sp>
          <p:nvSpPr>
            <p:cNvPr id="4" name="object 4"/>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7" name="object 7"/>
          <p:cNvSpPr txBox="1"/>
          <p:nvPr/>
        </p:nvSpPr>
        <p:spPr>
          <a:xfrm>
            <a:off x="1969685" y="1953504"/>
            <a:ext cx="3699059"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Categorical</a:t>
            </a:r>
            <a:r>
              <a:rPr sz="2539" i="1" spc="-127" dirty="0">
                <a:latin typeface="Arial"/>
                <a:cs typeface="Arial"/>
              </a:rPr>
              <a:t> </a:t>
            </a:r>
            <a:r>
              <a:rPr sz="2539" i="1" spc="-9" dirty="0">
                <a:latin typeface="Arial"/>
                <a:cs typeface="Arial"/>
              </a:rPr>
              <a:t>cross-entropy</a:t>
            </a:r>
            <a:endParaRPr sz="2539">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sp>
        <p:nvSpPr>
          <p:cNvPr id="9" name="object 9"/>
          <p:cNvSpPr txBox="1"/>
          <p:nvPr/>
        </p:nvSpPr>
        <p:spPr>
          <a:xfrm>
            <a:off x="2441855" y="2732010"/>
            <a:ext cx="586183"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a:t>
            </a:r>
            <a:endParaRPr sz="1814">
              <a:latin typeface="Arial"/>
              <a:cs typeface="Arial"/>
            </a:endParaRPr>
          </a:p>
        </p:txBody>
      </p:sp>
      <p:grpSp>
        <p:nvGrpSpPr>
          <p:cNvPr id="10" name="object 10"/>
          <p:cNvGrpSpPr/>
          <p:nvPr/>
        </p:nvGrpSpPr>
        <p:grpSpPr>
          <a:xfrm>
            <a:off x="2339359" y="5120507"/>
            <a:ext cx="914400" cy="391557"/>
            <a:chOff x="899160" y="4700630"/>
            <a:chExt cx="1008380" cy="431800"/>
          </a:xfrm>
        </p:grpSpPr>
        <p:sp>
          <p:nvSpPr>
            <p:cNvPr id="11" name="object 11"/>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2" name="object 12"/>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3" name="object 13"/>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4" name="object 14"/>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0)</a:t>
            </a:r>
            <a:endParaRPr sz="1270">
              <a:latin typeface="Arial MT"/>
              <a:cs typeface="Arial MT"/>
            </a:endParaRPr>
          </a:p>
        </p:txBody>
      </p:sp>
      <p:sp>
        <p:nvSpPr>
          <p:cNvPr id="15" name="object 15"/>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sp>
        <p:nvSpPr>
          <p:cNvPr id="16" name="object 16"/>
          <p:cNvSpPr txBox="1"/>
          <p:nvPr/>
        </p:nvSpPr>
        <p:spPr>
          <a:xfrm>
            <a:off x="5479876" y="5038740"/>
            <a:ext cx="1482733" cy="622224"/>
          </a:xfrm>
          <a:prstGeom prst="rect">
            <a:avLst/>
          </a:prstGeom>
        </p:spPr>
        <p:txBody>
          <a:bodyPr vert="horz" wrap="square" lIns="0" tIns="67947" rIns="0" bIns="0" rtlCol="0">
            <a:spAutoFit/>
          </a:bodyPr>
          <a:lstStyle/>
          <a:p>
            <a:pPr marL="34549">
              <a:spcBef>
                <a:spcPts val="535"/>
              </a:spcBef>
            </a:pPr>
            <a:r>
              <a:rPr sz="1632" b="1" i="1" dirty="0">
                <a:solidFill>
                  <a:srgbClr val="333333"/>
                </a:solidFill>
                <a:latin typeface="Times New Roman"/>
                <a:cs typeface="Times New Roman"/>
              </a:rPr>
              <a:t>=</a:t>
            </a:r>
            <a:r>
              <a:rPr sz="1632" b="1" i="1" spc="-18"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14"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18" dirty="0">
                <a:solidFill>
                  <a:srgbClr val="333333"/>
                </a:solidFill>
                <a:latin typeface="Times New Roman"/>
                <a:cs typeface="Times New Roman"/>
              </a:rPr>
              <a:t> </a:t>
            </a:r>
            <a:r>
              <a:rPr sz="1632" b="1" i="1" dirty="0">
                <a:solidFill>
                  <a:srgbClr val="333333"/>
                </a:solidFill>
                <a:latin typeface="Times New Roman"/>
                <a:cs typeface="Times New Roman"/>
              </a:rPr>
              <a:t>1*log(0.8)</a:t>
            </a:r>
            <a:r>
              <a:rPr sz="1632" b="1" i="1" spc="-18"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a:p>
            <a:pPr marL="11516">
              <a:spcBef>
                <a:spcPts val="444"/>
              </a:spcBef>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spc="-18" dirty="0">
                <a:solidFill>
                  <a:srgbClr val="333333"/>
                </a:solidFill>
                <a:latin typeface="Times New Roman"/>
                <a:cs typeface="Times New Roman"/>
              </a:rPr>
              <a:t>0.22</a:t>
            </a:r>
            <a:endParaRPr sz="1632">
              <a:latin typeface="Times New Roman"/>
              <a:cs typeface="Times New Roman"/>
            </a:endParaRPr>
          </a:p>
        </p:txBody>
      </p:sp>
      <p:grpSp>
        <p:nvGrpSpPr>
          <p:cNvPr id="17" name="object 17"/>
          <p:cNvGrpSpPr/>
          <p:nvPr/>
        </p:nvGrpSpPr>
        <p:grpSpPr>
          <a:xfrm>
            <a:off x="4751868" y="2668671"/>
            <a:ext cx="2440895" cy="1566227"/>
            <a:chOff x="3559619" y="1996800"/>
            <a:chExt cx="2691765" cy="1727200"/>
          </a:xfrm>
        </p:grpSpPr>
        <p:pic>
          <p:nvPicPr>
            <p:cNvPr id="18" name="object 18"/>
            <p:cNvPicPr/>
            <p:nvPr/>
          </p:nvPicPr>
          <p:blipFill>
            <a:blip r:embed="rId3" cstate="print"/>
            <a:stretch>
              <a:fillRect/>
            </a:stretch>
          </p:blipFill>
          <p:spPr>
            <a:xfrm>
              <a:off x="3841750" y="1996800"/>
              <a:ext cx="2127250" cy="1727200"/>
            </a:xfrm>
            <a:prstGeom prst="rect">
              <a:avLst/>
            </a:prstGeom>
          </p:spPr>
        </p:pic>
        <p:sp>
          <p:nvSpPr>
            <p:cNvPr id="19" name="object 19"/>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0" name="object 20"/>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1" name="object 21"/>
            <p:cNvSpPr/>
            <p:nvPr/>
          </p:nvSpPr>
          <p:spPr>
            <a:xfrm>
              <a:off x="6026150" y="2231750"/>
              <a:ext cx="207010" cy="1225550"/>
            </a:xfrm>
            <a:custGeom>
              <a:avLst/>
              <a:gdLst/>
              <a:ahLst/>
              <a:cxnLst/>
              <a:rect l="l" t="t" r="r" b="b"/>
              <a:pathLst>
                <a:path w="207010" h="1225550">
                  <a:moveTo>
                    <a:pt x="0" y="0"/>
                  </a:moveTo>
                  <a:lnTo>
                    <a:pt x="38238" y="8751"/>
                  </a:lnTo>
                  <a:lnTo>
                    <a:pt x="71596" y="31908"/>
                  </a:lnTo>
                  <a:lnTo>
                    <a:pt x="95190" y="64829"/>
                  </a:lnTo>
                  <a:lnTo>
                    <a:pt x="104139" y="102869"/>
                  </a:lnTo>
                  <a:lnTo>
                    <a:pt x="104139" y="510539"/>
                  </a:lnTo>
                  <a:lnTo>
                    <a:pt x="113069" y="547846"/>
                  </a:lnTo>
                  <a:lnTo>
                    <a:pt x="136525" y="580389"/>
                  </a:lnTo>
                  <a:lnTo>
                    <a:pt x="169505" y="603408"/>
                  </a:lnTo>
                  <a:lnTo>
                    <a:pt x="207010" y="612139"/>
                  </a:lnTo>
                  <a:lnTo>
                    <a:pt x="169505" y="621069"/>
                  </a:lnTo>
                  <a:lnTo>
                    <a:pt x="136525" y="644525"/>
                  </a:lnTo>
                  <a:lnTo>
                    <a:pt x="113069" y="677505"/>
                  </a:lnTo>
                  <a:lnTo>
                    <a:pt x="104139" y="715009"/>
                  </a:lnTo>
                  <a:lnTo>
                    <a:pt x="104139" y="1122679"/>
                  </a:lnTo>
                  <a:lnTo>
                    <a:pt x="95190" y="1160184"/>
                  </a:lnTo>
                  <a:lnTo>
                    <a:pt x="71596" y="1193164"/>
                  </a:lnTo>
                  <a:lnTo>
                    <a:pt x="38238" y="1216620"/>
                  </a:lnTo>
                  <a:lnTo>
                    <a:pt x="0" y="1225550"/>
                  </a:lnTo>
                </a:path>
              </a:pathLst>
            </a:custGeom>
            <a:ln w="35940">
              <a:solidFill>
                <a:srgbClr val="3364A3"/>
              </a:solidFill>
            </a:ln>
          </p:spPr>
          <p:txBody>
            <a:bodyPr wrap="square" lIns="0" tIns="0" rIns="0" bIns="0" rtlCol="0"/>
            <a:lstStyle/>
            <a:p>
              <a:endParaRPr/>
            </a:p>
          </p:txBody>
        </p:sp>
        <p:sp>
          <p:nvSpPr>
            <p:cNvPr id="22" name="object 22"/>
            <p:cNvSpPr/>
            <p:nvPr/>
          </p:nvSpPr>
          <p:spPr>
            <a:xfrm>
              <a:off x="6008179" y="2213779"/>
              <a:ext cx="243204" cy="1261745"/>
            </a:xfrm>
            <a:custGeom>
              <a:avLst/>
              <a:gdLst/>
              <a:ahLst/>
              <a:cxnLst/>
              <a:rect l="l" t="t" r="r" b="b"/>
              <a:pathLst>
                <a:path w="243204" h="1261745">
                  <a:moveTo>
                    <a:pt x="35941" y="1243520"/>
                  </a:moveTo>
                  <a:lnTo>
                    <a:pt x="30670" y="1230820"/>
                  </a:lnTo>
                  <a:lnTo>
                    <a:pt x="17970" y="1225562"/>
                  </a:lnTo>
                  <a:lnTo>
                    <a:pt x="5257" y="1230820"/>
                  </a:lnTo>
                  <a:lnTo>
                    <a:pt x="0" y="1243520"/>
                  </a:lnTo>
                  <a:lnTo>
                    <a:pt x="5257" y="1256233"/>
                  </a:lnTo>
                  <a:lnTo>
                    <a:pt x="17970" y="1261491"/>
                  </a:lnTo>
                  <a:lnTo>
                    <a:pt x="30670" y="1256233"/>
                  </a:lnTo>
                  <a:lnTo>
                    <a:pt x="35941" y="1243520"/>
                  </a:lnTo>
                  <a:close/>
                </a:path>
                <a:path w="243204" h="1261745">
                  <a:moveTo>
                    <a:pt x="242951" y="17970"/>
                  </a:moveTo>
                  <a:lnTo>
                    <a:pt x="237680" y="5270"/>
                  </a:lnTo>
                  <a:lnTo>
                    <a:pt x="224980" y="0"/>
                  </a:lnTo>
                  <a:lnTo>
                    <a:pt x="212267" y="5270"/>
                  </a:lnTo>
                  <a:lnTo>
                    <a:pt x="207010" y="17970"/>
                  </a:lnTo>
                  <a:lnTo>
                    <a:pt x="212267" y="30683"/>
                  </a:lnTo>
                  <a:lnTo>
                    <a:pt x="224980" y="35953"/>
                  </a:lnTo>
                  <a:lnTo>
                    <a:pt x="237680" y="30683"/>
                  </a:lnTo>
                  <a:lnTo>
                    <a:pt x="242951" y="17970"/>
                  </a:lnTo>
                  <a:close/>
                </a:path>
              </a:pathLst>
            </a:custGeom>
            <a:solidFill>
              <a:srgbClr val="3364A3"/>
            </a:solidFill>
          </p:spPr>
          <p:txBody>
            <a:bodyPr wrap="square" lIns="0" tIns="0" rIns="0" bIns="0" rtlCol="0"/>
            <a:lstStyle/>
            <a:p>
              <a:endParaRPr/>
            </a:p>
          </p:txBody>
        </p:sp>
      </p:grpSp>
      <p:sp>
        <p:nvSpPr>
          <p:cNvPr id="23" name="object 23"/>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4" name="object 24"/>
          <p:cNvGrpSpPr/>
          <p:nvPr/>
        </p:nvGrpSpPr>
        <p:grpSpPr>
          <a:xfrm>
            <a:off x="5697533" y="2020298"/>
            <a:ext cx="1352022" cy="484839"/>
            <a:chOff x="4602479" y="1281789"/>
            <a:chExt cx="1490980" cy="534670"/>
          </a:xfrm>
        </p:grpSpPr>
        <p:sp>
          <p:nvSpPr>
            <p:cNvPr id="25" name="object 25"/>
            <p:cNvSpPr/>
            <p:nvPr/>
          </p:nvSpPr>
          <p:spPr>
            <a:xfrm>
              <a:off x="4602479" y="1281789"/>
              <a:ext cx="1490980" cy="534670"/>
            </a:xfrm>
            <a:custGeom>
              <a:avLst/>
              <a:gdLst/>
              <a:ahLst/>
              <a:cxnLst/>
              <a:rect l="l" t="t" r="r" b="b"/>
              <a:pathLst>
                <a:path w="1490979" h="534669">
                  <a:moveTo>
                    <a:pt x="1399540" y="0"/>
                  </a:moveTo>
                  <a:lnTo>
                    <a:pt x="40640" y="240029"/>
                  </a:lnTo>
                  <a:lnTo>
                    <a:pt x="635" y="278606"/>
                  </a:lnTo>
                  <a:lnTo>
                    <a:pt x="86" y="294639"/>
                  </a:lnTo>
                  <a:lnTo>
                    <a:pt x="0" y="297179"/>
                  </a:lnTo>
                  <a:lnTo>
                    <a:pt x="34290" y="494029"/>
                  </a:lnTo>
                  <a:lnTo>
                    <a:pt x="72866" y="533320"/>
                  </a:lnTo>
                  <a:lnTo>
                    <a:pt x="91440" y="534670"/>
                  </a:lnTo>
                  <a:lnTo>
                    <a:pt x="1450340" y="294639"/>
                  </a:lnTo>
                  <a:lnTo>
                    <a:pt x="1468120" y="287496"/>
                  </a:lnTo>
                  <a:lnTo>
                    <a:pt x="1482089" y="273685"/>
                  </a:lnTo>
                  <a:lnTo>
                    <a:pt x="1490344" y="256063"/>
                  </a:lnTo>
                  <a:lnTo>
                    <a:pt x="1490893" y="240029"/>
                  </a:lnTo>
                  <a:lnTo>
                    <a:pt x="1490980" y="237489"/>
                  </a:lnTo>
                  <a:lnTo>
                    <a:pt x="1456690" y="40639"/>
                  </a:lnTo>
                  <a:lnTo>
                    <a:pt x="1449546" y="23038"/>
                  </a:lnTo>
                  <a:lnTo>
                    <a:pt x="1435735" y="9366"/>
                  </a:lnTo>
                  <a:lnTo>
                    <a:pt x="1418113" y="1170"/>
                  </a:lnTo>
                  <a:lnTo>
                    <a:pt x="1399540" y="0"/>
                  </a:lnTo>
                  <a:close/>
                </a:path>
              </a:pathLst>
            </a:custGeom>
            <a:solidFill>
              <a:srgbClr val="ACD489"/>
            </a:solidFill>
          </p:spPr>
          <p:txBody>
            <a:bodyPr wrap="square" lIns="0" tIns="0" rIns="0" bIns="0" rtlCol="0"/>
            <a:lstStyle/>
            <a:p>
              <a:endParaRPr/>
            </a:p>
          </p:txBody>
        </p:sp>
        <p:sp>
          <p:nvSpPr>
            <p:cNvPr id="26" name="object 26"/>
            <p:cNvSpPr/>
            <p:nvPr/>
          </p:nvSpPr>
          <p:spPr>
            <a:xfrm>
              <a:off x="4602479" y="1281789"/>
              <a:ext cx="1490980" cy="534670"/>
            </a:xfrm>
            <a:custGeom>
              <a:avLst/>
              <a:gdLst/>
              <a:ahLst/>
              <a:cxnLst/>
              <a:rect l="l" t="t" r="r" b="b"/>
              <a:pathLst>
                <a:path w="1490979" h="534669">
                  <a:moveTo>
                    <a:pt x="40640" y="240029"/>
                  </a:moveTo>
                  <a:lnTo>
                    <a:pt x="22860" y="247173"/>
                  </a:lnTo>
                  <a:lnTo>
                    <a:pt x="8890" y="260984"/>
                  </a:lnTo>
                  <a:lnTo>
                    <a:pt x="635" y="278606"/>
                  </a:lnTo>
                  <a:lnTo>
                    <a:pt x="0" y="297179"/>
                  </a:lnTo>
                  <a:lnTo>
                    <a:pt x="34290" y="494029"/>
                  </a:lnTo>
                  <a:lnTo>
                    <a:pt x="41433" y="511095"/>
                  </a:lnTo>
                  <a:lnTo>
                    <a:pt x="55245" y="524827"/>
                  </a:lnTo>
                  <a:lnTo>
                    <a:pt x="72866" y="533320"/>
                  </a:lnTo>
                  <a:lnTo>
                    <a:pt x="91440" y="534670"/>
                  </a:lnTo>
                  <a:lnTo>
                    <a:pt x="1450340" y="294639"/>
                  </a:lnTo>
                  <a:lnTo>
                    <a:pt x="1468120" y="287496"/>
                  </a:lnTo>
                  <a:lnTo>
                    <a:pt x="1482089" y="273685"/>
                  </a:lnTo>
                  <a:lnTo>
                    <a:pt x="1490344" y="256063"/>
                  </a:lnTo>
                  <a:lnTo>
                    <a:pt x="1490980" y="237489"/>
                  </a:lnTo>
                  <a:lnTo>
                    <a:pt x="1456690" y="40639"/>
                  </a:lnTo>
                  <a:lnTo>
                    <a:pt x="1449546" y="23038"/>
                  </a:lnTo>
                  <a:lnTo>
                    <a:pt x="1435735" y="9366"/>
                  </a:lnTo>
                  <a:lnTo>
                    <a:pt x="1418113" y="1170"/>
                  </a:lnTo>
                  <a:lnTo>
                    <a:pt x="1399540" y="0"/>
                  </a:lnTo>
                  <a:lnTo>
                    <a:pt x="40640" y="240029"/>
                  </a:lnTo>
                  <a:close/>
                </a:path>
              </a:pathLst>
            </a:custGeom>
            <a:ln w="3175">
              <a:solidFill>
                <a:srgbClr val="3364A3"/>
              </a:solidFill>
            </a:ln>
          </p:spPr>
          <p:txBody>
            <a:bodyPr wrap="square" lIns="0" tIns="0" rIns="0" bIns="0" rtlCol="0"/>
            <a:lstStyle/>
            <a:p>
              <a:endParaRPr/>
            </a:p>
          </p:txBody>
        </p:sp>
      </p:grpSp>
      <p:sp>
        <p:nvSpPr>
          <p:cNvPr id="27" name="object 27"/>
          <p:cNvSpPr txBox="1"/>
          <p:nvPr/>
        </p:nvSpPr>
        <p:spPr>
          <a:xfrm rot="21060000">
            <a:off x="5777963" y="2202473"/>
            <a:ext cx="112903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.NLLL</a:t>
            </a:r>
            <a:r>
              <a:rPr sz="1632" spc="-14" baseline="6944" dirty="0">
                <a:latin typeface="Arial MT"/>
                <a:cs typeface="Arial MT"/>
              </a:rPr>
              <a:t>oss</a:t>
            </a:r>
            <a:endParaRPr sz="1632" baseline="6944">
              <a:latin typeface="Arial MT"/>
              <a:cs typeface="Arial MT"/>
            </a:endParaRPr>
          </a:p>
        </p:txBody>
      </p:sp>
      <p:grpSp>
        <p:nvGrpSpPr>
          <p:cNvPr id="28" name="object 28"/>
          <p:cNvGrpSpPr/>
          <p:nvPr/>
        </p:nvGrpSpPr>
        <p:grpSpPr>
          <a:xfrm>
            <a:off x="7167023" y="1996114"/>
            <a:ext cx="1859894" cy="574667"/>
            <a:chOff x="6223000" y="1255119"/>
            <a:chExt cx="2051050" cy="633730"/>
          </a:xfrm>
        </p:grpSpPr>
        <p:sp>
          <p:nvSpPr>
            <p:cNvPr id="29" name="object 29"/>
            <p:cNvSpPr/>
            <p:nvPr/>
          </p:nvSpPr>
          <p:spPr>
            <a:xfrm>
              <a:off x="6223000" y="1255119"/>
              <a:ext cx="2051050" cy="633730"/>
            </a:xfrm>
            <a:custGeom>
              <a:avLst/>
              <a:gdLst/>
              <a:ahLst/>
              <a:cxnLst/>
              <a:rect l="l" t="t" r="r" b="b"/>
              <a:pathLst>
                <a:path w="2051050" h="633730">
                  <a:moveTo>
                    <a:pt x="1958340" y="0"/>
                  </a:moveTo>
                  <a:lnTo>
                    <a:pt x="39370" y="337820"/>
                  </a:lnTo>
                  <a:lnTo>
                    <a:pt x="615" y="377110"/>
                  </a:lnTo>
                  <a:lnTo>
                    <a:pt x="0" y="396240"/>
                  </a:lnTo>
                  <a:lnTo>
                    <a:pt x="34289" y="593090"/>
                  </a:lnTo>
                  <a:lnTo>
                    <a:pt x="41433" y="610155"/>
                  </a:lnTo>
                  <a:lnTo>
                    <a:pt x="55244" y="623887"/>
                  </a:lnTo>
                  <a:lnTo>
                    <a:pt x="72866" y="632380"/>
                  </a:lnTo>
                  <a:lnTo>
                    <a:pt x="91439" y="633730"/>
                  </a:lnTo>
                  <a:lnTo>
                    <a:pt x="2010409" y="294640"/>
                  </a:lnTo>
                  <a:lnTo>
                    <a:pt x="2027654" y="287496"/>
                  </a:lnTo>
                  <a:lnTo>
                    <a:pt x="2041683" y="273685"/>
                  </a:lnTo>
                  <a:lnTo>
                    <a:pt x="2050236" y="256063"/>
                  </a:lnTo>
                  <a:lnTo>
                    <a:pt x="2051050" y="237490"/>
                  </a:lnTo>
                  <a:lnTo>
                    <a:pt x="2016759" y="40640"/>
                  </a:lnTo>
                  <a:lnTo>
                    <a:pt x="2009596" y="22860"/>
                  </a:lnTo>
                  <a:lnTo>
                    <a:pt x="1995646" y="8890"/>
                  </a:lnTo>
                  <a:lnTo>
                    <a:pt x="1977647" y="635"/>
                  </a:lnTo>
                  <a:lnTo>
                    <a:pt x="1958340" y="0"/>
                  </a:lnTo>
                  <a:close/>
                </a:path>
              </a:pathLst>
            </a:custGeom>
            <a:solidFill>
              <a:srgbClr val="ACD489"/>
            </a:solidFill>
          </p:spPr>
          <p:txBody>
            <a:bodyPr wrap="square" lIns="0" tIns="0" rIns="0" bIns="0" rtlCol="0"/>
            <a:lstStyle/>
            <a:p>
              <a:endParaRPr/>
            </a:p>
          </p:txBody>
        </p:sp>
        <p:sp>
          <p:nvSpPr>
            <p:cNvPr id="30" name="object 30"/>
            <p:cNvSpPr/>
            <p:nvPr/>
          </p:nvSpPr>
          <p:spPr>
            <a:xfrm>
              <a:off x="6223000" y="1255119"/>
              <a:ext cx="2051050" cy="633730"/>
            </a:xfrm>
            <a:custGeom>
              <a:avLst/>
              <a:gdLst/>
              <a:ahLst/>
              <a:cxnLst/>
              <a:rect l="l" t="t" r="r" b="b"/>
              <a:pathLst>
                <a:path w="2051050" h="633730">
                  <a:moveTo>
                    <a:pt x="39370" y="337820"/>
                  </a:moveTo>
                  <a:lnTo>
                    <a:pt x="22324" y="345519"/>
                  </a:lnTo>
                  <a:lnTo>
                    <a:pt x="8731" y="359410"/>
                  </a:lnTo>
                  <a:lnTo>
                    <a:pt x="615" y="377110"/>
                  </a:lnTo>
                  <a:lnTo>
                    <a:pt x="0" y="396240"/>
                  </a:lnTo>
                  <a:lnTo>
                    <a:pt x="34289" y="593090"/>
                  </a:lnTo>
                  <a:lnTo>
                    <a:pt x="41433" y="610155"/>
                  </a:lnTo>
                  <a:lnTo>
                    <a:pt x="55244" y="623887"/>
                  </a:lnTo>
                  <a:lnTo>
                    <a:pt x="72866" y="632380"/>
                  </a:lnTo>
                  <a:lnTo>
                    <a:pt x="91439" y="633730"/>
                  </a:lnTo>
                  <a:lnTo>
                    <a:pt x="2010409" y="294640"/>
                  </a:lnTo>
                  <a:lnTo>
                    <a:pt x="2027654" y="287496"/>
                  </a:lnTo>
                  <a:lnTo>
                    <a:pt x="2041683" y="273685"/>
                  </a:lnTo>
                  <a:lnTo>
                    <a:pt x="2050236" y="256063"/>
                  </a:lnTo>
                  <a:lnTo>
                    <a:pt x="2051050" y="237490"/>
                  </a:lnTo>
                  <a:lnTo>
                    <a:pt x="2016759" y="40640"/>
                  </a:lnTo>
                  <a:lnTo>
                    <a:pt x="2009596" y="22860"/>
                  </a:lnTo>
                  <a:lnTo>
                    <a:pt x="1995646" y="8890"/>
                  </a:lnTo>
                  <a:lnTo>
                    <a:pt x="1977647" y="635"/>
                  </a:lnTo>
                  <a:lnTo>
                    <a:pt x="1958340" y="0"/>
                  </a:lnTo>
                  <a:lnTo>
                    <a:pt x="39370" y="337820"/>
                  </a:lnTo>
                  <a:close/>
                </a:path>
              </a:pathLst>
            </a:custGeom>
            <a:ln w="3175">
              <a:solidFill>
                <a:srgbClr val="3364A3"/>
              </a:solidFill>
            </a:ln>
          </p:spPr>
          <p:txBody>
            <a:bodyPr wrap="square" lIns="0" tIns="0" rIns="0" bIns="0" rtlCol="0"/>
            <a:lstStyle/>
            <a:p>
              <a:endParaRPr/>
            </a:p>
          </p:txBody>
        </p:sp>
      </p:grpSp>
      <p:sp>
        <p:nvSpPr>
          <p:cNvPr id="31" name="object 31"/>
          <p:cNvSpPr txBox="1"/>
          <p:nvPr/>
        </p:nvSpPr>
        <p:spPr>
          <a:xfrm rot="21060000">
            <a:off x="7244909" y="2219963"/>
            <a:ext cx="1710016" cy="141064"/>
          </a:xfrm>
          <a:prstGeom prst="rect">
            <a:avLst/>
          </a:prstGeom>
        </p:spPr>
        <p:txBody>
          <a:bodyPr vert="horz" wrap="square" lIns="0" tIns="0" rIns="0" bIns="0" rtlCol="0">
            <a:spAutoFit/>
          </a:bodyPr>
          <a:lstStyle/>
          <a:p>
            <a:pPr>
              <a:lnSpc>
                <a:spcPts val="1075"/>
              </a:lnSpc>
            </a:pPr>
            <a:r>
              <a:rPr sz="1632" spc="-14" baseline="-4629" dirty="0">
                <a:latin typeface="Arial MT"/>
                <a:cs typeface="Arial MT"/>
              </a:rPr>
              <a:t>Torc</a:t>
            </a:r>
            <a:r>
              <a:rPr sz="1632" spc="-14" baseline="-2314" dirty="0">
                <a:latin typeface="Arial MT"/>
                <a:cs typeface="Arial MT"/>
              </a:rPr>
              <a:t>h.nn</a:t>
            </a:r>
            <a:r>
              <a:rPr sz="1088" spc="-9" dirty="0">
                <a:latin typeface="Arial MT"/>
                <a:cs typeface="Arial MT"/>
              </a:rPr>
              <a:t>.Cros</a:t>
            </a:r>
            <a:r>
              <a:rPr sz="1632" spc="-14" baseline="2314" dirty="0">
                <a:latin typeface="Arial MT"/>
                <a:cs typeface="Arial MT"/>
              </a:rPr>
              <a:t>sEntro</a:t>
            </a:r>
            <a:r>
              <a:rPr sz="1632" spc="-14" baseline="4629" dirty="0">
                <a:latin typeface="Arial MT"/>
                <a:cs typeface="Arial MT"/>
              </a:rPr>
              <a:t>pyLo</a:t>
            </a:r>
            <a:r>
              <a:rPr sz="1632" spc="-14" baseline="6944" dirty="0">
                <a:latin typeface="Arial MT"/>
                <a:cs typeface="Arial MT"/>
              </a:rPr>
              <a:t>ss</a:t>
            </a:r>
            <a:endParaRPr sz="1632" baseline="6944">
              <a:latin typeface="Arial MT"/>
              <a:cs typeface="Arial MT"/>
            </a:endParaRPr>
          </a:p>
        </p:txBody>
      </p:sp>
      <p:grpSp>
        <p:nvGrpSpPr>
          <p:cNvPr id="32" name="object 32"/>
          <p:cNvGrpSpPr/>
          <p:nvPr/>
        </p:nvGrpSpPr>
        <p:grpSpPr>
          <a:xfrm>
            <a:off x="6935458" y="1960327"/>
            <a:ext cx="2358553" cy="662191"/>
            <a:chOff x="5967634" y="1215654"/>
            <a:chExt cx="2600960" cy="730250"/>
          </a:xfrm>
        </p:grpSpPr>
        <p:sp>
          <p:nvSpPr>
            <p:cNvPr id="33" name="object 33"/>
            <p:cNvSpPr/>
            <p:nvPr/>
          </p:nvSpPr>
          <p:spPr>
            <a:xfrm>
              <a:off x="5976619" y="1224640"/>
              <a:ext cx="431800" cy="647700"/>
            </a:xfrm>
            <a:custGeom>
              <a:avLst/>
              <a:gdLst/>
              <a:ahLst/>
              <a:cxnLst/>
              <a:rect l="l" t="t" r="r" b="b"/>
              <a:pathLst>
                <a:path w="431800" h="647700">
                  <a:moveTo>
                    <a:pt x="0" y="647700"/>
                  </a:moveTo>
                  <a:lnTo>
                    <a:pt x="431800" y="0"/>
                  </a:lnTo>
                </a:path>
              </a:pathLst>
            </a:custGeom>
            <a:ln w="17970">
              <a:solidFill>
                <a:srgbClr val="000000"/>
              </a:solidFill>
            </a:ln>
          </p:spPr>
          <p:txBody>
            <a:bodyPr wrap="square" lIns="0" tIns="0" rIns="0" bIns="0" rtlCol="0"/>
            <a:lstStyle/>
            <a:p>
              <a:endParaRPr/>
            </a:p>
          </p:txBody>
        </p:sp>
        <p:sp>
          <p:nvSpPr>
            <p:cNvPr id="34" name="object 34"/>
            <p:cNvSpPr/>
            <p:nvPr/>
          </p:nvSpPr>
          <p:spPr>
            <a:xfrm>
              <a:off x="8258809" y="1709780"/>
              <a:ext cx="308610" cy="234950"/>
            </a:xfrm>
            <a:custGeom>
              <a:avLst/>
              <a:gdLst/>
              <a:ahLst/>
              <a:cxnLst/>
              <a:rect l="l" t="t" r="r" b="b"/>
              <a:pathLst>
                <a:path w="308609" h="234950">
                  <a:moveTo>
                    <a:pt x="308610" y="234950"/>
                  </a:moveTo>
                  <a:lnTo>
                    <a:pt x="0" y="0"/>
                  </a:lnTo>
                </a:path>
              </a:pathLst>
            </a:custGeom>
            <a:ln w="3175">
              <a:solidFill>
                <a:srgbClr val="000000"/>
              </a:solidFill>
            </a:ln>
          </p:spPr>
          <p:txBody>
            <a:bodyPr wrap="square" lIns="0" tIns="0" rIns="0" bIns="0" rtlCol="0"/>
            <a:lstStyle/>
            <a:p>
              <a:endParaRPr/>
            </a:p>
          </p:txBody>
        </p:sp>
        <p:sp>
          <p:nvSpPr>
            <p:cNvPr id="35" name="object 35"/>
            <p:cNvSpPr/>
            <p:nvPr/>
          </p:nvSpPr>
          <p:spPr>
            <a:xfrm>
              <a:off x="8135619" y="1615800"/>
              <a:ext cx="162560" cy="142240"/>
            </a:xfrm>
            <a:custGeom>
              <a:avLst/>
              <a:gdLst/>
              <a:ahLst/>
              <a:cxnLst/>
              <a:rect l="l" t="t" r="r" b="b"/>
              <a:pathLst>
                <a:path w="162559" h="142239">
                  <a:moveTo>
                    <a:pt x="0" y="0"/>
                  </a:moveTo>
                  <a:lnTo>
                    <a:pt x="96520" y="142239"/>
                  </a:lnTo>
                  <a:lnTo>
                    <a:pt x="162559" y="55879"/>
                  </a:lnTo>
                  <a:lnTo>
                    <a:pt x="0" y="0"/>
                  </a:lnTo>
                  <a:close/>
                </a:path>
              </a:pathLst>
            </a:custGeom>
            <a:solidFill>
              <a:srgbClr val="000000"/>
            </a:solidFill>
          </p:spPr>
          <p:txBody>
            <a:bodyPr wrap="square" lIns="0" tIns="0" rIns="0" bIns="0" rtlCol="0"/>
            <a:lstStyle/>
            <a:p>
              <a:endParaRPr/>
            </a:p>
          </p:txBody>
        </p:sp>
      </p:grpSp>
      <p:pic>
        <p:nvPicPr>
          <p:cNvPr id="36" name="object 36"/>
          <p:cNvPicPr/>
          <p:nvPr/>
        </p:nvPicPr>
        <p:blipFill>
          <a:blip r:embed="rId4" cstate="print"/>
          <a:stretch>
            <a:fillRect/>
          </a:stretch>
        </p:blipFill>
        <p:spPr>
          <a:xfrm>
            <a:off x="5642257" y="4318967"/>
            <a:ext cx="1529373" cy="664495"/>
          </a:xfrm>
          <a:prstGeom prst="rect">
            <a:avLst/>
          </a:prstGeom>
        </p:spPr>
      </p:pic>
      <p:grpSp>
        <p:nvGrpSpPr>
          <p:cNvPr id="37" name="object 37"/>
          <p:cNvGrpSpPr/>
          <p:nvPr/>
        </p:nvGrpSpPr>
        <p:grpSpPr>
          <a:xfrm>
            <a:off x="8444189" y="3499000"/>
            <a:ext cx="393284" cy="297698"/>
            <a:chOff x="7631430" y="2912469"/>
            <a:chExt cx="433705" cy="328295"/>
          </a:xfrm>
        </p:grpSpPr>
        <p:sp>
          <p:nvSpPr>
            <p:cNvPr id="38" name="object 38"/>
            <p:cNvSpPr/>
            <p:nvPr/>
          </p:nvSpPr>
          <p:spPr>
            <a:xfrm>
              <a:off x="7754620" y="3006449"/>
              <a:ext cx="309880" cy="233679"/>
            </a:xfrm>
            <a:custGeom>
              <a:avLst/>
              <a:gdLst/>
              <a:ahLst/>
              <a:cxnLst/>
              <a:rect l="l" t="t" r="r" b="b"/>
              <a:pathLst>
                <a:path w="309879" h="233680">
                  <a:moveTo>
                    <a:pt x="309879" y="233679"/>
                  </a:moveTo>
                  <a:lnTo>
                    <a:pt x="0" y="0"/>
                  </a:lnTo>
                </a:path>
              </a:pathLst>
            </a:custGeom>
            <a:ln w="3175">
              <a:solidFill>
                <a:srgbClr val="000000"/>
              </a:solidFill>
            </a:ln>
          </p:spPr>
          <p:txBody>
            <a:bodyPr wrap="square" lIns="0" tIns="0" rIns="0" bIns="0" rtlCol="0"/>
            <a:lstStyle/>
            <a:p>
              <a:endParaRPr/>
            </a:p>
          </p:txBody>
        </p:sp>
        <p:sp>
          <p:nvSpPr>
            <p:cNvPr id="39" name="object 39"/>
            <p:cNvSpPr/>
            <p:nvPr/>
          </p:nvSpPr>
          <p:spPr>
            <a:xfrm>
              <a:off x="7631430" y="2912469"/>
              <a:ext cx="162560" cy="140970"/>
            </a:xfrm>
            <a:custGeom>
              <a:avLst/>
              <a:gdLst/>
              <a:ahLst/>
              <a:cxnLst/>
              <a:rect l="l" t="t" r="r" b="b"/>
              <a:pathLst>
                <a:path w="162559" h="140969">
                  <a:moveTo>
                    <a:pt x="0" y="0"/>
                  </a:moveTo>
                  <a:lnTo>
                    <a:pt x="96520" y="140969"/>
                  </a:lnTo>
                  <a:lnTo>
                    <a:pt x="162560" y="54609"/>
                  </a:lnTo>
                  <a:lnTo>
                    <a:pt x="0" y="0"/>
                  </a:lnTo>
                  <a:close/>
                </a:path>
              </a:pathLst>
            </a:custGeom>
            <a:solidFill>
              <a:srgbClr val="000000"/>
            </a:solidFill>
          </p:spPr>
          <p:txBody>
            <a:bodyPr wrap="square" lIns="0" tIns="0" rIns="0" bIns="0" rtlCol="0"/>
            <a:lstStyle/>
            <a:p>
              <a:endParaRPr/>
            </a:p>
          </p:txBody>
        </p:sp>
      </p:grpSp>
      <p:sp>
        <p:nvSpPr>
          <p:cNvPr id="40" name="object 40"/>
          <p:cNvSpPr txBox="1"/>
          <p:nvPr/>
        </p:nvSpPr>
        <p:spPr>
          <a:xfrm>
            <a:off x="7253396" y="3315890"/>
            <a:ext cx="2177170" cy="889818"/>
          </a:xfrm>
          <a:prstGeom prst="rect">
            <a:avLst/>
          </a:prstGeom>
        </p:spPr>
        <p:txBody>
          <a:bodyPr vert="horz" wrap="square" lIns="0" tIns="11516" rIns="0" bIns="0" rtlCol="0">
            <a:spAutoFit/>
          </a:bodyPr>
          <a:lstStyle/>
          <a:p>
            <a:pPr marL="11516">
              <a:spcBef>
                <a:spcPts val="91"/>
              </a:spcBef>
            </a:pPr>
            <a:r>
              <a:rPr sz="1270" dirty="0">
                <a:latin typeface="Arial MT"/>
                <a:cs typeface="Arial MT"/>
              </a:rPr>
              <a:t>(.8,</a:t>
            </a:r>
            <a:r>
              <a:rPr sz="1270" spc="363" dirty="0">
                <a:latin typeface="Arial MT"/>
                <a:cs typeface="Arial MT"/>
              </a:rPr>
              <a:t> </a:t>
            </a:r>
            <a:r>
              <a:rPr sz="1270" dirty="0">
                <a:latin typeface="Arial MT"/>
                <a:cs typeface="Arial MT"/>
              </a:rPr>
              <a:t>0,</a:t>
            </a:r>
            <a:r>
              <a:rPr sz="1270" spc="363" dirty="0">
                <a:latin typeface="Arial MT"/>
                <a:cs typeface="Arial MT"/>
              </a:rPr>
              <a:t> </a:t>
            </a:r>
            <a:r>
              <a:rPr sz="1270" dirty="0">
                <a:latin typeface="Arial MT"/>
                <a:cs typeface="Arial MT"/>
              </a:rPr>
              <a:t>0,</a:t>
            </a:r>
            <a:r>
              <a:rPr sz="1270" spc="9" dirty="0">
                <a:latin typeface="Arial MT"/>
                <a:cs typeface="Arial MT"/>
              </a:rPr>
              <a:t> </a:t>
            </a:r>
            <a:r>
              <a:rPr sz="1270" dirty="0">
                <a:latin typeface="Arial MT"/>
                <a:cs typeface="Arial MT"/>
              </a:rPr>
              <a:t>.2,</a:t>
            </a:r>
            <a:r>
              <a:rPr sz="1270" spc="367" dirty="0">
                <a:latin typeface="Arial MT"/>
                <a:cs typeface="Arial MT"/>
              </a:rPr>
              <a:t> </a:t>
            </a:r>
            <a:r>
              <a:rPr sz="1270" spc="-23" dirty="0">
                <a:latin typeface="Arial MT"/>
                <a:cs typeface="Arial MT"/>
              </a:rPr>
              <a:t>0)</a:t>
            </a:r>
            <a:endParaRPr sz="1270">
              <a:latin typeface="Arial MT"/>
              <a:cs typeface="Arial MT"/>
            </a:endParaRPr>
          </a:p>
          <a:p>
            <a:pPr>
              <a:spcBef>
                <a:spcPts val="753"/>
              </a:spcBef>
            </a:pPr>
            <a:endParaRPr sz="1270">
              <a:latin typeface="Arial MT"/>
              <a:cs typeface="Arial MT"/>
            </a:endParaRPr>
          </a:p>
          <a:p>
            <a:pPr marL="1612290" marR="4607" algn="just">
              <a:lnSpc>
                <a:spcPts val="1016"/>
              </a:lnSpc>
              <a:spcBef>
                <a:spcPts val="5"/>
              </a:spcBef>
            </a:pPr>
            <a:r>
              <a:rPr sz="907" i="1" dirty="0">
                <a:latin typeface="Arial"/>
                <a:cs typeface="Arial"/>
              </a:rPr>
              <a:t>Must</a:t>
            </a:r>
            <a:r>
              <a:rPr sz="907" i="1" spc="-14" dirty="0">
                <a:latin typeface="Arial"/>
                <a:cs typeface="Arial"/>
              </a:rPr>
              <a:t> </a:t>
            </a:r>
            <a:r>
              <a:rPr sz="907" i="1" dirty="0">
                <a:latin typeface="Arial"/>
                <a:cs typeface="Arial"/>
              </a:rPr>
              <a:t>be</a:t>
            </a:r>
            <a:r>
              <a:rPr sz="907" i="1" spc="-9" dirty="0">
                <a:latin typeface="Arial"/>
                <a:cs typeface="Arial"/>
              </a:rPr>
              <a:t> </a:t>
            </a:r>
            <a:r>
              <a:rPr sz="907" i="1" spc="-45" dirty="0">
                <a:latin typeface="Arial"/>
                <a:cs typeface="Arial"/>
              </a:rPr>
              <a:t>a </a:t>
            </a:r>
            <a:r>
              <a:rPr sz="907" i="1" spc="-9" dirty="0">
                <a:latin typeface="Arial"/>
                <a:cs typeface="Arial"/>
              </a:rPr>
              <a:t>probability distribution</a:t>
            </a:r>
            <a:endParaRPr sz="907">
              <a:latin typeface="Arial"/>
              <a:cs typeface="Arial"/>
            </a:endParaRPr>
          </a:p>
        </p:txBody>
      </p:sp>
      <p:sp>
        <p:nvSpPr>
          <p:cNvPr id="41" name="object 41"/>
          <p:cNvSpPr txBox="1"/>
          <p:nvPr/>
        </p:nvSpPr>
        <p:spPr>
          <a:xfrm>
            <a:off x="9245728" y="2627213"/>
            <a:ext cx="934554" cy="280901"/>
          </a:xfrm>
          <a:prstGeom prst="rect">
            <a:avLst/>
          </a:prstGeom>
        </p:spPr>
        <p:txBody>
          <a:bodyPr vert="horz" wrap="square" lIns="0" tIns="24184" rIns="0" bIns="0" rtlCol="0">
            <a:spAutoFit/>
          </a:bodyPr>
          <a:lstStyle/>
          <a:p>
            <a:pPr marL="11516" marR="4607">
              <a:lnSpc>
                <a:spcPts val="1007"/>
              </a:lnSpc>
              <a:spcBef>
                <a:spcPts val="190"/>
              </a:spcBef>
            </a:pPr>
            <a:r>
              <a:rPr sz="907" i="1" dirty="0">
                <a:latin typeface="Arial"/>
                <a:cs typeface="Arial"/>
              </a:rPr>
              <a:t>This</a:t>
            </a:r>
            <a:r>
              <a:rPr sz="907" i="1" spc="-14" dirty="0">
                <a:latin typeface="Arial"/>
                <a:cs typeface="Arial"/>
              </a:rPr>
              <a:t> </a:t>
            </a:r>
            <a:r>
              <a:rPr sz="907" i="1" dirty="0">
                <a:latin typeface="Arial"/>
                <a:cs typeface="Arial"/>
              </a:rPr>
              <a:t>one</a:t>
            </a:r>
            <a:r>
              <a:rPr sz="907" i="1" spc="-14" dirty="0">
                <a:latin typeface="Arial"/>
                <a:cs typeface="Arial"/>
              </a:rPr>
              <a:t> </a:t>
            </a:r>
            <a:r>
              <a:rPr sz="907" i="1" dirty="0">
                <a:latin typeface="Arial"/>
                <a:cs typeface="Arial"/>
              </a:rPr>
              <a:t>does</a:t>
            </a:r>
            <a:r>
              <a:rPr sz="907" i="1" spc="-9" dirty="0">
                <a:latin typeface="Arial"/>
                <a:cs typeface="Arial"/>
              </a:rPr>
              <a:t> </a:t>
            </a:r>
            <a:r>
              <a:rPr sz="907" i="1" spc="-23" dirty="0">
                <a:latin typeface="Arial"/>
                <a:cs typeface="Arial"/>
              </a:rPr>
              <a:t>the </a:t>
            </a:r>
            <a:r>
              <a:rPr sz="907" i="1" dirty="0">
                <a:latin typeface="Arial"/>
                <a:cs typeface="Arial"/>
              </a:rPr>
              <a:t>softmax</a:t>
            </a:r>
            <a:r>
              <a:rPr sz="907" i="1" spc="-18" dirty="0">
                <a:latin typeface="Arial"/>
                <a:cs typeface="Arial"/>
              </a:rPr>
              <a:t> </a:t>
            </a:r>
            <a:r>
              <a:rPr sz="907" i="1" dirty="0">
                <a:latin typeface="Arial"/>
                <a:cs typeface="Arial"/>
              </a:rPr>
              <a:t>for</a:t>
            </a:r>
            <a:r>
              <a:rPr sz="907" i="1" spc="-18" dirty="0">
                <a:latin typeface="Arial"/>
                <a:cs typeface="Arial"/>
              </a:rPr>
              <a:t> </a:t>
            </a:r>
            <a:r>
              <a:rPr sz="907" i="1" spc="-23" dirty="0">
                <a:latin typeface="Arial"/>
                <a:cs typeface="Arial"/>
              </a:rPr>
              <a:t>you</a:t>
            </a:r>
            <a:endParaRPr sz="907">
              <a:latin typeface="Arial"/>
              <a:cs typeface="Arial"/>
            </a:endParaRPr>
          </a:p>
        </p:txBody>
      </p:sp>
      <p:pic>
        <p:nvPicPr>
          <p:cNvPr id="42" name="object 42"/>
          <p:cNvPicPr/>
          <p:nvPr/>
        </p:nvPicPr>
        <p:blipFill>
          <a:blip r:embed="rId5" cstate="print"/>
          <a:stretch>
            <a:fillRect/>
          </a:stretch>
        </p:blipFill>
        <p:spPr>
          <a:xfrm>
            <a:off x="9260698" y="2916272"/>
            <a:ext cx="932826" cy="342524"/>
          </a:xfrm>
          <a:prstGeom prst="rect">
            <a:avLst/>
          </a:prstGeom>
        </p:spPr>
      </p:pic>
    </p:spTree>
    <p:extLst>
      <p:ext uri="{BB962C8B-B14F-4D97-AF65-F5344CB8AC3E}">
        <p14:creationId xmlns:p14="http://schemas.microsoft.com/office/powerpoint/2010/main" val="18087224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7115" y="2653698"/>
            <a:ext cx="2218053" cy="2214598"/>
            <a:chOff x="863600" y="1980289"/>
            <a:chExt cx="2446020" cy="2442210"/>
          </a:xfrm>
        </p:grpSpPr>
        <p:pic>
          <p:nvPicPr>
            <p:cNvPr id="3" name="object 3"/>
            <p:cNvPicPr/>
            <p:nvPr/>
          </p:nvPicPr>
          <p:blipFill>
            <a:blip r:embed="rId2" cstate="print"/>
            <a:stretch>
              <a:fillRect/>
            </a:stretch>
          </p:blipFill>
          <p:spPr>
            <a:xfrm>
              <a:off x="863600" y="1980289"/>
              <a:ext cx="2446020" cy="2442210"/>
            </a:xfrm>
            <a:prstGeom prst="rect">
              <a:avLst/>
            </a:prstGeom>
          </p:spPr>
        </p:pic>
        <p:sp>
          <p:nvSpPr>
            <p:cNvPr id="4" name="object 4"/>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Classification</a:t>
            </a:r>
            <a:r>
              <a:rPr spc="-82" dirty="0"/>
              <a:t> </a:t>
            </a:r>
            <a:r>
              <a:rPr dirty="0"/>
              <a:t>loss</a:t>
            </a:r>
            <a:r>
              <a:rPr spc="-32" dirty="0"/>
              <a:t> </a:t>
            </a:r>
            <a:r>
              <a:rPr spc="-9" dirty="0"/>
              <a:t>functions</a:t>
            </a:r>
          </a:p>
        </p:txBody>
      </p:sp>
      <p:sp>
        <p:nvSpPr>
          <p:cNvPr id="7" name="object 7"/>
          <p:cNvSpPr txBox="1"/>
          <p:nvPr/>
        </p:nvSpPr>
        <p:spPr>
          <a:xfrm>
            <a:off x="1969685" y="1953504"/>
            <a:ext cx="3699059"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Categorical</a:t>
            </a:r>
            <a:r>
              <a:rPr sz="2539" i="1" spc="-127" dirty="0">
                <a:latin typeface="Arial"/>
                <a:cs typeface="Arial"/>
              </a:rPr>
              <a:t> </a:t>
            </a:r>
            <a:r>
              <a:rPr sz="2539" i="1" spc="-9" dirty="0">
                <a:latin typeface="Arial"/>
                <a:cs typeface="Arial"/>
              </a:rPr>
              <a:t>cross-entropy</a:t>
            </a:r>
            <a:endParaRPr sz="2539">
              <a:latin typeface="Arial"/>
              <a:cs typeface="Arial"/>
            </a:endParaRPr>
          </a:p>
        </p:txBody>
      </p:sp>
      <p:sp>
        <p:nvSpPr>
          <p:cNvPr id="8" name="object 8"/>
          <p:cNvSpPr txBox="1"/>
          <p:nvPr/>
        </p:nvSpPr>
        <p:spPr>
          <a:xfrm>
            <a:off x="3414261" y="5439554"/>
            <a:ext cx="909993" cy="430712"/>
          </a:xfrm>
          <a:prstGeom prst="rect">
            <a:avLst/>
          </a:prstGeom>
        </p:spPr>
        <p:txBody>
          <a:bodyPr vert="vert270" wrap="square" lIns="0" tIns="0" rIns="0" bIns="0" rtlCol="0">
            <a:spAutoFit/>
          </a:bodyPr>
          <a:lstStyle/>
          <a:p>
            <a:pPr marL="118619" algn="just">
              <a:lnSpc>
                <a:spcPts val="1292"/>
              </a:lnSpc>
            </a:pPr>
            <a:r>
              <a:rPr sz="1088" dirty="0">
                <a:latin typeface="Arial MT"/>
                <a:cs typeface="Arial MT"/>
              </a:rPr>
              <a:t>Cat</a:t>
            </a:r>
            <a:r>
              <a:rPr sz="1088" spc="-9" dirty="0">
                <a:latin typeface="Arial MT"/>
                <a:cs typeface="Arial MT"/>
              </a:rPr>
              <a:t> </a:t>
            </a:r>
            <a:r>
              <a:rPr sz="1088" spc="-45" dirty="0">
                <a:latin typeface="Arial MT"/>
                <a:cs typeface="Arial MT"/>
              </a:rPr>
              <a:t>-</a:t>
            </a:r>
            <a:endParaRPr sz="1088">
              <a:latin typeface="Arial MT"/>
              <a:cs typeface="Arial MT"/>
            </a:endParaRPr>
          </a:p>
          <a:p>
            <a:pPr marL="11516" marR="4607" indent="67947" algn="just">
              <a:lnSpc>
                <a:spcPct val="111100"/>
              </a:lnSpc>
            </a:pPr>
            <a:r>
              <a:rPr sz="1088" dirty="0">
                <a:latin typeface="Arial MT"/>
                <a:cs typeface="Arial MT"/>
              </a:rPr>
              <a:t>Dog</a:t>
            </a:r>
            <a:r>
              <a:rPr sz="1088" spc="-14" dirty="0">
                <a:latin typeface="Arial MT"/>
                <a:cs typeface="Arial MT"/>
              </a:rPr>
              <a:t> </a:t>
            </a:r>
            <a:r>
              <a:rPr sz="1088" spc="-45" dirty="0">
                <a:latin typeface="Arial MT"/>
                <a:cs typeface="Arial MT"/>
              </a:rPr>
              <a:t>- </a:t>
            </a:r>
            <a:r>
              <a:rPr sz="1088" dirty="0">
                <a:latin typeface="Arial MT"/>
                <a:cs typeface="Arial MT"/>
              </a:rPr>
              <a:t>Bear</a:t>
            </a:r>
            <a:r>
              <a:rPr sz="1088" spc="-5" dirty="0">
                <a:latin typeface="Arial MT"/>
                <a:cs typeface="Arial MT"/>
              </a:rPr>
              <a:t> </a:t>
            </a:r>
            <a:r>
              <a:rPr sz="1088" spc="-45" dirty="0">
                <a:latin typeface="Arial MT"/>
                <a:cs typeface="Arial MT"/>
              </a:rPr>
              <a:t>- </a:t>
            </a:r>
            <a:r>
              <a:rPr sz="1088" dirty="0">
                <a:latin typeface="Arial MT"/>
                <a:cs typeface="Arial MT"/>
              </a:rPr>
              <a:t>Hitler</a:t>
            </a:r>
            <a:r>
              <a:rPr sz="1088" spc="-27" dirty="0">
                <a:latin typeface="Arial MT"/>
                <a:cs typeface="Arial MT"/>
              </a:rPr>
              <a:t> </a:t>
            </a:r>
            <a:r>
              <a:rPr sz="1088" spc="-45" dirty="0">
                <a:latin typeface="Arial MT"/>
                <a:cs typeface="Arial MT"/>
              </a:rPr>
              <a:t>- </a:t>
            </a:r>
            <a:r>
              <a:rPr sz="1088" dirty="0">
                <a:latin typeface="Arial MT"/>
                <a:cs typeface="Arial MT"/>
              </a:rPr>
              <a:t>Putin</a:t>
            </a:r>
            <a:r>
              <a:rPr sz="1088" spc="-9" dirty="0">
                <a:latin typeface="Arial MT"/>
                <a:cs typeface="Arial MT"/>
              </a:rPr>
              <a:t> </a:t>
            </a:r>
            <a:r>
              <a:rPr sz="1088" spc="-45" dirty="0">
                <a:latin typeface="Arial MT"/>
                <a:cs typeface="Arial MT"/>
              </a:rPr>
              <a:t>-</a:t>
            </a:r>
            <a:endParaRPr sz="1088">
              <a:latin typeface="Arial MT"/>
              <a:cs typeface="Arial MT"/>
            </a:endParaRPr>
          </a:p>
        </p:txBody>
      </p:sp>
      <p:sp>
        <p:nvSpPr>
          <p:cNvPr id="9" name="object 9"/>
          <p:cNvSpPr txBox="1"/>
          <p:nvPr/>
        </p:nvSpPr>
        <p:spPr>
          <a:xfrm>
            <a:off x="2441855" y="2732010"/>
            <a:ext cx="586183"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a:t>
            </a:r>
            <a:endParaRPr sz="1814">
              <a:latin typeface="Arial"/>
              <a:cs typeface="Arial"/>
            </a:endParaRPr>
          </a:p>
        </p:txBody>
      </p:sp>
      <p:grpSp>
        <p:nvGrpSpPr>
          <p:cNvPr id="10" name="object 10"/>
          <p:cNvGrpSpPr/>
          <p:nvPr/>
        </p:nvGrpSpPr>
        <p:grpSpPr>
          <a:xfrm>
            <a:off x="2339359" y="5120507"/>
            <a:ext cx="914400" cy="391557"/>
            <a:chOff x="899160" y="4700630"/>
            <a:chExt cx="1008380" cy="431800"/>
          </a:xfrm>
        </p:grpSpPr>
        <p:sp>
          <p:nvSpPr>
            <p:cNvPr id="11" name="object 11"/>
            <p:cNvSpPr/>
            <p:nvPr/>
          </p:nvSpPr>
          <p:spPr>
            <a:xfrm>
              <a:off x="899160" y="4700630"/>
              <a:ext cx="1008380" cy="431800"/>
            </a:xfrm>
            <a:custGeom>
              <a:avLst/>
              <a:gdLst/>
              <a:ahLst/>
              <a:cxnLst/>
              <a:rect l="l" t="t" r="r" b="b"/>
              <a:pathLst>
                <a:path w="1008380" h="431800">
                  <a:moveTo>
                    <a:pt x="935990" y="0"/>
                  </a:moveTo>
                  <a:lnTo>
                    <a:pt x="72390" y="0"/>
                  </a:ln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close/>
                </a:path>
              </a:pathLst>
            </a:custGeom>
            <a:solidFill>
              <a:srgbClr val="719ECE"/>
            </a:solidFill>
          </p:spPr>
          <p:txBody>
            <a:bodyPr wrap="square" lIns="0" tIns="0" rIns="0" bIns="0" rtlCol="0"/>
            <a:lstStyle/>
            <a:p>
              <a:endParaRPr/>
            </a:p>
          </p:txBody>
        </p:sp>
        <p:sp>
          <p:nvSpPr>
            <p:cNvPr id="12" name="object 12"/>
            <p:cNvSpPr/>
            <p:nvPr/>
          </p:nvSpPr>
          <p:spPr>
            <a:xfrm>
              <a:off x="899160" y="4700630"/>
              <a:ext cx="1008380" cy="431800"/>
            </a:xfrm>
            <a:custGeom>
              <a:avLst/>
              <a:gdLst/>
              <a:ahLst/>
              <a:cxnLst/>
              <a:rect l="l" t="t" r="r" b="b"/>
              <a:pathLst>
                <a:path w="1008380" h="431800">
                  <a:moveTo>
                    <a:pt x="72390" y="0"/>
                  </a:moveTo>
                  <a:lnTo>
                    <a:pt x="46077" y="6131"/>
                  </a:lnTo>
                  <a:lnTo>
                    <a:pt x="22859" y="22383"/>
                  </a:lnTo>
                  <a:lnTo>
                    <a:pt x="6310" y="45541"/>
                  </a:lnTo>
                  <a:lnTo>
                    <a:pt x="0" y="72390"/>
                  </a:lnTo>
                  <a:lnTo>
                    <a:pt x="0" y="359410"/>
                  </a:lnTo>
                  <a:lnTo>
                    <a:pt x="6310" y="386258"/>
                  </a:lnTo>
                  <a:lnTo>
                    <a:pt x="22860" y="409416"/>
                  </a:lnTo>
                  <a:lnTo>
                    <a:pt x="46077" y="425668"/>
                  </a:lnTo>
                  <a:lnTo>
                    <a:pt x="72390" y="431800"/>
                  </a:lnTo>
                  <a:lnTo>
                    <a:pt x="935990" y="431800"/>
                  </a:lnTo>
                  <a:lnTo>
                    <a:pt x="962302" y="425668"/>
                  </a:lnTo>
                  <a:lnTo>
                    <a:pt x="985520" y="409416"/>
                  </a:lnTo>
                  <a:lnTo>
                    <a:pt x="1002069" y="386258"/>
                  </a:lnTo>
                  <a:lnTo>
                    <a:pt x="1008379" y="359410"/>
                  </a:lnTo>
                  <a:lnTo>
                    <a:pt x="1008379" y="72390"/>
                  </a:lnTo>
                  <a:lnTo>
                    <a:pt x="1002069" y="45541"/>
                  </a:lnTo>
                  <a:lnTo>
                    <a:pt x="985520" y="22383"/>
                  </a:lnTo>
                  <a:lnTo>
                    <a:pt x="962302" y="613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13" name="object 13"/>
          <p:cNvSpPr txBox="1"/>
          <p:nvPr/>
        </p:nvSpPr>
        <p:spPr>
          <a:xfrm>
            <a:off x="2419974" y="5146994"/>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4" name="object 14"/>
          <p:cNvSpPr txBox="1"/>
          <p:nvPr/>
        </p:nvSpPr>
        <p:spPr>
          <a:xfrm>
            <a:off x="3411534" y="5235671"/>
            <a:ext cx="943191" cy="207067"/>
          </a:xfrm>
          <a:prstGeom prst="rect">
            <a:avLst/>
          </a:prstGeom>
        </p:spPr>
        <p:txBody>
          <a:bodyPr vert="horz" wrap="square" lIns="0" tIns="11516" rIns="0" bIns="0" rtlCol="0">
            <a:spAutoFit/>
          </a:bodyPr>
          <a:lstStyle/>
          <a:p>
            <a:pPr marL="11516">
              <a:spcBef>
                <a:spcPts val="91"/>
              </a:spcBef>
            </a:pPr>
            <a:r>
              <a:rPr sz="1270" dirty="0">
                <a:latin typeface="Arial MT"/>
                <a:cs typeface="Arial MT"/>
              </a:rPr>
              <a:t>(1,</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dirty="0">
                <a:latin typeface="Arial MT"/>
                <a:cs typeface="Arial MT"/>
              </a:rPr>
              <a:t>0,</a:t>
            </a:r>
            <a:r>
              <a:rPr sz="1270" spc="5" dirty="0">
                <a:latin typeface="Arial MT"/>
                <a:cs typeface="Arial MT"/>
              </a:rPr>
              <a:t> </a:t>
            </a:r>
            <a:r>
              <a:rPr sz="1270" spc="-23" dirty="0">
                <a:latin typeface="Arial MT"/>
                <a:cs typeface="Arial MT"/>
              </a:rPr>
              <a:t>0)</a:t>
            </a:r>
            <a:endParaRPr sz="1270">
              <a:latin typeface="Arial MT"/>
              <a:cs typeface="Arial MT"/>
            </a:endParaRPr>
          </a:p>
        </p:txBody>
      </p:sp>
      <p:sp>
        <p:nvSpPr>
          <p:cNvPr id="15" name="object 15"/>
          <p:cNvSpPr txBox="1"/>
          <p:nvPr/>
        </p:nvSpPr>
        <p:spPr>
          <a:xfrm>
            <a:off x="5042252" y="4473286"/>
            <a:ext cx="565454" cy="262787"/>
          </a:xfrm>
          <a:prstGeom prst="rect">
            <a:avLst/>
          </a:prstGeom>
        </p:spPr>
        <p:txBody>
          <a:bodyPr vert="horz" wrap="square" lIns="0" tIns="11516" rIns="0" bIns="0" rtlCol="0">
            <a:spAutoFit/>
          </a:bodyPr>
          <a:lstStyle/>
          <a:p>
            <a:pPr marL="11516">
              <a:spcBef>
                <a:spcPts val="91"/>
              </a:spcBef>
            </a:pPr>
            <a:r>
              <a:rPr sz="1632" b="1" i="1" spc="-36" dirty="0">
                <a:solidFill>
                  <a:srgbClr val="333333"/>
                </a:solidFill>
                <a:latin typeface="Times New Roman"/>
                <a:cs typeface="Times New Roman"/>
              </a:rPr>
              <a:t>Loss</a:t>
            </a:r>
            <a:r>
              <a:rPr sz="1632" b="1" i="1" spc="-50"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p:txBody>
      </p:sp>
      <p:sp>
        <p:nvSpPr>
          <p:cNvPr id="16" name="object 16"/>
          <p:cNvSpPr txBox="1"/>
          <p:nvPr/>
        </p:nvSpPr>
        <p:spPr>
          <a:xfrm>
            <a:off x="5479876" y="5038740"/>
            <a:ext cx="1482733" cy="622224"/>
          </a:xfrm>
          <a:prstGeom prst="rect">
            <a:avLst/>
          </a:prstGeom>
        </p:spPr>
        <p:txBody>
          <a:bodyPr vert="horz" wrap="square" lIns="0" tIns="67947" rIns="0" bIns="0" rtlCol="0">
            <a:spAutoFit/>
          </a:bodyPr>
          <a:lstStyle/>
          <a:p>
            <a:pPr marL="34549">
              <a:spcBef>
                <a:spcPts val="535"/>
              </a:spcBef>
            </a:pPr>
            <a:r>
              <a:rPr sz="1632" b="1" i="1" dirty="0">
                <a:solidFill>
                  <a:srgbClr val="333333"/>
                </a:solidFill>
                <a:latin typeface="Times New Roman"/>
                <a:cs typeface="Times New Roman"/>
              </a:rPr>
              <a:t>=</a:t>
            </a:r>
            <a:r>
              <a:rPr sz="1632" b="1" i="1" spc="-18"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14" dirty="0">
                <a:solidFill>
                  <a:srgbClr val="333333"/>
                </a:solidFill>
                <a:latin typeface="Times New Roman"/>
                <a:cs typeface="Times New Roman"/>
              </a:rPr>
              <a:t> </a:t>
            </a:r>
            <a:r>
              <a:rPr sz="1632" b="1" i="1" dirty="0">
                <a:solidFill>
                  <a:srgbClr val="333333"/>
                </a:solidFill>
                <a:latin typeface="Times New Roman"/>
                <a:cs typeface="Times New Roman"/>
              </a:rPr>
              <a:t>[</a:t>
            </a:r>
            <a:r>
              <a:rPr sz="1632" b="1" i="1" spc="-18" dirty="0">
                <a:solidFill>
                  <a:srgbClr val="333333"/>
                </a:solidFill>
                <a:latin typeface="Times New Roman"/>
                <a:cs typeface="Times New Roman"/>
              </a:rPr>
              <a:t> </a:t>
            </a:r>
            <a:r>
              <a:rPr sz="1632" b="1" i="1" dirty="0">
                <a:solidFill>
                  <a:srgbClr val="333333"/>
                </a:solidFill>
                <a:latin typeface="Times New Roman"/>
                <a:cs typeface="Times New Roman"/>
              </a:rPr>
              <a:t>1*log(0.8)</a:t>
            </a:r>
            <a:r>
              <a:rPr sz="1632" b="1" i="1" spc="-18" dirty="0">
                <a:solidFill>
                  <a:srgbClr val="333333"/>
                </a:solidFill>
                <a:latin typeface="Times New Roman"/>
                <a:cs typeface="Times New Roman"/>
              </a:rPr>
              <a:t> </a:t>
            </a:r>
            <a:r>
              <a:rPr sz="1632" b="1" i="1" spc="-45" dirty="0">
                <a:solidFill>
                  <a:srgbClr val="333333"/>
                </a:solidFill>
                <a:latin typeface="Times New Roman"/>
                <a:cs typeface="Times New Roman"/>
              </a:rPr>
              <a:t>]</a:t>
            </a:r>
            <a:endParaRPr sz="1632">
              <a:latin typeface="Times New Roman"/>
              <a:cs typeface="Times New Roman"/>
            </a:endParaRPr>
          </a:p>
          <a:p>
            <a:pPr marL="11516">
              <a:spcBef>
                <a:spcPts val="444"/>
              </a:spcBef>
            </a:pPr>
            <a:r>
              <a:rPr sz="1632" b="1" i="1" dirty="0">
                <a:solidFill>
                  <a:srgbClr val="333333"/>
                </a:solidFill>
                <a:latin typeface="Times New Roman"/>
                <a:cs typeface="Times New Roman"/>
              </a:rPr>
              <a:t>=</a:t>
            </a:r>
            <a:r>
              <a:rPr sz="1632" b="1" i="1" spc="9" dirty="0">
                <a:solidFill>
                  <a:srgbClr val="333333"/>
                </a:solidFill>
                <a:latin typeface="Times New Roman"/>
                <a:cs typeface="Times New Roman"/>
              </a:rPr>
              <a:t> </a:t>
            </a:r>
            <a:r>
              <a:rPr sz="1632" b="1" i="1" spc="-18" dirty="0">
                <a:solidFill>
                  <a:srgbClr val="333333"/>
                </a:solidFill>
                <a:latin typeface="Times New Roman"/>
                <a:cs typeface="Times New Roman"/>
              </a:rPr>
              <a:t>0.22</a:t>
            </a:r>
            <a:endParaRPr sz="1632">
              <a:latin typeface="Times New Roman"/>
              <a:cs typeface="Times New Roman"/>
            </a:endParaRPr>
          </a:p>
        </p:txBody>
      </p:sp>
      <p:grpSp>
        <p:nvGrpSpPr>
          <p:cNvPr id="17" name="object 17"/>
          <p:cNvGrpSpPr/>
          <p:nvPr/>
        </p:nvGrpSpPr>
        <p:grpSpPr>
          <a:xfrm>
            <a:off x="4751868" y="2668671"/>
            <a:ext cx="2440895" cy="1566227"/>
            <a:chOff x="3559619" y="1996800"/>
            <a:chExt cx="2691765" cy="1727200"/>
          </a:xfrm>
        </p:grpSpPr>
        <p:pic>
          <p:nvPicPr>
            <p:cNvPr id="18" name="object 18"/>
            <p:cNvPicPr/>
            <p:nvPr/>
          </p:nvPicPr>
          <p:blipFill>
            <a:blip r:embed="rId3" cstate="print"/>
            <a:stretch>
              <a:fillRect/>
            </a:stretch>
          </p:blipFill>
          <p:spPr>
            <a:xfrm>
              <a:off x="3841750" y="1996800"/>
              <a:ext cx="2127250" cy="1727200"/>
            </a:xfrm>
            <a:prstGeom prst="rect">
              <a:avLst/>
            </a:prstGeom>
          </p:spPr>
        </p:pic>
        <p:sp>
          <p:nvSpPr>
            <p:cNvPr id="19" name="object 19"/>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0" name="object 20"/>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1" name="object 21"/>
            <p:cNvSpPr/>
            <p:nvPr/>
          </p:nvSpPr>
          <p:spPr>
            <a:xfrm>
              <a:off x="6026150" y="2231750"/>
              <a:ext cx="207010" cy="1225550"/>
            </a:xfrm>
            <a:custGeom>
              <a:avLst/>
              <a:gdLst/>
              <a:ahLst/>
              <a:cxnLst/>
              <a:rect l="l" t="t" r="r" b="b"/>
              <a:pathLst>
                <a:path w="207010" h="1225550">
                  <a:moveTo>
                    <a:pt x="0" y="0"/>
                  </a:moveTo>
                  <a:lnTo>
                    <a:pt x="38238" y="8751"/>
                  </a:lnTo>
                  <a:lnTo>
                    <a:pt x="71596" y="31908"/>
                  </a:lnTo>
                  <a:lnTo>
                    <a:pt x="95190" y="64829"/>
                  </a:lnTo>
                  <a:lnTo>
                    <a:pt x="104139" y="102869"/>
                  </a:lnTo>
                  <a:lnTo>
                    <a:pt x="104139" y="510539"/>
                  </a:lnTo>
                  <a:lnTo>
                    <a:pt x="113069" y="547846"/>
                  </a:lnTo>
                  <a:lnTo>
                    <a:pt x="136525" y="580389"/>
                  </a:lnTo>
                  <a:lnTo>
                    <a:pt x="169505" y="603408"/>
                  </a:lnTo>
                  <a:lnTo>
                    <a:pt x="207010" y="612139"/>
                  </a:lnTo>
                  <a:lnTo>
                    <a:pt x="169505" y="621069"/>
                  </a:lnTo>
                  <a:lnTo>
                    <a:pt x="136525" y="644525"/>
                  </a:lnTo>
                  <a:lnTo>
                    <a:pt x="113069" y="677505"/>
                  </a:lnTo>
                  <a:lnTo>
                    <a:pt x="104139" y="715009"/>
                  </a:lnTo>
                  <a:lnTo>
                    <a:pt x="104139" y="1122679"/>
                  </a:lnTo>
                  <a:lnTo>
                    <a:pt x="95190" y="1160184"/>
                  </a:lnTo>
                  <a:lnTo>
                    <a:pt x="71596" y="1193164"/>
                  </a:lnTo>
                  <a:lnTo>
                    <a:pt x="38238" y="1216620"/>
                  </a:lnTo>
                  <a:lnTo>
                    <a:pt x="0" y="1225550"/>
                  </a:lnTo>
                </a:path>
              </a:pathLst>
            </a:custGeom>
            <a:ln w="35940">
              <a:solidFill>
                <a:srgbClr val="3364A3"/>
              </a:solidFill>
            </a:ln>
          </p:spPr>
          <p:txBody>
            <a:bodyPr wrap="square" lIns="0" tIns="0" rIns="0" bIns="0" rtlCol="0"/>
            <a:lstStyle/>
            <a:p>
              <a:endParaRPr/>
            </a:p>
          </p:txBody>
        </p:sp>
        <p:sp>
          <p:nvSpPr>
            <p:cNvPr id="22" name="object 22"/>
            <p:cNvSpPr/>
            <p:nvPr/>
          </p:nvSpPr>
          <p:spPr>
            <a:xfrm>
              <a:off x="6008179" y="2213779"/>
              <a:ext cx="243204" cy="1261745"/>
            </a:xfrm>
            <a:custGeom>
              <a:avLst/>
              <a:gdLst/>
              <a:ahLst/>
              <a:cxnLst/>
              <a:rect l="l" t="t" r="r" b="b"/>
              <a:pathLst>
                <a:path w="243204" h="1261745">
                  <a:moveTo>
                    <a:pt x="35941" y="1243520"/>
                  </a:moveTo>
                  <a:lnTo>
                    <a:pt x="30670" y="1230820"/>
                  </a:lnTo>
                  <a:lnTo>
                    <a:pt x="17970" y="1225562"/>
                  </a:lnTo>
                  <a:lnTo>
                    <a:pt x="5257" y="1230820"/>
                  </a:lnTo>
                  <a:lnTo>
                    <a:pt x="0" y="1243520"/>
                  </a:lnTo>
                  <a:lnTo>
                    <a:pt x="5257" y="1256233"/>
                  </a:lnTo>
                  <a:lnTo>
                    <a:pt x="17970" y="1261491"/>
                  </a:lnTo>
                  <a:lnTo>
                    <a:pt x="30670" y="1256233"/>
                  </a:lnTo>
                  <a:lnTo>
                    <a:pt x="35941" y="1243520"/>
                  </a:lnTo>
                  <a:close/>
                </a:path>
                <a:path w="243204" h="1261745">
                  <a:moveTo>
                    <a:pt x="242951" y="17970"/>
                  </a:moveTo>
                  <a:lnTo>
                    <a:pt x="237680" y="5270"/>
                  </a:lnTo>
                  <a:lnTo>
                    <a:pt x="224980" y="0"/>
                  </a:lnTo>
                  <a:lnTo>
                    <a:pt x="212267" y="5270"/>
                  </a:lnTo>
                  <a:lnTo>
                    <a:pt x="207010" y="17970"/>
                  </a:lnTo>
                  <a:lnTo>
                    <a:pt x="212267" y="30683"/>
                  </a:lnTo>
                  <a:lnTo>
                    <a:pt x="224980" y="35953"/>
                  </a:lnTo>
                  <a:lnTo>
                    <a:pt x="237680" y="30683"/>
                  </a:lnTo>
                  <a:lnTo>
                    <a:pt x="242951" y="17970"/>
                  </a:lnTo>
                  <a:close/>
                </a:path>
              </a:pathLst>
            </a:custGeom>
            <a:solidFill>
              <a:srgbClr val="3364A3"/>
            </a:solidFill>
          </p:spPr>
          <p:txBody>
            <a:bodyPr wrap="square" lIns="0" tIns="0" rIns="0" bIns="0" rtlCol="0"/>
            <a:lstStyle/>
            <a:p>
              <a:endParaRPr/>
            </a:p>
          </p:txBody>
        </p:sp>
      </p:grpSp>
      <p:sp>
        <p:nvSpPr>
          <p:cNvPr id="23" name="object 23"/>
          <p:cNvSpPr txBox="1"/>
          <p:nvPr/>
        </p:nvSpPr>
        <p:spPr>
          <a:xfrm>
            <a:off x="7311401" y="2884071"/>
            <a:ext cx="1092863" cy="429560"/>
          </a:xfrm>
          <a:prstGeom prst="rect">
            <a:avLst/>
          </a:prstGeom>
        </p:spPr>
        <p:txBody>
          <a:bodyPr vert="vert270" wrap="square" lIns="0" tIns="0" rIns="0" bIns="0" rtlCol="0">
            <a:spAutoFit/>
          </a:bodyPr>
          <a:lstStyle/>
          <a:p>
            <a:pPr marL="95586" indent="-84069">
              <a:lnSpc>
                <a:spcPts val="1292"/>
              </a:lnSpc>
              <a:buChar char="-"/>
              <a:tabLst>
                <a:tab pos="95586" algn="l"/>
              </a:tabLst>
            </a:pPr>
            <a:r>
              <a:rPr sz="1088" spc="-23" dirty="0">
                <a:latin typeface="Arial MT"/>
                <a:cs typeface="Arial MT"/>
              </a:rPr>
              <a:t>Cat</a:t>
            </a:r>
            <a:endParaRPr sz="1088">
              <a:latin typeface="Arial MT"/>
              <a:cs typeface="Arial MT"/>
            </a:endParaRPr>
          </a:p>
          <a:p>
            <a:pPr marL="96737" indent="-85221">
              <a:spcBef>
                <a:spcPts val="472"/>
              </a:spcBef>
              <a:buChar char="-"/>
              <a:tabLst>
                <a:tab pos="96737" algn="l"/>
              </a:tabLst>
            </a:pPr>
            <a:r>
              <a:rPr sz="1088" spc="-23" dirty="0">
                <a:latin typeface="Arial MT"/>
                <a:cs typeface="Arial MT"/>
              </a:rPr>
              <a:t>Dog</a:t>
            </a:r>
            <a:endParaRPr sz="1088">
              <a:latin typeface="Arial MT"/>
              <a:cs typeface="Arial MT"/>
            </a:endParaRPr>
          </a:p>
          <a:p>
            <a:pPr marL="95586" indent="-84069">
              <a:spcBef>
                <a:spcPts val="481"/>
              </a:spcBef>
              <a:buChar char="-"/>
              <a:tabLst>
                <a:tab pos="95586" algn="l"/>
              </a:tabLst>
            </a:pPr>
            <a:r>
              <a:rPr sz="1088" spc="-18" dirty="0">
                <a:latin typeface="Arial MT"/>
                <a:cs typeface="Arial MT"/>
              </a:rPr>
              <a:t>Bear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Hitler</a:t>
            </a:r>
            <a:endParaRPr sz="1088">
              <a:latin typeface="Arial MT"/>
              <a:cs typeface="Arial MT"/>
            </a:endParaRPr>
          </a:p>
          <a:p>
            <a:pPr marL="95586" indent="-84069">
              <a:spcBef>
                <a:spcPts val="481"/>
              </a:spcBef>
              <a:buChar char="-"/>
              <a:tabLst>
                <a:tab pos="95586" algn="l"/>
              </a:tabLst>
            </a:pPr>
            <a:r>
              <a:rPr sz="1088" spc="-9" dirty="0">
                <a:latin typeface="Arial MT"/>
                <a:cs typeface="Arial MT"/>
              </a:rPr>
              <a:t>Putin</a:t>
            </a:r>
            <a:endParaRPr sz="1088">
              <a:latin typeface="Arial MT"/>
              <a:cs typeface="Arial MT"/>
            </a:endParaRPr>
          </a:p>
        </p:txBody>
      </p:sp>
      <p:grpSp>
        <p:nvGrpSpPr>
          <p:cNvPr id="24" name="object 24"/>
          <p:cNvGrpSpPr/>
          <p:nvPr/>
        </p:nvGrpSpPr>
        <p:grpSpPr>
          <a:xfrm>
            <a:off x="5697533" y="2020298"/>
            <a:ext cx="1352022" cy="484839"/>
            <a:chOff x="4602479" y="1281789"/>
            <a:chExt cx="1490980" cy="534670"/>
          </a:xfrm>
        </p:grpSpPr>
        <p:sp>
          <p:nvSpPr>
            <p:cNvPr id="25" name="object 25"/>
            <p:cNvSpPr/>
            <p:nvPr/>
          </p:nvSpPr>
          <p:spPr>
            <a:xfrm>
              <a:off x="4602479" y="1281789"/>
              <a:ext cx="1490980" cy="534670"/>
            </a:xfrm>
            <a:custGeom>
              <a:avLst/>
              <a:gdLst/>
              <a:ahLst/>
              <a:cxnLst/>
              <a:rect l="l" t="t" r="r" b="b"/>
              <a:pathLst>
                <a:path w="1490979" h="534669">
                  <a:moveTo>
                    <a:pt x="1399540" y="0"/>
                  </a:moveTo>
                  <a:lnTo>
                    <a:pt x="40640" y="240029"/>
                  </a:lnTo>
                  <a:lnTo>
                    <a:pt x="635" y="278606"/>
                  </a:lnTo>
                  <a:lnTo>
                    <a:pt x="86" y="294639"/>
                  </a:lnTo>
                  <a:lnTo>
                    <a:pt x="0" y="297179"/>
                  </a:lnTo>
                  <a:lnTo>
                    <a:pt x="34290" y="494029"/>
                  </a:lnTo>
                  <a:lnTo>
                    <a:pt x="72866" y="533320"/>
                  </a:lnTo>
                  <a:lnTo>
                    <a:pt x="91440" y="534670"/>
                  </a:lnTo>
                  <a:lnTo>
                    <a:pt x="1450340" y="294639"/>
                  </a:lnTo>
                  <a:lnTo>
                    <a:pt x="1468120" y="287496"/>
                  </a:lnTo>
                  <a:lnTo>
                    <a:pt x="1482089" y="273685"/>
                  </a:lnTo>
                  <a:lnTo>
                    <a:pt x="1490344" y="256063"/>
                  </a:lnTo>
                  <a:lnTo>
                    <a:pt x="1490893" y="240029"/>
                  </a:lnTo>
                  <a:lnTo>
                    <a:pt x="1490980" y="237489"/>
                  </a:lnTo>
                  <a:lnTo>
                    <a:pt x="1456690" y="40639"/>
                  </a:lnTo>
                  <a:lnTo>
                    <a:pt x="1449546" y="23038"/>
                  </a:lnTo>
                  <a:lnTo>
                    <a:pt x="1435735" y="9366"/>
                  </a:lnTo>
                  <a:lnTo>
                    <a:pt x="1418113" y="1170"/>
                  </a:lnTo>
                  <a:lnTo>
                    <a:pt x="1399540" y="0"/>
                  </a:lnTo>
                  <a:close/>
                </a:path>
              </a:pathLst>
            </a:custGeom>
            <a:solidFill>
              <a:srgbClr val="ACD489"/>
            </a:solidFill>
          </p:spPr>
          <p:txBody>
            <a:bodyPr wrap="square" lIns="0" tIns="0" rIns="0" bIns="0" rtlCol="0"/>
            <a:lstStyle/>
            <a:p>
              <a:endParaRPr/>
            </a:p>
          </p:txBody>
        </p:sp>
        <p:sp>
          <p:nvSpPr>
            <p:cNvPr id="26" name="object 26"/>
            <p:cNvSpPr/>
            <p:nvPr/>
          </p:nvSpPr>
          <p:spPr>
            <a:xfrm>
              <a:off x="4602479" y="1281789"/>
              <a:ext cx="1490980" cy="534670"/>
            </a:xfrm>
            <a:custGeom>
              <a:avLst/>
              <a:gdLst/>
              <a:ahLst/>
              <a:cxnLst/>
              <a:rect l="l" t="t" r="r" b="b"/>
              <a:pathLst>
                <a:path w="1490979" h="534669">
                  <a:moveTo>
                    <a:pt x="40640" y="240029"/>
                  </a:moveTo>
                  <a:lnTo>
                    <a:pt x="22860" y="247173"/>
                  </a:lnTo>
                  <a:lnTo>
                    <a:pt x="8890" y="260984"/>
                  </a:lnTo>
                  <a:lnTo>
                    <a:pt x="635" y="278606"/>
                  </a:lnTo>
                  <a:lnTo>
                    <a:pt x="0" y="297179"/>
                  </a:lnTo>
                  <a:lnTo>
                    <a:pt x="34290" y="494029"/>
                  </a:lnTo>
                  <a:lnTo>
                    <a:pt x="41433" y="511095"/>
                  </a:lnTo>
                  <a:lnTo>
                    <a:pt x="55245" y="524827"/>
                  </a:lnTo>
                  <a:lnTo>
                    <a:pt x="72866" y="533320"/>
                  </a:lnTo>
                  <a:lnTo>
                    <a:pt x="91440" y="534670"/>
                  </a:lnTo>
                  <a:lnTo>
                    <a:pt x="1450340" y="294639"/>
                  </a:lnTo>
                  <a:lnTo>
                    <a:pt x="1468120" y="287496"/>
                  </a:lnTo>
                  <a:lnTo>
                    <a:pt x="1482089" y="273685"/>
                  </a:lnTo>
                  <a:lnTo>
                    <a:pt x="1490344" y="256063"/>
                  </a:lnTo>
                  <a:lnTo>
                    <a:pt x="1490980" y="237489"/>
                  </a:lnTo>
                  <a:lnTo>
                    <a:pt x="1456690" y="40639"/>
                  </a:lnTo>
                  <a:lnTo>
                    <a:pt x="1449546" y="23038"/>
                  </a:lnTo>
                  <a:lnTo>
                    <a:pt x="1435735" y="9366"/>
                  </a:lnTo>
                  <a:lnTo>
                    <a:pt x="1418113" y="1170"/>
                  </a:lnTo>
                  <a:lnTo>
                    <a:pt x="1399540" y="0"/>
                  </a:lnTo>
                  <a:lnTo>
                    <a:pt x="40640" y="240029"/>
                  </a:lnTo>
                  <a:close/>
                </a:path>
              </a:pathLst>
            </a:custGeom>
            <a:ln w="3175">
              <a:solidFill>
                <a:srgbClr val="3364A3"/>
              </a:solidFill>
            </a:ln>
          </p:spPr>
          <p:txBody>
            <a:bodyPr wrap="square" lIns="0" tIns="0" rIns="0" bIns="0" rtlCol="0"/>
            <a:lstStyle/>
            <a:p>
              <a:endParaRPr/>
            </a:p>
          </p:txBody>
        </p:sp>
      </p:grpSp>
      <p:sp>
        <p:nvSpPr>
          <p:cNvPr id="27" name="object 27"/>
          <p:cNvSpPr txBox="1"/>
          <p:nvPr/>
        </p:nvSpPr>
        <p:spPr>
          <a:xfrm rot="21060000">
            <a:off x="5777963" y="2202473"/>
            <a:ext cx="112903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.NLLL</a:t>
            </a:r>
            <a:r>
              <a:rPr sz="1632" spc="-14" baseline="6944" dirty="0">
                <a:latin typeface="Arial MT"/>
                <a:cs typeface="Arial MT"/>
              </a:rPr>
              <a:t>oss</a:t>
            </a:r>
            <a:endParaRPr sz="1632" baseline="6944">
              <a:latin typeface="Arial MT"/>
              <a:cs typeface="Arial MT"/>
            </a:endParaRPr>
          </a:p>
        </p:txBody>
      </p:sp>
      <p:grpSp>
        <p:nvGrpSpPr>
          <p:cNvPr id="28" name="object 28"/>
          <p:cNvGrpSpPr/>
          <p:nvPr/>
        </p:nvGrpSpPr>
        <p:grpSpPr>
          <a:xfrm>
            <a:off x="7167023" y="1996114"/>
            <a:ext cx="1859894" cy="574667"/>
            <a:chOff x="6223000" y="1255119"/>
            <a:chExt cx="2051050" cy="633730"/>
          </a:xfrm>
        </p:grpSpPr>
        <p:sp>
          <p:nvSpPr>
            <p:cNvPr id="29" name="object 29"/>
            <p:cNvSpPr/>
            <p:nvPr/>
          </p:nvSpPr>
          <p:spPr>
            <a:xfrm>
              <a:off x="6223000" y="1255119"/>
              <a:ext cx="2051050" cy="633730"/>
            </a:xfrm>
            <a:custGeom>
              <a:avLst/>
              <a:gdLst/>
              <a:ahLst/>
              <a:cxnLst/>
              <a:rect l="l" t="t" r="r" b="b"/>
              <a:pathLst>
                <a:path w="2051050" h="633730">
                  <a:moveTo>
                    <a:pt x="1958340" y="0"/>
                  </a:moveTo>
                  <a:lnTo>
                    <a:pt x="39370" y="337820"/>
                  </a:lnTo>
                  <a:lnTo>
                    <a:pt x="615" y="377110"/>
                  </a:lnTo>
                  <a:lnTo>
                    <a:pt x="0" y="396240"/>
                  </a:lnTo>
                  <a:lnTo>
                    <a:pt x="34289" y="593090"/>
                  </a:lnTo>
                  <a:lnTo>
                    <a:pt x="41433" y="610155"/>
                  </a:lnTo>
                  <a:lnTo>
                    <a:pt x="55244" y="623887"/>
                  </a:lnTo>
                  <a:lnTo>
                    <a:pt x="72866" y="632380"/>
                  </a:lnTo>
                  <a:lnTo>
                    <a:pt x="91439" y="633730"/>
                  </a:lnTo>
                  <a:lnTo>
                    <a:pt x="2010409" y="294640"/>
                  </a:lnTo>
                  <a:lnTo>
                    <a:pt x="2027654" y="287496"/>
                  </a:lnTo>
                  <a:lnTo>
                    <a:pt x="2041683" y="273685"/>
                  </a:lnTo>
                  <a:lnTo>
                    <a:pt x="2050236" y="256063"/>
                  </a:lnTo>
                  <a:lnTo>
                    <a:pt x="2051050" y="237490"/>
                  </a:lnTo>
                  <a:lnTo>
                    <a:pt x="2016759" y="40640"/>
                  </a:lnTo>
                  <a:lnTo>
                    <a:pt x="2009596" y="22860"/>
                  </a:lnTo>
                  <a:lnTo>
                    <a:pt x="1995646" y="8890"/>
                  </a:lnTo>
                  <a:lnTo>
                    <a:pt x="1977647" y="635"/>
                  </a:lnTo>
                  <a:lnTo>
                    <a:pt x="1958340" y="0"/>
                  </a:lnTo>
                  <a:close/>
                </a:path>
              </a:pathLst>
            </a:custGeom>
            <a:solidFill>
              <a:srgbClr val="ACD489"/>
            </a:solidFill>
          </p:spPr>
          <p:txBody>
            <a:bodyPr wrap="square" lIns="0" tIns="0" rIns="0" bIns="0" rtlCol="0"/>
            <a:lstStyle/>
            <a:p>
              <a:endParaRPr/>
            </a:p>
          </p:txBody>
        </p:sp>
        <p:sp>
          <p:nvSpPr>
            <p:cNvPr id="30" name="object 30"/>
            <p:cNvSpPr/>
            <p:nvPr/>
          </p:nvSpPr>
          <p:spPr>
            <a:xfrm>
              <a:off x="6223000" y="1255119"/>
              <a:ext cx="2051050" cy="633730"/>
            </a:xfrm>
            <a:custGeom>
              <a:avLst/>
              <a:gdLst/>
              <a:ahLst/>
              <a:cxnLst/>
              <a:rect l="l" t="t" r="r" b="b"/>
              <a:pathLst>
                <a:path w="2051050" h="633730">
                  <a:moveTo>
                    <a:pt x="39370" y="337820"/>
                  </a:moveTo>
                  <a:lnTo>
                    <a:pt x="22324" y="345519"/>
                  </a:lnTo>
                  <a:lnTo>
                    <a:pt x="8731" y="359410"/>
                  </a:lnTo>
                  <a:lnTo>
                    <a:pt x="615" y="377110"/>
                  </a:lnTo>
                  <a:lnTo>
                    <a:pt x="0" y="396240"/>
                  </a:lnTo>
                  <a:lnTo>
                    <a:pt x="34289" y="593090"/>
                  </a:lnTo>
                  <a:lnTo>
                    <a:pt x="41433" y="610155"/>
                  </a:lnTo>
                  <a:lnTo>
                    <a:pt x="55244" y="623887"/>
                  </a:lnTo>
                  <a:lnTo>
                    <a:pt x="72866" y="632380"/>
                  </a:lnTo>
                  <a:lnTo>
                    <a:pt x="91439" y="633730"/>
                  </a:lnTo>
                  <a:lnTo>
                    <a:pt x="2010409" y="294640"/>
                  </a:lnTo>
                  <a:lnTo>
                    <a:pt x="2027654" y="287496"/>
                  </a:lnTo>
                  <a:lnTo>
                    <a:pt x="2041683" y="273685"/>
                  </a:lnTo>
                  <a:lnTo>
                    <a:pt x="2050236" y="256063"/>
                  </a:lnTo>
                  <a:lnTo>
                    <a:pt x="2051050" y="237490"/>
                  </a:lnTo>
                  <a:lnTo>
                    <a:pt x="2016759" y="40640"/>
                  </a:lnTo>
                  <a:lnTo>
                    <a:pt x="2009596" y="22860"/>
                  </a:lnTo>
                  <a:lnTo>
                    <a:pt x="1995646" y="8890"/>
                  </a:lnTo>
                  <a:lnTo>
                    <a:pt x="1977647" y="635"/>
                  </a:lnTo>
                  <a:lnTo>
                    <a:pt x="1958340" y="0"/>
                  </a:lnTo>
                  <a:lnTo>
                    <a:pt x="39370" y="337820"/>
                  </a:lnTo>
                  <a:close/>
                </a:path>
              </a:pathLst>
            </a:custGeom>
            <a:ln w="3175">
              <a:solidFill>
                <a:srgbClr val="3364A3"/>
              </a:solidFill>
            </a:ln>
          </p:spPr>
          <p:txBody>
            <a:bodyPr wrap="square" lIns="0" tIns="0" rIns="0" bIns="0" rtlCol="0"/>
            <a:lstStyle/>
            <a:p>
              <a:endParaRPr/>
            </a:p>
          </p:txBody>
        </p:sp>
      </p:grpSp>
      <p:sp>
        <p:nvSpPr>
          <p:cNvPr id="31" name="object 31"/>
          <p:cNvSpPr txBox="1"/>
          <p:nvPr/>
        </p:nvSpPr>
        <p:spPr>
          <a:xfrm rot="21060000">
            <a:off x="7244909" y="2219963"/>
            <a:ext cx="1710016" cy="141064"/>
          </a:xfrm>
          <a:prstGeom prst="rect">
            <a:avLst/>
          </a:prstGeom>
        </p:spPr>
        <p:txBody>
          <a:bodyPr vert="horz" wrap="square" lIns="0" tIns="0" rIns="0" bIns="0" rtlCol="0">
            <a:spAutoFit/>
          </a:bodyPr>
          <a:lstStyle/>
          <a:p>
            <a:pPr>
              <a:lnSpc>
                <a:spcPts val="1075"/>
              </a:lnSpc>
            </a:pPr>
            <a:r>
              <a:rPr sz="1632" spc="-14" baseline="-4629" dirty="0">
                <a:latin typeface="Arial MT"/>
                <a:cs typeface="Arial MT"/>
              </a:rPr>
              <a:t>Torc</a:t>
            </a:r>
            <a:r>
              <a:rPr sz="1632" spc="-14" baseline="-2314" dirty="0">
                <a:latin typeface="Arial MT"/>
                <a:cs typeface="Arial MT"/>
              </a:rPr>
              <a:t>h.nn</a:t>
            </a:r>
            <a:r>
              <a:rPr sz="1088" spc="-9" dirty="0">
                <a:latin typeface="Arial MT"/>
                <a:cs typeface="Arial MT"/>
              </a:rPr>
              <a:t>.Cros</a:t>
            </a:r>
            <a:r>
              <a:rPr sz="1632" spc="-14" baseline="2314" dirty="0">
                <a:latin typeface="Arial MT"/>
                <a:cs typeface="Arial MT"/>
              </a:rPr>
              <a:t>sEntro</a:t>
            </a:r>
            <a:r>
              <a:rPr sz="1632" spc="-14" baseline="4629" dirty="0">
                <a:latin typeface="Arial MT"/>
                <a:cs typeface="Arial MT"/>
              </a:rPr>
              <a:t>pyLo</a:t>
            </a:r>
            <a:r>
              <a:rPr sz="1632" spc="-14" baseline="6944" dirty="0">
                <a:latin typeface="Arial MT"/>
                <a:cs typeface="Arial MT"/>
              </a:rPr>
              <a:t>ss</a:t>
            </a:r>
            <a:endParaRPr sz="1632" baseline="6944">
              <a:latin typeface="Arial MT"/>
              <a:cs typeface="Arial MT"/>
            </a:endParaRPr>
          </a:p>
        </p:txBody>
      </p:sp>
      <p:grpSp>
        <p:nvGrpSpPr>
          <p:cNvPr id="32" name="object 32"/>
          <p:cNvGrpSpPr/>
          <p:nvPr/>
        </p:nvGrpSpPr>
        <p:grpSpPr>
          <a:xfrm>
            <a:off x="6935458" y="1960327"/>
            <a:ext cx="2358553" cy="662191"/>
            <a:chOff x="5967634" y="1215654"/>
            <a:chExt cx="2600960" cy="730250"/>
          </a:xfrm>
        </p:grpSpPr>
        <p:sp>
          <p:nvSpPr>
            <p:cNvPr id="33" name="object 33"/>
            <p:cNvSpPr/>
            <p:nvPr/>
          </p:nvSpPr>
          <p:spPr>
            <a:xfrm>
              <a:off x="5976619" y="1224640"/>
              <a:ext cx="431800" cy="647700"/>
            </a:xfrm>
            <a:custGeom>
              <a:avLst/>
              <a:gdLst/>
              <a:ahLst/>
              <a:cxnLst/>
              <a:rect l="l" t="t" r="r" b="b"/>
              <a:pathLst>
                <a:path w="431800" h="647700">
                  <a:moveTo>
                    <a:pt x="0" y="647700"/>
                  </a:moveTo>
                  <a:lnTo>
                    <a:pt x="431800" y="0"/>
                  </a:lnTo>
                </a:path>
              </a:pathLst>
            </a:custGeom>
            <a:ln w="17970">
              <a:solidFill>
                <a:srgbClr val="000000"/>
              </a:solidFill>
            </a:ln>
          </p:spPr>
          <p:txBody>
            <a:bodyPr wrap="square" lIns="0" tIns="0" rIns="0" bIns="0" rtlCol="0"/>
            <a:lstStyle/>
            <a:p>
              <a:endParaRPr/>
            </a:p>
          </p:txBody>
        </p:sp>
        <p:sp>
          <p:nvSpPr>
            <p:cNvPr id="34" name="object 34"/>
            <p:cNvSpPr/>
            <p:nvPr/>
          </p:nvSpPr>
          <p:spPr>
            <a:xfrm>
              <a:off x="8258809" y="1709780"/>
              <a:ext cx="308610" cy="234950"/>
            </a:xfrm>
            <a:custGeom>
              <a:avLst/>
              <a:gdLst/>
              <a:ahLst/>
              <a:cxnLst/>
              <a:rect l="l" t="t" r="r" b="b"/>
              <a:pathLst>
                <a:path w="308609" h="234950">
                  <a:moveTo>
                    <a:pt x="308610" y="234950"/>
                  </a:moveTo>
                  <a:lnTo>
                    <a:pt x="0" y="0"/>
                  </a:lnTo>
                </a:path>
              </a:pathLst>
            </a:custGeom>
            <a:ln w="3175">
              <a:solidFill>
                <a:srgbClr val="000000"/>
              </a:solidFill>
            </a:ln>
          </p:spPr>
          <p:txBody>
            <a:bodyPr wrap="square" lIns="0" tIns="0" rIns="0" bIns="0" rtlCol="0"/>
            <a:lstStyle/>
            <a:p>
              <a:endParaRPr/>
            </a:p>
          </p:txBody>
        </p:sp>
        <p:sp>
          <p:nvSpPr>
            <p:cNvPr id="35" name="object 35"/>
            <p:cNvSpPr/>
            <p:nvPr/>
          </p:nvSpPr>
          <p:spPr>
            <a:xfrm>
              <a:off x="8135619" y="1615800"/>
              <a:ext cx="162560" cy="142240"/>
            </a:xfrm>
            <a:custGeom>
              <a:avLst/>
              <a:gdLst/>
              <a:ahLst/>
              <a:cxnLst/>
              <a:rect l="l" t="t" r="r" b="b"/>
              <a:pathLst>
                <a:path w="162559" h="142239">
                  <a:moveTo>
                    <a:pt x="0" y="0"/>
                  </a:moveTo>
                  <a:lnTo>
                    <a:pt x="96520" y="142239"/>
                  </a:lnTo>
                  <a:lnTo>
                    <a:pt x="162559" y="55879"/>
                  </a:lnTo>
                  <a:lnTo>
                    <a:pt x="0" y="0"/>
                  </a:lnTo>
                  <a:close/>
                </a:path>
              </a:pathLst>
            </a:custGeom>
            <a:solidFill>
              <a:srgbClr val="000000"/>
            </a:solidFill>
          </p:spPr>
          <p:txBody>
            <a:bodyPr wrap="square" lIns="0" tIns="0" rIns="0" bIns="0" rtlCol="0"/>
            <a:lstStyle/>
            <a:p>
              <a:endParaRPr/>
            </a:p>
          </p:txBody>
        </p:sp>
      </p:grpSp>
      <p:pic>
        <p:nvPicPr>
          <p:cNvPr id="36" name="object 36"/>
          <p:cNvPicPr/>
          <p:nvPr/>
        </p:nvPicPr>
        <p:blipFill>
          <a:blip r:embed="rId4" cstate="print"/>
          <a:stretch>
            <a:fillRect/>
          </a:stretch>
        </p:blipFill>
        <p:spPr>
          <a:xfrm>
            <a:off x="5642257" y="4318967"/>
            <a:ext cx="1529373" cy="664495"/>
          </a:xfrm>
          <a:prstGeom prst="rect">
            <a:avLst/>
          </a:prstGeom>
        </p:spPr>
      </p:pic>
      <p:grpSp>
        <p:nvGrpSpPr>
          <p:cNvPr id="37" name="object 37"/>
          <p:cNvGrpSpPr/>
          <p:nvPr/>
        </p:nvGrpSpPr>
        <p:grpSpPr>
          <a:xfrm>
            <a:off x="8444189" y="3499000"/>
            <a:ext cx="393284" cy="297698"/>
            <a:chOff x="7631430" y="2912469"/>
            <a:chExt cx="433705" cy="328295"/>
          </a:xfrm>
        </p:grpSpPr>
        <p:sp>
          <p:nvSpPr>
            <p:cNvPr id="38" name="object 38"/>
            <p:cNvSpPr/>
            <p:nvPr/>
          </p:nvSpPr>
          <p:spPr>
            <a:xfrm>
              <a:off x="7754620" y="3006449"/>
              <a:ext cx="309880" cy="233679"/>
            </a:xfrm>
            <a:custGeom>
              <a:avLst/>
              <a:gdLst/>
              <a:ahLst/>
              <a:cxnLst/>
              <a:rect l="l" t="t" r="r" b="b"/>
              <a:pathLst>
                <a:path w="309879" h="233680">
                  <a:moveTo>
                    <a:pt x="309879" y="233679"/>
                  </a:moveTo>
                  <a:lnTo>
                    <a:pt x="0" y="0"/>
                  </a:lnTo>
                </a:path>
              </a:pathLst>
            </a:custGeom>
            <a:ln w="3175">
              <a:solidFill>
                <a:srgbClr val="000000"/>
              </a:solidFill>
            </a:ln>
          </p:spPr>
          <p:txBody>
            <a:bodyPr wrap="square" lIns="0" tIns="0" rIns="0" bIns="0" rtlCol="0"/>
            <a:lstStyle/>
            <a:p>
              <a:endParaRPr/>
            </a:p>
          </p:txBody>
        </p:sp>
        <p:sp>
          <p:nvSpPr>
            <p:cNvPr id="39" name="object 39"/>
            <p:cNvSpPr/>
            <p:nvPr/>
          </p:nvSpPr>
          <p:spPr>
            <a:xfrm>
              <a:off x="7631430" y="2912469"/>
              <a:ext cx="162560" cy="140970"/>
            </a:xfrm>
            <a:custGeom>
              <a:avLst/>
              <a:gdLst/>
              <a:ahLst/>
              <a:cxnLst/>
              <a:rect l="l" t="t" r="r" b="b"/>
              <a:pathLst>
                <a:path w="162559" h="140969">
                  <a:moveTo>
                    <a:pt x="0" y="0"/>
                  </a:moveTo>
                  <a:lnTo>
                    <a:pt x="96520" y="140969"/>
                  </a:lnTo>
                  <a:lnTo>
                    <a:pt x="162560" y="54609"/>
                  </a:lnTo>
                  <a:lnTo>
                    <a:pt x="0" y="0"/>
                  </a:lnTo>
                  <a:close/>
                </a:path>
              </a:pathLst>
            </a:custGeom>
            <a:solidFill>
              <a:srgbClr val="000000"/>
            </a:solidFill>
          </p:spPr>
          <p:txBody>
            <a:bodyPr wrap="square" lIns="0" tIns="0" rIns="0" bIns="0" rtlCol="0"/>
            <a:lstStyle/>
            <a:p>
              <a:endParaRPr/>
            </a:p>
          </p:txBody>
        </p:sp>
      </p:grpSp>
      <p:sp>
        <p:nvSpPr>
          <p:cNvPr id="40" name="object 40"/>
          <p:cNvSpPr txBox="1"/>
          <p:nvPr/>
        </p:nvSpPr>
        <p:spPr>
          <a:xfrm>
            <a:off x="7253396" y="3315890"/>
            <a:ext cx="2177170" cy="889818"/>
          </a:xfrm>
          <a:prstGeom prst="rect">
            <a:avLst/>
          </a:prstGeom>
        </p:spPr>
        <p:txBody>
          <a:bodyPr vert="horz" wrap="square" lIns="0" tIns="11516" rIns="0" bIns="0" rtlCol="0">
            <a:spAutoFit/>
          </a:bodyPr>
          <a:lstStyle/>
          <a:p>
            <a:pPr marL="11516">
              <a:spcBef>
                <a:spcPts val="91"/>
              </a:spcBef>
            </a:pPr>
            <a:r>
              <a:rPr sz="1270" dirty="0">
                <a:latin typeface="Arial MT"/>
                <a:cs typeface="Arial MT"/>
              </a:rPr>
              <a:t>(.8,</a:t>
            </a:r>
            <a:r>
              <a:rPr sz="1270" spc="363" dirty="0">
                <a:latin typeface="Arial MT"/>
                <a:cs typeface="Arial MT"/>
              </a:rPr>
              <a:t> </a:t>
            </a:r>
            <a:r>
              <a:rPr sz="1270" dirty="0">
                <a:latin typeface="Arial MT"/>
                <a:cs typeface="Arial MT"/>
              </a:rPr>
              <a:t>0,</a:t>
            </a:r>
            <a:r>
              <a:rPr sz="1270" spc="363" dirty="0">
                <a:latin typeface="Arial MT"/>
                <a:cs typeface="Arial MT"/>
              </a:rPr>
              <a:t> </a:t>
            </a:r>
            <a:r>
              <a:rPr sz="1270" dirty="0">
                <a:latin typeface="Arial MT"/>
                <a:cs typeface="Arial MT"/>
              </a:rPr>
              <a:t>0,</a:t>
            </a:r>
            <a:r>
              <a:rPr sz="1270" spc="9" dirty="0">
                <a:latin typeface="Arial MT"/>
                <a:cs typeface="Arial MT"/>
              </a:rPr>
              <a:t> </a:t>
            </a:r>
            <a:r>
              <a:rPr sz="1270" dirty="0">
                <a:latin typeface="Arial MT"/>
                <a:cs typeface="Arial MT"/>
              </a:rPr>
              <a:t>.2,</a:t>
            </a:r>
            <a:r>
              <a:rPr sz="1270" spc="367" dirty="0">
                <a:latin typeface="Arial MT"/>
                <a:cs typeface="Arial MT"/>
              </a:rPr>
              <a:t> </a:t>
            </a:r>
            <a:r>
              <a:rPr sz="1270" spc="-23" dirty="0">
                <a:latin typeface="Arial MT"/>
                <a:cs typeface="Arial MT"/>
              </a:rPr>
              <a:t>0)</a:t>
            </a:r>
            <a:endParaRPr sz="1270">
              <a:latin typeface="Arial MT"/>
              <a:cs typeface="Arial MT"/>
            </a:endParaRPr>
          </a:p>
          <a:p>
            <a:pPr>
              <a:spcBef>
                <a:spcPts val="753"/>
              </a:spcBef>
            </a:pPr>
            <a:endParaRPr sz="1270">
              <a:latin typeface="Arial MT"/>
              <a:cs typeface="Arial MT"/>
            </a:endParaRPr>
          </a:p>
          <a:p>
            <a:pPr marL="1612290" marR="4607" algn="just">
              <a:lnSpc>
                <a:spcPts val="1016"/>
              </a:lnSpc>
              <a:spcBef>
                <a:spcPts val="5"/>
              </a:spcBef>
            </a:pPr>
            <a:r>
              <a:rPr sz="907" i="1" dirty="0">
                <a:latin typeface="Arial"/>
                <a:cs typeface="Arial"/>
              </a:rPr>
              <a:t>Must</a:t>
            </a:r>
            <a:r>
              <a:rPr sz="907" i="1" spc="-14" dirty="0">
                <a:latin typeface="Arial"/>
                <a:cs typeface="Arial"/>
              </a:rPr>
              <a:t> </a:t>
            </a:r>
            <a:r>
              <a:rPr sz="907" i="1" dirty="0">
                <a:latin typeface="Arial"/>
                <a:cs typeface="Arial"/>
              </a:rPr>
              <a:t>be</a:t>
            </a:r>
            <a:r>
              <a:rPr sz="907" i="1" spc="-9" dirty="0">
                <a:latin typeface="Arial"/>
                <a:cs typeface="Arial"/>
              </a:rPr>
              <a:t> </a:t>
            </a:r>
            <a:r>
              <a:rPr sz="907" i="1" spc="-45" dirty="0">
                <a:latin typeface="Arial"/>
                <a:cs typeface="Arial"/>
              </a:rPr>
              <a:t>a </a:t>
            </a:r>
            <a:r>
              <a:rPr sz="907" i="1" spc="-9" dirty="0">
                <a:latin typeface="Arial"/>
                <a:cs typeface="Arial"/>
              </a:rPr>
              <a:t>probability distribution</a:t>
            </a:r>
            <a:endParaRPr sz="907">
              <a:latin typeface="Arial"/>
              <a:cs typeface="Arial"/>
            </a:endParaRPr>
          </a:p>
        </p:txBody>
      </p:sp>
      <p:sp>
        <p:nvSpPr>
          <p:cNvPr id="41" name="object 41"/>
          <p:cNvSpPr txBox="1"/>
          <p:nvPr/>
        </p:nvSpPr>
        <p:spPr>
          <a:xfrm>
            <a:off x="9245728" y="2627213"/>
            <a:ext cx="934554" cy="280901"/>
          </a:xfrm>
          <a:prstGeom prst="rect">
            <a:avLst/>
          </a:prstGeom>
        </p:spPr>
        <p:txBody>
          <a:bodyPr vert="horz" wrap="square" lIns="0" tIns="24184" rIns="0" bIns="0" rtlCol="0">
            <a:spAutoFit/>
          </a:bodyPr>
          <a:lstStyle/>
          <a:p>
            <a:pPr marL="11516" marR="4607">
              <a:lnSpc>
                <a:spcPts val="1007"/>
              </a:lnSpc>
              <a:spcBef>
                <a:spcPts val="190"/>
              </a:spcBef>
            </a:pPr>
            <a:r>
              <a:rPr sz="907" i="1" dirty="0">
                <a:latin typeface="Arial"/>
                <a:cs typeface="Arial"/>
              </a:rPr>
              <a:t>This</a:t>
            </a:r>
            <a:r>
              <a:rPr sz="907" i="1" spc="-14" dirty="0">
                <a:latin typeface="Arial"/>
                <a:cs typeface="Arial"/>
              </a:rPr>
              <a:t> </a:t>
            </a:r>
            <a:r>
              <a:rPr sz="907" i="1" dirty="0">
                <a:latin typeface="Arial"/>
                <a:cs typeface="Arial"/>
              </a:rPr>
              <a:t>one</a:t>
            </a:r>
            <a:r>
              <a:rPr sz="907" i="1" spc="-14" dirty="0">
                <a:latin typeface="Arial"/>
                <a:cs typeface="Arial"/>
              </a:rPr>
              <a:t> </a:t>
            </a:r>
            <a:r>
              <a:rPr sz="907" i="1" dirty="0">
                <a:latin typeface="Arial"/>
                <a:cs typeface="Arial"/>
              </a:rPr>
              <a:t>does</a:t>
            </a:r>
            <a:r>
              <a:rPr sz="907" i="1" spc="-9" dirty="0">
                <a:latin typeface="Arial"/>
                <a:cs typeface="Arial"/>
              </a:rPr>
              <a:t> </a:t>
            </a:r>
            <a:r>
              <a:rPr sz="907" i="1" spc="-23" dirty="0">
                <a:latin typeface="Arial"/>
                <a:cs typeface="Arial"/>
              </a:rPr>
              <a:t>the </a:t>
            </a:r>
            <a:r>
              <a:rPr sz="907" i="1" dirty="0">
                <a:latin typeface="Arial"/>
                <a:cs typeface="Arial"/>
              </a:rPr>
              <a:t>softmax</a:t>
            </a:r>
            <a:r>
              <a:rPr sz="907" i="1" spc="-18" dirty="0">
                <a:latin typeface="Arial"/>
                <a:cs typeface="Arial"/>
              </a:rPr>
              <a:t> </a:t>
            </a:r>
            <a:r>
              <a:rPr sz="907" i="1" dirty="0">
                <a:latin typeface="Arial"/>
                <a:cs typeface="Arial"/>
              </a:rPr>
              <a:t>for</a:t>
            </a:r>
            <a:r>
              <a:rPr sz="907" i="1" spc="-18" dirty="0">
                <a:latin typeface="Arial"/>
                <a:cs typeface="Arial"/>
              </a:rPr>
              <a:t> </a:t>
            </a:r>
            <a:r>
              <a:rPr sz="907" i="1" spc="-23" dirty="0">
                <a:latin typeface="Arial"/>
                <a:cs typeface="Arial"/>
              </a:rPr>
              <a:t>you</a:t>
            </a:r>
            <a:endParaRPr sz="907">
              <a:latin typeface="Arial"/>
              <a:cs typeface="Arial"/>
            </a:endParaRPr>
          </a:p>
        </p:txBody>
      </p:sp>
      <p:pic>
        <p:nvPicPr>
          <p:cNvPr id="42" name="object 42"/>
          <p:cNvPicPr/>
          <p:nvPr/>
        </p:nvPicPr>
        <p:blipFill>
          <a:blip r:embed="rId5" cstate="print"/>
          <a:stretch>
            <a:fillRect/>
          </a:stretch>
        </p:blipFill>
        <p:spPr>
          <a:xfrm>
            <a:off x="9260698" y="2916272"/>
            <a:ext cx="932826" cy="342524"/>
          </a:xfrm>
          <a:prstGeom prst="rect">
            <a:avLst/>
          </a:prstGeom>
        </p:spPr>
      </p:pic>
      <p:grpSp>
        <p:nvGrpSpPr>
          <p:cNvPr id="43" name="object 43"/>
          <p:cNvGrpSpPr/>
          <p:nvPr/>
        </p:nvGrpSpPr>
        <p:grpSpPr>
          <a:xfrm>
            <a:off x="8739008" y="4776167"/>
            <a:ext cx="1370448" cy="783113"/>
            <a:chOff x="7956550" y="4320899"/>
            <a:chExt cx="1511300" cy="863600"/>
          </a:xfrm>
        </p:grpSpPr>
        <p:sp>
          <p:nvSpPr>
            <p:cNvPr id="44" name="object 44"/>
            <p:cNvSpPr/>
            <p:nvPr/>
          </p:nvSpPr>
          <p:spPr>
            <a:xfrm>
              <a:off x="7956550" y="4320899"/>
              <a:ext cx="1511300" cy="863600"/>
            </a:xfrm>
            <a:custGeom>
              <a:avLst/>
              <a:gdLst/>
              <a:ahLst/>
              <a:cxnLst/>
              <a:rect l="l" t="t" r="r" b="b"/>
              <a:pathLst>
                <a:path w="1511300" h="863600">
                  <a:moveTo>
                    <a:pt x="1367790" y="0"/>
                  </a:moveTo>
                  <a:lnTo>
                    <a:pt x="143509" y="0"/>
                  </a:lnTo>
                  <a:lnTo>
                    <a:pt x="100787" y="7975"/>
                  </a:lnTo>
                  <a:lnTo>
                    <a:pt x="61722" y="29667"/>
                  </a:lnTo>
                  <a:lnTo>
                    <a:pt x="29667" y="61721"/>
                  </a:lnTo>
                  <a:lnTo>
                    <a:pt x="7975" y="100787"/>
                  </a:lnTo>
                  <a:lnTo>
                    <a:pt x="0" y="143509"/>
                  </a:lnTo>
                  <a:lnTo>
                    <a:pt x="0" y="720089"/>
                  </a:lnTo>
                  <a:lnTo>
                    <a:pt x="7975" y="762325"/>
                  </a:lnTo>
                  <a:lnTo>
                    <a:pt x="29667" y="801329"/>
                  </a:lnTo>
                  <a:lnTo>
                    <a:pt x="61722" y="833567"/>
                  </a:lnTo>
                  <a:lnTo>
                    <a:pt x="100787" y="855502"/>
                  </a:lnTo>
                  <a:lnTo>
                    <a:pt x="143509" y="863599"/>
                  </a:lnTo>
                  <a:lnTo>
                    <a:pt x="1367790" y="863599"/>
                  </a:lnTo>
                  <a:lnTo>
                    <a:pt x="1410025" y="855502"/>
                  </a:lnTo>
                  <a:lnTo>
                    <a:pt x="1449029" y="833567"/>
                  </a:lnTo>
                  <a:lnTo>
                    <a:pt x="1481267" y="801329"/>
                  </a:lnTo>
                  <a:lnTo>
                    <a:pt x="1503202" y="762325"/>
                  </a:lnTo>
                  <a:lnTo>
                    <a:pt x="1511300" y="720089"/>
                  </a:lnTo>
                  <a:lnTo>
                    <a:pt x="1511300" y="143509"/>
                  </a:lnTo>
                  <a:lnTo>
                    <a:pt x="1503202" y="100787"/>
                  </a:lnTo>
                  <a:lnTo>
                    <a:pt x="1481267" y="61721"/>
                  </a:lnTo>
                  <a:lnTo>
                    <a:pt x="1449029" y="29667"/>
                  </a:lnTo>
                  <a:lnTo>
                    <a:pt x="1410025" y="7975"/>
                  </a:lnTo>
                  <a:lnTo>
                    <a:pt x="1367790" y="0"/>
                  </a:lnTo>
                  <a:close/>
                </a:path>
              </a:pathLst>
            </a:custGeom>
            <a:solidFill>
              <a:srgbClr val="FFE4C9"/>
            </a:solidFill>
          </p:spPr>
          <p:txBody>
            <a:bodyPr wrap="square" lIns="0" tIns="0" rIns="0" bIns="0" rtlCol="0"/>
            <a:lstStyle/>
            <a:p>
              <a:endParaRPr/>
            </a:p>
          </p:txBody>
        </p:sp>
        <p:sp>
          <p:nvSpPr>
            <p:cNvPr id="45" name="object 45"/>
            <p:cNvSpPr/>
            <p:nvPr/>
          </p:nvSpPr>
          <p:spPr>
            <a:xfrm>
              <a:off x="7956550" y="4320899"/>
              <a:ext cx="1511300" cy="863600"/>
            </a:xfrm>
            <a:custGeom>
              <a:avLst/>
              <a:gdLst/>
              <a:ahLst/>
              <a:cxnLst/>
              <a:rect l="l" t="t" r="r" b="b"/>
              <a:pathLst>
                <a:path w="1511300" h="863600">
                  <a:moveTo>
                    <a:pt x="143509" y="0"/>
                  </a:moveTo>
                  <a:lnTo>
                    <a:pt x="100787" y="7975"/>
                  </a:lnTo>
                  <a:lnTo>
                    <a:pt x="61722" y="29667"/>
                  </a:lnTo>
                  <a:lnTo>
                    <a:pt x="29667" y="61721"/>
                  </a:lnTo>
                  <a:lnTo>
                    <a:pt x="7975" y="100787"/>
                  </a:lnTo>
                  <a:lnTo>
                    <a:pt x="0" y="143509"/>
                  </a:lnTo>
                  <a:lnTo>
                    <a:pt x="0" y="720089"/>
                  </a:lnTo>
                  <a:lnTo>
                    <a:pt x="7975" y="762325"/>
                  </a:lnTo>
                  <a:lnTo>
                    <a:pt x="29667" y="801329"/>
                  </a:lnTo>
                  <a:lnTo>
                    <a:pt x="61722" y="833567"/>
                  </a:lnTo>
                  <a:lnTo>
                    <a:pt x="100787" y="855502"/>
                  </a:lnTo>
                  <a:lnTo>
                    <a:pt x="143509" y="863599"/>
                  </a:lnTo>
                  <a:lnTo>
                    <a:pt x="1367790" y="863599"/>
                  </a:lnTo>
                  <a:lnTo>
                    <a:pt x="1410025" y="855502"/>
                  </a:lnTo>
                  <a:lnTo>
                    <a:pt x="1449029" y="833567"/>
                  </a:lnTo>
                  <a:lnTo>
                    <a:pt x="1481267" y="801329"/>
                  </a:lnTo>
                  <a:lnTo>
                    <a:pt x="1503202" y="762325"/>
                  </a:lnTo>
                  <a:lnTo>
                    <a:pt x="1511300" y="720089"/>
                  </a:lnTo>
                  <a:lnTo>
                    <a:pt x="1511300" y="143509"/>
                  </a:lnTo>
                  <a:lnTo>
                    <a:pt x="1503202" y="100787"/>
                  </a:lnTo>
                  <a:lnTo>
                    <a:pt x="1481267" y="61721"/>
                  </a:lnTo>
                  <a:lnTo>
                    <a:pt x="1449029" y="29667"/>
                  </a:lnTo>
                  <a:lnTo>
                    <a:pt x="1410025" y="7975"/>
                  </a:lnTo>
                  <a:lnTo>
                    <a:pt x="1367790" y="0"/>
                  </a:lnTo>
                  <a:lnTo>
                    <a:pt x="143509" y="0"/>
                  </a:lnTo>
                  <a:close/>
                </a:path>
              </a:pathLst>
            </a:custGeom>
            <a:ln w="3175">
              <a:solidFill>
                <a:srgbClr val="3364A3"/>
              </a:solidFill>
            </a:ln>
          </p:spPr>
          <p:txBody>
            <a:bodyPr wrap="square" lIns="0" tIns="0" rIns="0" bIns="0" rtlCol="0"/>
            <a:lstStyle/>
            <a:p>
              <a:endParaRPr/>
            </a:p>
          </p:txBody>
        </p:sp>
      </p:grpSp>
      <p:sp>
        <p:nvSpPr>
          <p:cNvPr id="46" name="object 46"/>
          <p:cNvSpPr txBox="1"/>
          <p:nvPr/>
        </p:nvSpPr>
        <p:spPr>
          <a:xfrm>
            <a:off x="8826531" y="4892481"/>
            <a:ext cx="1194824" cy="540304"/>
          </a:xfrm>
          <a:prstGeom prst="rect">
            <a:avLst/>
          </a:prstGeom>
        </p:spPr>
        <p:txBody>
          <a:bodyPr vert="horz" wrap="square" lIns="0" tIns="20729" rIns="0" bIns="0" rtlCol="0">
            <a:spAutoFit/>
          </a:bodyPr>
          <a:lstStyle/>
          <a:p>
            <a:pPr marL="10941" marR="4607" indent="-576" algn="ctr">
              <a:lnSpc>
                <a:spcPct val="93100"/>
              </a:lnSpc>
              <a:spcBef>
                <a:spcPts val="163"/>
              </a:spcBef>
            </a:pPr>
            <a:r>
              <a:rPr sz="907" i="1" dirty="0">
                <a:latin typeface="Arial"/>
                <a:cs typeface="Arial"/>
              </a:rPr>
              <a:t>This</a:t>
            </a:r>
            <a:r>
              <a:rPr sz="907" i="1" spc="-18" dirty="0">
                <a:latin typeface="Arial"/>
                <a:cs typeface="Arial"/>
              </a:rPr>
              <a:t> </a:t>
            </a:r>
            <a:r>
              <a:rPr sz="907" i="1" dirty="0">
                <a:latin typeface="Arial"/>
                <a:cs typeface="Arial"/>
              </a:rPr>
              <a:t>loss</a:t>
            </a:r>
            <a:r>
              <a:rPr sz="907" i="1" spc="-18" dirty="0">
                <a:latin typeface="Arial"/>
                <a:cs typeface="Arial"/>
              </a:rPr>
              <a:t> </a:t>
            </a:r>
            <a:r>
              <a:rPr sz="907" i="1" dirty="0">
                <a:latin typeface="Arial"/>
                <a:cs typeface="Arial"/>
              </a:rPr>
              <a:t>function</a:t>
            </a:r>
            <a:r>
              <a:rPr sz="907" i="1" spc="-23" dirty="0">
                <a:latin typeface="Arial"/>
                <a:cs typeface="Arial"/>
              </a:rPr>
              <a:t> can </a:t>
            </a:r>
            <a:r>
              <a:rPr sz="907" i="1" dirty="0">
                <a:latin typeface="Arial"/>
                <a:cs typeface="Arial"/>
              </a:rPr>
              <a:t>also</a:t>
            </a:r>
            <a:r>
              <a:rPr sz="907" i="1" spc="-14" dirty="0">
                <a:latin typeface="Arial"/>
                <a:cs typeface="Arial"/>
              </a:rPr>
              <a:t> </a:t>
            </a:r>
            <a:r>
              <a:rPr sz="907" i="1" dirty="0">
                <a:latin typeface="Arial"/>
                <a:cs typeface="Arial"/>
              </a:rPr>
              <a:t>be</a:t>
            </a:r>
            <a:r>
              <a:rPr sz="907" i="1" spc="-14" dirty="0">
                <a:latin typeface="Arial"/>
                <a:cs typeface="Arial"/>
              </a:rPr>
              <a:t> </a:t>
            </a:r>
            <a:r>
              <a:rPr sz="907" i="1" dirty="0">
                <a:latin typeface="Arial"/>
                <a:cs typeface="Arial"/>
              </a:rPr>
              <a:t>used</a:t>
            </a:r>
            <a:r>
              <a:rPr sz="907" i="1" spc="-9" dirty="0">
                <a:latin typeface="Arial"/>
                <a:cs typeface="Arial"/>
              </a:rPr>
              <a:t> </a:t>
            </a:r>
            <a:r>
              <a:rPr sz="907" i="1" dirty="0">
                <a:latin typeface="Arial"/>
                <a:cs typeface="Arial"/>
              </a:rPr>
              <a:t>when</a:t>
            </a:r>
            <a:r>
              <a:rPr sz="907" i="1" spc="-14" dirty="0">
                <a:latin typeface="Arial"/>
                <a:cs typeface="Arial"/>
              </a:rPr>
              <a:t> </a:t>
            </a:r>
            <a:r>
              <a:rPr sz="907" i="1" spc="-23" dirty="0">
                <a:latin typeface="Arial"/>
                <a:cs typeface="Arial"/>
              </a:rPr>
              <a:t>you </a:t>
            </a:r>
            <a:r>
              <a:rPr sz="907" i="1" dirty="0">
                <a:latin typeface="Arial"/>
                <a:cs typeface="Arial"/>
              </a:rPr>
              <a:t>have</a:t>
            </a:r>
            <a:r>
              <a:rPr sz="907" i="1" spc="-18" dirty="0">
                <a:latin typeface="Arial"/>
                <a:cs typeface="Arial"/>
              </a:rPr>
              <a:t> </a:t>
            </a:r>
            <a:r>
              <a:rPr sz="907" i="1" dirty="0">
                <a:latin typeface="Arial"/>
                <a:cs typeface="Arial"/>
              </a:rPr>
              <a:t>a</a:t>
            </a:r>
            <a:r>
              <a:rPr sz="907" i="1" spc="-18" dirty="0">
                <a:latin typeface="Arial"/>
                <a:cs typeface="Arial"/>
              </a:rPr>
              <a:t> </a:t>
            </a:r>
            <a:r>
              <a:rPr sz="907" i="1" dirty="0">
                <a:latin typeface="Arial"/>
                <a:cs typeface="Arial"/>
              </a:rPr>
              <a:t>single</a:t>
            </a:r>
            <a:r>
              <a:rPr sz="907" i="1" spc="-14" dirty="0">
                <a:latin typeface="Arial"/>
                <a:cs typeface="Arial"/>
              </a:rPr>
              <a:t> </a:t>
            </a:r>
            <a:r>
              <a:rPr sz="907" i="1" spc="-9" dirty="0">
                <a:latin typeface="Arial"/>
                <a:cs typeface="Arial"/>
              </a:rPr>
              <a:t>binary </a:t>
            </a:r>
            <a:r>
              <a:rPr sz="907" i="1" dirty="0">
                <a:latin typeface="Arial"/>
                <a:cs typeface="Arial"/>
              </a:rPr>
              <a:t>(e.g.</a:t>
            </a:r>
            <a:r>
              <a:rPr sz="907" i="1" spc="-18" dirty="0">
                <a:latin typeface="Arial"/>
                <a:cs typeface="Arial"/>
              </a:rPr>
              <a:t> </a:t>
            </a:r>
            <a:r>
              <a:rPr sz="907" i="1" dirty="0">
                <a:latin typeface="Arial"/>
                <a:cs typeface="Arial"/>
              </a:rPr>
              <a:t>yes/no)</a:t>
            </a:r>
            <a:r>
              <a:rPr sz="907" i="1" spc="-23" dirty="0">
                <a:latin typeface="Arial"/>
                <a:cs typeface="Arial"/>
              </a:rPr>
              <a:t> </a:t>
            </a:r>
            <a:r>
              <a:rPr sz="907" i="1" spc="-9" dirty="0">
                <a:latin typeface="Arial"/>
                <a:cs typeface="Arial"/>
              </a:rPr>
              <a:t>output</a:t>
            </a:r>
            <a:endParaRPr sz="907">
              <a:latin typeface="Arial"/>
              <a:cs typeface="Arial"/>
            </a:endParaRPr>
          </a:p>
        </p:txBody>
      </p:sp>
    </p:spTree>
    <p:extLst>
      <p:ext uri="{BB962C8B-B14F-4D97-AF65-F5344CB8AC3E}">
        <p14:creationId xmlns:p14="http://schemas.microsoft.com/office/powerpoint/2010/main" val="25155545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224569">
              <a:spcBef>
                <a:spcPts val="91"/>
              </a:spcBef>
            </a:pPr>
            <a:r>
              <a:rPr dirty="0"/>
              <a:t>Regression</a:t>
            </a:r>
            <a:r>
              <a:rPr spc="-103" dirty="0"/>
              <a:t> </a:t>
            </a:r>
            <a:r>
              <a:rPr dirty="0"/>
              <a:t>loss</a:t>
            </a:r>
            <a:r>
              <a:rPr spc="-54" dirty="0"/>
              <a:t> </a:t>
            </a:r>
            <a:r>
              <a:rPr spc="-9" dirty="0"/>
              <a:t>functions</a:t>
            </a:r>
          </a:p>
        </p:txBody>
      </p:sp>
      <p:sp>
        <p:nvSpPr>
          <p:cNvPr id="3" name="object 3"/>
          <p:cNvSpPr txBox="1"/>
          <p:nvPr/>
        </p:nvSpPr>
        <p:spPr>
          <a:xfrm>
            <a:off x="1969685" y="1953504"/>
            <a:ext cx="2085615"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Loss</a:t>
            </a:r>
            <a:r>
              <a:rPr sz="2539" i="1" spc="-50" dirty="0">
                <a:latin typeface="Arial"/>
                <a:cs typeface="Arial"/>
              </a:rPr>
              <a:t> </a:t>
            </a:r>
            <a:r>
              <a:rPr sz="2539" i="1" spc="-9" dirty="0">
                <a:latin typeface="Arial"/>
                <a:cs typeface="Arial"/>
              </a:rPr>
              <a:t>functions</a:t>
            </a:r>
            <a:endParaRPr sz="2539">
              <a:latin typeface="Arial"/>
              <a:cs typeface="Arial"/>
            </a:endParaRPr>
          </a:p>
        </p:txBody>
      </p:sp>
      <p:sp>
        <p:nvSpPr>
          <p:cNvPr id="4" name="object 4"/>
          <p:cNvSpPr txBox="1"/>
          <p:nvPr/>
        </p:nvSpPr>
        <p:spPr>
          <a:xfrm>
            <a:off x="2129761" y="2560416"/>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5" name="object 5"/>
          <p:cNvSpPr txBox="1"/>
          <p:nvPr/>
        </p:nvSpPr>
        <p:spPr>
          <a:xfrm>
            <a:off x="2325540" y="2510897"/>
            <a:ext cx="2943009" cy="207067"/>
          </a:xfrm>
          <a:prstGeom prst="rect">
            <a:avLst/>
          </a:prstGeom>
        </p:spPr>
        <p:txBody>
          <a:bodyPr vert="horz" wrap="square" lIns="0" tIns="11516" rIns="0" bIns="0" rtlCol="0">
            <a:spAutoFit/>
          </a:bodyPr>
          <a:lstStyle/>
          <a:p>
            <a:pPr marL="11516">
              <a:spcBef>
                <a:spcPts val="91"/>
              </a:spcBef>
            </a:pPr>
            <a:r>
              <a:rPr sz="1270" b="1" i="1" dirty="0">
                <a:latin typeface="Arial"/>
                <a:cs typeface="Arial"/>
              </a:rPr>
              <a:t>Regression</a:t>
            </a:r>
            <a:r>
              <a:rPr sz="1270" b="1" i="1" spc="-5" dirty="0">
                <a:latin typeface="Arial"/>
                <a:cs typeface="Arial"/>
              </a:rPr>
              <a:t> </a:t>
            </a:r>
            <a:r>
              <a:rPr sz="1270" i="1" dirty="0">
                <a:latin typeface="Arial"/>
                <a:cs typeface="Arial"/>
              </a:rPr>
              <a:t>(i.e.</a:t>
            </a:r>
            <a:r>
              <a:rPr sz="1270" i="1" spc="-5" dirty="0">
                <a:latin typeface="Arial"/>
                <a:cs typeface="Arial"/>
              </a:rPr>
              <a:t> </a:t>
            </a:r>
            <a:r>
              <a:rPr sz="1270" i="1" dirty="0">
                <a:latin typeface="Arial"/>
                <a:cs typeface="Arial"/>
              </a:rPr>
              <a:t>function</a:t>
            </a:r>
            <a:r>
              <a:rPr sz="1270" i="1" spc="-18" dirty="0">
                <a:latin typeface="Arial"/>
                <a:cs typeface="Arial"/>
              </a:rPr>
              <a:t> </a:t>
            </a:r>
            <a:r>
              <a:rPr sz="1270" i="1" spc="-9" dirty="0">
                <a:latin typeface="Arial"/>
                <a:cs typeface="Arial"/>
              </a:rPr>
              <a:t>approximation)</a:t>
            </a:r>
            <a:endParaRPr sz="1270">
              <a:latin typeface="Arial"/>
              <a:cs typeface="Arial"/>
            </a:endParaRPr>
          </a:p>
        </p:txBody>
      </p:sp>
      <p:sp>
        <p:nvSpPr>
          <p:cNvPr id="6" name="object 6"/>
          <p:cNvSpPr txBox="1"/>
          <p:nvPr/>
        </p:nvSpPr>
        <p:spPr>
          <a:xfrm>
            <a:off x="2325539" y="274122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7" name="object 7"/>
          <p:cNvSpPr txBox="1"/>
          <p:nvPr/>
        </p:nvSpPr>
        <p:spPr>
          <a:xfrm>
            <a:off x="2521317" y="2692854"/>
            <a:ext cx="1498280" cy="566518"/>
          </a:xfrm>
          <a:prstGeom prst="rect">
            <a:avLst/>
          </a:prstGeom>
        </p:spPr>
        <p:txBody>
          <a:bodyPr vert="horz" wrap="square" lIns="0" tIns="27639" rIns="0" bIns="0" rtlCol="0">
            <a:spAutoFit/>
          </a:bodyPr>
          <a:lstStyle/>
          <a:p>
            <a:pPr marL="11516" marR="4607" algn="just">
              <a:lnSpc>
                <a:spcPts val="1424"/>
              </a:lnSpc>
              <a:spcBef>
                <a:spcPts val="218"/>
              </a:spcBef>
            </a:pPr>
            <a:r>
              <a:rPr sz="1270" i="1" dirty="0">
                <a:latin typeface="Arial"/>
                <a:cs typeface="Arial"/>
              </a:rPr>
              <a:t>Mean</a:t>
            </a:r>
            <a:r>
              <a:rPr sz="1270" i="1" spc="-23" dirty="0">
                <a:latin typeface="Arial"/>
                <a:cs typeface="Arial"/>
              </a:rPr>
              <a:t> </a:t>
            </a:r>
            <a:r>
              <a:rPr sz="1270" i="1" dirty="0">
                <a:latin typeface="Arial"/>
                <a:cs typeface="Arial"/>
              </a:rPr>
              <a:t>Squared</a:t>
            </a:r>
            <a:r>
              <a:rPr sz="1270" i="1" spc="-18" dirty="0">
                <a:latin typeface="Arial"/>
                <a:cs typeface="Arial"/>
              </a:rPr>
              <a:t> Error </a:t>
            </a:r>
            <a:r>
              <a:rPr sz="1270" i="1" dirty="0">
                <a:latin typeface="Arial"/>
                <a:cs typeface="Arial"/>
              </a:rPr>
              <a:t>Mean</a:t>
            </a:r>
            <a:r>
              <a:rPr sz="1270" i="1" spc="-63" dirty="0">
                <a:latin typeface="Arial"/>
                <a:cs typeface="Arial"/>
              </a:rPr>
              <a:t> </a:t>
            </a:r>
            <a:r>
              <a:rPr sz="1270" i="1" dirty="0">
                <a:latin typeface="Arial"/>
                <a:cs typeface="Arial"/>
              </a:rPr>
              <a:t>Absolute</a:t>
            </a:r>
            <a:r>
              <a:rPr sz="1270" i="1" spc="-14" dirty="0">
                <a:latin typeface="Arial"/>
                <a:cs typeface="Arial"/>
              </a:rPr>
              <a:t> </a:t>
            </a:r>
            <a:r>
              <a:rPr sz="1270" i="1" spc="-18" dirty="0">
                <a:latin typeface="Arial"/>
                <a:cs typeface="Arial"/>
              </a:rPr>
              <a:t>Error </a:t>
            </a:r>
            <a:r>
              <a:rPr sz="1270" i="1" dirty="0">
                <a:latin typeface="Arial"/>
                <a:cs typeface="Arial"/>
              </a:rPr>
              <a:t>Huber</a:t>
            </a:r>
            <a:r>
              <a:rPr sz="1270" i="1" spc="-18" dirty="0">
                <a:latin typeface="Arial"/>
                <a:cs typeface="Arial"/>
              </a:rPr>
              <a:t> Loss</a:t>
            </a:r>
            <a:endParaRPr sz="1270">
              <a:latin typeface="Arial"/>
              <a:cs typeface="Arial"/>
            </a:endParaRPr>
          </a:p>
        </p:txBody>
      </p:sp>
      <p:sp>
        <p:nvSpPr>
          <p:cNvPr id="8" name="object 8"/>
          <p:cNvSpPr txBox="1"/>
          <p:nvPr/>
        </p:nvSpPr>
        <p:spPr>
          <a:xfrm>
            <a:off x="2325539" y="2923182"/>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
        <p:nvSpPr>
          <p:cNvPr id="9" name="object 9"/>
          <p:cNvSpPr txBox="1"/>
          <p:nvPr/>
        </p:nvSpPr>
        <p:spPr>
          <a:xfrm>
            <a:off x="2325539" y="3103988"/>
            <a:ext cx="81190" cy="98858"/>
          </a:xfrm>
          <a:prstGeom prst="rect">
            <a:avLst/>
          </a:prstGeom>
        </p:spPr>
        <p:txBody>
          <a:bodyPr vert="horz" wrap="square" lIns="0" tIns="14971" rIns="0" bIns="0" rtlCol="0">
            <a:spAutoFit/>
          </a:bodyPr>
          <a:lstStyle/>
          <a:p>
            <a:pPr marL="11516">
              <a:spcBef>
                <a:spcPts val="118"/>
              </a:spcBef>
            </a:pPr>
            <a:r>
              <a:rPr sz="544" spc="-45" dirty="0">
                <a:latin typeface="Lucida Sans Unicode"/>
                <a:cs typeface="Lucida Sans Unicode"/>
              </a:rPr>
              <a:t>●</a:t>
            </a:r>
            <a:endParaRPr sz="544">
              <a:latin typeface="Lucida Sans Unicode"/>
              <a:cs typeface="Lucida Sans Unicode"/>
            </a:endParaRPr>
          </a:p>
        </p:txBody>
      </p:sp>
    </p:spTree>
    <p:extLst>
      <p:ext uri="{BB962C8B-B14F-4D97-AF65-F5344CB8AC3E}">
        <p14:creationId xmlns:p14="http://schemas.microsoft.com/office/powerpoint/2010/main" val="15820129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34481" y="4816187"/>
            <a:ext cx="2758747" cy="701923"/>
            <a:chOff x="4202112" y="4365032"/>
            <a:chExt cx="3042285" cy="774065"/>
          </a:xfrm>
        </p:grpSpPr>
        <p:sp>
          <p:nvSpPr>
            <p:cNvPr id="3" name="object 3"/>
            <p:cNvSpPr/>
            <p:nvPr/>
          </p:nvSpPr>
          <p:spPr>
            <a:xfrm>
              <a:off x="4229100" y="4392019"/>
              <a:ext cx="2988310" cy="720090"/>
            </a:xfrm>
            <a:custGeom>
              <a:avLst/>
              <a:gdLst/>
              <a:ahLst/>
              <a:cxnLst/>
              <a:rect l="l" t="t" r="r" b="b"/>
              <a:pathLst>
                <a:path w="2988309" h="720089">
                  <a:moveTo>
                    <a:pt x="120650" y="0"/>
                  </a:moveTo>
                  <a:lnTo>
                    <a:pt x="76080" y="10279"/>
                  </a:lnTo>
                  <a:lnTo>
                    <a:pt x="37465" y="37465"/>
                  </a:lnTo>
                  <a:lnTo>
                    <a:pt x="10279" y="76080"/>
                  </a:lnTo>
                  <a:lnTo>
                    <a:pt x="0" y="120650"/>
                  </a:lnTo>
                  <a:lnTo>
                    <a:pt x="0" y="600710"/>
                  </a:lnTo>
                  <a:lnTo>
                    <a:pt x="10279" y="644544"/>
                  </a:lnTo>
                  <a:lnTo>
                    <a:pt x="37464" y="682783"/>
                  </a:lnTo>
                  <a:lnTo>
                    <a:pt x="76080" y="709830"/>
                  </a:lnTo>
                  <a:lnTo>
                    <a:pt x="120650" y="720090"/>
                  </a:lnTo>
                  <a:lnTo>
                    <a:pt x="2868929" y="720090"/>
                  </a:lnTo>
                  <a:lnTo>
                    <a:pt x="2912764" y="709830"/>
                  </a:lnTo>
                  <a:lnTo>
                    <a:pt x="2951003" y="682783"/>
                  </a:lnTo>
                  <a:lnTo>
                    <a:pt x="2978050" y="644544"/>
                  </a:lnTo>
                  <a:lnTo>
                    <a:pt x="2988309" y="600710"/>
                  </a:lnTo>
                  <a:lnTo>
                    <a:pt x="2988309" y="120650"/>
                  </a:lnTo>
                  <a:lnTo>
                    <a:pt x="2978050" y="76080"/>
                  </a:lnTo>
                  <a:lnTo>
                    <a:pt x="2951003" y="37465"/>
                  </a:lnTo>
                  <a:lnTo>
                    <a:pt x="2912764" y="10279"/>
                  </a:lnTo>
                  <a:lnTo>
                    <a:pt x="2868929" y="0"/>
                  </a:lnTo>
                  <a:lnTo>
                    <a:pt x="120650" y="0"/>
                  </a:lnTo>
                  <a:close/>
                </a:path>
              </a:pathLst>
            </a:custGeom>
            <a:ln w="53911">
              <a:solidFill>
                <a:srgbClr val="FBD2C0"/>
              </a:solidFill>
            </a:ln>
          </p:spPr>
          <p:txBody>
            <a:bodyPr wrap="square" lIns="0" tIns="0" rIns="0" bIns="0" rtlCol="0"/>
            <a:lstStyle/>
            <a:p>
              <a:endParaRPr/>
            </a:p>
          </p:txBody>
        </p:sp>
        <p:sp>
          <p:nvSpPr>
            <p:cNvPr id="4" name="object 4"/>
            <p:cNvSpPr/>
            <p:nvPr/>
          </p:nvSpPr>
          <p:spPr>
            <a:xfrm>
              <a:off x="4202138" y="4365070"/>
              <a:ext cx="3042285" cy="774065"/>
            </a:xfrm>
            <a:custGeom>
              <a:avLst/>
              <a:gdLst/>
              <a:ahLst/>
              <a:cxnLst/>
              <a:rect l="l" t="t" r="r" b="b"/>
              <a:pathLst>
                <a:path w="3042284" h="774064">
                  <a:moveTo>
                    <a:pt x="53911" y="26949"/>
                  </a:moveTo>
                  <a:lnTo>
                    <a:pt x="46012" y="7899"/>
                  </a:lnTo>
                  <a:lnTo>
                    <a:pt x="26962" y="0"/>
                  </a:lnTo>
                  <a:lnTo>
                    <a:pt x="7899" y="7899"/>
                  </a:lnTo>
                  <a:lnTo>
                    <a:pt x="0" y="26949"/>
                  </a:lnTo>
                  <a:lnTo>
                    <a:pt x="7899" y="46012"/>
                  </a:lnTo>
                  <a:lnTo>
                    <a:pt x="26962" y="53911"/>
                  </a:lnTo>
                  <a:lnTo>
                    <a:pt x="46012" y="46012"/>
                  </a:lnTo>
                  <a:lnTo>
                    <a:pt x="53911" y="26949"/>
                  </a:lnTo>
                  <a:close/>
                </a:path>
                <a:path w="3042284" h="774064">
                  <a:moveTo>
                    <a:pt x="3042221" y="747039"/>
                  </a:moveTo>
                  <a:lnTo>
                    <a:pt x="3034322" y="727989"/>
                  </a:lnTo>
                  <a:lnTo>
                    <a:pt x="3015272" y="720090"/>
                  </a:lnTo>
                  <a:lnTo>
                    <a:pt x="2996209" y="727989"/>
                  </a:lnTo>
                  <a:lnTo>
                    <a:pt x="2988310" y="747039"/>
                  </a:lnTo>
                  <a:lnTo>
                    <a:pt x="2996209" y="766102"/>
                  </a:lnTo>
                  <a:lnTo>
                    <a:pt x="3015272" y="774001"/>
                  </a:lnTo>
                  <a:lnTo>
                    <a:pt x="3034322" y="766102"/>
                  </a:lnTo>
                  <a:lnTo>
                    <a:pt x="3042221" y="747039"/>
                  </a:lnTo>
                  <a:close/>
                </a:path>
              </a:pathLst>
            </a:custGeom>
            <a:solidFill>
              <a:srgbClr val="FBD2C0"/>
            </a:solidFill>
          </p:spPr>
          <p:txBody>
            <a:bodyPr wrap="square" lIns="0" tIns="0" rIns="0" bIns="0" rtlCol="0"/>
            <a:lstStyle/>
            <a:p>
              <a:endParaRPr/>
            </a:p>
          </p:txBody>
        </p:sp>
      </p:grpSp>
      <p:sp>
        <p:nvSpPr>
          <p:cNvPr id="5" name="object 5"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224569">
              <a:spcBef>
                <a:spcPts val="91"/>
              </a:spcBef>
            </a:pPr>
            <a:r>
              <a:rPr dirty="0"/>
              <a:t>Regression</a:t>
            </a:r>
            <a:r>
              <a:rPr spc="-103" dirty="0"/>
              <a:t> </a:t>
            </a:r>
            <a:r>
              <a:rPr dirty="0"/>
              <a:t>loss</a:t>
            </a:r>
            <a:r>
              <a:rPr spc="-54" dirty="0"/>
              <a:t> </a:t>
            </a:r>
            <a:r>
              <a:rPr spc="-9" dirty="0"/>
              <a:t>functions</a:t>
            </a:r>
          </a:p>
        </p:txBody>
      </p:sp>
      <p:grpSp>
        <p:nvGrpSpPr>
          <p:cNvPr id="6" name="object 6"/>
          <p:cNvGrpSpPr/>
          <p:nvPr/>
        </p:nvGrpSpPr>
        <p:grpSpPr>
          <a:xfrm>
            <a:off x="2340512" y="2704370"/>
            <a:ext cx="816511" cy="392708"/>
            <a:chOff x="900430" y="2036169"/>
            <a:chExt cx="900430" cy="433070"/>
          </a:xfrm>
        </p:grpSpPr>
        <p:sp>
          <p:nvSpPr>
            <p:cNvPr id="7" name="object 7"/>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8" name="object 8"/>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9" name="object 9"/>
          <p:cNvSpPr txBox="1"/>
          <p:nvPr/>
        </p:nvSpPr>
        <p:spPr>
          <a:xfrm>
            <a:off x="1969685" y="1953505"/>
            <a:ext cx="2855485" cy="1097951"/>
          </a:xfrm>
          <a:prstGeom prst="rect">
            <a:avLst/>
          </a:prstGeom>
        </p:spPr>
        <p:txBody>
          <a:bodyPr vert="horz" wrap="square" lIns="0" tIns="11516" rIns="0" bIns="0" rtlCol="0">
            <a:spAutoFit/>
          </a:bodyPr>
          <a:lstStyle/>
          <a:p>
            <a:pPr marL="11516">
              <a:spcBef>
                <a:spcPts val="91"/>
              </a:spcBef>
            </a:pPr>
            <a:r>
              <a:rPr sz="2539" i="1" dirty="0">
                <a:latin typeface="Arial"/>
                <a:cs typeface="Arial"/>
              </a:rPr>
              <a:t>Mean</a:t>
            </a:r>
            <a:r>
              <a:rPr sz="2539" i="1" spc="-86" dirty="0">
                <a:latin typeface="Arial"/>
                <a:cs typeface="Arial"/>
              </a:rPr>
              <a:t> </a:t>
            </a:r>
            <a:r>
              <a:rPr sz="2539" i="1" dirty="0">
                <a:latin typeface="Arial"/>
                <a:cs typeface="Arial"/>
              </a:rPr>
              <a:t>squared</a:t>
            </a:r>
            <a:r>
              <a:rPr sz="2539" i="1" spc="-86" dirty="0">
                <a:latin typeface="Arial"/>
                <a:cs typeface="Arial"/>
              </a:rPr>
              <a:t> </a:t>
            </a:r>
            <a:r>
              <a:rPr sz="2539" i="1" spc="-18" dirty="0">
                <a:latin typeface="Arial"/>
                <a:cs typeface="Arial"/>
              </a:rPr>
              <a:t>error</a:t>
            </a:r>
            <a:endParaRPr sz="2539">
              <a:latin typeface="Arial"/>
              <a:cs typeface="Arial"/>
            </a:endParaRPr>
          </a:p>
          <a:p>
            <a:pPr>
              <a:spcBef>
                <a:spcPts val="163"/>
              </a:spcBef>
            </a:pPr>
            <a:endParaRPr sz="2539">
              <a:latin typeface="Arial"/>
              <a:cs typeface="Arial"/>
            </a:endParaRPr>
          </a:p>
          <a:p>
            <a:pPr marL="483687"/>
            <a:r>
              <a:rPr sz="1814" b="1" spc="-9" dirty="0">
                <a:latin typeface="Arial"/>
                <a:cs typeface="Arial"/>
              </a:rPr>
              <a:t>Input</a:t>
            </a:r>
            <a:endParaRPr sz="1814">
              <a:latin typeface="Arial"/>
              <a:cs typeface="Arial"/>
            </a:endParaRPr>
          </a:p>
        </p:txBody>
      </p:sp>
      <p:grpSp>
        <p:nvGrpSpPr>
          <p:cNvPr id="10" name="object 10"/>
          <p:cNvGrpSpPr/>
          <p:nvPr/>
        </p:nvGrpSpPr>
        <p:grpSpPr>
          <a:xfrm>
            <a:off x="4559716" y="2752568"/>
            <a:ext cx="3232646" cy="1240889"/>
            <a:chOff x="3347720" y="2089319"/>
            <a:chExt cx="3564890" cy="1368425"/>
          </a:xfrm>
        </p:grpSpPr>
        <p:sp>
          <p:nvSpPr>
            <p:cNvPr id="11" name="object 11"/>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2" name="object 12"/>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13" name="object 13"/>
            <p:cNvSpPr/>
            <p:nvPr/>
          </p:nvSpPr>
          <p:spPr>
            <a:xfrm>
              <a:off x="6026150" y="2592430"/>
              <a:ext cx="207010" cy="288290"/>
            </a:xfrm>
            <a:custGeom>
              <a:avLst/>
              <a:gdLst/>
              <a:ahLst/>
              <a:cxnLst/>
              <a:rect l="l" t="t" r="r" b="b"/>
              <a:pathLst>
                <a:path w="207010" h="288289">
                  <a:moveTo>
                    <a:pt x="0" y="0"/>
                  </a:moveTo>
                  <a:lnTo>
                    <a:pt x="38238" y="1984"/>
                  </a:lnTo>
                  <a:lnTo>
                    <a:pt x="71596" y="7302"/>
                  </a:lnTo>
                  <a:lnTo>
                    <a:pt x="95190" y="15001"/>
                  </a:lnTo>
                  <a:lnTo>
                    <a:pt x="104139" y="24130"/>
                  </a:lnTo>
                  <a:lnTo>
                    <a:pt x="104139" y="119380"/>
                  </a:lnTo>
                  <a:lnTo>
                    <a:pt x="113069" y="128508"/>
                  </a:lnTo>
                  <a:lnTo>
                    <a:pt x="136525" y="136207"/>
                  </a:lnTo>
                  <a:lnTo>
                    <a:pt x="169505" y="141525"/>
                  </a:lnTo>
                  <a:lnTo>
                    <a:pt x="207010" y="143510"/>
                  </a:lnTo>
                  <a:lnTo>
                    <a:pt x="169505" y="145672"/>
                  </a:lnTo>
                  <a:lnTo>
                    <a:pt x="136525" y="151288"/>
                  </a:lnTo>
                  <a:lnTo>
                    <a:pt x="113069" y="159047"/>
                  </a:lnTo>
                  <a:lnTo>
                    <a:pt x="104139" y="167640"/>
                  </a:lnTo>
                  <a:lnTo>
                    <a:pt x="104139" y="264160"/>
                  </a:lnTo>
                  <a:lnTo>
                    <a:pt x="95190" y="272752"/>
                  </a:lnTo>
                  <a:lnTo>
                    <a:pt x="71596" y="280511"/>
                  </a:lnTo>
                  <a:lnTo>
                    <a:pt x="38238" y="286127"/>
                  </a:lnTo>
                  <a:lnTo>
                    <a:pt x="0" y="288290"/>
                  </a:lnTo>
                </a:path>
              </a:pathLst>
            </a:custGeom>
            <a:ln w="35941">
              <a:solidFill>
                <a:srgbClr val="3364A3"/>
              </a:solidFill>
            </a:ln>
          </p:spPr>
          <p:txBody>
            <a:bodyPr wrap="square" lIns="0" tIns="0" rIns="0" bIns="0" rtlCol="0"/>
            <a:lstStyle/>
            <a:p>
              <a:endParaRPr/>
            </a:p>
          </p:txBody>
        </p:sp>
        <p:sp>
          <p:nvSpPr>
            <p:cNvPr id="14" name="object 14"/>
            <p:cNvSpPr/>
            <p:nvPr/>
          </p:nvSpPr>
          <p:spPr>
            <a:xfrm>
              <a:off x="6008179" y="2574459"/>
              <a:ext cx="243204" cy="324485"/>
            </a:xfrm>
            <a:custGeom>
              <a:avLst/>
              <a:gdLst/>
              <a:ahLst/>
              <a:cxnLst/>
              <a:rect l="l" t="t" r="r" b="b"/>
              <a:pathLst>
                <a:path w="243204" h="324485">
                  <a:moveTo>
                    <a:pt x="35941" y="306260"/>
                  </a:moveTo>
                  <a:lnTo>
                    <a:pt x="30670" y="293560"/>
                  </a:lnTo>
                  <a:lnTo>
                    <a:pt x="17970" y="288290"/>
                  </a:lnTo>
                  <a:lnTo>
                    <a:pt x="5257" y="293560"/>
                  </a:lnTo>
                  <a:lnTo>
                    <a:pt x="0" y="306260"/>
                  </a:lnTo>
                  <a:lnTo>
                    <a:pt x="5257" y="318973"/>
                  </a:lnTo>
                  <a:lnTo>
                    <a:pt x="17970" y="324231"/>
                  </a:lnTo>
                  <a:lnTo>
                    <a:pt x="30670" y="318973"/>
                  </a:lnTo>
                  <a:lnTo>
                    <a:pt x="35941" y="306260"/>
                  </a:lnTo>
                  <a:close/>
                </a:path>
                <a:path w="243204" h="32448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pic>
          <p:nvPicPr>
            <p:cNvPr id="15" name="object 15"/>
            <p:cNvPicPr/>
            <p:nvPr/>
          </p:nvPicPr>
          <p:blipFill>
            <a:blip r:embed="rId2" cstate="print"/>
            <a:stretch>
              <a:fillRect/>
            </a:stretch>
          </p:blipFill>
          <p:spPr>
            <a:xfrm>
              <a:off x="3784600" y="2127610"/>
              <a:ext cx="2263140" cy="1329689"/>
            </a:xfrm>
            <a:prstGeom prst="rect">
              <a:avLst/>
            </a:prstGeom>
          </p:spPr>
        </p:pic>
        <p:pic>
          <p:nvPicPr>
            <p:cNvPr id="16" name="object 16"/>
            <p:cNvPicPr/>
            <p:nvPr/>
          </p:nvPicPr>
          <p:blipFill>
            <a:blip r:embed="rId3" cstate="print"/>
            <a:stretch>
              <a:fillRect/>
            </a:stretch>
          </p:blipFill>
          <p:spPr>
            <a:xfrm>
              <a:off x="3347720" y="2629260"/>
              <a:ext cx="175260" cy="251460"/>
            </a:xfrm>
            <a:prstGeom prst="rect">
              <a:avLst/>
            </a:prstGeom>
          </p:spPr>
        </p:pic>
        <p:pic>
          <p:nvPicPr>
            <p:cNvPr id="17" name="object 17"/>
            <p:cNvPicPr/>
            <p:nvPr/>
          </p:nvPicPr>
          <p:blipFill>
            <a:blip r:embed="rId4" cstate="print"/>
            <a:stretch>
              <a:fillRect/>
            </a:stretch>
          </p:blipFill>
          <p:spPr>
            <a:xfrm>
              <a:off x="6239510" y="2417170"/>
              <a:ext cx="673099" cy="570230"/>
            </a:xfrm>
            <a:prstGeom prst="rect">
              <a:avLst/>
            </a:prstGeom>
          </p:spPr>
        </p:pic>
      </p:grpSp>
      <p:grpSp>
        <p:nvGrpSpPr>
          <p:cNvPr id="18" name="object 18"/>
          <p:cNvGrpSpPr/>
          <p:nvPr/>
        </p:nvGrpSpPr>
        <p:grpSpPr>
          <a:xfrm>
            <a:off x="4840715" y="2016842"/>
            <a:ext cx="1384268" cy="489446"/>
            <a:chOff x="3657600" y="1277979"/>
            <a:chExt cx="1526540" cy="539750"/>
          </a:xfrm>
        </p:grpSpPr>
        <p:sp>
          <p:nvSpPr>
            <p:cNvPr id="19" name="object 19"/>
            <p:cNvSpPr/>
            <p:nvPr/>
          </p:nvSpPr>
          <p:spPr>
            <a:xfrm>
              <a:off x="3666489" y="1277979"/>
              <a:ext cx="1508760" cy="539750"/>
            </a:xfrm>
            <a:custGeom>
              <a:avLst/>
              <a:gdLst/>
              <a:ahLst/>
              <a:cxnLst/>
              <a:rect l="l" t="t" r="r" b="b"/>
              <a:pathLst>
                <a:path w="1508760" h="539750">
                  <a:moveTo>
                    <a:pt x="1414780" y="0"/>
                  </a:moveTo>
                  <a:lnTo>
                    <a:pt x="40639" y="242570"/>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close/>
                </a:path>
              </a:pathLst>
            </a:custGeom>
            <a:solidFill>
              <a:srgbClr val="ACD489"/>
            </a:solidFill>
          </p:spPr>
          <p:txBody>
            <a:bodyPr wrap="square" lIns="0" tIns="0" rIns="0" bIns="0" rtlCol="0"/>
            <a:lstStyle/>
            <a:p>
              <a:endParaRPr/>
            </a:p>
          </p:txBody>
        </p:sp>
        <p:sp>
          <p:nvSpPr>
            <p:cNvPr id="20" name="object 20"/>
            <p:cNvSpPr/>
            <p:nvPr/>
          </p:nvSpPr>
          <p:spPr>
            <a:xfrm>
              <a:off x="3666489" y="1277979"/>
              <a:ext cx="1508760" cy="539750"/>
            </a:xfrm>
            <a:custGeom>
              <a:avLst/>
              <a:gdLst/>
              <a:ahLst/>
              <a:cxnLst/>
              <a:rect l="l" t="t" r="r" b="b"/>
              <a:pathLst>
                <a:path w="1508760" h="539750">
                  <a:moveTo>
                    <a:pt x="40639" y="242570"/>
                  </a:moveTo>
                  <a:lnTo>
                    <a:pt x="23574" y="249733"/>
                  </a:lnTo>
                  <a:lnTo>
                    <a:pt x="9842" y="263683"/>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lnTo>
                    <a:pt x="40639" y="242570"/>
                  </a:lnTo>
                  <a:close/>
                </a:path>
              </a:pathLst>
            </a:custGeom>
            <a:ln w="3175">
              <a:solidFill>
                <a:srgbClr val="3364A3"/>
              </a:solidFill>
            </a:ln>
          </p:spPr>
          <p:txBody>
            <a:bodyPr wrap="square" lIns="0" tIns="0" rIns="0" bIns="0" rtlCol="0"/>
            <a:lstStyle/>
            <a:p>
              <a:endParaRPr/>
            </a:p>
          </p:txBody>
        </p:sp>
      </p:grpSp>
      <p:sp>
        <p:nvSpPr>
          <p:cNvPr id="21" name="object 21"/>
          <p:cNvSpPr txBox="1"/>
          <p:nvPr/>
        </p:nvSpPr>
        <p:spPr>
          <a:xfrm rot="21060000">
            <a:off x="4929056" y="2197522"/>
            <a:ext cx="1174765"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.MSE</a:t>
            </a:r>
            <a:r>
              <a:rPr sz="1632" spc="-14" baseline="6944" dirty="0">
                <a:latin typeface="Arial MT"/>
                <a:cs typeface="Arial MT"/>
              </a:rPr>
              <a:t>Loss</a:t>
            </a:r>
            <a:endParaRPr sz="1632" baseline="6944">
              <a:latin typeface="Arial MT"/>
              <a:cs typeface="Arial MT"/>
            </a:endParaRPr>
          </a:p>
        </p:txBody>
      </p:sp>
      <p:sp>
        <p:nvSpPr>
          <p:cNvPr id="22" name="object 22"/>
          <p:cNvSpPr txBox="1"/>
          <p:nvPr/>
        </p:nvSpPr>
        <p:spPr>
          <a:xfrm>
            <a:off x="5494845" y="4955821"/>
            <a:ext cx="578698" cy="402376"/>
          </a:xfrm>
          <a:prstGeom prst="rect">
            <a:avLst/>
          </a:prstGeom>
        </p:spPr>
        <p:txBody>
          <a:bodyPr vert="horz" wrap="square" lIns="0" tIns="11516" rIns="0" bIns="0" rtlCol="0">
            <a:spAutoFit/>
          </a:bodyPr>
          <a:lstStyle/>
          <a:p>
            <a:pPr marL="11516">
              <a:spcBef>
                <a:spcPts val="91"/>
              </a:spcBef>
            </a:pPr>
            <a:r>
              <a:rPr sz="2539" i="1" spc="-68" dirty="0">
                <a:solidFill>
                  <a:srgbClr val="333333"/>
                </a:solidFill>
                <a:latin typeface="Times New Roman"/>
                <a:cs typeface="Times New Roman"/>
              </a:rPr>
              <a:t>Loss</a:t>
            </a:r>
            <a:endParaRPr sz="2539">
              <a:latin typeface="Times New Roman"/>
              <a:cs typeface="Times New Roman"/>
            </a:endParaRPr>
          </a:p>
        </p:txBody>
      </p:sp>
      <p:pic>
        <p:nvPicPr>
          <p:cNvPr id="23" name="object 23"/>
          <p:cNvPicPr/>
          <p:nvPr/>
        </p:nvPicPr>
        <p:blipFill>
          <a:blip r:embed="rId5" cstate="print"/>
          <a:stretch>
            <a:fillRect/>
          </a:stretch>
        </p:blipFill>
        <p:spPr>
          <a:xfrm>
            <a:off x="6092546" y="4910908"/>
            <a:ext cx="1919779" cy="517085"/>
          </a:xfrm>
          <a:prstGeom prst="rect">
            <a:avLst/>
          </a:prstGeom>
        </p:spPr>
      </p:pic>
      <p:grpSp>
        <p:nvGrpSpPr>
          <p:cNvPr id="24" name="object 24"/>
          <p:cNvGrpSpPr/>
          <p:nvPr/>
        </p:nvGrpSpPr>
        <p:grpSpPr>
          <a:xfrm>
            <a:off x="2339359" y="4403036"/>
            <a:ext cx="914400" cy="391557"/>
            <a:chOff x="899160" y="3909419"/>
            <a:chExt cx="1008380" cy="431800"/>
          </a:xfrm>
        </p:grpSpPr>
        <p:sp>
          <p:nvSpPr>
            <p:cNvPr id="25" name="object 25"/>
            <p:cNvSpPr/>
            <p:nvPr/>
          </p:nvSpPr>
          <p:spPr>
            <a:xfrm>
              <a:off x="899160" y="3909419"/>
              <a:ext cx="1008380" cy="431800"/>
            </a:xfrm>
            <a:custGeom>
              <a:avLst/>
              <a:gdLst/>
              <a:ahLst/>
              <a:cxnLst/>
              <a:rect l="l" t="t" r="r" b="b"/>
              <a:pathLst>
                <a:path w="1008380" h="431800">
                  <a:moveTo>
                    <a:pt x="935990" y="0"/>
                  </a:moveTo>
                  <a:lnTo>
                    <a:pt x="72390" y="0"/>
                  </a:ln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19" y="408940"/>
                  </a:lnTo>
                  <a:lnTo>
                    <a:pt x="1002069" y="385722"/>
                  </a:lnTo>
                  <a:lnTo>
                    <a:pt x="1008379" y="359410"/>
                  </a:lnTo>
                  <a:lnTo>
                    <a:pt x="1008379" y="71120"/>
                  </a:lnTo>
                  <a:lnTo>
                    <a:pt x="1002069" y="45005"/>
                  </a:lnTo>
                  <a:lnTo>
                    <a:pt x="985520" y="22225"/>
                  </a:lnTo>
                  <a:lnTo>
                    <a:pt x="962302" y="6111"/>
                  </a:lnTo>
                  <a:lnTo>
                    <a:pt x="935990" y="0"/>
                  </a:lnTo>
                  <a:close/>
                </a:path>
              </a:pathLst>
            </a:custGeom>
            <a:solidFill>
              <a:srgbClr val="719ECE"/>
            </a:solidFill>
          </p:spPr>
          <p:txBody>
            <a:bodyPr wrap="square" lIns="0" tIns="0" rIns="0" bIns="0" rtlCol="0"/>
            <a:lstStyle/>
            <a:p>
              <a:endParaRPr/>
            </a:p>
          </p:txBody>
        </p:sp>
        <p:sp>
          <p:nvSpPr>
            <p:cNvPr id="26" name="object 26"/>
            <p:cNvSpPr/>
            <p:nvPr/>
          </p:nvSpPr>
          <p:spPr>
            <a:xfrm>
              <a:off x="899160" y="3909419"/>
              <a:ext cx="1008380" cy="431800"/>
            </a:xfrm>
            <a:custGeom>
              <a:avLst/>
              <a:gdLst/>
              <a:ahLst/>
              <a:cxnLst/>
              <a:rect l="l" t="t" r="r" b="b"/>
              <a:pathLst>
                <a:path w="1008380" h="431800">
                  <a:moveTo>
                    <a:pt x="72390" y="0"/>
                  </a:move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20" y="408940"/>
                  </a:lnTo>
                  <a:lnTo>
                    <a:pt x="1002069" y="385722"/>
                  </a:lnTo>
                  <a:lnTo>
                    <a:pt x="1008379" y="359410"/>
                  </a:lnTo>
                  <a:lnTo>
                    <a:pt x="1008379" y="71120"/>
                  </a:lnTo>
                  <a:lnTo>
                    <a:pt x="1002069" y="45005"/>
                  </a:lnTo>
                  <a:lnTo>
                    <a:pt x="985520" y="22225"/>
                  </a:lnTo>
                  <a:lnTo>
                    <a:pt x="962302" y="611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27" name="object 27"/>
          <p:cNvSpPr txBox="1"/>
          <p:nvPr/>
        </p:nvSpPr>
        <p:spPr>
          <a:xfrm>
            <a:off x="2419974" y="4429525"/>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pic>
        <p:nvPicPr>
          <p:cNvPr id="28" name="object 28"/>
          <p:cNvPicPr/>
          <p:nvPr/>
        </p:nvPicPr>
        <p:blipFill>
          <a:blip r:embed="rId3" cstate="print"/>
          <a:stretch>
            <a:fillRect/>
          </a:stretch>
        </p:blipFill>
        <p:spPr>
          <a:xfrm>
            <a:off x="3221512" y="2817230"/>
            <a:ext cx="158926" cy="228024"/>
          </a:xfrm>
          <a:prstGeom prst="rect">
            <a:avLst/>
          </a:prstGeom>
        </p:spPr>
      </p:pic>
      <p:pic>
        <p:nvPicPr>
          <p:cNvPr id="29" name="object 29"/>
          <p:cNvPicPr/>
          <p:nvPr/>
        </p:nvPicPr>
        <p:blipFill>
          <a:blip r:embed="rId6" cstate="print"/>
          <a:stretch>
            <a:fillRect/>
          </a:stretch>
        </p:blipFill>
        <p:spPr>
          <a:xfrm>
            <a:off x="3321707" y="4386912"/>
            <a:ext cx="192323" cy="431864"/>
          </a:xfrm>
          <a:prstGeom prst="rect">
            <a:avLst/>
          </a:prstGeom>
        </p:spPr>
      </p:pic>
      <p:sp>
        <p:nvSpPr>
          <p:cNvPr id="30" name="object 30"/>
          <p:cNvSpPr txBox="1"/>
          <p:nvPr/>
        </p:nvSpPr>
        <p:spPr>
          <a:xfrm>
            <a:off x="2197708" y="1455995"/>
            <a:ext cx="603458" cy="151218"/>
          </a:xfrm>
          <a:prstGeom prst="rect">
            <a:avLst/>
          </a:prstGeom>
        </p:spPr>
        <p:txBody>
          <a:bodyPr vert="horz" wrap="square" lIns="0" tIns="11516" rIns="0" bIns="0" rtlCol="0">
            <a:spAutoFit/>
          </a:bodyPr>
          <a:lstStyle/>
          <a:p>
            <a:pPr marL="11516">
              <a:spcBef>
                <a:spcPts val="91"/>
              </a:spcBef>
            </a:pPr>
            <a:r>
              <a:rPr sz="907" i="1" dirty="0">
                <a:latin typeface="Arial"/>
                <a:cs typeface="Arial"/>
              </a:rPr>
              <a:t>aka</a:t>
            </a:r>
            <a:r>
              <a:rPr sz="907" i="1" spc="-5" dirty="0">
                <a:latin typeface="Arial"/>
                <a:cs typeface="Arial"/>
              </a:rPr>
              <a:t> </a:t>
            </a:r>
            <a:r>
              <a:rPr sz="907" i="1" dirty="0">
                <a:latin typeface="Arial"/>
                <a:cs typeface="Arial"/>
              </a:rPr>
              <a:t>L2</a:t>
            </a:r>
            <a:r>
              <a:rPr sz="907" i="1" spc="-5" dirty="0">
                <a:latin typeface="Arial"/>
                <a:cs typeface="Arial"/>
              </a:rPr>
              <a:t> </a:t>
            </a:r>
            <a:r>
              <a:rPr sz="907" i="1" spc="-18" dirty="0">
                <a:latin typeface="Arial"/>
                <a:cs typeface="Arial"/>
              </a:rPr>
              <a:t>loss</a:t>
            </a:r>
            <a:endParaRPr sz="907">
              <a:latin typeface="Arial"/>
              <a:cs typeface="Arial"/>
            </a:endParaRPr>
          </a:p>
        </p:txBody>
      </p:sp>
      <p:grpSp>
        <p:nvGrpSpPr>
          <p:cNvPr id="31" name="object 31"/>
          <p:cNvGrpSpPr/>
          <p:nvPr/>
        </p:nvGrpSpPr>
        <p:grpSpPr>
          <a:xfrm>
            <a:off x="2633602" y="1640834"/>
            <a:ext cx="196354" cy="355280"/>
            <a:chOff x="1223644" y="863325"/>
            <a:chExt cx="216535" cy="391795"/>
          </a:xfrm>
        </p:grpSpPr>
        <p:sp>
          <p:nvSpPr>
            <p:cNvPr id="32" name="object 32"/>
            <p:cNvSpPr/>
            <p:nvPr/>
          </p:nvSpPr>
          <p:spPr>
            <a:xfrm>
              <a:off x="1224279" y="863960"/>
              <a:ext cx="140970" cy="255270"/>
            </a:xfrm>
            <a:custGeom>
              <a:avLst/>
              <a:gdLst/>
              <a:ahLst/>
              <a:cxnLst/>
              <a:rect l="l" t="t" r="r" b="b"/>
              <a:pathLst>
                <a:path w="140969" h="255269">
                  <a:moveTo>
                    <a:pt x="0" y="0"/>
                  </a:moveTo>
                  <a:lnTo>
                    <a:pt x="140969" y="255269"/>
                  </a:lnTo>
                </a:path>
              </a:pathLst>
            </a:custGeom>
            <a:ln w="3175">
              <a:solidFill>
                <a:srgbClr val="000000"/>
              </a:solidFill>
            </a:ln>
          </p:spPr>
          <p:txBody>
            <a:bodyPr wrap="square" lIns="0" tIns="0" rIns="0" bIns="0" rtlCol="0"/>
            <a:lstStyle/>
            <a:p>
              <a:endParaRPr/>
            </a:p>
          </p:txBody>
        </p:sp>
        <p:sp>
          <p:nvSpPr>
            <p:cNvPr id="33" name="object 33"/>
            <p:cNvSpPr/>
            <p:nvPr/>
          </p:nvSpPr>
          <p:spPr>
            <a:xfrm>
              <a:off x="1314449" y="1087480"/>
              <a:ext cx="125730" cy="167640"/>
            </a:xfrm>
            <a:custGeom>
              <a:avLst/>
              <a:gdLst/>
              <a:ahLst/>
              <a:cxnLst/>
              <a:rect l="l" t="t" r="r" b="b"/>
              <a:pathLst>
                <a:path w="125730" h="167640">
                  <a:moveTo>
                    <a:pt x="93980" y="0"/>
                  </a:moveTo>
                  <a:lnTo>
                    <a:pt x="0" y="52070"/>
                  </a:lnTo>
                  <a:lnTo>
                    <a:pt x="125730" y="167639"/>
                  </a:lnTo>
                  <a:lnTo>
                    <a:pt x="9398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6813852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93295" y="2653699"/>
            <a:ext cx="2036095" cy="1330141"/>
            <a:chOff x="848360" y="1980289"/>
            <a:chExt cx="2245360" cy="1466850"/>
          </a:xfrm>
        </p:grpSpPr>
        <p:pic>
          <p:nvPicPr>
            <p:cNvPr id="3" name="object 3"/>
            <p:cNvPicPr/>
            <p:nvPr/>
          </p:nvPicPr>
          <p:blipFill>
            <a:blip r:embed="rId2" cstate="print"/>
            <a:stretch>
              <a:fillRect/>
            </a:stretch>
          </p:blipFill>
          <p:spPr>
            <a:xfrm>
              <a:off x="848360" y="1980289"/>
              <a:ext cx="2245360" cy="1466850"/>
            </a:xfrm>
            <a:prstGeom prst="rect">
              <a:avLst/>
            </a:prstGeom>
          </p:spPr>
        </p:pic>
        <p:sp>
          <p:nvSpPr>
            <p:cNvPr id="4" name="object 4"/>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5" name="object 5"/>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6" name="object 6"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224569">
              <a:spcBef>
                <a:spcPts val="91"/>
              </a:spcBef>
            </a:pPr>
            <a:r>
              <a:rPr dirty="0"/>
              <a:t>Regression</a:t>
            </a:r>
            <a:r>
              <a:rPr spc="-103" dirty="0"/>
              <a:t> </a:t>
            </a:r>
            <a:r>
              <a:rPr dirty="0"/>
              <a:t>loss</a:t>
            </a:r>
            <a:r>
              <a:rPr spc="-54" dirty="0"/>
              <a:t> </a:t>
            </a:r>
            <a:r>
              <a:rPr spc="-9" dirty="0"/>
              <a:t>functions</a:t>
            </a:r>
          </a:p>
        </p:txBody>
      </p:sp>
      <p:sp>
        <p:nvSpPr>
          <p:cNvPr id="7" name="object 7"/>
          <p:cNvSpPr txBox="1"/>
          <p:nvPr/>
        </p:nvSpPr>
        <p:spPr>
          <a:xfrm>
            <a:off x="1969685" y="1953505"/>
            <a:ext cx="2855485" cy="1097951"/>
          </a:xfrm>
          <a:prstGeom prst="rect">
            <a:avLst/>
          </a:prstGeom>
        </p:spPr>
        <p:txBody>
          <a:bodyPr vert="horz" wrap="square" lIns="0" tIns="11516" rIns="0" bIns="0" rtlCol="0">
            <a:spAutoFit/>
          </a:bodyPr>
          <a:lstStyle/>
          <a:p>
            <a:pPr marL="11516">
              <a:spcBef>
                <a:spcPts val="91"/>
              </a:spcBef>
            </a:pPr>
            <a:r>
              <a:rPr sz="2539" i="1" dirty="0">
                <a:latin typeface="Arial"/>
                <a:cs typeface="Arial"/>
              </a:rPr>
              <a:t>Mean</a:t>
            </a:r>
            <a:r>
              <a:rPr sz="2539" i="1" spc="-86" dirty="0">
                <a:latin typeface="Arial"/>
                <a:cs typeface="Arial"/>
              </a:rPr>
              <a:t> </a:t>
            </a:r>
            <a:r>
              <a:rPr sz="2539" i="1" dirty="0">
                <a:latin typeface="Arial"/>
                <a:cs typeface="Arial"/>
              </a:rPr>
              <a:t>squared</a:t>
            </a:r>
            <a:r>
              <a:rPr sz="2539" i="1" spc="-86" dirty="0">
                <a:latin typeface="Arial"/>
                <a:cs typeface="Arial"/>
              </a:rPr>
              <a:t> </a:t>
            </a:r>
            <a:r>
              <a:rPr sz="2539" i="1" spc="-18" dirty="0">
                <a:latin typeface="Arial"/>
                <a:cs typeface="Arial"/>
              </a:rPr>
              <a:t>error</a:t>
            </a:r>
            <a:endParaRPr sz="2539">
              <a:latin typeface="Arial"/>
              <a:cs typeface="Arial"/>
            </a:endParaRPr>
          </a:p>
          <a:p>
            <a:pPr>
              <a:spcBef>
                <a:spcPts val="163"/>
              </a:spcBef>
            </a:pPr>
            <a:endParaRPr sz="2539">
              <a:latin typeface="Arial"/>
              <a:cs typeface="Arial"/>
            </a:endParaRPr>
          </a:p>
          <a:p>
            <a:pPr marL="483687"/>
            <a:r>
              <a:rPr sz="1814" b="1" spc="-9" dirty="0">
                <a:latin typeface="Arial"/>
                <a:cs typeface="Arial"/>
              </a:rPr>
              <a:t>Input</a:t>
            </a:r>
            <a:endParaRPr sz="1814">
              <a:latin typeface="Arial"/>
              <a:cs typeface="Arial"/>
            </a:endParaRPr>
          </a:p>
        </p:txBody>
      </p:sp>
      <p:grpSp>
        <p:nvGrpSpPr>
          <p:cNvPr id="8" name="object 8"/>
          <p:cNvGrpSpPr/>
          <p:nvPr/>
        </p:nvGrpSpPr>
        <p:grpSpPr>
          <a:xfrm>
            <a:off x="6943605" y="4351211"/>
            <a:ext cx="913248" cy="392708"/>
            <a:chOff x="5976620" y="3852269"/>
            <a:chExt cx="1007110" cy="433070"/>
          </a:xfrm>
        </p:grpSpPr>
        <p:sp>
          <p:nvSpPr>
            <p:cNvPr id="9" name="object 9"/>
            <p:cNvSpPr/>
            <p:nvPr/>
          </p:nvSpPr>
          <p:spPr>
            <a:xfrm>
              <a:off x="5976620" y="3852269"/>
              <a:ext cx="1007110" cy="433070"/>
            </a:xfrm>
            <a:custGeom>
              <a:avLst/>
              <a:gdLst/>
              <a:ahLst/>
              <a:cxnLst/>
              <a:rect l="l" t="t" r="r" b="b"/>
              <a:pathLst>
                <a:path w="1007109" h="433070">
                  <a:moveTo>
                    <a:pt x="934720" y="0"/>
                  </a:moveTo>
                  <a:lnTo>
                    <a:pt x="71119" y="0"/>
                  </a:lnTo>
                  <a:lnTo>
                    <a:pt x="45005" y="6131"/>
                  </a:lnTo>
                  <a:lnTo>
                    <a:pt x="22225" y="22383"/>
                  </a:lnTo>
                  <a:lnTo>
                    <a:pt x="6111" y="45541"/>
                  </a:lnTo>
                  <a:lnTo>
                    <a:pt x="0" y="72390"/>
                  </a:lnTo>
                  <a:lnTo>
                    <a:pt x="0" y="360680"/>
                  </a:lnTo>
                  <a:lnTo>
                    <a:pt x="6111" y="386992"/>
                  </a:lnTo>
                  <a:lnTo>
                    <a:pt x="22225" y="410210"/>
                  </a:lnTo>
                  <a:lnTo>
                    <a:pt x="45005" y="426759"/>
                  </a:lnTo>
                  <a:lnTo>
                    <a:pt x="71119" y="433070"/>
                  </a:lnTo>
                  <a:lnTo>
                    <a:pt x="934720" y="433070"/>
                  </a:lnTo>
                  <a:lnTo>
                    <a:pt x="961568" y="426759"/>
                  </a:lnTo>
                  <a:lnTo>
                    <a:pt x="984726" y="410210"/>
                  </a:lnTo>
                  <a:lnTo>
                    <a:pt x="1000978" y="386992"/>
                  </a:lnTo>
                  <a:lnTo>
                    <a:pt x="1007109" y="360680"/>
                  </a:lnTo>
                  <a:lnTo>
                    <a:pt x="1007109" y="72390"/>
                  </a:lnTo>
                  <a:lnTo>
                    <a:pt x="1000978" y="45541"/>
                  </a:lnTo>
                  <a:lnTo>
                    <a:pt x="984726" y="22383"/>
                  </a:lnTo>
                  <a:lnTo>
                    <a:pt x="961568" y="6131"/>
                  </a:lnTo>
                  <a:lnTo>
                    <a:pt x="934720" y="0"/>
                  </a:lnTo>
                  <a:close/>
                </a:path>
              </a:pathLst>
            </a:custGeom>
            <a:solidFill>
              <a:srgbClr val="719ECE"/>
            </a:solidFill>
          </p:spPr>
          <p:txBody>
            <a:bodyPr wrap="square" lIns="0" tIns="0" rIns="0" bIns="0" rtlCol="0"/>
            <a:lstStyle/>
            <a:p>
              <a:endParaRPr/>
            </a:p>
          </p:txBody>
        </p:sp>
        <p:sp>
          <p:nvSpPr>
            <p:cNvPr id="10" name="object 10"/>
            <p:cNvSpPr/>
            <p:nvPr/>
          </p:nvSpPr>
          <p:spPr>
            <a:xfrm>
              <a:off x="5976620" y="3852269"/>
              <a:ext cx="1007110" cy="433070"/>
            </a:xfrm>
            <a:custGeom>
              <a:avLst/>
              <a:gdLst/>
              <a:ahLst/>
              <a:cxnLst/>
              <a:rect l="l" t="t" r="r" b="b"/>
              <a:pathLst>
                <a:path w="1007109" h="433070">
                  <a:moveTo>
                    <a:pt x="71119" y="0"/>
                  </a:moveTo>
                  <a:lnTo>
                    <a:pt x="45005" y="6131"/>
                  </a:lnTo>
                  <a:lnTo>
                    <a:pt x="22225" y="22383"/>
                  </a:lnTo>
                  <a:lnTo>
                    <a:pt x="6111" y="45541"/>
                  </a:lnTo>
                  <a:lnTo>
                    <a:pt x="0" y="72390"/>
                  </a:lnTo>
                  <a:lnTo>
                    <a:pt x="0" y="360680"/>
                  </a:lnTo>
                  <a:lnTo>
                    <a:pt x="6111" y="386992"/>
                  </a:lnTo>
                  <a:lnTo>
                    <a:pt x="22225" y="410210"/>
                  </a:lnTo>
                  <a:lnTo>
                    <a:pt x="45005" y="426759"/>
                  </a:lnTo>
                  <a:lnTo>
                    <a:pt x="71119" y="433070"/>
                  </a:lnTo>
                  <a:lnTo>
                    <a:pt x="934720" y="433070"/>
                  </a:lnTo>
                  <a:lnTo>
                    <a:pt x="961568" y="426759"/>
                  </a:lnTo>
                  <a:lnTo>
                    <a:pt x="984726" y="410210"/>
                  </a:lnTo>
                  <a:lnTo>
                    <a:pt x="1000978" y="386992"/>
                  </a:lnTo>
                  <a:lnTo>
                    <a:pt x="1007109" y="360680"/>
                  </a:lnTo>
                  <a:lnTo>
                    <a:pt x="1007109" y="72390"/>
                  </a:lnTo>
                  <a:lnTo>
                    <a:pt x="1000978" y="45541"/>
                  </a:lnTo>
                  <a:lnTo>
                    <a:pt x="984726" y="22383"/>
                  </a:lnTo>
                  <a:lnTo>
                    <a:pt x="961568" y="6131"/>
                  </a:lnTo>
                  <a:lnTo>
                    <a:pt x="934720" y="0"/>
                  </a:lnTo>
                  <a:lnTo>
                    <a:pt x="71119" y="0"/>
                  </a:lnTo>
                  <a:close/>
                </a:path>
              </a:pathLst>
            </a:custGeom>
            <a:ln w="3175">
              <a:solidFill>
                <a:srgbClr val="3364A3"/>
              </a:solidFill>
            </a:ln>
          </p:spPr>
          <p:txBody>
            <a:bodyPr wrap="square" lIns="0" tIns="0" rIns="0" bIns="0" rtlCol="0"/>
            <a:lstStyle/>
            <a:p>
              <a:endParaRPr/>
            </a:p>
          </p:txBody>
        </p:sp>
      </p:grpSp>
      <p:sp>
        <p:nvSpPr>
          <p:cNvPr id="11" name="object 11"/>
          <p:cNvSpPr txBox="1"/>
          <p:nvPr/>
        </p:nvSpPr>
        <p:spPr>
          <a:xfrm>
            <a:off x="7023068" y="4377701"/>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sp>
        <p:nvSpPr>
          <p:cNvPr id="12" name="object 12"/>
          <p:cNvSpPr txBox="1"/>
          <p:nvPr/>
        </p:nvSpPr>
        <p:spPr>
          <a:xfrm>
            <a:off x="7221151" y="3217734"/>
            <a:ext cx="535511" cy="185001"/>
          </a:xfrm>
          <a:prstGeom prst="rect">
            <a:avLst/>
          </a:prstGeom>
        </p:spPr>
        <p:txBody>
          <a:bodyPr vert="horz" wrap="square" lIns="0" tIns="10365" rIns="0" bIns="0" rtlCol="0">
            <a:spAutoFit/>
          </a:bodyPr>
          <a:lstStyle/>
          <a:p>
            <a:pPr marL="11516">
              <a:spcBef>
                <a:spcPts val="82"/>
              </a:spcBef>
            </a:pPr>
            <a:r>
              <a:rPr sz="1088" spc="50" dirty="0">
                <a:latin typeface="Arial MT"/>
                <a:cs typeface="Arial MT"/>
              </a:rPr>
              <a:t>Q(</a:t>
            </a:r>
            <a:r>
              <a:rPr sz="1134" i="1" spc="50" dirty="0">
                <a:latin typeface="Cambria"/>
                <a:cs typeface="Cambria"/>
              </a:rPr>
              <a:t>S</a:t>
            </a:r>
            <a:r>
              <a:rPr sz="725" i="1" spc="50" dirty="0">
                <a:latin typeface="Cambria"/>
                <a:cs typeface="Cambria"/>
              </a:rPr>
              <a:t>t</a:t>
            </a:r>
            <a:r>
              <a:rPr sz="1088" spc="50" dirty="0">
                <a:latin typeface="Cambria"/>
                <a:cs typeface="Cambria"/>
              </a:rPr>
              <a:t>,</a:t>
            </a:r>
            <a:r>
              <a:rPr sz="1134" i="1" spc="50" dirty="0">
                <a:latin typeface="Cambria"/>
                <a:cs typeface="Cambria"/>
              </a:rPr>
              <a:t>A</a:t>
            </a:r>
            <a:r>
              <a:rPr sz="725" i="1" spc="50" dirty="0">
                <a:latin typeface="Cambria"/>
                <a:cs typeface="Cambria"/>
              </a:rPr>
              <a:t>t</a:t>
            </a:r>
            <a:r>
              <a:rPr sz="1088" spc="50" dirty="0">
                <a:latin typeface="Arial MT"/>
                <a:cs typeface="Arial MT"/>
              </a:rPr>
              <a:t>)</a:t>
            </a:r>
            <a:endParaRPr sz="1088">
              <a:latin typeface="Arial MT"/>
              <a:cs typeface="Arial MT"/>
            </a:endParaRPr>
          </a:p>
        </p:txBody>
      </p:sp>
      <p:grpSp>
        <p:nvGrpSpPr>
          <p:cNvPr id="13" name="object 13"/>
          <p:cNvGrpSpPr/>
          <p:nvPr/>
        </p:nvGrpSpPr>
        <p:grpSpPr>
          <a:xfrm>
            <a:off x="4840715" y="2016842"/>
            <a:ext cx="1384268" cy="489446"/>
            <a:chOff x="3657600" y="1277979"/>
            <a:chExt cx="1526540" cy="539750"/>
          </a:xfrm>
        </p:grpSpPr>
        <p:sp>
          <p:nvSpPr>
            <p:cNvPr id="14" name="object 14"/>
            <p:cNvSpPr/>
            <p:nvPr/>
          </p:nvSpPr>
          <p:spPr>
            <a:xfrm>
              <a:off x="3666489" y="1277979"/>
              <a:ext cx="1508760" cy="539750"/>
            </a:xfrm>
            <a:custGeom>
              <a:avLst/>
              <a:gdLst/>
              <a:ahLst/>
              <a:cxnLst/>
              <a:rect l="l" t="t" r="r" b="b"/>
              <a:pathLst>
                <a:path w="1508760" h="539750">
                  <a:moveTo>
                    <a:pt x="1414780" y="0"/>
                  </a:moveTo>
                  <a:lnTo>
                    <a:pt x="40639" y="242570"/>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close/>
                </a:path>
              </a:pathLst>
            </a:custGeom>
            <a:solidFill>
              <a:srgbClr val="ACD489"/>
            </a:solidFill>
          </p:spPr>
          <p:txBody>
            <a:bodyPr wrap="square" lIns="0" tIns="0" rIns="0" bIns="0" rtlCol="0"/>
            <a:lstStyle/>
            <a:p>
              <a:endParaRPr/>
            </a:p>
          </p:txBody>
        </p:sp>
        <p:sp>
          <p:nvSpPr>
            <p:cNvPr id="15" name="object 15"/>
            <p:cNvSpPr/>
            <p:nvPr/>
          </p:nvSpPr>
          <p:spPr>
            <a:xfrm>
              <a:off x="3666489" y="1277979"/>
              <a:ext cx="1508760" cy="539750"/>
            </a:xfrm>
            <a:custGeom>
              <a:avLst/>
              <a:gdLst/>
              <a:ahLst/>
              <a:cxnLst/>
              <a:rect l="l" t="t" r="r" b="b"/>
              <a:pathLst>
                <a:path w="1508760" h="539750">
                  <a:moveTo>
                    <a:pt x="40639" y="242570"/>
                  </a:moveTo>
                  <a:lnTo>
                    <a:pt x="23574" y="249733"/>
                  </a:lnTo>
                  <a:lnTo>
                    <a:pt x="9842" y="263683"/>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lnTo>
                    <a:pt x="40639" y="242570"/>
                  </a:lnTo>
                  <a:close/>
                </a:path>
              </a:pathLst>
            </a:custGeom>
            <a:ln w="3175">
              <a:solidFill>
                <a:srgbClr val="3364A3"/>
              </a:solidFill>
            </a:ln>
          </p:spPr>
          <p:txBody>
            <a:bodyPr wrap="square" lIns="0" tIns="0" rIns="0" bIns="0" rtlCol="0"/>
            <a:lstStyle/>
            <a:p>
              <a:endParaRPr/>
            </a:p>
          </p:txBody>
        </p:sp>
      </p:grpSp>
      <p:sp>
        <p:nvSpPr>
          <p:cNvPr id="16" name="object 16"/>
          <p:cNvSpPr txBox="1"/>
          <p:nvPr/>
        </p:nvSpPr>
        <p:spPr>
          <a:xfrm rot="21060000">
            <a:off x="4929056" y="2197522"/>
            <a:ext cx="1174765"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.MSE</a:t>
            </a:r>
            <a:r>
              <a:rPr sz="1632" spc="-14" baseline="6944" dirty="0">
                <a:latin typeface="Arial MT"/>
                <a:cs typeface="Arial MT"/>
              </a:rPr>
              <a:t>Loss</a:t>
            </a:r>
            <a:endParaRPr sz="1632" baseline="6944">
              <a:latin typeface="Arial MT"/>
              <a:cs typeface="Arial MT"/>
            </a:endParaRPr>
          </a:p>
        </p:txBody>
      </p:sp>
      <p:pic>
        <p:nvPicPr>
          <p:cNvPr id="17" name="object 17"/>
          <p:cNvPicPr/>
          <p:nvPr/>
        </p:nvPicPr>
        <p:blipFill>
          <a:blip r:embed="rId3" cstate="print"/>
          <a:stretch>
            <a:fillRect/>
          </a:stretch>
        </p:blipFill>
        <p:spPr>
          <a:xfrm>
            <a:off x="4102515" y="2947366"/>
            <a:ext cx="99040" cy="131287"/>
          </a:xfrm>
          <a:prstGeom prst="rect">
            <a:avLst/>
          </a:prstGeom>
        </p:spPr>
      </p:pic>
      <p:grpSp>
        <p:nvGrpSpPr>
          <p:cNvPr id="18" name="object 18"/>
          <p:cNvGrpSpPr/>
          <p:nvPr/>
        </p:nvGrpSpPr>
        <p:grpSpPr>
          <a:xfrm>
            <a:off x="4751868" y="2752568"/>
            <a:ext cx="2440895" cy="1240889"/>
            <a:chOff x="3559619" y="2089319"/>
            <a:chExt cx="2691765" cy="1368425"/>
          </a:xfrm>
        </p:grpSpPr>
        <p:sp>
          <p:nvSpPr>
            <p:cNvPr id="19" name="object 19"/>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20" name="object 20"/>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21" name="object 21"/>
            <p:cNvSpPr/>
            <p:nvPr/>
          </p:nvSpPr>
          <p:spPr>
            <a:xfrm>
              <a:off x="6026150" y="2592430"/>
              <a:ext cx="207010" cy="288290"/>
            </a:xfrm>
            <a:custGeom>
              <a:avLst/>
              <a:gdLst/>
              <a:ahLst/>
              <a:cxnLst/>
              <a:rect l="l" t="t" r="r" b="b"/>
              <a:pathLst>
                <a:path w="207010" h="288289">
                  <a:moveTo>
                    <a:pt x="0" y="0"/>
                  </a:moveTo>
                  <a:lnTo>
                    <a:pt x="38238" y="1984"/>
                  </a:lnTo>
                  <a:lnTo>
                    <a:pt x="71596" y="7302"/>
                  </a:lnTo>
                  <a:lnTo>
                    <a:pt x="95190" y="15001"/>
                  </a:lnTo>
                  <a:lnTo>
                    <a:pt x="104139" y="24130"/>
                  </a:lnTo>
                  <a:lnTo>
                    <a:pt x="104139" y="119380"/>
                  </a:lnTo>
                  <a:lnTo>
                    <a:pt x="113069" y="128508"/>
                  </a:lnTo>
                  <a:lnTo>
                    <a:pt x="136525" y="136207"/>
                  </a:lnTo>
                  <a:lnTo>
                    <a:pt x="169505" y="141525"/>
                  </a:lnTo>
                  <a:lnTo>
                    <a:pt x="207010" y="143510"/>
                  </a:lnTo>
                  <a:lnTo>
                    <a:pt x="169505" y="145672"/>
                  </a:lnTo>
                  <a:lnTo>
                    <a:pt x="136525" y="151288"/>
                  </a:lnTo>
                  <a:lnTo>
                    <a:pt x="113069" y="159047"/>
                  </a:lnTo>
                  <a:lnTo>
                    <a:pt x="104139" y="167640"/>
                  </a:lnTo>
                  <a:lnTo>
                    <a:pt x="104139" y="264160"/>
                  </a:lnTo>
                  <a:lnTo>
                    <a:pt x="95190" y="272752"/>
                  </a:lnTo>
                  <a:lnTo>
                    <a:pt x="71596" y="280511"/>
                  </a:lnTo>
                  <a:lnTo>
                    <a:pt x="38238" y="286127"/>
                  </a:lnTo>
                  <a:lnTo>
                    <a:pt x="0" y="288290"/>
                  </a:lnTo>
                </a:path>
              </a:pathLst>
            </a:custGeom>
            <a:ln w="35941">
              <a:solidFill>
                <a:srgbClr val="3364A3"/>
              </a:solidFill>
            </a:ln>
          </p:spPr>
          <p:txBody>
            <a:bodyPr wrap="square" lIns="0" tIns="0" rIns="0" bIns="0" rtlCol="0"/>
            <a:lstStyle/>
            <a:p>
              <a:endParaRPr/>
            </a:p>
          </p:txBody>
        </p:sp>
        <p:sp>
          <p:nvSpPr>
            <p:cNvPr id="22" name="object 22"/>
            <p:cNvSpPr/>
            <p:nvPr/>
          </p:nvSpPr>
          <p:spPr>
            <a:xfrm>
              <a:off x="6008179" y="2574459"/>
              <a:ext cx="243204" cy="324485"/>
            </a:xfrm>
            <a:custGeom>
              <a:avLst/>
              <a:gdLst/>
              <a:ahLst/>
              <a:cxnLst/>
              <a:rect l="l" t="t" r="r" b="b"/>
              <a:pathLst>
                <a:path w="243204" h="324485">
                  <a:moveTo>
                    <a:pt x="35941" y="306260"/>
                  </a:moveTo>
                  <a:lnTo>
                    <a:pt x="30670" y="293560"/>
                  </a:lnTo>
                  <a:lnTo>
                    <a:pt x="17970" y="288290"/>
                  </a:lnTo>
                  <a:lnTo>
                    <a:pt x="5257" y="293560"/>
                  </a:lnTo>
                  <a:lnTo>
                    <a:pt x="0" y="306260"/>
                  </a:lnTo>
                  <a:lnTo>
                    <a:pt x="5257" y="318973"/>
                  </a:lnTo>
                  <a:lnTo>
                    <a:pt x="17970" y="324231"/>
                  </a:lnTo>
                  <a:lnTo>
                    <a:pt x="30670" y="318973"/>
                  </a:lnTo>
                  <a:lnTo>
                    <a:pt x="35941" y="306260"/>
                  </a:lnTo>
                  <a:close/>
                </a:path>
                <a:path w="243204" h="32448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pic>
          <p:nvPicPr>
            <p:cNvPr id="23" name="object 23"/>
            <p:cNvPicPr/>
            <p:nvPr/>
          </p:nvPicPr>
          <p:blipFill>
            <a:blip r:embed="rId4" cstate="print"/>
            <a:stretch>
              <a:fillRect/>
            </a:stretch>
          </p:blipFill>
          <p:spPr>
            <a:xfrm>
              <a:off x="3784600" y="2127610"/>
              <a:ext cx="2263140" cy="1329689"/>
            </a:xfrm>
            <a:prstGeom prst="rect">
              <a:avLst/>
            </a:prstGeom>
          </p:spPr>
        </p:pic>
      </p:grpSp>
      <p:sp>
        <p:nvSpPr>
          <p:cNvPr id="24" name="object 24"/>
          <p:cNvSpPr txBox="1"/>
          <p:nvPr/>
        </p:nvSpPr>
        <p:spPr>
          <a:xfrm>
            <a:off x="2292142" y="3937845"/>
            <a:ext cx="1415938"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state</a:t>
            </a:r>
            <a:r>
              <a:rPr sz="1270" spc="14" dirty="0">
                <a:latin typeface="Arial MT"/>
                <a:cs typeface="Arial MT"/>
              </a:rPr>
              <a:t> </a:t>
            </a:r>
            <a:r>
              <a:rPr sz="1315" i="1" spc="136" dirty="0">
                <a:latin typeface="Cambria"/>
                <a:cs typeface="Cambria"/>
              </a:rPr>
              <a:t>S</a:t>
            </a:r>
            <a:r>
              <a:rPr sz="725" i="1" spc="136" dirty="0">
                <a:latin typeface="Cambria"/>
                <a:cs typeface="Cambria"/>
              </a:rPr>
              <a:t>t</a:t>
            </a:r>
            <a:r>
              <a:rPr sz="725" i="1" spc="317" dirty="0">
                <a:latin typeface="Cambria"/>
                <a:cs typeface="Cambria"/>
              </a:rPr>
              <a:t> </a:t>
            </a:r>
            <a:r>
              <a:rPr sz="1270" dirty="0">
                <a:latin typeface="Arial MT"/>
                <a:cs typeface="Arial MT"/>
              </a:rPr>
              <a:t>&amp;</a:t>
            </a:r>
            <a:r>
              <a:rPr sz="1270" spc="5" dirty="0">
                <a:latin typeface="Arial MT"/>
                <a:cs typeface="Arial MT"/>
              </a:rPr>
              <a:t> </a:t>
            </a:r>
            <a:r>
              <a:rPr sz="1270" dirty="0">
                <a:latin typeface="Arial MT"/>
                <a:cs typeface="Arial MT"/>
              </a:rPr>
              <a:t>action</a:t>
            </a:r>
            <a:r>
              <a:rPr sz="1270" spc="18" dirty="0">
                <a:latin typeface="Arial MT"/>
                <a:cs typeface="Arial MT"/>
              </a:rPr>
              <a:t> </a:t>
            </a:r>
            <a:r>
              <a:rPr sz="1315" i="1" spc="63" dirty="0">
                <a:latin typeface="Cambria"/>
                <a:cs typeface="Cambria"/>
              </a:rPr>
              <a:t>A</a:t>
            </a:r>
            <a:r>
              <a:rPr sz="725" i="1" spc="63" dirty="0">
                <a:latin typeface="Cambria"/>
                <a:cs typeface="Cambria"/>
              </a:rPr>
              <a:t>t</a:t>
            </a:r>
            <a:endParaRPr sz="725">
              <a:latin typeface="Cambria"/>
              <a:cs typeface="Cambria"/>
            </a:endParaRPr>
          </a:p>
        </p:txBody>
      </p:sp>
      <p:pic>
        <p:nvPicPr>
          <p:cNvPr id="25" name="object 25"/>
          <p:cNvPicPr/>
          <p:nvPr/>
        </p:nvPicPr>
        <p:blipFill>
          <a:blip r:embed="rId2" cstate="print"/>
          <a:stretch>
            <a:fillRect/>
          </a:stretch>
        </p:blipFill>
        <p:spPr>
          <a:xfrm>
            <a:off x="4741675" y="4352364"/>
            <a:ext cx="2036095" cy="1330141"/>
          </a:xfrm>
          <a:prstGeom prst="rect">
            <a:avLst/>
          </a:prstGeom>
        </p:spPr>
      </p:pic>
      <p:sp>
        <p:nvSpPr>
          <p:cNvPr id="26" name="object 26"/>
          <p:cNvSpPr txBox="1"/>
          <p:nvPr/>
        </p:nvSpPr>
        <p:spPr>
          <a:xfrm>
            <a:off x="4740523" y="5635359"/>
            <a:ext cx="2131681"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state</a:t>
            </a:r>
            <a:r>
              <a:rPr sz="1270" spc="14" dirty="0">
                <a:latin typeface="Arial MT"/>
                <a:cs typeface="Arial MT"/>
              </a:rPr>
              <a:t> </a:t>
            </a:r>
            <a:r>
              <a:rPr sz="1315" i="1" spc="141" dirty="0">
                <a:latin typeface="Cambria"/>
                <a:cs typeface="Cambria"/>
              </a:rPr>
              <a:t>S</a:t>
            </a:r>
            <a:r>
              <a:rPr sz="725" i="1" spc="141" dirty="0">
                <a:latin typeface="Cambria"/>
                <a:cs typeface="Cambria"/>
              </a:rPr>
              <a:t>t+1</a:t>
            </a:r>
            <a:r>
              <a:rPr sz="725" i="1" spc="326" dirty="0">
                <a:latin typeface="Cambria"/>
                <a:cs typeface="Cambria"/>
              </a:rPr>
              <a:t> </a:t>
            </a:r>
            <a:r>
              <a:rPr sz="1270" dirty="0">
                <a:latin typeface="Arial MT"/>
                <a:cs typeface="Arial MT"/>
              </a:rPr>
              <a:t>&amp;</a:t>
            </a:r>
            <a:r>
              <a:rPr sz="1270" spc="5" dirty="0">
                <a:latin typeface="Arial MT"/>
                <a:cs typeface="Arial MT"/>
              </a:rPr>
              <a:t> </a:t>
            </a:r>
            <a:r>
              <a:rPr sz="1270" dirty="0">
                <a:latin typeface="Arial MT"/>
                <a:cs typeface="Arial MT"/>
              </a:rPr>
              <a:t>[best]</a:t>
            </a:r>
            <a:r>
              <a:rPr sz="1270" spc="18" dirty="0">
                <a:latin typeface="Arial MT"/>
                <a:cs typeface="Arial MT"/>
              </a:rPr>
              <a:t> </a:t>
            </a:r>
            <a:r>
              <a:rPr sz="1270" dirty="0">
                <a:latin typeface="Arial MT"/>
                <a:cs typeface="Arial MT"/>
              </a:rPr>
              <a:t>action</a:t>
            </a:r>
            <a:r>
              <a:rPr sz="1270" spc="18" dirty="0">
                <a:latin typeface="Arial MT"/>
                <a:cs typeface="Arial MT"/>
              </a:rPr>
              <a:t> </a:t>
            </a:r>
            <a:r>
              <a:rPr sz="1315" i="1" spc="95" dirty="0">
                <a:latin typeface="Cambria"/>
                <a:cs typeface="Cambria"/>
              </a:rPr>
              <a:t>A</a:t>
            </a:r>
            <a:r>
              <a:rPr sz="725" i="1" spc="95" dirty="0">
                <a:latin typeface="Cambria"/>
                <a:cs typeface="Cambria"/>
              </a:rPr>
              <a:t>t+1</a:t>
            </a:r>
            <a:endParaRPr sz="725">
              <a:latin typeface="Cambria"/>
              <a:cs typeface="Cambria"/>
            </a:endParaRPr>
          </a:p>
        </p:txBody>
      </p:sp>
      <p:grpSp>
        <p:nvGrpSpPr>
          <p:cNvPr id="27" name="object 27"/>
          <p:cNvGrpSpPr/>
          <p:nvPr/>
        </p:nvGrpSpPr>
        <p:grpSpPr>
          <a:xfrm>
            <a:off x="5376228" y="4384610"/>
            <a:ext cx="1337051" cy="644917"/>
            <a:chOff x="4248150" y="3889099"/>
            <a:chExt cx="1474470" cy="711200"/>
          </a:xfrm>
        </p:grpSpPr>
        <p:pic>
          <p:nvPicPr>
            <p:cNvPr id="28" name="object 28"/>
            <p:cNvPicPr/>
            <p:nvPr/>
          </p:nvPicPr>
          <p:blipFill>
            <a:blip r:embed="rId5" cstate="print"/>
            <a:stretch>
              <a:fillRect/>
            </a:stretch>
          </p:blipFill>
          <p:spPr>
            <a:xfrm>
              <a:off x="5435600" y="3889099"/>
              <a:ext cx="287020" cy="287019"/>
            </a:xfrm>
            <a:prstGeom prst="rect">
              <a:avLst/>
            </a:prstGeom>
          </p:spPr>
        </p:pic>
        <p:pic>
          <p:nvPicPr>
            <p:cNvPr id="29" name="object 29"/>
            <p:cNvPicPr/>
            <p:nvPr/>
          </p:nvPicPr>
          <p:blipFill>
            <a:blip r:embed="rId6" cstate="print"/>
            <a:stretch>
              <a:fillRect/>
            </a:stretch>
          </p:blipFill>
          <p:spPr>
            <a:xfrm>
              <a:off x="5435600" y="4249779"/>
              <a:ext cx="287020" cy="287020"/>
            </a:xfrm>
            <a:prstGeom prst="rect">
              <a:avLst/>
            </a:prstGeom>
          </p:spPr>
        </p:pic>
        <p:pic>
          <p:nvPicPr>
            <p:cNvPr id="30" name="object 30"/>
            <p:cNvPicPr/>
            <p:nvPr/>
          </p:nvPicPr>
          <p:blipFill>
            <a:blip r:embed="rId7" cstate="print"/>
            <a:stretch>
              <a:fillRect/>
            </a:stretch>
          </p:blipFill>
          <p:spPr>
            <a:xfrm>
              <a:off x="5345430" y="4338679"/>
              <a:ext cx="144780" cy="107950"/>
            </a:xfrm>
            <a:prstGeom prst="rect">
              <a:avLst/>
            </a:prstGeom>
          </p:spPr>
        </p:pic>
        <p:sp>
          <p:nvSpPr>
            <p:cNvPr id="31" name="object 31"/>
            <p:cNvSpPr/>
            <p:nvPr/>
          </p:nvSpPr>
          <p:spPr>
            <a:xfrm>
              <a:off x="4248150" y="4600299"/>
              <a:ext cx="0" cy="0"/>
            </a:xfrm>
            <a:custGeom>
              <a:avLst/>
              <a:gdLst/>
              <a:ahLst/>
              <a:cxnLst/>
              <a:rect l="l" t="t" r="r" b="b"/>
              <a:pathLst>
                <a:path>
                  <a:moveTo>
                    <a:pt x="0" y="0"/>
                  </a:moveTo>
                  <a:lnTo>
                    <a:pt x="0" y="0"/>
                  </a:lnTo>
                  <a:lnTo>
                    <a:pt x="0" y="0"/>
                  </a:lnTo>
                  <a:close/>
                </a:path>
              </a:pathLst>
            </a:custGeom>
            <a:solidFill>
              <a:srgbClr val="3364A3"/>
            </a:solidFill>
          </p:spPr>
          <p:txBody>
            <a:bodyPr wrap="square" lIns="0" tIns="0" rIns="0" bIns="0" rtlCol="0"/>
            <a:lstStyle/>
            <a:p>
              <a:endParaRPr/>
            </a:p>
          </p:txBody>
        </p:sp>
      </p:grpSp>
      <p:grpSp>
        <p:nvGrpSpPr>
          <p:cNvPr id="32" name="object 32"/>
          <p:cNvGrpSpPr/>
          <p:nvPr/>
        </p:nvGrpSpPr>
        <p:grpSpPr>
          <a:xfrm>
            <a:off x="3403471" y="4158889"/>
            <a:ext cx="1257588" cy="1350871"/>
            <a:chOff x="2072639" y="3640180"/>
            <a:chExt cx="1386840" cy="1489710"/>
          </a:xfrm>
        </p:grpSpPr>
        <p:sp>
          <p:nvSpPr>
            <p:cNvPr id="33" name="object 33"/>
            <p:cNvSpPr/>
            <p:nvPr/>
          </p:nvSpPr>
          <p:spPr>
            <a:xfrm>
              <a:off x="2072639" y="3640180"/>
              <a:ext cx="1386840" cy="1489710"/>
            </a:xfrm>
            <a:custGeom>
              <a:avLst/>
              <a:gdLst/>
              <a:ahLst/>
              <a:cxnLst/>
              <a:rect l="l" t="t" r="r" b="b"/>
              <a:pathLst>
                <a:path w="1386839" h="1489710">
                  <a:moveTo>
                    <a:pt x="1354847" y="1054100"/>
                  </a:moveTo>
                  <a:lnTo>
                    <a:pt x="1097280" y="1054100"/>
                  </a:lnTo>
                  <a:lnTo>
                    <a:pt x="1135380" y="1489710"/>
                  </a:lnTo>
                  <a:lnTo>
                    <a:pt x="1354847" y="1054100"/>
                  </a:lnTo>
                  <a:close/>
                </a:path>
                <a:path w="1386839" h="1489710">
                  <a:moveTo>
                    <a:pt x="41910" y="0"/>
                  </a:moveTo>
                  <a:lnTo>
                    <a:pt x="0" y="31750"/>
                  </a:lnTo>
                  <a:lnTo>
                    <a:pt x="29210" y="114300"/>
                  </a:lnTo>
                  <a:lnTo>
                    <a:pt x="60960" y="193040"/>
                  </a:lnTo>
                  <a:lnTo>
                    <a:pt x="95250" y="270510"/>
                  </a:lnTo>
                  <a:lnTo>
                    <a:pt x="130810" y="345440"/>
                  </a:lnTo>
                  <a:lnTo>
                    <a:pt x="168910" y="416560"/>
                  </a:lnTo>
                  <a:lnTo>
                    <a:pt x="209550" y="486410"/>
                  </a:lnTo>
                  <a:lnTo>
                    <a:pt x="252730" y="551180"/>
                  </a:lnTo>
                  <a:lnTo>
                    <a:pt x="297180" y="613410"/>
                  </a:lnTo>
                  <a:lnTo>
                    <a:pt x="342900" y="671830"/>
                  </a:lnTo>
                  <a:lnTo>
                    <a:pt x="389890" y="727710"/>
                  </a:lnTo>
                  <a:lnTo>
                    <a:pt x="439420" y="778510"/>
                  </a:lnTo>
                  <a:lnTo>
                    <a:pt x="490220" y="825500"/>
                  </a:lnTo>
                  <a:lnTo>
                    <a:pt x="542290" y="868680"/>
                  </a:lnTo>
                  <a:lnTo>
                    <a:pt x="595630" y="906780"/>
                  </a:lnTo>
                  <a:lnTo>
                    <a:pt x="648970" y="942340"/>
                  </a:lnTo>
                  <a:lnTo>
                    <a:pt x="703580" y="971550"/>
                  </a:lnTo>
                  <a:lnTo>
                    <a:pt x="759460" y="998220"/>
                  </a:lnTo>
                  <a:lnTo>
                    <a:pt x="815340" y="1018540"/>
                  </a:lnTo>
                  <a:lnTo>
                    <a:pt x="871220" y="1035050"/>
                  </a:lnTo>
                  <a:lnTo>
                    <a:pt x="928370" y="1046480"/>
                  </a:lnTo>
                  <a:lnTo>
                    <a:pt x="984250" y="1054100"/>
                  </a:lnTo>
                  <a:lnTo>
                    <a:pt x="1041400" y="1056640"/>
                  </a:lnTo>
                  <a:lnTo>
                    <a:pt x="1097280" y="1054100"/>
                  </a:lnTo>
                  <a:lnTo>
                    <a:pt x="1354847" y="1054100"/>
                  </a:lnTo>
                  <a:lnTo>
                    <a:pt x="1386839" y="990600"/>
                  </a:lnTo>
                  <a:lnTo>
                    <a:pt x="1377431" y="977900"/>
                  </a:lnTo>
                  <a:lnTo>
                    <a:pt x="1037590" y="977900"/>
                  </a:lnTo>
                  <a:lnTo>
                    <a:pt x="982980" y="976630"/>
                  </a:lnTo>
                  <a:lnTo>
                    <a:pt x="929640" y="969010"/>
                  </a:lnTo>
                  <a:lnTo>
                    <a:pt x="875030" y="957580"/>
                  </a:lnTo>
                  <a:lnTo>
                    <a:pt x="821690" y="942340"/>
                  </a:lnTo>
                  <a:lnTo>
                    <a:pt x="768350" y="922020"/>
                  </a:lnTo>
                  <a:lnTo>
                    <a:pt x="715010" y="897890"/>
                  </a:lnTo>
                  <a:lnTo>
                    <a:pt x="662940" y="868680"/>
                  </a:lnTo>
                  <a:lnTo>
                    <a:pt x="610870" y="835660"/>
                  </a:lnTo>
                  <a:lnTo>
                    <a:pt x="561340" y="798830"/>
                  </a:lnTo>
                  <a:lnTo>
                    <a:pt x="510540" y="758190"/>
                  </a:lnTo>
                  <a:lnTo>
                    <a:pt x="462280" y="712470"/>
                  </a:lnTo>
                  <a:lnTo>
                    <a:pt x="415290" y="664210"/>
                  </a:lnTo>
                  <a:lnTo>
                    <a:pt x="369570" y="610870"/>
                  </a:lnTo>
                  <a:lnTo>
                    <a:pt x="325120" y="554990"/>
                  </a:lnTo>
                  <a:lnTo>
                    <a:pt x="283210" y="495300"/>
                  </a:lnTo>
                  <a:lnTo>
                    <a:pt x="242570" y="433070"/>
                  </a:lnTo>
                  <a:lnTo>
                    <a:pt x="203200" y="367030"/>
                  </a:lnTo>
                  <a:lnTo>
                    <a:pt x="166370" y="298450"/>
                  </a:lnTo>
                  <a:lnTo>
                    <a:pt x="133350" y="227330"/>
                  </a:lnTo>
                  <a:lnTo>
                    <a:pt x="100330" y="153670"/>
                  </a:lnTo>
                  <a:lnTo>
                    <a:pt x="69850" y="77470"/>
                  </a:lnTo>
                  <a:lnTo>
                    <a:pt x="41910" y="0"/>
                  </a:lnTo>
                  <a:close/>
                </a:path>
                <a:path w="1386839" h="1489710">
                  <a:moveTo>
                    <a:pt x="1052830" y="539750"/>
                  </a:moveTo>
                  <a:lnTo>
                    <a:pt x="1090930" y="976630"/>
                  </a:lnTo>
                  <a:lnTo>
                    <a:pt x="1037590" y="977900"/>
                  </a:lnTo>
                  <a:lnTo>
                    <a:pt x="1377431" y="977900"/>
                  </a:lnTo>
                  <a:lnTo>
                    <a:pt x="1052830" y="539750"/>
                  </a:lnTo>
                  <a:close/>
                </a:path>
              </a:pathLst>
            </a:custGeom>
            <a:solidFill>
              <a:srgbClr val="719ECE"/>
            </a:solidFill>
          </p:spPr>
          <p:txBody>
            <a:bodyPr wrap="square" lIns="0" tIns="0" rIns="0" bIns="0" rtlCol="0"/>
            <a:lstStyle/>
            <a:p>
              <a:endParaRPr/>
            </a:p>
          </p:txBody>
        </p:sp>
        <p:sp>
          <p:nvSpPr>
            <p:cNvPr id="34" name="object 34"/>
            <p:cNvSpPr/>
            <p:nvPr/>
          </p:nvSpPr>
          <p:spPr>
            <a:xfrm>
              <a:off x="2072639" y="3640180"/>
              <a:ext cx="1386840" cy="1489710"/>
            </a:xfrm>
            <a:custGeom>
              <a:avLst/>
              <a:gdLst/>
              <a:ahLst/>
              <a:cxnLst/>
              <a:rect l="l" t="t" r="r" b="b"/>
              <a:pathLst>
                <a:path w="1386839" h="1489710">
                  <a:moveTo>
                    <a:pt x="1090930" y="976630"/>
                  </a:moveTo>
                  <a:lnTo>
                    <a:pt x="1037590" y="977900"/>
                  </a:lnTo>
                  <a:lnTo>
                    <a:pt x="982980" y="976630"/>
                  </a:lnTo>
                  <a:lnTo>
                    <a:pt x="929640" y="969010"/>
                  </a:lnTo>
                  <a:lnTo>
                    <a:pt x="875030" y="957580"/>
                  </a:lnTo>
                  <a:lnTo>
                    <a:pt x="821690" y="942340"/>
                  </a:lnTo>
                  <a:lnTo>
                    <a:pt x="768350" y="922020"/>
                  </a:lnTo>
                  <a:lnTo>
                    <a:pt x="715010" y="897890"/>
                  </a:lnTo>
                  <a:lnTo>
                    <a:pt x="662940" y="868680"/>
                  </a:lnTo>
                  <a:lnTo>
                    <a:pt x="610870" y="835660"/>
                  </a:lnTo>
                  <a:lnTo>
                    <a:pt x="561340" y="798830"/>
                  </a:lnTo>
                  <a:lnTo>
                    <a:pt x="510540" y="758190"/>
                  </a:lnTo>
                  <a:lnTo>
                    <a:pt x="462280" y="712470"/>
                  </a:lnTo>
                  <a:lnTo>
                    <a:pt x="415290" y="664210"/>
                  </a:lnTo>
                  <a:lnTo>
                    <a:pt x="369570" y="610870"/>
                  </a:lnTo>
                  <a:lnTo>
                    <a:pt x="325120" y="554990"/>
                  </a:lnTo>
                  <a:lnTo>
                    <a:pt x="283210" y="495300"/>
                  </a:lnTo>
                  <a:lnTo>
                    <a:pt x="242570" y="433070"/>
                  </a:lnTo>
                  <a:lnTo>
                    <a:pt x="203200" y="367030"/>
                  </a:lnTo>
                  <a:lnTo>
                    <a:pt x="166370" y="298450"/>
                  </a:lnTo>
                  <a:lnTo>
                    <a:pt x="133350" y="227330"/>
                  </a:lnTo>
                  <a:lnTo>
                    <a:pt x="100330" y="153670"/>
                  </a:lnTo>
                  <a:lnTo>
                    <a:pt x="69850" y="77470"/>
                  </a:lnTo>
                  <a:lnTo>
                    <a:pt x="41910" y="0"/>
                  </a:lnTo>
                  <a:lnTo>
                    <a:pt x="0" y="31750"/>
                  </a:lnTo>
                  <a:lnTo>
                    <a:pt x="29210" y="114300"/>
                  </a:lnTo>
                  <a:lnTo>
                    <a:pt x="60960" y="193040"/>
                  </a:lnTo>
                  <a:lnTo>
                    <a:pt x="95250" y="270510"/>
                  </a:lnTo>
                  <a:lnTo>
                    <a:pt x="130810" y="345440"/>
                  </a:lnTo>
                  <a:lnTo>
                    <a:pt x="168910" y="416560"/>
                  </a:lnTo>
                  <a:lnTo>
                    <a:pt x="209550" y="486410"/>
                  </a:lnTo>
                  <a:lnTo>
                    <a:pt x="252730" y="551180"/>
                  </a:lnTo>
                  <a:lnTo>
                    <a:pt x="297180" y="613410"/>
                  </a:lnTo>
                  <a:lnTo>
                    <a:pt x="342900" y="671830"/>
                  </a:lnTo>
                  <a:lnTo>
                    <a:pt x="389890" y="727710"/>
                  </a:lnTo>
                  <a:lnTo>
                    <a:pt x="439420" y="778510"/>
                  </a:lnTo>
                  <a:lnTo>
                    <a:pt x="490220" y="825500"/>
                  </a:lnTo>
                  <a:lnTo>
                    <a:pt x="542290" y="868680"/>
                  </a:lnTo>
                  <a:lnTo>
                    <a:pt x="595630" y="906780"/>
                  </a:lnTo>
                  <a:lnTo>
                    <a:pt x="648970" y="942340"/>
                  </a:lnTo>
                  <a:lnTo>
                    <a:pt x="703580" y="971550"/>
                  </a:lnTo>
                  <a:lnTo>
                    <a:pt x="759460" y="998220"/>
                  </a:lnTo>
                  <a:lnTo>
                    <a:pt x="815340" y="1018540"/>
                  </a:lnTo>
                  <a:lnTo>
                    <a:pt x="871220" y="1035050"/>
                  </a:lnTo>
                  <a:lnTo>
                    <a:pt x="928370" y="1046480"/>
                  </a:lnTo>
                  <a:lnTo>
                    <a:pt x="984250" y="1054100"/>
                  </a:lnTo>
                  <a:lnTo>
                    <a:pt x="1041400" y="1056640"/>
                  </a:lnTo>
                  <a:lnTo>
                    <a:pt x="1097280" y="1054100"/>
                  </a:lnTo>
                  <a:lnTo>
                    <a:pt x="1135380" y="1489710"/>
                  </a:lnTo>
                  <a:lnTo>
                    <a:pt x="1386839" y="990600"/>
                  </a:lnTo>
                  <a:lnTo>
                    <a:pt x="1052830" y="539750"/>
                  </a:lnTo>
                  <a:lnTo>
                    <a:pt x="1090930" y="976630"/>
                  </a:lnTo>
                  <a:close/>
                </a:path>
              </a:pathLst>
            </a:custGeom>
            <a:ln w="3175">
              <a:solidFill>
                <a:srgbClr val="3364A3"/>
              </a:solidFill>
            </a:ln>
          </p:spPr>
          <p:txBody>
            <a:bodyPr wrap="square" lIns="0" tIns="0" rIns="0" bIns="0" rtlCol="0"/>
            <a:lstStyle/>
            <a:p>
              <a:endParaRPr/>
            </a:p>
          </p:txBody>
        </p:sp>
      </p:grpSp>
      <p:sp>
        <p:nvSpPr>
          <p:cNvPr id="35" name="object 35"/>
          <p:cNvSpPr txBox="1"/>
          <p:nvPr/>
        </p:nvSpPr>
        <p:spPr>
          <a:xfrm>
            <a:off x="3535909" y="5074511"/>
            <a:ext cx="857970"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reward</a:t>
            </a:r>
            <a:r>
              <a:rPr sz="1270" spc="-5" dirty="0">
                <a:latin typeface="Arial MT"/>
                <a:cs typeface="Arial MT"/>
              </a:rPr>
              <a:t> </a:t>
            </a:r>
            <a:r>
              <a:rPr sz="1315" i="1" spc="109" dirty="0">
                <a:latin typeface="Cambria"/>
                <a:cs typeface="Cambria"/>
              </a:rPr>
              <a:t>R</a:t>
            </a:r>
            <a:r>
              <a:rPr sz="725" i="1" spc="109" dirty="0">
                <a:latin typeface="Cambria"/>
                <a:cs typeface="Cambria"/>
              </a:rPr>
              <a:t>t+1</a:t>
            </a:r>
            <a:endParaRPr sz="725">
              <a:latin typeface="Cambria"/>
              <a:cs typeface="Cambria"/>
            </a:endParaRPr>
          </a:p>
        </p:txBody>
      </p:sp>
      <p:pic>
        <p:nvPicPr>
          <p:cNvPr id="36" name="object 36"/>
          <p:cNvPicPr/>
          <p:nvPr/>
        </p:nvPicPr>
        <p:blipFill>
          <a:blip r:embed="rId8" cstate="print"/>
          <a:stretch>
            <a:fillRect/>
          </a:stretch>
        </p:blipFill>
        <p:spPr>
          <a:xfrm>
            <a:off x="7958198" y="4394974"/>
            <a:ext cx="2314791" cy="380040"/>
          </a:xfrm>
          <a:prstGeom prst="rect">
            <a:avLst/>
          </a:prstGeom>
        </p:spPr>
      </p:pic>
      <p:grpSp>
        <p:nvGrpSpPr>
          <p:cNvPr id="37" name="object 37"/>
          <p:cNvGrpSpPr/>
          <p:nvPr/>
        </p:nvGrpSpPr>
        <p:grpSpPr>
          <a:xfrm>
            <a:off x="6927309" y="4824362"/>
            <a:ext cx="1824768" cy="931098"/>
            <a:chOff x="5958649" y="4374049"/>
            <a:chExt cx="2012314" cy="1026794"/>
          </a:xfrm>
        </p:grpSpPr>
        <p:sp>
          <p:nvSpPr>
            <p:cNvPr id="38" name="object 38"/>
            <p:cNvSpPr/>
            <p:nvPr/>
          </p:nvSpPr>
          <p:spPr>
            <a:xfrm>
              <a:off x="5976619" y="4392019"/>
              <a:ext cx="153670" cy="924560"/>
            </a:xfrm>
            <a:custGeom>
              <a:avLst/>
              <a:gdLst/>
              <a:ahLst/>
              <a:cxnLst/>
              <a:rect l="l" t="t" r="r" b="b"/>
              <a:pathLst>
                <a:path w="153670" h="924560">
                  <a:moveTo>
                    <a:pt x="153669" y="0"/>
                  </a:moveTo>
                  <a:lnTo>
                    <a:pt x="125491" y="6568"/>
                  </a:lnTo>
                  <a:lnTo>
                    <a:pt x="100647" y="23971"/>
                  </a:lnTo>
                  <a:lnTo>
                    <a:pt x="82946" y="48756"/>
                  </a:lnTo>
                  <a:lnTo>
                    <a:pt x="76200" y="77470"/>
                  </a:lnTo>
                  <a:lnTo>
                    <a:pt x="76200" y="384810"/>
                  </a:lnTo>
                  <a:lnTo>
                    <a:pt x="69651" y="413523"/>
                  </a:lnTo>
                  <a:lnTo>
                    <a:pt x="52387" y="438308"/>
                  </a:lnTo>
                  <a:lnTo>
                    <a:pt x="27979" y="455711"/>
                  </a:lnTo>
                  <a:lnTo>
                    <a:pt x="0" y="462280"/>
                  </a:lnTo>
                  <a:lnTo>
                    <a:pt x="27979" y="468848"/>
                  </a:lnTo>
                  <a:lnTo>
                    <a:pt x="52387" y="486251"/>
                  </a:lnTo>
                  <a:lnTo>
                    <a:pt x="69651" y="511036"/>
                  </a:lnTo>
                  <a:lnTo>
                    <a:pt x="76200" y="539750"/>
                  </a:lnTo>
                  <a:lnTo>
                    <a:pt x="76200" y="847090"/>
                  </a:lnTo>
                  <a:lnTo>
                    <a:pt x="82946" y="875803"/>
                  </a:lnTo>
                  <a:lnTo>
                    <a:pt x="100647" y="900588"/>
                  </a:lnTo>
                  <a:lnTo>
                    <a:pt x="125491" y="917991"/>
                  </a:lnTo>
                  <a:lnTo>
                    <a:pt x="153669" y="924560"/>
                  </a:lnTo>
                </a:path>
              </a:pathLst>
            </a:custGeom>
            <a:ln w="35941">
              <a:solidFill>
                <a:srgbClr val="3364A3"/>
              </a:solidFill>
            </a:ln>
          </p:spPr>
          <p:txBody>
            <a:bodyPr wrap="square" lIns="0" tIns="0" rIns="0" bIns="0" rtlCol="0"/>
            <a:lstStyle/>
            <a:p>
              <a:endParaRPr/>
            </a:p>
          </p:txBody>
        </p:sp>
        <p:sp>
          <p:nvSpPr>
            <p:cNvPr id="39" name="object 39"/>
            <p:cNvSpPr/>
            <p:nvPr/>
          </p:nvSpPr>
          <p:spPr>
            <a:xfrm>
              <a:off x="5958649" y="4374049"/>
              <a:ext cx="189865" cy="960755"/>
            </a:xfrm>
            <a:custGeom>
              <a:avLst/>
              <a:gdLst/>
              <a:ahLst/>
              <a:cxnLst/>
              <a:rect l="l" t="t" r="r" b="b"/>
              <a:pathLst>
                <a:path w="189864" h="960754">
                  <a:moveTo>
                    <a:pt x="35941" y="17970"/>
                  </a:moveTo>
                  <a:lnTo>
                    <a:pt x="30670" y="5270"/>
                  </a:lnTo>
                  <a:lnTo>
                    <a:pt x="17970" y="0"/>
                  </a:lnTo>
                  <a:lnTo>
                    <a:pt x="5257" y="5270"/>
                  </a:lnTo>
                  <a:lnTo>
                    <a:pt x="0" y="17970"/>
                  </a:lnTo>
                  <a:lnTo>
                    <a:pt x="5257" y="30683"/>
                  </a:lnTo>
                  <a:lnTo>
                    <a:pt x="17970" y="35953"/>
                  </a:lnTo>
                  <a:lnTo>
                    <a:pt x="30670" y="30683"/>
                  </a:lnTo>
                  <a:lnTo>
                    <a:pt x="35941" y="17970"/>
                  </a:lnTo>
                  <a:close/>
                </a:path>
                <a:path w="189864" h="960754">
                  <a:moveTo>
                    <a:pt x="189611" y="942530"/>
                  </a:moveTo>
                  <a:lnTo>
                    <a:pt x="184340" y="929830"/>
                  </a:lnTo>
                  <a:lnTo>
                    <a:pt x="171640" y="924560"/>
                  </a:lnTo>
                  <a:lnTo>
                    <a:pt x="158927" y="929830"/>
                  </a:lnTo>
                  <a:lnTo>
                    <a:pt x="153657" y="942530"/>
                  </a:lnTo>
                  <a:lnTo>
                    <a:pt x="158927" y="955243"/>
                  </a:lnTo>
                  <a:lnTo>
                    <a:pt x="171640" y="960501"/>
                  </a:lnTo>
                  <a:lnTo>
                    <a:pt x="184340" y="955243"/>
                  </a:lnTo>
                  <a:lnTo>
                    <a:pt x="189611" y="942530"/>
                  </a:lnTo>
                  <a:close/>
                </a:path>
              </a:pathLst>
            </a:custGeom>
            <a:solidFill>
              <a:srgbClr val="3364A3"/>
            </a:solidFill>
          </p:spPr>
          <p:txBody>
            <a:bodyPr wrap="square" lIns="0" tIns="0" rIns="0" bIns="0" rtlCol="0"/>
            <a:lstStyle/>
            <a:p>
              <a:endParaRPr/>
            </a:p>
          </p:txBody>
        </p:sp>
        <p:pic>
          <p:nvPicPr>
            <p:cNvPr id="40" name="object 40"/>
            <p:cNvPicPr/>
            <p:nvPr/>
          </p:nvPicPr>
          <p:blipFill>
            <a:blip r:embed="rId9" cstate="print"/>
            <a:stretch>
              <a:fillRect/>
            </a:stretch>
          </p:blipFill>
          <p:spPr>
            <a:xfrm>
              <a:off x="7790300" y="4741390"/>
              <a:ext cx="180098" cy="241058"/>
            </a:xfrm>
            <a:prstGeom prst="rect">
              <a:avLst/>
            </a:prstGeom>
          </p:spPr>
        </p:pic>
        <p:pic>
          <p:nvPicPr>
            <p:cNvPr id="41" name="object 41"/>
            <p:cNvPicPr/>
            <p:nvPr/>
          </p:nvPicPr>
          <p:blipFill>
            <a:blip r:embed="rId10" cstate="print"/>
            <a:stretch>
              <a:fillRect/>
            </a:stretch>
          </p:blipFill>
          <p:spPr>
            <a:xfrm>
              <a:off x="6130289" y="4407259"/>
              <a:ext cx="1689100" cy="993140"/>
            </a:xfrm>
            <a:prstGeom prst="rect">
              <a:avLst/>
            </a:prstGeom>
          </p:spPr>
        </p:pic>
      </p:grpSp>
      <p:sp>
        <p:nvSpPr>
          <p:cNvPr id="42" name="object 42"/>
          <p:cNvSpPr txBox="1"/>
          <p:nvPr/>
        </p:nvSpPr>
        <p:spPr>
          <a:xfrm>
            <a:off x="8790832" y="5180124"/>
            <a:ext cx="809601" cy="185001"/>
          </a:xfrm>
          <a:prstGeom prst="rect">
            <a:avLst/>
          </a:prstGeom>
        </p:spPr>
        <p:txBody>
          <a:bodyPr vert="horz" wrap="square" lIns="0" tIns="10365" rIns="0" bIns="0" rtlCol="0">
            <a:spAutoFit/>
          </a:bodyPr>
          <a:lstStyle/>
          <a:p>
            <a:pPr marL="11516">
              <a:spcBef>
                <a:spcPts val="82"/>
              </a:spcBef>
            </a:pPr>
            <a:r>
              <a:rPr sz="1088" spc="77" dirty="0">
                <a:latin typeface="Arial MT"/>
                <a:cs typeface="Arial MT"/>
              </a:rPr>
              <a:t>Q(</a:t>
            </a:r>
            <a:r>
              <a:rPr sz="1134" i="1" spc="77" dirty="0">
                <a:latin typeface="Cambria"/>
                <a:cs typeface="Cambria"/>
              </a:rPr>
              <a:t>S</a:t>
            </a:r>
            <a:r>
              <a:rPr sz="725" i="1" spc="77" dirty="0">
                <a:latin typeface="Cambria"/>
                <a:cs typeface="Cambria"/>
              </a:rPr>
              <a:t>t+1</a:t>
            </a:r>
            <a:r>
              <a:rPr sz="1088" spc="77" dirty="0">
                <a:latin typeface="Cambria"/>
                <a:cs typeface="Cambria"/>
              </a:rPr>
              <a:t>,</a:t>
            </a:r>
            <a:r>
              <a:rPr sz="1134" i="1" spc="77" dirty="0">
                <a:latin typeface="Cambria"/>
                <a:cs typeface="Cambria"/>
              </a:rPr>
              <a:t>A</a:t>
            </a:r>
            <a:r>
              <a:rPr sz="725" i="1" spc="77" dirty="0">
                <a:latin typeface="Cambria"/>
                <a:cs typeface="Cambria"/>
              </a:rPr>
              <a:t>t+1</a:t>
            </a:r>
            <a:r>
              <a:rPr sz="1088" spc="77" dirty="0">
                <a:latin typeface="Arial MT"/>
                <a:cs typeface="Arial MT"/>
              </a:rPr>
              <a:t>)</a:t>
            </a:r>
            <a:endParaRPr sz="1088">
              <a:latin typeface="Arial MT"/>
              <a:cs typeface="Arial MT"/>
            </a:endParaRPr>
          </a:p>
        </p:txBody>
      </p:sp>
      <p:sp>
        <p:nvSpPr>
          <p:cNvPr id="43" name="object 43"/>
          <p:cNvSpPr txBox="1"/>
          <p:nvPr/>
        </p:nvSpPr>
        <p:spPr>
          <a:xfrm>
            <a:off x="2197708" y="1455995"/>
            <a:ext cx="603458" cy="151218"/>
          </a:xfrm>
          <a:prstGeom prst="rect">
            <a:avLst/>
          </a:prstGeom>
        </p:spPr>
        <p:txBody>
          <a:bodyPr vert="horz" wrap="square" lIns="0" tIns="11516" rIns="0" bIns="0" rtlCol="0">
            <a:spAutoFit/>
          </a:bodyPr>
          <a:lstStyle/>
          <a:p>
            <a:pPr marL="11516">
              <a:spcBef>
                <a:spcPts val="91"/>
              </a:spcBef>
            </a:pPr>
            <a:r>
              <a:rPr sz="907" i="1" dirty="0">
                <a:latin typeface="Arial"/>
                <a:cs typeface="Arial"/>
              </a:rPr>
              <a:t>aka</a:t>
            </a:r>
            <a:r>
              <a:rPr sz="907" i="1" spc="-5" dirty="0">
                <a:latin typeface="Arial"/>
                <a:cs typeface="Arial"/>
              </a:rPr>
              <a:t> </a:t>
            </a:r>
            <a:r>
              <a:rPr sz="907" i="1" dirty="0">
                <a:latin typeface="Arial"/>
                <a:cs typeface="Arial"/>
              </a:rPr>
              <a:t>L2</a:t>
            </a:r>
            <a:r>
              <a:rPr sz="907" i="1" spc="-5" dirty="0">
                <a:latin typeface="Arial"/>
                <a:cs typeface="Arial"/>
              </a:rPr>
              <a:t> </a:t>
            </a:r>
            <a:r>
              <a:rPr sz="907" i="1" spc="-18" dirty="0">
                <a:latin typeface="Arial"/>
                <a:cs typeface="Arial"/>
              </a:rPr>
              <a:t>loss</a:t>
            </a:r>
            <a:endParaRPr sz="907">
              <a:latin typeface="Arial"/>
              <a:cs typeface="Arial"/>
            </a:endParaRPr>
          </a:p>
        </p:txBody>
      </p:sp>
      <p:grpSp>
        <p:nvGrpSpPr>
          <p:cNvPr id="44" name="object 44"/>
          <p:cNvGrpSpPr/>
          <p:nvPr/>
        </p:nvGrpSpPr>
        <p:grpSpPr>
          <a:xfrm>
            <a:off x="2633602" y="1641985"/>
            <a:ext cx="196354" cy="354128"/>
            <a:chOff x="1223644" y="864594"/>
            <a:chExt cx="216535" cy="390525"/>
          </a:xfrm>
        </p:grpSpPr>
        <p:sp>
          <p:nvSpPr>
            <p:cNvPr id="45" name="object 45"/>
            <p:cNvSpPr/>
            <p:nvPr/>
          </p:nvSpPr>
          <p:spPr>
            <a:xfrm>
              <a:off x="1224279" y="865229"/>
              <a:ext cx="140970" cy="255270"/>
            </a:xfrm>
            <a:custGeom>
              <a:avLst/>
              <a:gdLst/>
              <a:ahLst/>
              <a:cxnLst/>
              <a:rect l="l" t="t" r="r" b="b"/>
              <a:pathLst>
                <a:path w="140969" h="255269">
                  <a:moveTo>
                    <a:pt x="0" y="0"/>
                  </a:moveTo>
                  <a:lnTo>
                    <a:pt x="140969" y="255270"/>
                  </a:lnTo>
                </a:path>
              </a:pathLst>
            </a:custGeom>
            <a:ln w="3175">
              <a:solidFill>
                <a:srgbClr val="000000"/>
              </a:solidFill>
            </a:ln>
          </p:spPr>
          <p:txBody>
            <a:bodyPr wrap="square" lIns="0" tIns="0" rIns="0" bIns="0" rtlCol="0"/>
            <a:lstStyle/>
            <a:p>
              <a:endParaRPr/>
            </a:p>
          </p:txBody>
        </p:sp>
        <p:sp>
          <p:nvSpPr>
            <p:cNvPr id="46" name="object 46"/>
            <p:cNvSpPr/>
            <p:nvPr/>
          </p:nvSpPr>
          <p:spPr>
            <a:xfrm>
              <a:off x="1314449" y="1087479"/>
              <a:ext cx="125730" cy="167640"/>
            </a:xfrm>
            <a:custGeom>
              <a:avLst/>
              <a:gdLst/>
              <a:ahLst/>
              <a:cxnLst/>
              <a:rect l="l" t="t" r="r" b="b"/>
              <a:pathLst>
                <a:path w="125730" h="167640">
                  <a:moveTo>
                    <a:pt x="93980" y="0"/>
                  </a:moveTo>
                  <a:lnTo>
                    <a:pt x="0" y="52070"/>
                  </a:lnTo>
                  <a:lnTo>
                    <a:pt x="125730" y="167639"/>
                  </a:lnTo>
                  <a:lnTo>
                    <a:pt x="9398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5204165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044690" y="2041920"/>
            <a:ext cx="3513070" cy="832058"/>
            <a:chOff x="6088094" y="1305634"/>
            <a:chExt cx="3874135" cy="917575"/>
          </a:xfrm>
        </p:grpSpPr>
        <p:sp>
          <p:nvSpPr>
            <p:cNvPr id="3" name="object 3"/>
            <p:cNvSpPr/>
            <p:nvPr/>
          </p:nvSpPr>
          <p:spPr>
            <a:xfrm>
              <a:off x="6115050" y="1332590"/>
              <a:ext cx="3820160" cy="863600"/>
            </a:xfrm>
            <a:custGeom>
              <a:avLst/>
              <a:gdLst/>
              <a:ahLst/>
              <a:cxnLst/>
              <a:rect l="l" t="t" r="r" b="b"/>
              <a:pathLst>
                <a:path w="3820159" h="863600">
                  <a:moveTo>
                    <a:pt x="148589" y="0"/>
                  </a:moveTo>
                  <a:lnTo>
                    <a:pt x="106344" y="8097"/>
                  </a:lnTo>
                  <a:lnTo>
                    <a:pt x="67269" y="30032"/>
                  </a:lnTo>
                  <a:lnTo>
                    <a:pt x="34838" y="62270"/>
                  </a:lnTo>
                  <a:lnTo>
                    <a:pt x="12527" y="101274"/>
                  </a:lnTo>
                  <a:lnTo>
                    <a:pt x="3810" y="143510"/>
                  </a:lnTo>
                  <a:lnTo>
                    <a:pt x="0" y="720089"/>
                  </a:lnTo>
                  <a:lnTo>
                    <a:pt x="8097" y="762325"/>
                  </a:lnTo>
                  <a:lnTo>
                    <a:pt x="30032" y="801329"/>
                  </a:lnTo>
                  <a:lnTo>
                    <a:pt x="62270" y="833567"/>
                  </a:lnTo>
                  <a:lnTo>
                    <a:pt x="101274" y="855502"/>
                  </a:lnTo>
                  <a:lnTo>
                    <a:pt x="143510" y="863600"/>
                  </a:lnTo>
                  <a:lnTo>
                    <a:pt x="3671570" y="863600"/>
                  </a:lnTo>
                  <a:lnTo>
                    <a:pt x="3714435" y="855502"/>
                  </a:lnTo>
                  <a:lnTo>
                    <a:pt x="3753886" y="833567"/>
                  </a:lnTo>
                  <a:lnTo>
                    <a:pt x="3786510" y="801329"/>
                  </a:lnTo>
                  <a:lnTo>
                    <a:pt x="3808892" y="762325"/>
                  </a:lnTo>
                  <a:lnTo>
                    <a:pt x="3817620" y="720089"/>
                  </a:lnTo>
                  <a:lnTo>
                    <a:pt x="3820159" y="143510"/>
                  </a:lnTo>
                  <a:lnTo>
                    <a:pt x="3812672" y="101274"/>
                  </a:lnTo>
                  <a:lnTo>
                    <a:pt x="3791041" y="62270"/>
                  </a:lnTo>
                  <a:lnTo>
                    <a:pt x="3758803" y="30032"/>
                  </a:lnTo>
                  <a:lnTo>
                    <a:pt x="3719494" y="8097"/>
                  </a:lnTo>
                  <a:lnTo>
                    <a:pt x="3676650" y="0"/>
                  </a:lnTo>
                  <a:lnTo>
                    <a:pt x="148589" y="0"/>
                  </a:lnTo>
                  <a:close/>
                </a:path>
              </a:pathLst>
            </a:custGeom>
            <a:ln w="53911">
              <a:solidFill>
                <a:srgbClr val="FBD2C0"/>
              </a:solidFill>
            </a:ln>
          </p:spPr>
          <p:txBody>
            <a:bodyPr wrap="square" lIns="0" tIns="0" rIns="0" bIns="0" rtlCol="0"/>
            <a:lstStyle/>
            <a:p>
              <a:endParaRPr/>
            </a:p>
          </p:txBody>
        </p:sp>
        <p:sp>
          <p:nvSpPr>
            <p:cNvPr id="4" name="object 4"/>
            <p:cNvSpPr/>
            <p:nvPr/>
          </p:nvSpPr>
          <p:spPr>
            <a:xfrm>
              <a:off x="6093168" y="1305640"/>
              <a:ext cx="3865245" cy="917575"/>
            </a:xfrm>
            <a:custGeom>
              <a:avLst/>
              <a:gdLst/>
              <a:ahLst/>
              <a:cxnLst/>
              <a:rect l="l" t="t" r="r" b="b"/>
              <a:pathLst>
                <a:path w="3865245" h="917575">
                  <a:moveTo>
                    <a:pt x="53911" y="26949"/>
                  </a:moveTo>
                  <a:lnTo>
                    <a:pt x="46012" y="7899"/>
                  </a:lnTo>
                  <a:lnTo>
                    <a:pt x="26962" y="0"/>
                  </a:lnTo>
                  <a:lnTo>
                    <a:pt x="7899" y="7899"/>
                  </a:lnTo>
                  <a:lnTo>
                    <a:pt x="0" y="26949"/>
                  </a:lnTo>
                  <a:lnTo>
                    <a:pt x="7899" y="46012"/>
                  </a:lnTo>
                  <a:lnTo>
                    <a:pt x="26962" y="53911"/>
                  </a:lnTo>
                  <a:lnTo>
                    <a:pt x="46012" y="46012"/>
                  </a:lnTo>
                  <a:lnTo>
                    <a:pt x="53911" y="26949"/>
                  </a:lnTo>
                  <a:close/>
                </a:path>
                <a:path w="3865245" h="917575">
                  <a:moveTo>
                    <a:pt x="3865181" y="890549"/>
                  </a:moveTo>
                  <a:lnTo>
                    <a:pt x="3857282" y="871499"/>
                  </a:lnTo>
                  <a:lnTo>
                    <a:pt x="3838232" y="863600"/>
                  </a:lnTo>
                  <a:lnTo>
                    <a:pt x="3819169" y="871499"/>
                  </a:lnTo>
                  <a:lnTo>
                    <a:pt x="3811270" y="890549"/>
                  </a:lnTo>
                  <a:lnTo>
                    <a:pt x="3819169" y="909612"/>
                  </a:lnTo>
                  <a:lnTo>
                    <a:pt x="3838232" y="917511"/>
                  </a:lnTo>
                  <a:lnTo>
                    <a:pt x="3857282" y="909612"/>
                  </a:lnTo>
                  <a:lnTo>
                    <a:pt x="3865181" y="890549"/>
                  </a:lnTo>
                  <a:close/>
                </a:path>
              </a:pathLst>
            </a:custGeom>
            <a:solidFill>
              <a:srgbClr val="FBD2C0"/>
            </a:solidFill>
          </p:spPr>
          <p:txBody>
            <a:bodyPr wrap="square" lIns="0" tIns="0" rIns="0" bIns="0" rtlCol="0"/>
            <a:lstStyle/>
            <a:p>
              <a:endParaRPr/>
            </a:p>
          </p:txBody>
        </p:sp>
      </p:grpSp>
      <p:grpSp>
        <p:nvGrpSpPr>
          <p:cNvPr id="5" name="object 5"/>
          <p:cNvGrpSpPr/>
          <p:nvPr/>
        </p:nvGrpSpPr>
        <p:grpSpPr>
          <a:xfrm>
            <a:off x="2293295" y="2653699"/>
            <a:ext cx="2036095" cy="1330141"/>
            <a:chOff x="848360" y="1980289"/>
            <a:chExt cx="2245360" cy="1466850"/>
          </a:xfrm>
        </p:grpSpPr>
        <p:pic>
          <p:nvPicPr>
            <p:cNvPr id="6" name="object 6"/>
            <p:cNvPicPr/>
            <p:nvPr/>
          </p:nvPicPr>
          <p:blipFill>
            <a:blip r:embed="rId2" cstate="print"/>
            <a:stretch>
              <a:fillRect/>
            </a:stretch>
          </p:blipFill>
          <p:spPr>
            <a:xfrm>
              <a:off x="848360" y="1980289"/>
              <a:ext cx="2245360" cy="1466850"/>
            </a:xfrm>
            <a:prstGeom prst="rect">
              <a:avLst/>
            </a:prstGeom>
          </p:spPr>
        </p:pic>
        <p:sp>
          <p:nvSpPr>
            <p:cNvPr id="7" name="object 7"/>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8" name="object 8"/>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9" name="object 9"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224569">
              <a:spcBef>
                <a:spcPts val="91"/>
              </a:spcBef>
            </a:pPr>
            <a:r>
              <a:rPr dirty="0"/>
              <a:t>Regression</a:t>
            </a:r>
            <a:r>
              <a:rPr spc="-103" dirty="0"/>
              <a:t> </a:t>
            </a:r>
            <a:r>
              <a:rPr dirty="0"/>
              <a:t>loss</a:t>
            </a:r>
            <a:r>
              <a:rPr spc="-54" dirty="0"/>
              <a:t> </a:t>
            </a:r>
            <a:r>
              <a:rPr spc="-9" dirty="0"/>
              <a:t>functions</a:t>
            </a:r>
          </a:p>
        </p:txBody>
      </p:sp>
      <p:sp>
        <p:nvSpPr>
          <p:cNvPr id="10" name="object 10"/>
          <p:cNvSpPr txBox="1"/>
          <p:nvPr/>
        </p:nvSpPr>
        <p:spPr>
          <a:xfrm>
            <a:off x="1969685" y="1953504"/>
            <a:ext cx="2855485"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Mean</a:t>
            </a:r>
            <a:r>
              <a:rPr sz="2539" i="1" spc="-86" dirty="0">
                <a:latin typeface="Arial"/>
                <a:cs typeface="Arial"/>
              </a:rPr>
              <a:t> </a:t>
            </a:r>
            <a:r>
              <a:rPr sz="2539" i="1" dirty="0">
                <a:latin typeface="Arial"/>
                <a:cs typeface="Arial"/>
              </a:rPr>
              <a:t>squared</a:t>
            </a:r>
            <a:r>
              <a:rPr sz="2539" i="1" spc="-86" dirty="0">
                <a:latin typeface="Arial"/>
                <a:cs typeface="Arial"/>
              </a:rPr>
              <a:t> </a:t>
            </a:r>
            <a:r>
              <a:rPr sz="2539" i="1" spc="-18" dirty="0">
                <a:latin typeface="Arial"/>
                <a:cs typeface="Arial"/>
              </a:rPr>
              <a:t>error</a:t>
            </a:r>
            <a:endParaRPr sz="2539">
              <a:latin typeface="Arial"/>
              <a:cs typeface="Arial"/>
            </a:endParaRPr>
          </a:p>
        </p:txBody>
      </p:sp>
      <p:sp>
        <p:nvSpPr>
          <p:cNvPr id="11" name="object 11"/>
          <p:cNvSpPr txBox="1"/>
          <p:nvPr/>
        </p:nvSpPr>
        <p:spPr>
          <a:xfrm>
            <a:off x="2441855" y="2732010"/>
            <a:ext cx="586183"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a:t>
            </a:r>
            <a:endParaRPr sz="1814">
              <a:latin typeface="Arial"/>
              <a:cs typeface="Arial"/>
            </a:endParaRPr>
          </a:p>
        </p:txBody>
      </p:sp>
      <p:grpSp>
        <p:nvGrpSpPr>
          <p:cNvPr id="12" name="object 12"/>
          <p:cNvGrpSpPr/>
          <p:nvPr/>
        </p:nvGrpSpPr>
        <p:grpSpPr>
          <a:xfrm>
            <a:off x="6943605" y="4351211"/>
            <a:ext cx="913248" cy="392708"/>
            <a:chOff x="5976620" y="3852269"/>
            <a:chExt cx="1007110" cy="433070"/>
          </a:xfrm>
        </p:grpSpPr>
        <p:sp>
          <p:nvSpPr>
            <p:cNvPr id="13" name="object 13"/>
            <p:cNvSpPr/>
            <p:nvPr/>
          </p:nvSpPr>
          <p:spPr>
            <a:xfrm>
              <a:off x="5976620" y="3852269"/>
              <a:ext cx="1007110" cy="433070"/>
            </a:xfrm>
            <a:custGeom>
              <a:avLst/>
              <a:gdLst/>
              <a:ahLst/>
              <a:cxnLst/>
              <a:rect l="l" t="t" r="r" b="b"/>
              <a:pathLst>
                <a:path w="1007109" h="433070">
                  <a:moveTo>
                    <a:pt x="934720" y="0"/>
                  </a:moveTo>
                  <a:lnTo>
                    <a:pt x="71119" y="0"/>
                  </a:lnTo>
                  <a:lnTo>
                    <a:pt x="45005" y="6131"/>
                  </a:lnTo>
                  <a:lnTo>
                    <a:pt x="22225" y="22383"/>
                  </a:lnTo>
                  <a:lnTo>
                    <a:pt x="6111" y="45541"/>
                  </a:lnTo>
                  <a:lnTo>
                    <a:pt x="0" y="72390"/>
                  </a:lnTo>
                  <a:lnTo>
                    <a:pt x="0" y="360680"/>
                  </a:lnTo>
                  <a:lnTo>
                    <a:pt x="6111" y="386992"/>
                  </a:lnTo>
                  <a:lnTo>
                    <a:pt x="22225" y="410210"/>
                  </a:lnTo>
                  <a:lnTo>
                    <a:pt x="45005" y="426759"/>
                  </a:lnTo>
                  <a:lnTo>
                    <a:pt x="71119" y="433070"/>
                  </a:lnTo>
                  <a:lnTo>
                    <a:pt x="934720" y="433070"/>
                  </a:lnTo>
                  <a:lnTo>
                    <a:pt x="961568" y="426759"/>
                  </a:lnTo>
                  <a:lnTo>
                    <a:pt x="984726" y="410210"/>
                  </a:lnTo>
                  <a:lnTo>
                    <a:pt x="1000978" y="386992"/>
                  </a:lnTo>
                  <a:lnTo>
                    <a:pt x="1007109" y="360680"/>
                  </a:lnTo>
                  <a:lnTo>
                    <a:pt x="1007109" y="72390"/>
                  </a:lnTo>
                  <a:lnTo>
                    <a:pt x="1000978" y="45541"/>
                  </a:lnTo>
                  <a:lnTo>
                    <a:pt x="984726" y="22383"/>
                  </a:lnTo>
                  <a:lnTo>
                    <a:pt x="961568" y="6131"/>
                  </a:lnTo>
                  <a:lnTo>
                    <a:pt x="934720" y="0"/>
                  </a:lnTo>
                  <a:close/>
                </a:path>
              </a:pathLst>
            </a:custGeom>
            <a:solidFill>
              <a:srgbClr val="719ECE"/>
            </a:solidFill>
          </p:spPr>
          <p:txBody>
            <a:bodyPr wrap="square" lIns="0" tIns="0" rIns="0" bIns="0" rtlCol="0"/>
            <a:lstStyle/>
            <a:p>
              <a:endParaRPr/>
            </a:p>
          </p:txBody>
        </p:sp>
        <p:sp>
          <p:nvSpPr>
            <p:cNvPr id="14" name="object 14"/>
            <p:cNvSpPr/>
            <p:nvPr/>
          </p:nvSpPr>
          <p:spPr>
            <a:xfrm>
              <a:off x="5976620" y="3852269"/>
              <a:ext cx="1007110" cy="433070"/>
            </a:xfrm>
            <a:custGeom>
              <a:avLst/>
              <a:gdLst/>
              <a:ahLst/>
              <a:cxnLst/>
              <a:rect l="l" t="t" r="r" b="b"/>
              <a:pathLst>
                <a:path w="1007109" h="433070">
                  <a:moveTo>
                    <a:pt x="71119" y="0"/>
                  </a:moveTo>
                  <a:lnTo>
                    <a:pt x="45005" y="6131"/>
                  </a:lnTo>
                  <a:lnTo>
                    <a:pt x="22225" y="22383"/>
                  </a:lnTo>
                  <a:lnTo>
                    <a:pt x="6111" y="45541"/>
                  </a:lnTo>
                  <a:lnTo>
                    <a:pt x="0" y="72390"/>
                  </a:lnTo>
                  <a:lnTo>
                    <a:pt x="0" y="360680"/>
                  </a:lnTo>
                  <a:lnTo>
                    <a:pt x="6111" y="386992"/>
                  </a:lnTo>
                  <a:lnTo>
                    <a:pt x="22225" y="410210"/>
                  </a:lnTo>
                  <a:lnTo>
                    <a:pt x="45005" y="426759"/>
                  </a:lnTo>
                  <a:lnTo>
                    <a:pt x="71119" y="433070"/>
                  </a:lnTo>
                  <a:lnTo>
                    <a:pt x="934720" y="433070"/>
                  </a:lnTo>
                  <a:lnTo>
                    <a:pt x="961568" y="426759"/>
                  </a:lnTo>
                  <a:lnTo>
                    <a:pt x="984726" y="410210"/>
                  </a:lnTo>
                  <a:lnTo>
                    <a:pt x="1000978" y="386992"/>
                  </a:lnTo>
                  <a:lnTo>
                    <a:pt x="1007109" y="360680"/>
                  </a:lnTo>
                  <a:lnTo>
                    <a:pt x="1007109" y="72390"/>
                  </a:lnTo>
                  <a:lnTo>
                    <a:pt x="1000978" y="45541"/>
                  </a:lnTo>
                  <a:lnTo>
                    <a:pt x="984726" y="22383"/>
                  </a:lnTo>
                  <a:lnTo>
                    <a:pt x="961568" y="6131"/>
                  </a:lnTo>
                  <a:lnTo>
                    <a:pt x="934720" y="0"/>
                  </a:lnTo>
                  <a:lnTo>
                    <a:pt x="71119" y="0"/>
                  </a:lnTo>
                  <a:close/>
                </a:path>
              </a:pathLst>
            </a:custGeom>
            <a:ln w="3175">
              <a:solidFill>
                <a:srgbClr val="3364A3"/>
              </a:solidFill>
            </a:ln>
          </p:spPr>
          <p:txBody>
            <a:bodyPr wrap="square" lIns="0" tIns="0" rIns="0" bIns="0" rtlCol="0"/>
            <a:lstStyle/>
            <a:p>
              <a:endParaRPr/>
            </a:p>
          </p:txBody>
        </p:sp>
      </p:grpSp>
      <p:sp>
        <p:nvSpPr>
          <p:cNvPr id="15" name="object 15"/>
          <p:cNvSpPr txBox="1"/>
          <p:nvPr/>
        </p:nvSpPr>
        <p:spPr>
          <a:xfrm>
            <a:off x="7023068" y="4377701"/>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grpSp>
        <p:nvGrpSpPr>
          <p:cNvPr id="16" name="object 16"/>
          <p:cNvGrpSpPr/>
          <p:nvPr/>
        </p:nvGrpSpPr>
        <p:grpSpPr>
          <a:xfrm>
            <a:off x="4751868" y="2752568"/>
            <a:ext cx="2440895" cy="1240889"/>
            <a:chOff x="3559619" y="2089319"/>
            <a:chExt cx="2691765" cy="1368425"/>
          </a:xfrm>
        </p:grpSpPr>
        <p:sp>
          <p:nvSpPr>
            <p:cNvPr id="17" name="object 17"/>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8" name="object 18"/>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19" name="object 19"/>
            <p:cNvSpPr/>
            <p:nvPr/>
          </p:nvSpPr>
          <p:spPr>
            <a:xfrm>
              <a:off x="6026150" y="2592430"/>
              <a:ext cx="207010" cy="288290"/>
            </a:xfrm>
            <a:custGeom>
              <a:avLst/>
              <a:gdLst/>
              <a:ahLst/>
              <a:cxnLst/>
              <a:rect l="l" t="t" r="r" b="b"/>
              <a:pathLst>
                <a:path w="207010" h="288289">
                  <a:moveTo>
                    <a:pt x="0" y="0"/>
                  </a:moveTo>
                  <a:lnTo>
                    <a:pt x="38238" y="1984"/>
                  </a:lnTo>
                  <a:lnTo>
                    <a:pt x="71596" y="7302"/>
                  </a:lnTo>
                  <a:lnTo>
                    <a:pt x="95190" y="15001"/>
                  </a:lnTo>
                  <a:lnTo>
                    <a:pt x="104139" y="24130"/>
                  </a:lnTo>
                  <a:lnTo>
                    <a:pt x="104139" y="119380"/>
                  </a:lnTo>
                  <a:lnTo>
                    <a:pt x="113069" y="128508"/>
                  </a:lnTo>
                  <a:lnTo>
                    <a:pt x="136525" y="136207"/>
                  </a:lnTo>
                  <a:lnTo>
                    <a:pt x="169505" y="141525"/>
                  </a:lnTo>
                  <a:lnTo>
                    <a:pt x="207010" y="143510"/>
                  </a:lnTo>
                  <a:lnTo>
                    <a:pt x="169505" y="145672"/>
                  </a:lnTo>
                  <a:lnTo>
                    <a:pt x="136525" y="151288"/>
                  </a:lnTo>
                  <a:lnTo>
                    <a:pt x="113069" y="159047"/>
                  </a:lnTo>
                  <a:lnTo>
                    <a:pt x="104139" y="167640"/>
                  </a:lnTo>
                  <a:lnTo>
                    <a:pt x="104139" y="264160"/>
                  </a:lnTo>
                  <a:lnTo>
                    <a:pt x="95190" y="272752"/>
                  </a:lnTo>
                  <a:lnTo>
                    <a:pt x="71596" y="280511"/>
                  </a:lnTo>
                  <a:lnTo>
                    <a:pt x="38238" y="286127"/>
                  </a:lnTo>
                  <a:lnTo>
                    <a:pt x="0" y="288290"/>
                  </a:lnTo>
                </a:path>
              </a:pathLst>
            </a:custGeom>
            <a:ln w="35941">
              <a:solidFill>
                <a:srgbClr val="3364A3"/>
              </a:solidFill>
            </a:ln>
          </p:spPr>
          <p:txBody>
            <a:bodyPr wrap="square" lIns="0" tIns="0" rIns="0" bIns="0" rtlCol="0"/>
            <a:lstStyle/>
            <a:p>
              <a:endParaRPr/>
            </a:p>
          </p:txBody>
        </p:sp>
        <p:sp>
          <p:nvSpPr>
            <p:cNvPr id="20" name="object 20"/>
            <p:cNvSpPr/>
            <p:nvPr/>
          </p:nvSpPr>
          <p:spPr>
            <a:xfrm>
              <a:off x="6008179" y="2574459"/>
              <a:ext cx="243204" cy="324485"/>
            </a:xfrm>
            <a:custGeom>
              <a:avLst/>
              <a:gdLst/>
              <a:ahLst/>
              <a:cxnLst/>
              <a:rect l="l" t="t" r="r" b="b"/>
              <a:pathLst>
                <a:path w="243204" h="324485">
                  <a:moveTo>
                    <a:pt x="35941" y="306260"/>
                  </a:moveTo>
                  <a:lnTo>
                    <a:pt x="30670" y="293560"/>
                  </a:lnTo>
                  <a:lnTo>
                    <a:pt x="17970" y="288290"/>
                  </a:lnTo>
                  <a:lnTo>
                    <a:pt x="5257" y="293560"/>
                  </a:lnTo>
                  <a:lnTo>
                    <a:pt x="0" y="306260"/>
                  </a:lnTo>
                  <a:lnTo>
                    <a:pt x="5257" y="318973"/>
                  </a:lnTo>
                  <a:lnTo>
                    <a:pt x="17970" y="324231"/>
                  </a:lnTo>
                  <a:lnTo>
                    <a:pt x="30670" y="318973"/>
                  </a:lnTo>
                  <a:lnTo>
                    <a:pt x="35941" y="306260"/>
                  </a:lnTo>
                  <a:close/>
                </a:path>
                <a:path w="243204" h="32448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pic>
          <p:nvPicPr>
            <p:cNvPr id="21" name="object 21"/>
            <p:cNvPicPr/>
            <p:nvPr/>
          </p:nvPicPr>
          <p:blipFill>
            <a:blip r:embed="rId3" cstate="print"/>
            <a:stretch>
              <a:fillRect/>
            </a:stretch>
          </p:blipFill>
          <p:spPr>
            <a:xfrm>
              <a:off x="3784600" y="2127610"/>
              <a:ext cx="2263140" cy="1329689"/>
            </a:xfrm>
            <a:prstGeom prst="rect">
              <a:avLst/>
            </a:prstGeom>
          </p:spPr>
        </p:pic>
      </p:grpSp>
      <p:sp>
        <p:nvSpPr>
          <p:cNvPr id="22" name="object 22"/>
          <p:cNvSpPr txBox="1"/>
          <p:nvPr/>
        </p:nvSpPr>
        <p:spPr>
          <a:xfrm>
            <a:off x="7221151" y="3217734"/>
            <a:ext cx="535511" cy="185001"/>
          </a:xfrm>
          <a:prstGeom prst="rect">
            <a:avLst/>
          </a:prstGeom>
        </p:spPr>
        <p:txBody>
          <a:bodyPr vert="horz" wrap="square" lIns="0" tIns="10365" rIns="0" bIns="0" rtlCol="0">
            <a:spAutoFit/>
          </a:bodyPr>
          <a:lstStyle/>
          <a:p>
            <a:pPr marL="11516">
              <a:spcBef>
                <a:spcPts val="82"/>
              </a:spcBef>
            </a:pPr>
            <a:r>
              <a:rPr sz="1088" spc="50" dirty="0">
                <a:latin typeface="Arial MT"/>
                <a:cs typeface="Arial MT"/>
              </a:rPr>
              <a:t>Q(</a:t>
            </a:r>
            <a:r>
              <a:rPr sz="1134" i="1" spc="50" dirty="0">
                <a:latin typeface="Cambria"/>
                <a:cs typeface="Cambria"/>
              </a:rPr>
              <a:t>S</a:t>
            </a:r>
            <a:r>
              <a:rPr sz="725" i="1" spc="50" dirty="0">
                <a:latin typeface="Cambria"/>
                <a:cs typeface="Cambria"/>
              </a:rPr>
              <a:t>t</a:t>
            </a:r>
            <a:r>
              <a:rPr sz="1088" spc="50" dirty="0">
                <a:latin typeface="Cambria"/>
                <a:cs typeface="Cambria"/>
              </a:rPr>
              <a:t>,</a:t>
            </a:r>
            <a:r>
              <a:rPr sz="1134" i="1" spc="50" dirty="0">
                <a:latin typeface="Cambria"/>
                <a:cs typeface="Cambria"/>
              </a:rPr>
              <a:t>A</a:t>
            </a:r>
            <a:r>
              <a:rPr sz="725" i="1" spc="50" dirty="0">
                <a:latin typeface="Cambria"/>
                <a:cs typeface="Cambria"/>
              </a:rPr>
              <a:t>t</a:t>
            </a:r>
            <a:r>
              <a:rPr sz="1088" spc="50" dirty="0">
                <a:latin typeface="Arial MT"/>
                <a:cs typeface="Arial MT"/>
              </a:rPr>
              <a:t>)</a:t>
            </a:r>
            <a:endParaRPr sz="1088">
              <a:latin typeface="Arial MT"/>
              <a:cs typeface="Arial MT"/>
            </a:endParaRPr>
          </a:p>
        </p:txBody>
      </p:sp>
      <p:grpSp>
        <p:nvGrpSpPr>
          <p:cNvPr id="23" name="object 23"/>
          <p:cNvGrpSpPr/>
          <p:nvPr/>
        </p:nvGrpSpPr>
        <p:grpSpPr>
          <a:xfrm>
            <a:off x="4840715" y="2016842"/>
            <a:ext cx="1384268" cy="489446"/>
            <a:chOff x="3657600" y="1277979"/>
            <a:chExt cx="1526540" cy="539750"/>
          </a:xfrm>
        </p:grpSpPr>
        <p:sp>
          <p:nvSpPr>
            <p:cNvPr id="24" name="object 24"/>
            <p:cNvSpPr/>
            <p:nvPr/>
          </p:nvSpPr>
          <p:spPr>
            <a:xfrm>
              <a:off x="3666489" y="1277979"/>
              <a:ext cx="1508760" cy="539750"/>
            </a:xfrm>
            <a:custGeom>
              <a:avLst/>
              <a:gdLst/>
              <a:ahLst/>
              <a:cxnLst/>
              <a:rect l="l" t="t" r="r" b="b"/>
              <a:pathLst>
                <a:path w="1508760" h="539750">
                  <a:moveTo>
                    <a:pt x="1414780" y="0"/>
                  </a:moveTo>
                  <a:lnTo>
                    <a:pt x="40639" y="242570"/>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close/>
                </a:path>
              </a:pathLst>
            </a:custGeom>
            <a:solidFill>
              <a:srgbClr val="ACD489"/>
            </a:solidFill>
          </p:spPr>
          <p:txBody>
            <a:bodyPr wrap="square" lIns="0" tIns="0" rIns="0" bIns="0" rtlCol="0"/>
            <a:lstStyle/>
            <a:p>
              <a:endParaRPr/>
            </a:p>
          </p:txBody>
        </p:sp>
        <p:sp>
          <p:nvSpPr>
            <p:cNvPr id="25" name="object 25"/>
            <p:cNvSpPr/>
            <p:nvPr/>
          </p:nvSpPr>
          <p:spPr>
            <a:xfrm>
              <a:off x="3666489" y="1277979"/>
              <a:ext cx="1508760" cy="539750"/>
            </a:xfrm>
            <a:custGeom>
              <a:avLst/>
              <a:gdLst/>
              <a:ahLst/>
              <a:cxnLst/>
              <a:rect l="l" t="t" r="r" b="b"/>
              <a:pathLst>
                <a:path w="1508760" h="539750">
                  <a:moveTo>
                    <a:pt x="40639" y="242570"/>
                  </a:moveTo>
                  <a:lnTo>
                    <a:pt x="23574" y="249733"/>
                  </a:lnTo>
                  <a:lnTo>
                    <a:pt x="9842" y="263683"/>
                  </a:lnTo>
                  <a:lnTo>
                    <a:pt x="1349" y="281682"/>
                  </a:lnTo>
                  <a:lnTo>
                    <a:pt x="0" y="300989"/>
                  </a:lnTo>
                  <a:lnTo>
                    <a:pt x="35560" y="499110"/>
                  </a:lnTo>
                  <a:lnTo>
                    <a:pt x="42723" y="516889"/>
                  </a:lnTo>
                  <a:lnTo>
                    <a:pt x="56673" y="530860"/>
                  </a:lnTo>
                  <a:lnTo>
                    <a:pt x="74672" y="539114"/>
                  </a:lnTo>
                  <a:lnTo>
                    <a:pt x="93980" y="539750"/>
                  </a:lnTo>
                  <a:lnTo>
                    <a:pt x="1468120" y="298450"/>
                  </a:lnTo>
                  <a:lnTo>
                    <a:pt x="1485185" y="290572"/>
                  </a:lnTo>
                  <a:lnTo>
                    <a:pt x="1498917" y="276383"/>
                  </a:lnTo>
                  <a:lnTo>
                    <a:pt x="1507410" y="258623"/>
                  </a:lnTo>
                  <a:lnTo>
                    <a:pt x="1508760" y="240030"/>
                  </a:lnTo>
                  <a:lnTo>
                    <a:pt x="1474470" y="40639"/>
                  </a:lnTo>
                  <a:lnTo>
                    <a:pt x="1466572" y="23038"/>
                  </a:lnTo>
                  <a:lnTo>
                    <a:pt x="1452245" y="9366"/>
                  </a:lnTo>
                  <a:lnTo>
                    <a:pt x="1434107" y="1170"/>
                  </a:lnTo>
                  <a:lnTo>
                    <a:pt x="1414780" y="0"/>
                  </a:lnTo>
                  <a:lnTo>
                    <a:pt x="40639" y="242570"/>
                  </a:lnTo>
                  <a:close/>
                </a:path>
              </a:pathLst>
            </a:custGeom>
            <a:ln w="3175">
              <a:solidFill>
                <a:srgbClr val="3364A3"/>
              </a:solidFill>
            </a:ln>
          </p:spPr>
          <p:txBody>
            <a:bodyPr wrap="square" lIns="0" tIns="0" rIns="0" bIns="0" rtlCol="0"/>
            <a:lstStyle/>
            <a:p>
              <a:endParaRPr/>
            </a:p>
          </p:txBody>
        </p:sp>
      </p:grpSp>
      <p:sp>
        <p:nvSpPr>
          <p:cNvPr id="26" name="object 26"/>
          <p:cNvSpPr txBox="1"/>
          <p:nvPr/>
        </p:nvSpPr>
        <p:spPr>
          <a:xfrm rot="21060000">
            <a:off x="4929056" y="2197522"/>
            <a:ext cx="1174765"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.MSE</a:t>
            </a:r>
            <a:r>
              <a:rPr sz="1632" spc="-14" baseline="6944" dirty="0">
                <a:latin typeface="Arial MT"/>
                <a:cs typeface="Arial MT"/>
              </a:rPr>
              <a:t>Loss</a:t>
            </a:r>
            <a:endParaRPr sz="1632" baseline="6944">
              <a:latin typeface="Arial MT"/>
              <a:cs typeface="Arial MT"/>
            </a:endParaRPr>
          </a:p>
        </p:txBody>
      </p:sp>
      <p:pic>
        <p:nvPicPr>
          <p:cNvPr id="27" name="object 27"/>
          <p:cNvPicPr/>
          <p:nvPr/>
        </p:nvPicPr>
        <p:blipFill>
          <a:blip r:embed="rId4" cstate="print"/>
          <a:stretch>
            <a:fillRect/>
          </a:stretch>
        </p:blipFill>
        <p:spPr>
          <a:xfrm>
            <a:off x="4102515" y="2947366"/>
            <a:ext cx="99040" cy="131287"/>
          </a:xfrm>
          <a:prstGeom prst="rect">
            <a:avLst/>
          </a:prstGeom>
        </p:spPr>
      </p:pic>
      <p:sp>
        <p:nvSpPr>
          <p:cNvPr id="28" name="object 28"/>
          <p:cNvSpPr txBox="1"/>
          <p:nvPr/>
        </p:nvSpPr>
        <p:spPr>
          <a:xfrm>
            <a:off x="2292142" y="3937845"/>
            <a:ext cx="1415938"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state</a:t>
            </a:r>
            <a:r>
              <a:rPr sz="1270" spc="14" dirty="0">
                <a:latin typeface="Arial MT"/>
                <a:cs typeface="Arial MT"/>
              </a:rPr>
              <a:t> </a:t>
            </a:r>
            <a:r>
              <a:rPr sz="1315" i="1" spc="136" dirty="0">
                <a:latin typeface="Cambria"/>
                <a:cs typeface="Cambria"/>
              </a:rPr>
              <a:t>S</a:t>
            </a:r>
            <a:r>
              <a:rPr sz="725" i="1" spc="136" dirty="0">
                <a:latin typeface="Cambria"/>
                <a:cs typeface="Cambria"/>
              </a:rPr>
              <a:t>t</a:t>
            </a:r>
            <a:r>
              <a:rPr sz="725" i="1" spc="317" dirty="0">
                <a:latin typeface="Cambria"/>
                <a:cs typeface="Cambria"/>
              </a:rPr>
              <a:t> </a:t>
            </a:r>
            <a:r>
              <a:rPr sz="1270" dirty="0">
                <a:latin typeface="Arial MT"/>
                <a:cs typeface="Arial MT"/>
              </a:rPr>
              <a:t>&amp;</a:t>
            </a:r>
            <a:r>
              <a:rPr sz="1270" spc="5" dirty="0">
                <a:latin typeface="Arial MT"/>
                <a:cs typeface="Arial MT"/>
              </a:rPr>
              <a:t> </a:t>
            </a:r>
            <a:r>
              <a:rPr sz="1270" dirty="0">
                <a:latin typeface="Arial MT"/>
                <a:cs typeface="Arial MT"/>
              </a:rPr>
              <a:t>action</a:t>
            </a:r>
            <a:r>
              <a:rPr sz="1270" spc="18" dirty="0">
                <a:latin typeface="Arial MT"/>
                <a:cs typeface="Arial MT"/>
              </a:rPr>
              <a:t> </a:t>
            </a:r>
            <a:r>
              <a:rPr sz="1315" i="1" spc="63" dirty="0">
                <a:latin typeface="Cambria"/>
                <a:cs typeface="Cambria"/>
              </a:rPr>
              <a:t>A</a:t>
            </a:r>
            <a:r>
              <a:rPr sz="725" i="1" spc="63" dirty="0">
                <a:latin typeface="Cambria"/>
                <a:cs typeface="Cambria"/>
              </a:rPr>
              <a:t>t</a:t>
            </a:r>
            <a:endParaRPr sz="725">
              <a:latin typeface="Cambria"/>
              <a:cs typeface="Cambria"/>
            </a:endParaRPr>
          </a:p>
        </p:txBody>
      </p:sp>
      <p:pic>
        <p:nvPicPr>
          <p:cNvPr id="29" name="object 29"/>
          <p:cNvPicPr/>
          <p:nvPr/>
        </p:nvPicPr>
        <p:blipFill>
          <a:blip r:embed="rId2" cstate="print"/>
          <a:stretch>
            <a:fillRect/>
          </a:stretch>
        </p:blipFill>
        <p:spPr>
          <a:xfrm>
            <a:off x="4741675" y="4352364"/>
            <a:ext cx="2036095" cy="1330141"/>
          </a:xfrm>
          <a:prstGeom prst="rect">
            <a:avLst/>
          </a:prstGeom>
        </p:spPr>
      </p:pic>
      <p:sp>
        <p:nvSpPr>
          <p:cNvPr id="30" name="object 30"/>
          <p:cNvSpPr txBox="1"/>
          <p:nvPr/>
        </p:nvSpPr>
        <p:spPr>
          <a:xfrm>
            <a:off x="4740523" y="5635359"/>
            <a:ext cx="2131681"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state</a:t>
            </a:r>
            <a:r>
              <a:rPr sz="1270" spc="14" dirty="0">
                <a:latin typeface="Arial MT"/>
                <a:cs typeface="Arial MT"/>
              </a:rPr>
              <a:t> </a:t>
            </a:r>
            <a:r>
              <a:rPr sz="1315" i="1" spc="141" dirty="0">
                <a:latin typeface="Cambria"/>
                <a:cs typeface="Cambria"/>
              </a:rPr>
              <a:t>S</a:t>
            </a:r>
            <a:r>
              <a:rPr sz="725" i="1" spc="141" dirty="0">
                <a:latin typeface="Cambria"/>
                <a:cs typeface="Cambria"/>
              </a:rPr>
              <a:t>t+1</a:t>
            </a:r>
            <a:r>
              <a:rPr sz="725" i="1" spc="326" dirty="0">
                <a:latin typeface="Cambria"/>
                <a:cs typeface="Cambria"/>
              </a:rPr>
              <a:t> </a:t>
            </a:r>
            <a:r>
              <a:rPr sz="1270" dirty="0">
                <a:latin typeface="Arial MT"/>
                <a:cs typeface="Arial MT"/>
              </a:rPr>
              <a:t>&amp;</a:t>
            </a:r>
            <a:r>
              <a:rPr sz="1270" spc="5" dirty="0">
                <a:latin typeface="Arial MT"/>
                <a:cs typeface="Arial MT"/>
              </a:rPr>
              <a:t> </a:t>
            </a:r>
            <a:r>
              <a:rPr sz="1270" dirty="0">
                <a:latin typeface="Arial MT"/>
                <a:cs typeface="Arial MT"/>
              </a:rPr>
              <a:t>[best]</a:t>
            </a:r>
            <a:r>
              <a:rPr sz="1270" spc="18" dirty="0">
                <a:latin typeface="Arial MT"/>
                <a:cs typeface="Arial MT"/>
              </a:rPr>
              <a:t> </a:t>
            </a:r>
            <a:r>
              <a:rPr sz="1270" dirty="0">
                <a:latin typeface="Arial MT"/>
                <a:cs typeface="Arial MT"/>
              </a:rPr>
              <a:t>action</a:t>
            </a:r>
            <a:r>
              <a:rPr sz="1270" spc="18" dirty="0">
                <a:latin typeface="Arial MT"/>
                <a:cs typeface="Arial MT"/>
              </a:rPr>
              <a:t> </a:t>
            </a:r>
            <a:r>
              <a:rPr sz="1315" i="1" spc="95" dirty="0">
                <a:latin typeface="Cambria"/>
                <a:cs typeface="Cambria"/>
              </a:rPr>
              <a:t>A</a:t>
            </a:r>
            <a:r>
              <a:rPr sz="725" i="1" spc="95" dirty="0">
                <a:latin typeface="Cambria"/>
                <a:cs typeface="Cambria"/>
              </a:rPr>
              <a:t>t+1</a:t>
            </a:r>
            <a:endParaRPr sz="725">
              <a:latin typeface="Cambria"/>
              <a:cs typeface="Cambria"/>
            </a:endParaRPr>
          </a:p>
        </p:txBody>
      </p:sp>
      <p:grpSp>
        <p:nvGrpSpPr>
          <p:cNvPr id="31" name="object 31"/>
          <p:cNvGrpSpPr/>
          <p:nvPr/>
        </p:nvGrpSpPr>
        <p:grpSpPr>
          <a:xfrm>
            <a:off x="5376228" y="4384610"/>
            <a:ext cx="1337051" cy="644917"/>
            <a:chOff x="4248150" y="3889099"/>
            <a:chExt cx="1474470" cy="711200"/>
          </a:xfrm>
        </p:grpSpPr>
        <p:pic>
          <p:nvPicPr>
            <p:cNvPr id="32" name="object 32"/>
            <p:cNvPicPr/>
            <p:nvPr/>
          </p:nvPicPr>
          <p:blipFill>
            <a:blip r:embed="rId5" cstate="print"/>
            <a:stretch>
              <a:fillRect/>
            </a:stretch>
          </p:blipFill>
          <p:spPr>
            <a:xfrm>
              <a:off x="5435600" y="3889099"/>
              <a:ext cx="287020" cy="287019"/>
            </a:xfrm>
            <a:prstGeom prst="rect">
              <a:avLst/>
            </a:prstGeom>
          </p:spPr>
        </p:pic>
        <p:pic>
          <p:nvPicPr>
            <p:cNvPr id="33" name="object 33"/>
            <p:cNvPicPr/>
            <p:nvPr/>
          </p:nvPicPr>
          <p:blipFill>
            <a:blip r:embed="rId6" cstate="print"/>
            <a:stretch>
              <a:fillRect/>
            </a:stretch>
          </p:blipFill>
          <p:spPr>
            <a:xfrm>
              <a:off x="5435600" y="4249779"/>
              <a:ext cx="287020" cy="287020"/>
            </a:xfrm>
            <a:prstGeom prst="rect">
              <a:avLst/>
            </a:prstGeom>
          </p:spPr>
        </p:pic>
        <p:pic>
          <p:nvPicPr>
            <p:cNvPr id="34" name="object 34"/>
            <p:cNvPicPr/>
            <p:nvPr/>
          </p:nvPicPr>
          <p:blipFill>
            <a:blip r:embed="rId7" cstate="print"/>
            <a:stretch>
              <a:fillRect/>
            </a:stretch>
          </p:blipFill>
          <p:spPr>
            <a:xfrm>
              <a:off x="5345430" y="4338679"/>
              <a:ext cx="144780" cy="107950"/>
            </a:xfrm>
            <a:prstGeom prst="rect">
              <a:avLst/>
            </a:prstGeom>
          </p:spPr>
        </p:pic>
        <p:sp>
          <p:nvSpPr>
            <p:cNvPr id="35" name="object 35"/>
            <p:cNvSpPr/>
            <p:nvPr/>
          </p:nvSpPr>
          <p:spPr>
            <a:xfrm>
              <a:off x="4248150" y="4600299"/>
              <a:ext cx="0" cy="0"/>
            </a:xfrm>
            <a:custGeom>
              <a:avLst/>
              <a:gdLst/>
              <a:ahLst/>
              <a:cxnLst/>
              <a:rect l="l" t="t" r="r" b="b"/>
              <a:pathLst>
                <a:path>
                  <a:moveTo>
                    <a:pt x="0" y="0"/>
                  </a:moveTo>
                  <a:lnTo>
                    <a:pt x="0" y="0"/>
                  </a:lnTo>
                  <a:lnTo>
                    <a:pt x="0" y="0"/>
                  </a:lnTo>
                  <a:close/>
                </a:path>
              </a:pathLst>
            </a:custGeom>
            <a:solidFill>
              <a:srgbClr val="3364A3"/>
            </a:solidFill>
          </p:spPr>
          <p:txBody>
            <a:bodyPr wrap="square" lIns="0" tIns="0" rIns="0" bIns="0" rtlCol="0"/>
            <a:lstStyle/>
            <a:p>
              <a:endParaRPr/>
            </a:p>
          </p:txBody>
        </p:sp>
      </p:grpSp>
      <p:grpSp>
        <p:nvGrpSpPr>
          <p:cNvPr id="36" name="object 36"/>
          <p:cNvGrpSpPr/>
          <p:nvPr/>
        </p:nvGrpSpPr>
        <p:grpSpPr>
          <a:xfrm>
            <a:off x="3403471" y="4158889"/>
            <a:ext cx="1257588" cy="1350871"/>
            <a:chOff x="2072639" y="3640180"/>
            <a:chExt cx="1386840" cy="1489710"/>
          </a:xfrm>
        </p:grpSpPr>
        <p:sp>
          <p:nvSpPr>
            <p:cNvPr id="37" name="object 37"/>
            <p:cNvSpPr/>
            <p:nvPr/>
          </p:nvSpPr>
          <p:spPr>
            <a:xfrm>
              <a:off x="2072639" y="3640180"/>
              <a:ext cx="1386840" cy="1489710"/>
            </a:xfrm>
            <a:custGeom>
              <a:avLst/>
              <a:gdLst/>
              <a:ahLst/>
              <a:cxnLst/>
              <a:rect l="l" t="t" r="r" b="b"/>
              <a:pathLst>
                <a:path w="1386839" h="1489710">
                  <a:moveTo>
                    <a:pt x="1354847" y="1054100"/>
                  </a:moveTo>
                  <a:lnTo>
                    <a:pt x="1097280" y="1054100"/>
                  </a:lnTo>
                  <a:lnTo>
                    <a:pt x="1135380" y="1489710"/>
                  </a:lnTo>
                  <a:lnTo>
                    <a:pt x="1354847" y="1054100"/>
                  </a:lnTo>
                  <a:close/>
                </a:path>
                <a:path w="1386839" h="1489710">
                  <a:moveTo>
                    <a:pt x="41910" y="0"/>
                  </a:moveTo>
                  <a:lnTo>
                    <a:pt x="0" y="31750"/>
                  </a:lnTo>
                  <a:lnTo>
                    <a:pt x="29210" y="114300"/>
                  </a:lnTo>
                  <a:lnTo>
                    <a:pt x="60960" y="193040"/>
                  </a:lnTo>
                  <a:lnTo>
                    <a:pt x="95250" y="270510"/>
                  </a:lnTo>
                  <a:lnTo>
                    <a:pt x="130810" y="345440"/>
                  </a:lnTo>
                  <a:lnTo>
                    <a:pt x="168910" y="416560"/>
                  </a:lnTo>
                  <a:lnTo>
                    <a:pt x="209550" y="486410"/>
                  </a:lnTo>
                  <a:lnTo>
                    <a:pt x="252730" y="551180"/>
                  </a:lnTo>
                  <a:lnTo>
                    <a:pt x="297180" y="613410"/>
                  </a:lnTo>
                  <a:lnTo>
                    <a:pt x="342900" y="671830"/>
                  </a:lnTo>
                  <a:lnTo>
                    <a:pt x="389890" y="727710"/>
                  </a:lnTo>
                  <a:lnTo>
                    <a:pt x="439420" y="778510"/>
                  </a:lnTo>
                  <a:lnTo>
                    <a:pt x="490220" y="825500"/>
                  </a:lnTo>
                  <a:lnTo>
                    <a:pt x="542290" y="868680"/>
                  </a:lnTo>
                  <a:lnTo>
                    <a:pt x="595630" y="906780"/>
                  </a:lnTo>
                  <a:lnTo>
                    <a:pt x="648970" y="942340"/>
                  </a:lnTo>
                  <a:lnTo>
                    <a:pt x="703580" y="971550"/>
                  </a:lnTo>
                  <a:lnTo>
                    <a:pt x="759460" y="998220"/>
                  </a:lnTo>
                  <a:lnTo>
                    <a:pt x="815340" y="1018540"/>
                  </a:lnTo>
                  <a:lnTo>
                    <a:pt x="871220" y="1035050"/>
                  </a:lnTo>
                  <a:lnTo>
                    <a:pt x="928370" y="1046480"/>
                  </a:lnTo>
                  <a:lnTo>
                    <a:pt x="984250" y="1054100"/>
                  </a:lnTo>
                  <a:lnTo>
                    <a:pt x="1041400" y="1056640"/>
                  </a:lnTo>
                  <a:lnTo>
                    <a:pt x="1097280" y="1054100"/>
                  </a:lnTo>
                  <a:lnTo>
                    <a:pt x="1354847" y="1054100"/>
                  </a:lnTo>
                  <a:lnTo>
                    <a:pt x="1386839" y="990600"/>
                  </a:lnTo>
                  <a:lnTo>
                    <a:pt x="1377431" y="977900"/>
                  </a:lnTo>
                  <a:lnTo>
                    <a:pt x="1037590" y="977900"/>
                  </a:lnTo>
                  <a:lnTo>
                    <a:pt x="982980" y="976630"/>
                  </a:lnTo>
                  <a:lnTo>
                    <a:pt x="929640" y="969010"/>
                  </a:lnTo>
                  <a:lnTo>
                    <a:pt x="875030" y="957580"/>
                  </a:lnTo>
                  <a:lnTo>
                    <a:pt x="821690" y="942340"/>
                  </a:lnTo>
                  <a:lnTo>
                    <a:pt x="768350" y="922020"/>
                  </a:lnTo>
                  <a:lnTo>
                    <a:pt x="715010" y="897890"/>
                  </a:lnTo>
                  <a:lnTo>
                    <a:pt x="662940" y="868680"/>
                  </a:lnTo>
                  <a:lnTo>
                    <a:pt x="610870" y="835660"/>
                  </a:lnTo>
                  <a:lnTo>
                    <a:pt x="561340" y="798830"/>
                  </a:lnTo>
                  <a:lnTo>
                    <a:pt x="510540" y="758190"/>
                  </a:lnTo>
                  <a:lnTo>
                    <a:pt x="462280" y="712470"/>
                  </a:lnTo>
                  <a:lnTo>
                    <a:pt x="415290" y="664210"/>
                  </a:lnTo>
                  <a:lnTo>
                    <a:pt x="369570" y="610870"/>
                  </a:lnTo>
                  <a:lnTo>
                    <a:pt x="325120" y="554990"/>
                  </a:lnTo>
                  <a:lnTo>
                    <a:pt x="283210" y="495300"/>
                  </a:lnTo>
                  <a:lnTo>
                    <a:pt x="242570" y="433070"/>
                  </a:lnTo>
                  <a:lnTo>
                    <a:pt x="203200" y="367030"/>
                  </a:lnTo>
                  <a:lnTo>
                    <a:pt x="166370" y="298450"/>
                  </a:lnTo>
                  <a:lnTo>
                    <a:pt x="133350" y="227330"/>
                  </a:lnTo>
                  <a:lnTo>
                    <a:pt x="100330" y="153670"/>
                  </a:lnTo>
                  <a:lnTo>
                    <a:pt x="69850" y="77470"/>
                  </a:lnTo>
                  <a:lnTo>
                    <a:pt x="41910" y="0"/>
                  </a:lnTo>
                  <a:close/>
                </a:path>
                <a:path w="1386839" h="1489710">
                  <a:moveTo>
                    <a:pt x="1052830" y="539750"/>
                  </a:moveTo>
                  <a:lnTo>
                    <a:pt x="1090930" y="976630"/>
                  </a:lnTo>
                  <a:lnTo>
                    <a:pt x="1037590" y="977900"/>
                  </a:lnTo>
                  <a:lnTo>
                    <a:pt x="1377431" y="977900"/>
                  </a:lnTo>
                  <a:lnTo>
                    <a:pt x="1052830" y="539750"/>
                  </a:lnTo>
                  <a:close/>
                </a:path>
              </a:pathLst>
            </a:custGeom>
            <a:solidFill>
              <a:srgbClr val="719ECE"/>
            </a:solidFill>
          </p:spPr>
          <p:txBody>
            <a:bodyPr wrap="square" lIns="0" tIns="0" rIns="0" bIns="0" rtlCol="0"/>
            <a:lstStyle/>
            <a:p>
              <a:endParaRPr/>
            </a:p>
          </p:txBody>
        </p:sp>
        <p:sp>
          <p:nvSpPr>
            <p:cNvPr id="38" name="object 38"/>
            <p:cNvSpPr/>
            <p:nvPr/>
          </p:nvSpPr>
          <p:spPr>
            <a:xfrm>
              <a:off x="2072639" y="3640180"/>
              <a:ext cx="1386840" cy="1489710"/>
            </a:xfrm>
            <a:custGeom>
              <a:avLst/>
              <a:gdLst/>
              <a:ahLst/>
              <a:cxnLst/>
              <a:rect l="l" t="t" r="r" b="b"/>
              <a:pathLst>
                <a:path w="1386839" h="1489710">
                  <a:moveTo>
                    <a:pt x="1090930" y="976630"/>
                  </a:moveTo>
                  <a:lnTo>
                    <a:pt x="1037590" y="977900"/>
                  </a:lnTo>
                  <a:lnTo>
                    <a:pt x="982980" y="976630"/>
                  </a:lnTo>
                  <a:lnTo>
                    <a:pt x="929640" y="969010"/>
                  </a:lnTo>
                  <a:lnTo>
                    <a:pt x="875030" y="957580"/>
                  </a:lnTo>
                  <a:lnTo>
                    <a:pt x="821690" y="942340"/>
                  </a:lnTo>
                  <a:lnTo>
                    <a:pt x="768350" y="922020"/>
                  </a:lnTo>
                  <a:lnTo>
                    <a:pt x="715010" y="897890"/>
                  </a:lnTo>
                  <a:lnTo>
                    <a:pt x="662940" y="868680"/>
                  </a:lnTo>
                  <a:lnTo>
                    <a:pt x="610870" y="835660"/>
                  </a:lnTo>
                  <a:lnTo>
                    <a:pt x="561340" y="798830"/>
                  </a:lnTo>
                  <a:lnTo>
                    <a:pt x="510540" y="758190"/>
                  </a:lnTo>
                  <a:lnTo>
                    <a:pt x="462280" y="712470"/>
                  </a:lnTo>
                  <a:lnTo>
                    <a:pt x="415290" y="664210"/>
                  </a:lnTo>
                  <a:lnTo>
                    <a:pt x="369570" y="610870"/>
                  </a:lnTo>
                  <a:lnTo>
                    <a:pt x="325120" y="554990"/>
                  </a:lnTo>
                  <a:lnTo>
                    <a:pt x="283210" y="495300"/>
                  </a:lnTo>
                  <a:lnTo>
                    <a:pt x="242570" y="433070"/>
                  </a:lnTo>
                  <a:lnTo>
                    <a:pt x="203200" y="367030"/>
                  </a:lnTo>
                  <a:lnTo>
                    <a:pt x="166370" y="298450"/>
                  </a:lnTo>
                  <a:lnTo>
                    <a:pt x="133350" y="227330"/>
                  </a:lnTo>
                  <a:lnTo>
                    <a:pt x="100330" y="153670"/>
                  </a:lnTo>
                  <a:lnTo>
                    <a:pt x="69850" y="77470"/>
                  </a:lnTo>
                  <a:lnTo>
                    <a:pt x="41910" y="0"/>
                  </a:lnTo>
                  <a:lnTo>
                    <a:pt x="0" y="31750"/>
                  </a:lnTo>
                  <a:lnTo>
                    <a:pt x="29210" y="114300"/>
                  </a:lnTo>
                  <a:lnTo>
                    <a:pt x="60960" y="193040"/>
                  </a:lnTo>
                  <a:lnTo>
                    <a:pt x="95250" y="270510"/>
                  </a:lnTo>
                  <a:lnTo>
                    <a:pt x="130810" y="345440"/>
                  </a:lnTo>
                  <a:lnTo>
                    <a:pt x="168910" y="416560"/>
                  </a:lnTo>
                  <a:lnTo>
                    <a:pt x="209550" y="486410"/>
                  </a:lnTo>
                  <a:lnTo>
                    <a:pt x="252730" y="551180"/>
                  </a:lnTo>
                  <a:lnTo>
                    <a:pt x="297180" y="613410"/>
                  </a:lnTo>
                  <a:lnTo>
                    <a:pt x="342900" y="671830"/>
                  </a:lnTo>
                  <a:lnTo>
                    <a:pt x="389890" y="727710"/>
                  </a:lnTo>
                  <a:lnTo>
                    <a:pt x="439420" y="778510"/>
                  </a:lnTo>
                  <a:lnTo>
                    <a:pt x="490220" y="825500"/>
                  </a:lnTo>
                  <a:lnTo>
                    <a:pt x="542290" y="868680"/>
                  </a:lnTo>
                  <a:lnTo>
                    <a:pt x="595630" y="906780"/>
                  </a:lnTo>
                  <a:lnTo>
                    <a:pt x="648970" y="942340"/>
                  </a:lnTo>
                  <a:lnTo>
                    <a:pt x="703580" y="971550"/>
                  </a:lnTo>
                  <a:lnTo>
                    <a:pt x="759460" y="998220"/>
                  </a:lnTo>
                  <a:lnTo>
                    <a:pt x="815340" y="1018540"/>
                  </a:lnTo>
                  <a:lnTo>
                    <a:pt x="871220" y="1035050"/>
                  </a:lnTo>
                  <a:lnTo>
                    <a:pt x="928370" y="1046480"/>
                  </a:lnTo>
                  <a:lnTo>
                    <a:pt x="984250" y="1054100"/>
                  </a:lnTo>
                  <a:lnTo>
                    <a:pt x="1041400" y="1056640"/>
                  </a:lnTo>
                  <a:lnTo>
                    <a:pt x="1097280" y="1054100"/>
                  </a:lnTo>
                  <a:lnTo>
                    <a:pt x="1135380" y="1489710"/>
                  </a:lnTo>
                  <a:lnTo>
                    <a:pt x="1386839" y="990600"/>
                  </a:lnTo>
                  <a:lnTo>
                    <a:pt x="1052830" y="539750"/>
                  </a:lnTo>
                  <a:lnTo>
                    <a:pt x="1090930" y="976630"/>
                  </a:lnTo>
                  <a:close/>
                </a:path>
              </a:pathLst>
            </a:custGeom>
            <a:ln w="3175">
              <a:solidFill>
                <a:srgbClr val="3364A3"/>
              </a:solidFill>
            </a:ln>
          </p:spPr>
          <p:txBody>
            <a:bodyPr wrap="square" lIns="0" tIns="0" rIns="0" bIns="0" rtlCol="0"/>
            <a:lstStyle/>
            <a:p>
              <a:endParaRPr/>
            </a:p>
          </p:txBody>
        </p:sp>
      </p:grpSp>
      <p:sp>
        <p:nvSpPr>
          <p:cNvPr id="39" name="object 39"/>
          <p:cNvSpPr txBox="1"/>
          <p:nvPr/>
        </p:nvSpPr>
        <p:spPr>
          <a:xfrm>
            <a:off x="3535909" y="5074511"/>
            <a:ext cx="857970" cy="213992"/>
          </a:xfrm>
          <a:prstGeom prst="rect">
            <a:avLst/>
          </a:prstGeom>
        </p:spPr>
        <p:txBody>
          <a:bodyPr vert="horz" wrap="square" lIns="0" tIns="11516" rIns="0" bIns="0" rtlCol="0">
            <a:spAutoFit/>
          </a:bodyPr>
          <a:lstStyle/>
          <a:p>
            <a:pPr marL="11516">
              <a:spcBef>
                <a:spcPts val="91"/>
              </a:spcBef>
            </a:pPr>
            <a:r>
              <a:rPr sz="1270" dirty="0">
                <a:latin typeface="Arial MT"/>
                <a:cs typeface="Arial MT"/>
              </a:rPr>
              <a:t>reward</a:t>
            </a:r>
            <a:r>
              <a:rPr sz="1270" spc="-5" dirty="0">
                <a:latin typeface="Arial MT"/>
                <a:cs typeface="Arial MT"/>
              </a:rPr>
              <a:t> </a:t>
            </a:r>
            <a:r>
              <a:rPr sz="1315" i="1" spc="109" dirty="0">
                <a:latin typeface="Cambria"/>
                <a:cs typeface="Cambria"/>
              </a:rPr>
              <a:t>R</a:t>
            </a:r>
            <a:r>
              <a:rPr sz="725" i="1" spc="109" dirty="0">
                <a:latin typeface="Cambria"/>
                <a:cs typeface="Cambria"/>
              </a:rPr>
              <a:t>t+1</a:t>
            </a:r>
            <a:endParaRPr sz="725">
              <a:latin typeface="Cambria"/>
              <a:cs typeface="Cambria"/>
            </a:endParaRPr>
          </a:p>
        </p:txBody>
      </p:sp>
      <p:pic>
        <p:nvPicPr>
          <p:cNvPr id="40" name="object 40"/>
          <p:cNvPicPr/>
          <p:nvPr/>
        </p:nvPicPr>
        <p:blipFill>
          <a:blip r:embed="rId8" cstate="print"/>
          <a:stretch>
            <a:fillRect/>
          </a:stretch>
        </p:blipFill>
        <p:spPr>
          <a:xfrm>
            <a:off x="7958198" y="4394974"/>
            <a:ext cx="2314791" cy="380040"/>
          </a:xfrm>
          <a:prstGeom prst="rect">
            <a:avLst/>
          </a:prstGeom>
        </p:spPr>
      </p:pic>
      <p:sp>
        <p:nvSpPr>
          <p:cNvPr id="41" name="object 41"/>
          <p:cNvSpPr txBox="1"/>
          <p:nvPr/>
        </p:nvSpPr>
        <p:spPr>
          <a:xfrm>
            <a:off x="7323646" y="2092852"/>
            <a:ext cx="422651" cy="290807"/>
          </a:xfrm>
          <a:prstGeom prst="rect">
            <a:avLst/>
          </a:prstGeom>
        </p:spPr>
        <p:txBody>
          <a:bodyPr vert="horz" wrap="square" lIns="0" tIns="11516" rIns="0" bIns="0" rtlCol="0">
            <a:spAutoFit/>
          </a:bodyPr>
          <a:lstStyle/>
          <a:p>
            <a:pPr marL="11516">
              <a:spcBef>
                <a:spcPts val="91"/>
              </a:spcBef>
            </a:pPr>
            <a:r>
              <a:rPr sz="1814" i="1" spc="-41" dirty="0">
                <a:solidFill>
                  <a:srgbClr val="333333"/>
                </a:solidFill>
                <a:latin typeface="Times New Roman"/>
                <a:cs typeface="Times New Roman"/>
              </a:rPr>
              <a:t>Loss</a:t>
            </a:r>
            <a:endParaRPr sz="1814">
              <a:latin typeface="Times New Roman"/>
              <a:cs typeface="Times New Roman"/>
            </a:endParaRPr>
          </a:p>
        </p:txBody>
      </p:sp>
      <p:grpSp>
        <p:nvGrpSpPr>
          <p:cNvPr id="42" name="object 42"/>
          <p:cNvGrpSpPr/>
          <p:nvPr/>
        </p:nvGrpSpPr>
        <p:grpSpPr>
          <a:xfrm>
            <a:off x="6927309" y="4824362"/>
            <a:ext cx="1824768" cy="931098"/>
            <a:chOff x="5958649" y="4374049"/>
            <a:chExt cx="2012314" cy="1026794"/>
          </a:xfrm>
        </p:grpSpPr>
        <p:sp>
          <p:nvSpPr>
            <p:cNvPr id="43" name="object 43"/>
            <p:cNvSpPr/>
            <p:nvPr/>
          </p:nvSpPr>
          <p:spPr>
            <a:xfrm>
              <a:off x="5976619" y="4392019"/>
              <a:ext cx="153670" cy="924560"/>
            </a:xfrm>
            <a:custGeom>
              <a:avLst/>
              <a:gdLst/>
              <a:ahLst/>
              <a:cxnLst/>
              <a:rect l="l" t="t" r="r" b="b"/>
              <a:pathLst>
                <a:path w="153670" h="924560">
                  <a:moveTo>
                    <a:pt x="153669" y="0"/>
                  </a:moveTo>
                  <a:lnTo>
                    <a:pt x="125491" y="6568"/>
                  </a:lnTo>
                  <a:lnTo>
                    <a:pt x="100647" y="23971"/>
                  </a:lnTo>
                  <a:lnTo>
                    <a:pt x="82946" y="48756"/>
                  </a:lnTo>
                  <a:lnTo>
                    <a:pt x="76200" y="77470"/>
                  </a:lnTo>
                  <a:lnTo>
                    <a:pt x="76200" y="384810"/>
                  </a:lnTo>
                  <a:lnTo>
                    <a:pt x="69651" y="413523"/>
                  </a:lnTo>
                  <a:lnTo>
                    <a:pt x="52387" y="438308"/>
                  </a:lnTo>
                  <a:lnTo>
                    <a:pt x="27979" y="455711"/>
                  </a:lnTo>
                  <a:lnTo>
                    <a:pt x="0" y="462280"/>
                  </a:lnTo>
                  <a:lnTo>
                    <a:pt x="27979" y="468848"/>
                  </a:lnTo>
                  <a:lnTo>
                    <a:pt x="52387" y="486251"/>
                  </a:lnTo>
                  <a:lnTo>
                    <a:pt x="69651" y="511036"/>
                  </a:lnTo>
                  <a:lnTo>
                    <a:pt x="76200" y="539750"/>
                  </a:lnTo>
                  <a:lnTo>
                    <a:pt x="76200" y="847090"/>
                  </a:lnTo>
                  <a:lnTo>
                    <a:pt x="82946" y="875803"/>
                  </a:lnTo>
                  <a:lnTo>
                    <a:pt x="100647" y="900588"/>
                  </a:lnTo>
                  <a:lnTo>
                    <a:pt x="125491" y="917991"/>
                  </a:lnTo>
                  <a:lnTo>
                    <a:pt x="153669" y="924560"/>
                  </a:lnTo>
                </a:path>
              </a:pathLst>
            </a:custGeom>
            <a:ln w="35941">
              <a:solidFill>
                <a:srgbClr val="3364A3"/>
              </a:solidFill>
            </a:ln>
          </p:spPr>
          <p:txBody>
            <a:bodyPr wrap="square" lIns="0" tIns="0" rIns="0" bIns="0" rtlCol="0"/>
            <a:lstStyle/>
            <a:p>
              <a:endParaRPr/>
            </a:p>
          </p:txBody>
        </p:sp>
        <p:sp>
          <p:nvSpPr>
            <p:cNvPr id="44" name="object 44"/>
            <p:cNvSpPr/>
            <p:nvPr/>
          </p:nvSpPr>
          <p:spPr>
            <a:xfrm>
              <a:off x="5958649" y="4374049"/>
              <a:ext cx="189865" cy="960755"/>
            </a:xfrm>
            <a:custGeom>
              <a:avLst/>
              <a:gdLst/>
              <a:ahLst/>
              <a:cxnLst/>
              <a:rect l="l" t="t" r="r" b="b"/>
              <a:pathLst>
                <a:path w="189864" h="960754">
                  <a:moveTo>
                    <a:pt x="35941" y="17970"/>
                  </a:moveTo>
                  <a:lnTo>
                    <a:pt x="30670" y="5270"/>
                  </a:lnTo>
                  <a:lnTo>
                    <a:pt x="17970" y="0"/>
                  </a:lnTo>
                  <a:lnTo>
                    <a:pt x="5257" y="5270"/>
                  </a:lnTo>
                  <a:lnTo>
                    <a:pt x="0" y="17970"/>
                  </a:lnTo>
                  <a:lnTo>
                    <a:pt x="5257" y="30683"/>
                  </a:lnTo>
                  <a:lnTo>
                    <a:pt x="17970" y="35953"/>
                  </a:lnTo>
                  <a:lnTo>
                    <a:pt x="30670" y="30683"/>
                  </a:lnTo>
                  <a:lnTo>
                    <a:pt x="35941" y="17970"/>
                  </a:lnTo>
                  <a:close/>
                </a:path>
                <a:path w="189864" h="960754">
                  <a:moveTo>
                    <a:pt x="189611" y="942530"/>
                  </a:moveTo>
                  <a:lnTo>
                    <a:pt x="184340" y="929830"/>
                  </a:lnTo>
                  <a:lnTo>
                    <a:pt x="171640" y="924560"/>
                  </a:lnTo>
                  <a:lnTo>
                    <a:pt x="158927" y="929830"/>
                  </a:lnTo>
                  <a:lnTo>
                    <a:pt x="153657" y="942530"/>
                  </a:lnTo>
                  <a:lnTo>
                    <a:pt x="158927" y="955243"/>
                  </a:lnTo>
                  <a:lnTo>
                    <a:pt x="171640" y="960501"/>
                  </a:lnTo>
                  <a:lnTo>
                    <a:pt x="184340" y="955243"/>
                  </a:lnTo>
                  <a:lnTo>
                    <a:pt x="189611" y="942530"/>
                  </a:lnTo>
                  <a:close/>
                </a:path>
              </a:pathLst>
            </a:custGeom>
            <a:solidFill>
              <a:srgbClr val="3364A3"/>
            </a:solidFill>
          </p:spPr>
          <p:txBody>
            <a:bodyPr wrap="square" lIns="0" tIns="0" rIns="0" bIns="0" rtlCol="0"/>
            <a:lstStyle/>
            <a:p>
              <a:endParaRPr/>
            </a:p>
          </p:txBody>
        </p:sp>
        <p:pic>
          <p:nvPicPr>
            <p:cNvPr id="45" name="object 45"/>
            <p:cNvPicPr/>
            <p:nvPr/>
          </p:nvPicPr>
          <p:blipFill>
            <a:blip r:embed="rId9" cstate="print"/>
            <a:stretch>
              <a:fillRect/>
            </a:stretch>
          </p:blipFill>
          <p:spPr>
            <a:xfrm>
              <a:off x="7790300" y="4741390"/>
              <a:ext cx="180098" cy="241058"/>
            </a:xfrm>
            <a:prstGeom prst="rect">
              <a:avLst/>
            </a:prstGeom>
          </p:spPr>
        </p:pic>
        <p:pic>
          <p:nvPicPr>
            <p:cNvPr id="46" name="object 46"/>
            <p:cNvPicPr/>
            <p:nvPr/>
          </p:nvPicPr>
          <p:blipFill>
            <a:blip r:embed="rId10" cstate="print"/>
            <a:stretch>
              <a:fillRect/>
            </a:stretch>
          </p:blipFill>
          <p:spPr>
            <a:xfrm>
              <a:off x="6130289" y="4407259"/>
              <a:ext cx="1689100" cy="993140"/>
            </a:xfrm>
            <a:prstGeom prst="rect">
              <a:avLst/>
            </a:prstGeom>
          </p:spPr>
        </p:pic>
      </p:grpSp>
      <p:sp>
        <p:nvSpPr>
          <p:cNvPr id="47" name="object 47"/>
          <p:cNvSpPr txBox="1"/>
          <p:nvPr/>
        </p:nvSpPr>
        <p:spPr>
          <a:xfrm>
            <a:off x="8790832" y="5180124"/>
            <a:ext cx="809601" cy="185001"/>
          </a:xfrm>
          <a:prstGeom prst="rect">
            <a:avLst/>
          </a:prstGeom>
        </p:spPr>
        <p:txBody>
          <a:bodyPr vert="horz" wrap="square" lIns="0" tIns="10365" rIns="0" bIns="0" rtlCol="0">
            <a:spAutoFit/>
          </a:bodyPr>
          <a:lstStyle/>
          <a:p>
            <a:pPr marL="11516">
              <a:spcBef>
                <a:spcPts val="82"/>
              </a:spcBef>
            </a:pPr>
            <a:r>
              <a:rPr sz="1088" spc="77" dirty="0">
                <a:latin typeface="Arial MT"/>
                <a:cs typeface="Arial MT"/>
              </a:rPr>
              <a:t>Q(</a:t>
            </a:r>
            <a:r>
              <a:rPr sz="1134" i="1" spc="77" dirty="0">
                <a:latin typeface="Cambria"/>
                <a:cs typeface="Cambria"/>
              </a:rPr>
              <a:t>S</a:t>
            </a:r>
            <a:r>
              <a:rPr sz="725" i="1" spc="77" dirty="0">
                <a:latin typeface="Cambria"/>
                <a:cs typeface="Cambria"/>
              </a:rPr>
              <a:t>t+1</a:t>
            </a:r>
            <a:r>
              <a:rPr sz="1088" spc="77" dirty="0">
                <a:latin typeface="Cambria"/>
                <a:cs typeface="Cambria"/>
              </a:rPr>
              <a:t>,</a:t>
            </a:r>
            <a:r>
              <a:rPr sz="1134" i="1" spc="77" dirty="0">
                <a:latin typeface="Cambria"/>
                <a:cs typeface="Cambria"/>
              </a:rPr>
              <a:t>A</a:t>
            </a:r>
            <a:r>
              <a:rPr sz="725" i="1" spc="77" dirty="0">
                <a:latin typeface="Cambria"/>
                <a:cs typeface="Cambria"/>
              </a:rPr>
              <a:t>t+1</a:t>
            </a:r>
            <a:r>
              <a:rPr sz="1088" spc="77" dirty="0">
                <a:latin typeface="Arial MT"/>
                <a:cs typeface="Arial MT"/>
              </a:rPr>
              <a:t>)</a:t>
            </a:r>
            <a:endParaRPr sz="1088">
              <a:latin typeface="Arial MT"/>
              <a:cs typeface="Arial MT"/>
            </a:endParaRPr>
          </a:p>
        </p:txBody>
      </p:sp>
      <p:grpSp>
        <p:nvGrpSpPr>
          <p:cNvPr id="48" name="object 48"/>
          <p:cNvGrpSpPr/>
          <p:nvPr/>
        </p:nvGrpSpPr>
        <p:grpSpPr>
          <a:xfrm>
            <a:off x="7725568" y="2098610"/>
            <a:ext cx="1958935" cy="616126"/>
            <a:chOff x="6838950" y="1368150"/>
            <a:chExt cx="2160270" cy="679450"/>
          </a:xfrm>
        </p:grpSpPr>
        <p:pic>
          <p:nvPicPr>
            <p:cNvPr id="49" name="object 49"/>
            <p:cNvPicPr/>
            <p:nvPr/>
          </p:nvPicPr>
          <p:blipFill>
            <a:blip r:embed="rId11" cstate="print"/>
            <a:stretch>
              <a:fillRect/>
            </a:stretch>
          </p:blipFill>
          <p:spPr>
            <a:xfrm>
              <a:off x="6838950" y="1368150"/>
              <a:ext cx="1315720" cy="355600"/>
            </a:xfrm>
            <a:prstGeom prst="rect">
              <a:avLst/>
            </a:prstGeom>
          </p:spPr>
        </p:pic>
        <p:pic>
          <p:nvPicPr>
            <p:cNvPr id="50" name="object 50"/>
            <p:cNvPicPr/>
            <p:nvPr/>
          </p:nvPicPr>
          <p:blipFill>
            <a:blip r:embed="rId12" cstate="print"/>
            <a:stretch>
              <a:fillRect/>
            </a:stretch>
          </p:blipFill>
          <p:spPr>
            <a:xfrm>
              <a:off x="6838950" y="1693270"/>
              <a:ext cx="281939" cy="354330"/>
            </a:xfrm>
            <a:prstGeom prst="rect">
              <a:avLst/>
            </a:prstGeom>
          </p:spPr>
        </p:pic>
        <p:pic>
          <p:nvPicPr>
            <p:cNvPr id="51" name="object 51"/>
            <p:cNvPicPr/>
            <p:nvPr/>
          </p:nvPicPr>
          <p:blipFill>
            <a:blip r:embed="rId8" cstate="print"/>
            <a:stretch>
              <a:fillRect/>
            </a:stretch>
          </p:blipFill>
          <p:spPr>
            <a:xfrm>
              <a:off x="7199629" y="1782169"/>
              <a:ext cx="1616709" cy="265429"/>
            </a:xfrm>
            <a:prstGeom prst="rect">
              <a:avLst/>
            </a:prstGeom>
          </p:spPr>
        </p:pic>
        <p:pic>
          <p:nvPicPr>
            <p:cNvPr id="52" name="object 52"/>
            <p:cNvPicPr/>
            <p:nvPr/>
          </p:nvPicPr>
          <p:blipFill>
            <a:blip r:embed="rId13" cstate="print"/>
            <a:stretch>
              <a:fillRect/>
            </a:stretch>
          </p:blipFill>
          <p:spPr>
            <a:xfrm>
              <a:off x="7141209" y="1693270"/>
              <a:ext cx="72390" cy="354330"/>
            </a:xfrm>
            <a:prstGeom prst="rect">
              <a:avLst/>
            </a:prstGeom>
          </p:spPr>
        </p:pic>
        <p:pic>
          <p:nvPicPr>
            <p:cNvPr id="53" name="object 53"/>
            <p:cNvPicPr/>
            <p:nvPr/>
          </p:nvPicPr>
          <p:blipFill>
            <a:blip r:embed="rId14" cstate="print"/>
            <a:stretch>
              <a:fillRect/>
            </a:stretch>
          </p:blipFill>
          <p:spPr>
            <a:xfrm>
              <a:off x="8775700" y="1693270"/>
              <a:ext cx="69850" cy="354330"/>
            </a:xfrm>
            <a:prstGeom prst="rect">
              <a:avLst/>
            </a:prstGeom>
          </p:spPr>
        </p:pic>
        <p:pic>
          <p:nvPicPr>
            <p:cNvPr id="54" name="object 54"/>
            <p:cNvPicPr/>
            <p:nvPr/>
          </p:nvPicPr>
          <p:blipFill>
            <a:blip r:embed="rId15" cstate="print"/>
            <a:stretch>
              <a:fillRect/>
            </a:stretch>
          </p:blipFill>
          <p:spPr>
            <a:xfrm>
              <a:off x="8872931" y="1835001"/>
              <a:ext cx="126288" cy="141732"/>
            </a:xfrm>
            <a:prstGeom prst="rect">
              <a:avLst/>
            </a:prstGeom>
          </p:spPr>
        </p:pic>
      </p:grpSp>
      <p:sp>
        <p:nvSpPr>
          <p:cNvPr id="55" name="object 55"/>
          <p:cNvSpPr txBox="1"/>
          <p:nvPr/>
        </p:nvSpPr>
        <p:spPr>
          <a:xfrm>
            <a:off x="9701777" y="2468018"/>
            <a:ext cx="535511" cy="185001"/>
          </a:xfrm>
          <a:prstGeom prst="rect">
            <a:avLst/>
          </a:prstGeom>
        </p:spPr>
        <p:txBody>
          <a:bodyPr vert="horz" wrap="square" lIns="0" tIns="10365" rIns="0" bIns="0" rtlCol="0">
            <a:spAutoFit/>
          </a:bodyPr>
          <a:lstStyle/>
          <a:p>
            <a:pPr marL="11516">
              <a:spcBef>
                <a:spcPts val="82"/>
              </a:spcBef>
            </a:pPr>
            <a:r>
              <a:rPr sz="1088" spc="50" dirty="0">
                <a:latin typeface="Arial MT"/>
                <a:cs typeface="Arial MT"/>
              </a:rPr>
              <a:t>Q(</a:t>
            </a:r>
            <a:r>
              <a:rPr sz="1134" i="1" spc="50" dirty="0">
                <a:latin typeface="Cambria"/>
                <a:cs typeface="Cambria"/>
              </a:rPr>
              <a:t>S</a:t>
            </a:r>
            <a:r>
              <a:rPr sz="725" i="1" spc="50" dirty="0">
                <a:latin typeface="Cambria"/>
                <a:cs typeface="Cambria"/>
              </a:rPr>
              <a:t>t</a:t>
            </a:r>
            <a:r>
              <a:rPr sz="1088" spc="50" dirty="0">
                <a:latin typeface="Cambria"/>
                <a:cs typeface="Cambria"/>
              </a:rPr>
              <a:t>,</a:t>
            </a:r>
            <a:r>
              <a:rPr sz="1134" i="1" spc="50" dirty="0">
                <a:latin typeface="Cambria"/>
                <a:cs typeface="Cambria"/>
              </a:rPr>
              <a:t>A</a:t>
            </a:r>
            <a:r>
              <a:rPr sz="725" i="1" spc="50" dirty="0">
                <a:latin typeface="Cambria"/>
                <a:cs typeface="Cambria"/>
              </a:rPr>
              <a:t>t</a:t>
            </a:r>
            <a:r>
              <a:rPr sz="1088" spc="50" dirty="0">
                <a:latin typeface="Arial MT"/>
                <a:cs typeface="Arial MT"/>
              </a:rPr>
              <a:t>)</a:t>
            </a:r>
            <a:endParaRPr sz="1088">
              <a:latin typeface="Arial MT"/>
              <a:cs typeface="Arial MT"/>
            </a:endParaRPr>
          </a:p>
        </p:txBody>
      </p:sp>
      <p:pic>
        <p:nvPicPr>
          <p:cNvPr id="56" name="object 56"/>
          <p:cNvPicPr/>
          <p:nvPr/>
        </p:nvPicPr>
        <p:blipFill>
          <a:blip r:embed="rId16" cstate="print"/>
          <a:stretch>
            <a:fillRect/>
          </a:stretch>
        </p:blipFill>
        <p:spPr>
          <a:xfrm>
            <a:off x="10239590" y="2393429"/>
            <a:ext cx="181958" cy="321307"/>
          </a:xfrm>
          <a:prstGeom prst="rect">
            <a:avLst/>
          </a:prstGeom>
        </p:spPr>
      </p:pic>
      <p:sp>
        <p:nvSpPr>
          <p:cNvPr id="57" name="object 57"/>
          <p:cNvSpPr txBox="1"/>
          <p:nvPr/>
        </p:nvSpPr>
        <p:spPr>
          <a:xfrm>
            <a:off x="2197708" y="1455995"/>
            <a:ext cx="603458" cy="151218"/>
          </a:xfrm>
          <a:prstGeom prst="rect">
            <a:avLst/>
          </a:prstGeom>
        </p:spPr>
        <p:txBody>
          <a:bodyPr vert="horz" wrap="square" lIns="0" tIns="11516" rIns="0" bIns="0" rtlCol="0">
            <a:spAutoFit/>
          </a:bodyPr>
          <a:lstStyle/>
          <a:p>
            <a:pPr marL="11516">
              <a:spcBef>
                <a:spcPts val="91"/>
              </a:spcBef>
            </a:pPr>
            <a:r>
              <a:rPr sz="907" i="1" dirty="0">
                <a:latin typeface="Arial"/>
                <a:cs typeface="Arial"/>
              </a:rPr>
              <a:t>aka</a:t>
            </a:r>
            <a:r>
              <a:rPr sz="907" i="1" spc="-5" dirty="0">
                <a:latin typeface="Arial"/>
                <a:cs typeface="Arial"/>
              </a:rPr>
              <a:t> </a:t>
            </a:r>
            <a:r>
              <a:rPr sz="907" i="1" dirty="0">
                <a:latin typeface="Arial"/>
                <a:cs typeface="Arial"/>
              </a:rPr>
              <a:t>L2</a:t>
            </a:r>
            <a:r>
              <a:rPr sz="907" i="1" spc="-5" dirty="0">
                <a:latin typeface="Arial"/>
                <a:cs typeface="Arial"/>
              </a:rPr>
              <a:t> </a:t>
            </a:r>
            <a:r>
              <a:rPr sz="907" i="1" spc="-18" dirty="0">
                <a:latin typeface="Arial"/>
                <a:cs typeface="Arial"/>
              </a:rPr>
              <a:t>loss</a:t>
            </a:r>
            <a:endParaRPr sz="907">
              <a:latin typeface="Arial"/>
              <a:cs typeface="Arial"/>
            </a:endParaRPr>
          </a:p>
        </p:txBody>
      </p:sp>
      <p:grpSp>
        <p:nvGrpSpPr>
          <p:cNvPr id="58" name="object 58"/>
          <p:cNvGrpSpPr/>
          <p:nvPr/>
        </p:nvGrpSpPr>
        <p:grpSpPr>
          <a:xfrm>
            <a:off x="2633602" y="1641985"/>
            <a:ext cx="196354" cy="354128"/>
            <a:chOff x="1223644" y="864594"/>
            <a:chExt cx="216535" cy="390525"/>
          </a:xfrm>
        </p:grpSpPr>
        <p:sp>
          <p:nvSpPr>
            <p:cNvPr id="59" name="object 59"/>
            <p:cNvSpPr/>
            <p:nvPr/>
          </p:nvSpPr>
          <p:spPr>
            <a:xfrm>
              <a:off x="1224279" y="865229"/>
              <a:ext cx="140970" cy="255270"/>
            </a:xfrm>
            <a:custGeom>
              <a:avLst/>
              <a:gdLst/>
              <a:ahLst/>
              <a:cxnLst/>
              <a:rect l="l" t="t" r="r" b="b"/>
              <a:pathLst>
                <a:path w="140969" h="255269">
                  <a:moveTo>
                    <a:pt x="0" y="0"/>
                  </a:moveTo>
                  <a:lnTo>
                    <a:pt x="140969" y="255270"/>
                  </a:lnTo>
                </a:path>
              </a:pathLst>
            </a:custGeom>
            <a:ln w="3175">
              <a:solidFill>
                <a:srgbClr val="000000"/>
              </a:solidFill>
            </a:ln>
          </p:spPr>
          <p:txBody>
            <a:bodyPr wrap="square" lIns="0" tIns="0" rIns="0" bIns="0" rtlCol="0"/>
            <a:lstStyle/>
            <a:p>
              <a:endParaRPr/>
            </a:p>
          </p:txBody>
        </p:sp>
        <p:sp>
          <p:nvSpPr>
            <p:cNvPr id="60" name="object 60"/>
            <p:cNvSpPr/>
            <p:nvPr/>
          </p:nvSpPr>
          <p:spPr>
            <a:xfrm>
              <a:off x="1314449" y="1087479"/>
              <a:ext cx="125730" cy="167640"/>
            </a:xfrm>
            <a:custGeom>
              <a:avLst/>
              <a:gdLst/>
              <a:ahLst/>
              <a:cxnLst/>
              <a:rect l="l" t="t" r="r" b="b"/>
              <a:pathLst>
                <a:path w="125730" h="167640">
                  <a:moveTo>
                    <a:pt x="93980" y="0"/>
                  </a:moveTo>
                  <a:lnTo>
                    <a:pt x="0" y="52070"/>
                  </a:lnTo>
                  <a:lnTo>
                    <a:pt x="125730" y="167639"/>
                  </a:lnTo>
                  <a:lnTo>
                    <a:pt x="93980" y="0"/>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1887381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34481" y="4816187"/>
            <a:ext cx="2758747" cy="701923"/>
            <a:chOff x="4202112" y="4365032"/>
            <a:chExt cx="3042285" cy="774065"/>
          </a:xfrm>
        </p:grpSpPr>
        <p:sp>
          <p:nvSpPr>
            <p:cNvPr id="3" name="object 3"/>
            <p:cNvSpPr/>
            <p:nvPr/>
          </p:nvSpPr>
          <p:spPr>
            <a:xfrm>
              <a:off x="4229100" y="4392019"/>
              <a:ext cx="2988310" cy="720090"/>
            </a:xfrm>
            <a:custGeom>
              <a:avLst/>
              <a:gdLst/>
              <a:ahLst/>
              <a:cxnLst/>
              <a:rect l="l" t="t" r="r" b="b"/>
              <a:pathLst>
                <a:path w="2988309" h="720089">
                  <a:moveTo>
                    <a:pt x="120650" y="0"/>
                  </a:moveTo>
                  <a:lnTo>
                    <a:pt x="76080" y="10279"/>
                  </a:lnTo>
                  <a:lnTo>
                    <a:pt x="37465" y="37465"/>
                  </a:lnTo>
                  <a:lnTo>
                    <a:pt x="10279" y="76080"/>
                  </a:lnTo>
                  <a:lnTo>
                    <a:pt x="0" y="120650"/>
                  </a:lnTo>
                  <a:lnTo>
                    <a:pt x="0" y="600710"/>
                  </a:lnTo>
                  <a:lnTo>
                    <a:pt x="10279" y="644544"/>
                  </a:lnTo>
                  <a:lnTo>
                    <a:pt x="37464" y="682783"/>
                  </a:lnTo>
                  <a:lnTo>
                    <a:pt x="76080" y="709830"/>
                  </a:lnTo>
                  <a:lnTo>
                    <a:pt x="120650" y="720090"/>
                  </a:lnTo>
                  <a:lnTo>
                    <a:pt x="2868929" y="720090"/>
                  </a:lnTo>
                  <a:lnTo>
                    <a:pt x="2912764" y="709830"/>
                  </a:lnTo>
                  <a:lnTo>
                    <a:pt x="2951003" y="682783"/>
                  </a:lnTo>
                  <a:lnTo>
                    <a:pt x="2978050" y="644544"/>
                  </a:lnTo>
                  <a:lnTo>
                    <a:pt x="2988309" y="600710"/>
                  </a:lnTo>
                  <a:lnTo>
                    <a:pt x="2988309" y="120650"/>
                  </a:lnTo>
                  <a:lnTo>
                    <a:pt x="2978050" y="76080"/>
                  </a:lnTo>
                  <a:lnTo>
                    <a:pt x="2951003" y="37465"/>
                  </a:lnTo>
                  <a:lnTo>
                    <a:pt x="2912764" y="10279"/>
                  </a:lnTo>
                  <a:lnTo>
                    <a:pt x="2868929" y="0"/>
                  </a:lnTo>
                  <a:lnTo>
                    <a:pt x="120650" y="0"/>
                  </a:lnTo>
                  <a:close/>
                </a:path>
              </a:pathLst>
            </a:custGeom>
            <a:ln w="53911">
              <a:solidFill>
                <a:srgbClr val="FBD2C0"/>
              </a:solidFill>
            </a:ln>
          </p:spPr>
          <p:txBody>
            <a:bodyPr wrap="square" lIns="0" tIns="0" rIns="0" bIns="0" rtlCol="0"/>
            <a:lstStyle/>
            <a:p>
              <a:endParaRPr/>
            </a:p>
          </p:txBody>
        </p:sp>
        <p:sp>
          <p:nvSpPr>
            <p:cNvPr id="4" name="object 4"/>
            <p:cNvSpPr/>
            <p:nvPr/>
          </p:nvSpPr>
          <p:spPr>
            <a:xfrm>
              <a:off x="4202138" y="4365070"/>
              <a:ext cx="3042285" cy="774065"/>
            </a:xfrm>
            <a:custGeom>
              <a:avLst/>
              <a:gdLst/>
              <a:ahLst/>
              <a:cxnLst/>
              <a:rect l="l" t="t" r="r" b="b"/>
              <a:pathLst>
                <a:path w="3042284" h="774064">
                  <a:moveTo>
                    <a:pt x="53911" y="26949"/>
                  </a:moveTo>
                  <a:lnTo>
                    <a:pt x="46012" y="7899"/>
                  </a:lnTo>
                  <a:lnTo>
                    <a:pt x="26962" y="0"/>
                  </a:lnTo>
                  <a:lnTo>
                    <a:pt x="7899" y="7899"/>
                  </a:lnTo>
                  <a:lnTo>
                    <a:pt x="0" y="26949"/>
                  </a:lnTo>
                  <a:lnTo>
                    <a:pt x="7899" y="46012"/>
                  </a:lnTo>
                  <a:lnTo>
                    <a:pt x="26962" y="53911"/>
                  </a:lnTo>
                  <a:lnTo>
                    <a:pt x="46012" y="46012"/>
                  </a:lnTo>
                  <a:lnTo>
                    <a:pt x="53911" y="26949"/>
                  </a:lnTo>
                  <a:close/>
                </a:path>
                <a:path w="3042284" h="774064">
                  <a:moveTo>
                    <a:pt x="3042221" y="747039"/>
                  </a:moveTo>
                  <a:lnTo>
                    <a:pt x="3034322" y="727989"/>
                  </a:lnTo>
                  <a:lnTo>
                    <a:pt x="3015272" y="720090"/>
                  </a:lnTo>
                  <a:lnTo>
                    <a:pt x="2996209" y="727989"/>
                  </a:lnTo>
                  <a:lnTo>
                    <a:pt x="2988310" y="747039"/>
                  </a:lnTo>
                  <a:lnTo>
                    <a:pt x="2996209" y="766102"/>
                  </a:lnTo>
                  <a:lnTo>
                    <a:pt x="3015272" y="774001"/>
                  </a:lnTo>
                  <a:lnTo>
                    <a:pt x="3034322" y="766102"/>
                  </a:lnTo>
                  <a:lnTo>
                    <a:pt x="3042221" y="747039"/>
                  </a:lnTo>
                  <a:close/>
                </a:path>
              </a:pathLst>
            </a:custGeom>
            <a:solidFill>
              <a:srgbClr val="FBD2C0"/>
            </a:solidFill>
          </p:spPr>
          <p:txBody>
            <a:bodyPr wrap="square" lIns="0" tIns="0" rIns="0" bIns="0" rtlCol="0"/>
            <a:lstStyle/>
            <a:p>
              <a:endParaRPr/>
            </a:p>
          </p:txBody>
        </p:sp>
      </p:grpSp>
      <p:sp>
        <p:nvSpPr>
          <p:cNvPr id="5" name="object 5" descr="$PPTXTitle"/>
          <p:cNvSpPr txBox="1">
            <a:spLocks noGrp="1"/>
          </p:cNvSpPr>
          <p:nvPr>
            <p:ph type="title"/>
          </p:nvPr>
        </p:nvSpPr>
        <p:spPr>
          <a:xfrm>
            <a:off x="1938589" y="1314735"/>
            <a:ext cx="7462610" cy="621026"/>
          </a:xfrm>
          <a:prstGeom prst="rect">
            <a:avLst/>
          </a:prstGeom>
        </p:spPr>
        <p:txBody>
          <a:bodyPr vert="horz" wrap="square" lIns="0" tIns="11516" rIns="0" bIns="0" numCol="1" rtlCol="0" anchor="ctr" anchorCtr="0" compatLnSpc="1">
            <a:prstTxWarp prst="textNoShape">
              <a:avLst/>
            </a:prstTxWarp>
            <a:spAutoFit/>
          </a:bodyPr>
          <a:lstStyle/>
          <a:p>
            <a:pPr marL="224569">
              <a:spcBef>
                <a:spcPts val="91"/>
              </a:spcBef>
            </a:pPr>
            <a:r>
              <a:rPr dirty="0"/>
              <a:t>Regression</a:t>
            </a:r>
            <a:r>
              <a:rPr spc="-103" dirty="0"/>
              <a:t> </a:t>
            </a:r>
            <a:r>
              <a:rPr dirty="0"/>
              <a:t>loss</a:t>
            </a:r>
            <a:r>
              <a:rPr spc="-54" dirty="0"/>
              <a:t> </a:t>
            </a:r>
            <a:r>
              <a:rPr spc="-9" dirty="0"/>
              <a:t>functions</a:t>
            </a:r>
          </a:p>
        </p:txBody>
      </p:sp>
      <p:grpSp>
        <p:nvGrpSpPr>
          <p:cNvPr id="6" name="object 6"/>
          <p:cNvGrpSpPr/>
          <p:nvPr/>
        </p:nvGrpSpPr>
        <p:grpSpPr>
          <a:xfrm>
            <a:off x="2340512" y="2704370"/>
            <a:ext cx="816511" cy="392708"/>
            <a:chOff x="900430" y="2036169"/>
            <a:chExt cx="900430" cy="433070"/>
          </a:xfrm>
        </p:grpSpPr>
        <p:sp>
          <p:nvSpPr>
            <p:cNvPr id="7" name="object 7"/>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8" name="object 8"/>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9" name="object 9"/>
          <p:cNvSpPr txBox="1"/>
          <p:nvPr/>
        </p:nvSpPr>
        <p:spPr>
          <a:xfrm>
            <a:off x="1969685" y="1953505"/>
            <a:ext cx="2048187" cy="1097951"/>
          </a:xfrm>
          <a:prstGeom prst="rect">
            <a:avLst/>
          </a:prstGeom>
        </p:spPr>
        <p:txBody>
          <a:bodyPr vert="horz" wrap="square" lIns="0" tIns="11516" rIns="0" bIns="0" rtlCol="0">
            <a:spAutoFit/>
          </a:bodyPr>
          <a:lstStyle/>
          <a:p>
            <a:pPr marL="11516">
              <a:spcBef>
                <a:spcPts val="91"/>
              </a:spcBef>
            </a:pPr>
            <a:r>
              <a:rPr sz="2539" i="1" dirty="0">
                <a:latin typeface="Arial"/>
                <a:cs typeface="Arial"/>
              </a:rPr>
              <a:t>Absolute</a:t>
            </a:r>
            <a:r>
              <a:rPr sz="2539" i="1" spc="-109" dirty="0">
                <a:latin typeface="Arial"/>
                <a:cs typeface="Arial"/>
              </a:rPr>
              <a:t> </a:t>
            </a:r>
            <a:r>
              <a:rPr sz="2539" i="1" spc="-18" dirty="0">
                <a:latin typeface="Arial"/>
                <a:cs typeface="Arial"/>
              </a:rPr>
              <a:t>error</a:t>
            </a:r>
            <a:endParaRPr sz="2539">
              <a:latin typeface="Arial"/>
              <a:cs typeface="Arial"/>
            </a:endParaRPr>
          </a:p>
          <a:p>
            <a:pPr>
              <a:spcBef>
                <a:spcPts val="163"/>
              </a:spcBef>
            </a:pPr>
            <a:endParaRPr sz="2539">
              <a:latin typeface="Arial"/>
              <a:cs typeface="Arial"/>
            </a:endParaRPr>
          </a:p>
          <a:p>
            <a:pPr marL="483687"/>
            <a:r>
              <a:rPr sz="1814" b="1" spc="-9" dirty="0">
                <a:latin typeface="Arial"/>
                <a:cs typeface="Arial"/>
              </a:rPr>
              <a:t>Input</a:t>
            </a:r>
            <a:endParaRPr sz="1814">
              <a:latin typeface="Arial"/>
              <a:cs typeface="Arial"/>
            </a:endParaRPr>
          </a:p>
        </p:txBody>
      </p:sp>
      <p:grpSp>
        <p:nvGrpSpPr>
          <p:cNvPr id="10" name="object 10"/>
          <p:cNvGrpSpPr/>
          <p:nvPr/>
        </p:nvGrpSpPr>
        <p:grpSpPr>
          <a:xfrm>
            <a:off x="4559716" y="2752568"/>
            <a:ext cx="3232646" cy="1240889"/>
            <a:chOff x="3347720" y="2089319"/>
            <a:chExt cx="3564890" cy="1368425"/>
          </a:xfrm>
        </p:grpSpPr>
        <p:sp>
          <p:nvSpPr>
            <p:cNvPr id="11" name="object 11"/>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2" name="object 12"/>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13" name="object 13"/>
            <p:cNvSpPr/>
            <p:nvPr/>
          </p:nvSpPr>
          <p:spPr>
            <a:xfrm>
              <a:off x="6026150" y="2592430"/>
              <a:ext cx="207010" cy="288290"/>
            </a:xfrm>
            <a:custGeom>
              <a:avLst/>
              <a:gdLst/>
              <a:ahLst/>
              <a:cxnLst/>
              <a:rect l="l" t="t" r="r" b="b"/>
              <a:pathLst>
                <a:path w="207010" h="288289">
                  <a:moveTo>
                    <a:pt x="0" y="0"/>
                  </a:moveTo>
                  <a:lnTo>
                    <a:pt x="38238" y="1984"/>
                  </a:lnTo>
                  <a:lnTo>
                    <a:pt x="71596" y="7302"/>
                  </a:lnTo>
                  <a:lnTo>
                    <a:pt x="95190" y="15001"/>
                  </a:lnTo>
                  <a:lnTo>
                    <a:pt x="104139" y="24130"/>
                  </a:lnTo>
                  <a:lnTo>
                    <a:pt x="104139" y="119380"/>
                  </a:lnTo>
                  <a:lnTo>
                    <a:pt x="113069" y="128508"/>
                  </a:lnTo>
                  <a:lnTo>
                    <a:pt x="136525" y="136207"/>
                  </a:lnTo>
                  <a:lnTo>
                    <a:pt x="169505" y="141525"/>
                  </a:lnTo>
                  <a:lnTo>
                    <a:pt x="207010" y="143510"/>
                  </a:lnTo>
                  <a:lnTo>
                    <a:pt x="169505" y="145672"/>
                  </a:lnTo>
                  <a:lnTo>
                    <a:pt x="136525" y="151288"/>
                  </a:lnTo>
                  <a:lnTo>
                    <a:pt x="113069" y="159047"/>
                  </a:lnTo>
                  <a:lnTo>
                    <a:pt x="104139" y="167640"/>
                  </a:lnTo>
                  <a:lnTo>
                    <a:pt x="104139" y="264160"/>
                  </a:lnTo>
                  <a:lnTo>
                    <a:pt x="95190" y="272752"/>
                  </a:lnTo>
                  <a:lnTo>
                    <a:pt x="71596" y="280511"/>
                  </a:lnTo>
                  <a:lnTo>
                    <a:pt x="38238" y="286127"/>
                  </a:lnTo>
                  <a:lnTo>
                    <a:pt x="0" y="288290"/>
                  </a:lnTo>
                </a:path>
              </a:pathLst>
            </a:custGeom>
            <a:ln w="35941">
              <a:solidFill>
                <a:srgbClr val="3364A3"/>
              </a:solidFill>
            </a:ln>
          </p:spPr>
          <p:txBody>
            <a:bodyPr wrap="square" lIns="0" tIns="0" rIns="0" bIns="0" rtlCol="0"/>
            <a:lstStyle/>
            <a:p>
              <a:endParaRPr/>
            </a:p>
          </p:txBody>
        </p:sp>
        <p:sp>
          <p:nvSpPr>
            <p:cNvPr id="14" name="object 14"/>
            <p:cNvSpPr/>
            <p:nvPr/>
          </p:nvSpPr>
          <p:spPr>
            <a:xfrm>
              <a:off x="6008179" y="2574459"/>
              <a:ext cx="243204" cy="324485"/>
            </a:xfrm>
            <a:custGeom>
              <a:avLst/>
              <a:gdLst/>
              <a:ahLst/>
              <a:cxnLst/>
              <a:rect l="l" t="t" r="r" b="b"/>
              <a:pathLst>
                <a:path w="243204" h="324485">
                  <a:moveTo>
                    <a:pt x="35941" y="306260"/>
                  </a:moveTo>
                  <a:lnTo>
                    <a:pt x="30670" y="293560"/>
                  </a:lnTo>
                  <a:lnTo>
                    <a:pt x="17970" y="288290"/>
                  </a:lnTo>
                  <a:lnTo>
                    <a:pt x="5257" y="293560"/>
                  </a:lnTo>
                  <a:lnTo>
                    <a:pt x="0" y="306260"/>
                  </a:lnTo>
                  <a:lnTo>
                    <a:pt x="5257" y="318973"/>
                  </a:lnTo>
                  <a:lnTo>
                    <a:pt x="17970" y="324231"/>
                  </a:lnTo>
                  <a:lnTo>
                    <a:pt x="30670" y="318973"/>
                  </a:lnTo>
                  <a:lnTo>
                    <a:pt x="35941" y="306260"/>
                  </a:lnTo>
                  <a:close/>
                </a:path>
                <a:path w="243204" h="32448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pic>
          <p:nvPicPr>
            <p:cNvPr id="15" name="object 15"/>
            <p:cNvPicPr/>
            <p:nvPr/>
          </p:nvPicPr>
          <p:blipFill>
            <a:blip r:embed="rId2" cstate="print"/>
            <a:stretch>
              <a:fillRect/>
            </a:stretch>
          </p:blipFill>
          <p:spPr>
            <a:xfrm>
              <a:off x="3784600" y="2127610"/>
              <a:ext cx="2263140" cy="1329689"/>
            </a:xfrm>
            <a:prstGeom prst="rect">
              <a:avLst/>
            </a:prstGeom>
          </p:spPr>
        </p:pic>
        <p:pic>
          <p:nvPicPr>
            <p:cNvPr id="16" name="object 16"/>
            <p:cNvPicPr/>
            <p:nvPr/>
          </p:nvPicPr>
          <p:blipFill>
            <a:blip r:embed="rId3" cstate="print"/>
            <a:stretch>
              <a:fillRect/>
            </a:stretch>
          </p:blipFill>
          <p:spPr>
            <a:xfrm>
              <a:off x="3347720" y="2629260"/>
              <a:ext cx="175260" cy="251460"/>
            </a:xfrm>
            <a:prstGeom prst="rect">
              <a:avLst/>
            </a:prstGeom>
          </p:spPr>
        </p:pic>
        <p:pic>
          <p:nvPicPr>
            <p:cNvPr id="17" name="object 17"/>
            <p:cNvPicPr/>
            <p:nvPr/>
          </p:nvPicPr>
          <p:blipFill>
            <a:blip r:embed="rId4" cstate="print"/>
            <a:stretch>
              <a:fillRect/>
            </a:stretch>
          </p:blipFill>
          <p:spPr>
            <a:xfrm>
              <a:off x="6239510" y="2417170"/>
              <a:ext cx="673099" cy="570230"/>
            </a:xfrm>
            <a:prstGeom prst="rect">
              <a:avLst/>
            </a:prstGeom>
          </p:spPr>
        </p:pic>
      </p:grpSp>
      <p:grpSp>
        <p:nvGrpSpPr>
          <p:cNvPr id="18" name="object 18"/>
          <p:cNvGrpSpPr/>
          <p:nvPr/>
        </p:nvGrpSpPr>
        <p:grpSpPr>
          <a:xfrm>
            <a:off x="4025355" y="2043330"/>
            <a:ext cx="1250678" cy="443380"/>
            <a:chOff x="2758439" y="1307189"/>
            <a:chExt cx="1379220" cy="488950"/>
          </a:xfrm>
        </p:grpSpPr>
        <p:sp>
          <p:nvSpPr>
            <p:cNvPr id="19" name="object 19"/>
            <p:cNvSpPr/>
            <p:nvPr/>
          </p:nvSpPr>
          <p:spPr>
            <a:xfrm>
              <a:off x="2766059" y="1307189"/>
              <a:ext cx="1363980" cy="488950"/>
            </a:xfrm>
            <a:custGeom>
              <a:avLst/>
              <a:gdLst/>
              <a:ahLst/>
              <a:cxnLst/>
              <a:rect l="l" t="t" r="r" b="b"/>
              <a:pathLst>
                <a:path w="1363979" h="488950">
                  <a:moveTo>
                    <a:pt x="1278889" y="0"/>
                  </a:moveTo>
                  <a:lnTo>
                    <a:pt x="36829" y="219710"/>
                  </a:lnTo>
                  <a:lnTo>
                    <a:pt x="396" y="254535"/>
                  </a:lnTo>
                  <a:lnTo>
                    <a:pt x="0" y="271779"/>
                  </a:lnTo>
                  <a:lnTo>
                    <a:pt x="31750" y="452120"/>
                  </a:lnTo>
                  <a:lnTo>
                    <a:pt x="38457" y="467518"/>
                  </a:lnTo>
                  <a:lnTo>
                    <a:pt x="51117" y="480060"/>
                  </a:lnTo>
                  <a:lnTo>
                    <a:pt x="67111" y="487838"/>
                  </a:lnTo>
                  <a:lnTo>
                    <a:pt x="83819" y="488950"/>
                  </a:lnTo>
                  <a:lnTo>
                    <a:pt x="1327150" y="270510"/>
                  </a:lnTo>
                  <a:lnTo>
                    <a:pt x="1343084" y="263068"/>
                  </a:lnTo>
                  <a:lnTo>
                    <a:pt x="1355566" y="250031"/>
                  </a:lnTo>
                  <a:lnTo>
                    <a:pt x="1363047" y="233898"/>
                  </a:lnTo>
                  <a:lnTo>
                    <a:pt x="1363979" y="217170"/>
                  </a:lnTo>
                  <a:lnTo>
                    <a:pt x="1332229" y="36829"/>
                  </a:lnTo>
                  <a:lnTo>
                    <a:pt x="1325502" y="20895"/>
                  </a:lnTo>
                  <a:lnTo>
                    <a:pt x="1312703" y="8413"/>
                  </a:lnTo>
                  <a:lnTo>
                    <a:pt x="1296332" y="932"/>
                  </a:lnTo>
                  <a:lnTo>
                    <a:pt x="1278889" y="0"/>
                  </a:lnTo>
                  <a:close/>
                </a:path>
              </a:pathLst>
            </a:custGeom>
            <a:solidFill>
              <a:srgbClr val="ACD489"/>
            </a:solidFill>
          </p:spPr>
          <p:txBody>
            <a:bodyPr wrap="square" lIns="0" tIns="0" rIns="0" bIns="0" rtlCol="0"/>
            <a:lstStyle/>
            <a:p>
              <a:endParaRPr/>
            </a:p>
          </p:txBody>
        </p:sp>
        <p:sp>
          <p:nvSpPr>
            <p:cNvPr id="20" name="object 20"/>
            <p:cNvSpPr/>
            <p:nvPr/>
          </p:nvSpPr>
          <p:spPr>
            <a:xfrm>
              <a:off x="2766059" y="1307189"/>
              <a:ext cx="1363980" cy="488950"/>
            </a:xfrm>
            <a:custGeom>
              <a:avLst/>
              <a:gdLst/>
              <a:ahLst/>
              <a:cxnLst/>
              <a:rect l="l" t="t" r="r" b="b"/>
              <a:pathLst>
                <a:path w="1363979" h="488950">
                  <a:moveTo>
                    <a:pt x="36829" y="219710"/>
                  </a:moveTo>
                  <a:lnTo>
                    <a:pt x="20716" y="226238"/>
                  </a:lnTo>
                  <a:lnTo>
                    <a:pt x="7937" y="238601"/>
                  </a:lnTo>
                  <a:lnTo>
                    <a:pt x="396" y="254535"/>
                  </a:lnTo>
                  <a:lnTo>
                    <a:pt x="0" y="271779"/>
                  </a:lnTo>
                  <a:lnTo>
                    <a:pt x="31750" y="452120"/>
                  </a:lnTo>
                  <a:lnTo>
                    <a:pt x="38457" y="467518"/>
                  </a:lnTo>
                  <a:lnTo>
                    <a:pt x="51117" y="480060"/>
                  </a:lnTo>
                  <a:lnTo>
                    <a:pt x="67111" y="487838"/>
                  </a:lnTo>
                  <a:lnTo>
                    <a:pt x="83819" y="488950"/>
                  </a:lnTo>
                  <a:lnTo>
                    <a:pt x="1327150" y="270510"/>
                  </a:lnTo>
                  <a:lnTo>
                    <a:pt x="1343084" y="263068"/>
                  </a:lnTo>
                  <a:lnTo>
                    <a:pt x="1355566" y="250031"/>
                  </a:lnTo>
                  <a:lnTo>
                    <a:pt x="1363047" y="233898"/>
                  </a:lnTo>
                  <a:lnTo>
                    <a:pt x="1363979" y="217170"/>
                  </a:lnTo>
                  <a:lnTo>
                    <a:pt x="1332229" y="36829"/>
                  </a:lnTo>
                  <a:lnTo>
                    <a:pt x="1325502" y="20895"/>
                  </a:lnTo>
                  <a:lnTo>
                    <a:pt x="1312703" y="8413"/>
                  </a:lnTo>
                  <a:lnTo>
                    <a:pt x="1296332" y="932"/>
                  </a:lnTo>
                  <a:lnTo>
                    <a:pt x="1278889" y="0"/>
                  </a:lnTo>
                  <a:lnTo>
                    <a:pt x="36829" y="219710"/>
                  </a:lnTo>
                  <a:close/>
                </a:path>
              </a:pathLst>
            </a:custGeom>
            <a:ln w="3175">
              <a:solidFill>
                <a:srgbClr val="3364A3"/>
              </a:solidFill>
            </a:ln>
          </p:spPr>
          <p:txBody>
            <a:bodyPr wrap="square" lIns="0" tIns="0" rIns="0" bIns="0" rtlCol="0"/>
            <a:lstStyle/>
            <a:p>
              <a:endParaRPr/>
            </a:p>
          </p:txBody>
        </p:sp>
      </p:grpSp>
      <p:sp>
        <p:nvSpPr>
          <p:cNvPr id="21" name="object 21"/>
          <p:cNvSpPr txBox="1"/>
          <p:nvPr/>
        </p:nvSpPr>
        <p:spPr>
          <a:xfrm rot="21060000">
            <a:off x="4114424" y="2213632"/>
            <a:ext cx="1029096"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L1Loss</a:t>
            </a:r>
            <a:endParaRPr sz="1632" baseline="4629">
              <a:latin typeface="Arial MT"/>
              <a:cs typeface="Arial MT"/>
            </a:endParaRPr>
          </a:p>
        </p:txBody>
      </p:sp>
      <p:sp>
        <p:nvSpPr>
          <p:cNvPr id="22" name="object 22"/>
          <p:cNvSpPr txBox="1"/>
          <p:nvPr/>
        </p:nvSpPr>
        <p:spPr>
          <a:xfrm>
            <a:off x="5527092" y="4923576"/>
            <a:ext cx="580425" cy="402376"/>
          </a:xfrm>
          <a:prstGeom prst="rect">
            <a:avLst/>
          </a:prstGeom>
        </p:spPr>
        <p:txBody>
          <a:bodyPr vert="horz" wrap="square" lIns="0" tIns="11516" rIns="0" bIns="0" rtlCol="0">
            <a:spAutoFit/>
          </a:bodyPr>
          <a:lstStyle/>
          <a:p>
            <a:pPr marL="11516">
              <a:spcBef>
                <a:spcPts val="91"/>
              </a:spcBef>
            </a:pPr>
            <a:r>
              <a:rPr sz="2539" i="1" spc="-63" dirty="0">
                <a:solidFill>
                  <a:srgbClr val="333333"/>
                </a:solidFill>
                <a:latin typeface="Times New Roman"/>
                <a:cs typeface="Times New Roman"/>
              </a:rPr>
              <a:t>Loss</a:t>
            </a:r>
            <a:endParaRPr sz="2539">
              <a:latin typeface="Times New Roman"/>
              <a:cs typeface="Times New Roman"/>
            </a:endParaRPr>
          </a:p>
        </p:txBody>
      </p:sp>
      <p:grpSp>
        <p:nvGrpSpPr>
          <p:cNvPr id="23" name="object 23"/>
          <p:cNvGrpSpPr/>
          <p:nvPr/>
        </p:nvGrpSpPr>
        <p:grpSpPr>
          <a:xfrm>
            <a:off x="2339359" y="4403036"/>
            <a:ext cx="914400" cy="391557"/>
            <a:chOff x="899160" y="3909419"/>
            <a:chExt cx="1008380" cy="431800"/>
          </a:xfrm>
        </p:grpSpPr>
        <p:sp>
          <p:nvSpPr>
            <p:cNvPr id="24" name="object 24"/>
            <p:cNvSpPr/>
            <p:nvPr/>
          </p:nvSpPr>
          <p:spPr>
            <a:xfrm>
              <a:off x="899160" y="3909419"/>
              <a:ext cx="1008380" cy="431800"/>
            </a:xfrm>
            <a:custGeom>
              <a:avLst/>
              <a:gdLst/>
              <a:ahLst/>
              <a:cxnLst/>
              <a:rect l="l" t="t" r="r" b="b"/>
              <a:pathLst>
                <a:path w="1008380" h="431800">
                  <a:moveTo>
                    <a:pt x="935990" y="0"/>
                  </a:moveTo>
                  <a:lnTo>
                    <a:pt x="72390" y="0"/>
                  </a:ln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19" y="408940"/>
                  </a:lnTo>
                  <a:lnTo>
                    <a:pt x="1002069" y="385722"/>
                  </a:lnTo>
                  <a:lnTo>
                    <a:pt x="1008379" y="359410"/>
                  </a:lnTo>
                  <a:lnTo>
                    <a:pt x="1008379" y="71120"/>
                  </a:lnTo>
                  <a:lnTo>
                    <a:pt x="1002069" y="45005"/>
                  </a:lnTo>
                  <a:lnTo>
                    <a:pt x="985520" y="22225"/>
                  </a:lnTo>
                  <a:lnTo>
                    <a:pt x="962302" y="6111"/>
                  </a:lnTo>
                  <a:lnTo>
                    <a:pt x="935990" y="0"/>
                  </a:lnTo>
                  <a:close/>
                </a:path>
              </a:pathLst>
            </a:custGeom>
            <a:solidFill>
              <a:srgbClr val="719ECE"/>
            </a:solidFill>
          </p:spPr>
          <p:txBody>
            <a:bodyPr wrap="square" lIns="0" tIns="0" rIns="0" bIns="0" rtlCol="0"/>
            <a:lstStyle/>
            <a:p>
              <a:endParaRPr/>
            </a:p>
          </p:txBody>
        </p:sp>
        <p:sp>
          <p:nvSpPr>
            <p:cNvPr id="25" name="object 25"/>
            <p:cNvSpPr/>
            <p:nvPr/>
          </p:nvSpPr>
          <p:spPr>
            <a:xfrm>
              <a:off x="899160" y="3909419"/>
              <a:ext cx="1008380" cy="431800"/>
            </a:xfrm>
            <a:custGeom>
              <a:avLst/>
              <a:gdLst/>
              <a:ahLst/>
              <a:cxnLst/>
              <a:rect l="l" t="t" r="r" b="b"/>
              <a:pathLst>
                <a:path w="1008380" h="431800">
                  <a:moveTo>
                    <a:pt x="72390" y="0"/>
                  </a:move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20" y="408940"/>
                  </a:lnTo>
                  <a:lnTo>
                    <a:pt x="1002069" y="385722"/>
                  </a:lnTo>
                  <a:lnTo>
                    <a:pt x="1008379" y="359410"/>
                  </a:lnTo>
                  <a:lnTo>
                    <a:pt x="1008379" y="71120"/>
                  </a:lnTo>
                  <a:lnTo>
                    <a:pt x="1002069" y="45005"/>
                  </a:lnTo>
                  <a:lnTo>
                    <a:pt x="985520" y="22225"/>
                  </a:lnTo>
                  <a:lnTo>
                    <a:pt x="962302" y="611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26" name="object 26"/>
          <p:cNvSpPr txBox="1"/>
          <p:nvPr/>
        </p:nvSpPr>
        <p:spPr>
          <a:xfrm>
            <a:off x="2419974" y="4429525"/>
            <a:ext cx="711136" cy="290807"/>
          </a:xfrm>
          <a:prstGeom prst="rect">
            <a:avLst/>
          </a:prstGeom>
        </p:spPr>
        <p:txBody>
          <a:bodyPr vert="horz" wrap="square" lIns="0" tIns="11516" rIns="0" bIns="0" rtlCol="0">
            <a:spAutoFit/>
          </a:bodyPr>
          <a:lstStyle/>
          <a:p>
            <a:pPr marL="11516">
              <a:spcBef>
                <a:spcPts val="91"/>
              </a:spcBef>
            </a:pPr>
            <a:r>
              <a:rPr sz="1814" b="1" spc="-18" dirty="0">
                <a:latin typeface="Arial"/>
                <a:cs typeface="Arial"/>
              </a:rPr>
              <a:t>Target</a:t>
            </a:r>
            <a:endParaRPr sz="1814">
              <a:latin typeface="Arial"/>
              <a:cs typeface="Arial"/>
            </a:endParaRPr>
          </a:p>
        </p:txBody>
      </p:sp>
      <p:pic>
        <p:nvPicPr>
          <p:cNvPr id="27" name="object 27"/>
          <p:cNvPicPr/>
          <p:nvPr/>
        </p:nvPicPr>
        <p:blipFill>
          <a:blip r:embed="rId3" cstate="print"/>
          <a:stretch>
            <a:fillRect/>
          </a:stretch>
        </p:blipFill>
        <p:spPr>
          <a:xfrm>
            <a:off x="3221512" y="2817230"/>
            <a:ext cx="158926" cy="228024"/>
          </a:xfrm>
          <a:prstGeom prst="rect">
            <a:avLst/>
          </a:prstGeom>
        </p:spPr>
      </p:pic>
      <p:pic>
        <p:nvPicPr>
          <p:cNvPr id="28" name="object 28"/>
          <p:cNvPicPr/>
          <p:nvPr/>
        </p:nvPicPr>
        <p:blipFill>
          <a:blip r:embed="rId5" cstate="print"/>
          <a:stretch>
            <a:fillRect/>
          </a:stretch>
        </p:blipFill>
        <p:spPr>
          <a:xfrm>
            <a:off x="3321707" y="4386912"/>
            <a:ext cx="192323" cy="431864"/>
          </a:xfrm>
          <a:prstGeom prst="rect">
            <a:avLst/>
          </a:prstGeom>
        </p:spPr>
      </p:pic>
      <p:sp>
        <p:nvSpPr>
          <p:cNvPr id="29" name="object 29"/>
          <p:cNvSpPr txBox="1"/>
          <p:nvPr/>
        </p:nvSpPr>
        <p:spPr>
          <a:xfrm>
            <a:off x="2197708" y="1455995"/>
            <a:ext cx="603458" cy="151218"/>
          </a:xfrm>
          <a:prstGeom prst="rect">
            <a:avLst/>
          </a:prstGeom>
        </p:spPr>
        <p:txBody>
          <a:bodyPr vert="horz" wrap="square" lIns="0" tIns="11516" rIns="0" bIns="0" rtlCol="0">
            <a:spAutoFit/>
          </a:bodyPr>
          <a:lstStyle/>
          <a:p>
            <a:pPr marL="11516">
              <a:spcBef>
                <a:spcPts val="91"/>
              </a:spcBef>
            </a:pPr>
            <a:r>
              <a:rPr sz="907" i="1" dirty="0">
                <a:latin typeface="Arial"/>
                <a:cs typeface="Arial"/>
              </a:rPr>
              <a:t>aka</a:t>
            </a:r>
            <a:r>
              <a:rPr sz="907" i="1" spc="-5" dirty="0">
                <a:latin typeface="Arial"/>
                <a:cs typeface="Arial"/>
              </a:rPr>
              <a:t> </a:t>
            </a:r>
            <a:r>
              <a:rPr sz="907" i="1" dirty="0">
                <a:latin typeface="Arial"/>
                <a:cs typeface="Arial"/>
              </a:rPr>
              <a:t>L1</a:t>
            </a:r>
            <a:r>
              <a:rPr sz="907" i="1" spc="-5" dirty="0">
                <a:latin typeface="Arial"/>
                <a:cs typeface="Arial"/>
              </a:rPr>
              <a:t> </a:t>
            </a:r>
            <a:r>
              <a:rPr sz="907" i="1" spc="-18" dirty="0">
                <a:latin typeface="Arial"/>
                <a:cs typeface="Arial"/>
              </a:rPr>
              <a:t>loss</a:t>
            </a:r>
            <a:endParaRPr sz="907">
              <a:latin typeface="Arial"/>
              <a:cs typeface="Arial"/>
            </a:endParaRPr>
          </a:p>
        </p:txBody>
      </p:sp>
      <p:grpSp>
        <p:nvGrpSpPr>
          <p:cNvPr id="30" name="object 30"/>
          <p:cNvGrpSpPr/>
          <p:nvPr/>
        </p:nvGrpSpPr>
        <p:grpSpPr>
          <a:xfrm>
            <a:off x="2633602" y="1641985"/>
            <a:ext cx="196354" cy="354128"/>
            <a:chOff x="1223644" y="864594"/>
            <a:chExt cx="216535" cy="390525"/>
          </a:xfrm>
        </p:grpSpPr>
        <p:sp>
          <p:nvSpPr>
            <p:cNvPr id="31" name="object 31"/>
            <p:cNvSpPr/>
            <p:nvPr/>
          </p:nvSpPr>
          <p:spPr>
            <a:xfrm>
              <a:off x="1224279" y="865229"/>
              <a:ext cx="140970" cy="255270"/>
            </a:xfrm>
            <a:custGeom>
              <a:avLst/>
              <a:gdLst/>
              <a:ahLst/>
              <a:cxnLst/>
              <a:rect l="l" t="t" r="r" b="b"/>
              <a:pathLst>
                <a:path w="140969" h="255269">
                  <a:moveTo>
                    <a:pt x="0" y="0"/>
                  </a:moveTo>
                  <a:lnTo>
                    <a:pt x="140969" y="255270"/>
                  </a:lnTo>
                </a:path>
              </a:pathLst>
            </a:custGeom>
            <a:ln w="3175">
              <a:solidFill>
                <a:srgbClr val="000000"/>
              </a:solidFill>
            </a:ln>
          </p:spPr>
          <p:txBody>
            <a:bodyPr wrap="square" lIns="0" tIns="0" rIns="0" bIns="0" rtlCol="0"/>
            <a:lstStyle/>
            <a:p>
              <a:endParaRPr/>
            </a:p>
          </p:txBody>
        </p:sp>
        <p:sp>
          <p:nvSpPr>
            <p:cNvPr id="32" name="object 32"/>
            <p:cNvSpPr/>
            <p:nvPr/>
          </p:nvSpPr>
          <p:spPr>
            <a:xfrm>
              <a:off x="1314449" y="1087479"/>
              <a:ext cx="125730" cy="167640"/>
            </a:xfrm>
            <a:custGeom>
              <a:avLst/>
              <a:gdLst/>
              <a:ahLst/>
              <a:cxnLst/>
              <a:rect l="l" t="t" r="r" b="b"/>
              <a:pathLst>
                <a:path w="125730" h="167640">
                  <a:moveTo>
                    <a:pt x="93980" y="0"/>
                  </a:moveTo>
                  <a:lnTo>
                    <a:pt x="0" y="52070"/>
                  </a:lnTo>
                  <a:lnTo>
                    <a:pt x="125730" y="167639"/>
                  </a:lnTo>
                  <a:lnTo>
                    <a:pt x="93980" y="0"/>
                  </a:lnTo>
                  <a:close/>
                </a:path>
              </a:pathLst>
            </a:custGeom>
            <a:solidFill>
              <a:srgbClr val="000000"/>
            </a:solidFill>
          </p:spPr>
          <p:txBody>
            <a:bodyPr wrap="square" lIns="0" tIns="0" rIns="0" bIns="0" rtlCol="0"/>
            <a:lstStyle/>
            <a:p>
              <a:endParaRPr/>
            </a:p>
          </p:txBody>
        </p:sp>
      </p:grpSp>
      <p:pic>
        <p:nvPicPr>
          <p:cNvPr id="33" name="object 33"/>
          <p:cNvPicPr/>
          <p:nvPr/>
        </p:nvPicPr>
        <p:blipFill>
          <a:blip r:embed="rId6" cstate="print"/>
          <a:stretch>
            <a:fillRect/>
          </a:stretch>
        </p:blipFill>
        <p:spPr>
          <a:xfrm>
            <a:off x="6202355" y="4988068"/>
            <a:ext cx="1647301" cy="404225"/>
          </a:xfrm>
          <a:prstGeom prst="rect">
            <a:avLst/>
          </a:prstGeom>
        </p:spPr>
      </p:pic>
    </p:spTree>
    <p:extLst>
      <p:ext uri="{BB962C8B-B14F-4D97-AF65-F5344CB8AC3E}">
        <p14:creationId xmlns:p14="http://schemas.microsoft.com/office/powerpoint/2010/main" val="34154298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02610" y="4686052"/>
            <a:ext cx="4374494" cy="1191369"/>
            <a:chOff x="2402522" y="4221522"/>
            <a:chExt cx="4824095" cy="1313815"/>
          </a:xfrm>
        </p:grpSpPr>
        <p:sp>
          <p:nvSpPr>
            <p:cNvPr id="3" name="object 3"/>
            <p:cNvSpPr/>
            <p:nvPr/>
          </p:nvSpPr>
          <p:spPr>
            <a:xfrm>
              <a:off x="2429510" y="4248510"/>
              <a:ext cx="4770120" cy="1259840"/>
            </a:xfrm>
            <a:custGeom>
              <a:avLst/>
              <a:gdLst/>
              <a:ahLst/>
              <a:cxnLst/>
              <a:rect l="l" t="t" r="r" b="b"/>
              <a:pathLst>
                <a:path w="4770120" h="1259839">
                  <a:moveTo>
                    <a:pt x="209550" y="0"/>
                  </a:moveTo>
                  <a:lnTo>
                    <a:pt x="164751" y="6076"/>
                  </a:lnTo>
                  <a:lnTo>
                    <a:pt x="121908" y="23104"/>
                  </a:lnTo>
                  <a:lnTo>
                    <a:pt x="82820" y="49285"/>
                  </a:lnTo>
                  <a:lnTo>
                    <a:pt x="49285" y="82820"/>
                  </a:lnTo>
                  <a:lnTo>
                    <a:pt x="23104" y="121908"/>
                  </a:lnTo>
                  <a:lnTo>
                    <a:pt x="6076" y="164751"/>
                  </a:lnTo>
                  <a:lnTo>
                    <a:pt x="0" y="209549"/>
                  </a:lnTo>
                  <a:lnTo>
                    <a:pt x="0" y="1050289"/>
                  </a:lnTo>
                  <a:lnTo>
                    <a:pt x="6076" y="1095088"/>
                  </a:lnTo>
                  <a:lnTo>
                    <a:pt x="23104" y="1137931"/>
                  </a:lnTo>
                  <a:lnTo>
                    <a:pt x="49285" y="1177019"/>
                  </a:lnTo>
                  <a:lnTo>
                    <a:pt x="82820" y="1210554"/>
                  </a:lnTo>
                  <a:lnTo>
                    <a:pt x="121908" y="1236735"/>
                  </a:lnTo>
                  <a:lnTo>
                    <a:pt x="164751" y="1253763"/>
                  </a:lnTo>
                  <a:lnTo>
                    <a:pt x="209550" y="1259839"/>
                  </a:lnTo>
                  <a:lnTo>
                    <a:pt x="4560570" y="1259839"/>
                  </a:lnTo>
                  <a:lnTo>
                    <a:pt x="4605368" y="1253763"/>
                  </a:lnTo>
                  <a:lnTo>
                    <a:pt x="4648211" y="1236735"/>
                  </a:lnTo>
                  <a:lnTo>
                    <a:pt x="4687299" y="1210554"/>
                  </a:lnTo>
                  <a:lnTo>
                    <a:pt x="4720834" y="1177019"/>
                  </a:lnTo>
                  <a:lnTo>
                    <a:pt x="4747015" y="1137931"/>
                  </a:lnTo>
                  <a:lnTo>
                    <a:pt x="4764043" y="1095088"/>
                  </a:lnTo>
                  <a:lnTo>
                    <a:pt x="4770120" y="1050289"/>
                  </a:lnTo>
                  <a:lnTo>
                    <a:pt x="4770120" y="209549"/>
                  </a:lnTo>
                  <a:lnTo>
                    <a:pt x="4764043" y="164751"/>
                  </a:lnTo>
                  <a:lnTo>
                    <a:pt x="4747015" y="121908"/>
                  </a:lnTo>
                  <a:lnTo>
                    <a:pt x="4720834" y="82820"/>
                  </a:lnTo>
                  <a:lnTo>
                    <a:pt x="4687299" y="49285"/>
                  </a:lnTo>
                  <a:lnTo>
                    <a:pt x="4648211" y="23104"/>
                  </a:lnTo>
                  <a:lnTo>
                    <a:pt x="4605368" y="6076"/>
                  </a:lnTo>
                  <a:lnTo>
                    <a:pt x="4560570" y="0"/>
                  </a:lnTo>
                  <a:lnTo>
                    <a:pt x="209550" y="0"/>
                  </a:lnTo>
                  <a:close/>
                </a:path>
              </a:pathLst>
            </a:custGeom>
            <a:ln w="53911">
              <a:solidFill>
                <a:srgbClr val="FBD2C0"/>
              </a:solidFill>
            </a:ln>
          </p:spPr>
          <p:txBody>
            <a:bodyPr wrap="square" lIns="0" tIns="0" rIns="0" bIns="0" rtlCol="0"/>
            <a:lstStyle/>
            <a:p>
              <a:endParaRPr/>
            </a:p>
          </p:txBody>
        </p:sp>
        <p:sp>
          <p:nvSpPr>
            <p:cNvPr id="4" name="object 4"/>
            <p:cNvSpPr/>
            <p:nvPr/>
          </p:nvSpPr>
          <p:spPr>
            <a:xfrm>
              <a:off x="2402548" y="4221560"/>
              <a:ext cx="4824095" cy="1313815"/>
            </a:xfrm>
            <a:custGeom>
              <a:avLst/>
              <a:gdLst/>
              <a:ahLst/>
              <a:cxnLst/>
              <a:rect l="l" t="t" r="r" b="b"/>
              <a:pathLst>
                <a:path w="4824095" h="1313814">
                  <a:moveTo>
                    <a:pt x="53911" y="26949"/>
                  </a:moveTo>
                  <a:lnTo>
                    <a:pt x="46012" y="7899"/>
                  </a:lnTo>
                  <a:lnTo>
                    <a:pt x="26962" y="0"/>
                  </a:lnTo>
                  <a:lnTo>
                    <a:pt x="7899" y="7899"/>
                  </a:lnTo>
                  <a:lnTo>
                    <a:pt x="0" y="26949"/>
                  </a:lnTo>
                  <a:lnTo>
                    <a:pt x="7899" y="46012"/>
                  </a:lnTo>
                  <a:lnTo>
                    <a:pt x="26962" y="53911"/>
                  </a:lnTo>
                  <a:lnTo>
                    <a:pt x="46012" y="46012"/>
                  </a:lnTo>
                  <a:lnTo>
                    <a:pt x="53911" y="26949"/>
                  </a:lnTo>
                  <a:close/>
                </a:path>
                <a:path w="4824095" h="1313814">
                  <a:moveTo>
                    <a:pt x="4824031" y="1286789"/>
                  </a:moveTo>
                  <a:lnTo>
                    <a:pt x="4816132" y="1267739"/>
                  </a:lnTo>
                  <a:lnTo>
                    <a:pt x="4797082" y="1259840"/>
                  </a:lnTo>
                  <a:lnTo>
                    <a:pt x="4778019" y="1267739"/>
                  </a:lnTo>
                  <a:lnTo>
                    <a:pt x="4770120" y="1286789"/>
                  </a:lnTo>
                  <a:lnTo>
                    <a:pt x="4778019" y="1305852"/>
                  </a:lnTo>
                  <a:lnTo>
                    <a:pt x="4797082" y="1313751"/>
                  </a:lnTo>
                  <a:lnTo>
                    <a:pt x="4816132" y="1305852"/>
                  </a:lnTo>
                  <a:lnTo>
                    <a:pt x="4824031" y="1286789"/>
                  </a:lnTo>
                  <a:close/>
                </a:path>
              </a:pathLst>
            </a:custGeom>
            <a:solidFill>
              <a:srgbClr val="FBD2C0"/>
            </a:solidFill>
          </p:spPr>
          <p:txBody>
            <a:bodyPr wrap="square" lIns="0" tIns="0" rIns="0" bIns="0" rtlCol="0"/>
            <a:lstStyle/>
            <a:p>
              <a:endParaRPr/>
            </a:p>
          </p:txBody>
        </p:sp>
      </p:grpSp>
      <p:sp>
        <p:nvSpPr>
          <p:cNvPr id="5" name="object 5" descr="$PPTXTitle"/>
          <p:cNvSpPr txBox="1">
            <a:spLocks noGrp="1"/>
          </p:cNvSpPr>
          <p:nvPr>
            <p:ph type="title"/>
          </p:nvPr>
        </p:nvSpPr>
        <p:spPr>
          <a:xfrm>
            <a:off x="3193875" y="1154695"/>
            <a:ext cx="3628809" cy="621026"/>
          </a:xfrm>
          <a:prstGeom prst="rect">
            <a:avLst/>
          </a:prstGeom>
        </p:spPr>
        <p:txBody>
          <a:bodyPr vert="horz" wrap="square" lIns="0" tIns="11516" rIns="0" bIns="0" numCol="1" rtlCol="0" anchor="ctr" anchorCtr="0" compatLnSpc="1">
            <a:prstTxWarp prst="textNoShape">
              <a:avLst/>
            </a:prstTxWarp>
            <a:spAutoFit/>
          </a:bodyPr>
          <a:lstStyle/>
          <a:p>
            <a:pPr marL="11516">
              <a:spcBef>
                <a:spcPts val="91"/>
              </a:spcBef>
            </a:pPr>
            <a:r>
              <a:rPr dirty="0"/>
              <a:t>Regression</a:t>
            </a:r>
            <a:r>
              <a:rPr spc="-204" dirty="0"/>
              <a:t> </a:t>
            </a:r>
            <a:r>
              <a:rPr spc="-18" dirty="0"/>
              <a:t>loss</a:t>
            </a:r>
          </a:p>
        </p:txBody>
      </p:sp>
      <p:sp>
        <p:nvSpPr>
          <p:cNvPr id="6" name="object 6"/>
          <p:cNvSpPr txBox="1"/>
          <p:nvPr/>
        </p:nvSpPr>
        <p:spPr>
          <a:xfrm>
            <a:off x="1969685" y="1953504"/>
            <a:ext cx="1565075" cy="402376"/>
          </a:xfrm>
          <a:prstGeom prst="rect">
            <a:avLst/>
          </a:prstGeom>
        </p:spPr>
        <p:txBody>
          <a:bodyPr vert="horz" wrap="square" lIns="0" tIns="11516" rIns="0" bIns="0" rtlCol="0">
            <a:spAutoFit/>
          </a:bodyPr>
          <a:lstStyle/>
          <a:p>
            <a:pPr marL="11516">
              <a:spcBef>
                <a:spcPts val="91"/>
              </a:spcBef>
            </a:pPr>
            <a:r>
              <a:rPr sz="2539" i="1" dirty="0">
                <a:latin typeface="Arial"/>
                <a:cs typeface="Arial"/>
              </a:rPr>
              <a:t>Huber</a:t>
            </a:r>
            <a:r>
              <a:rPr sz="2539" i="1" spc="-82" dirty="0">
                <a:latin typeface="Arial"/>
                <a:cs typeface="Arial"/>
              </a:rPr>
              <a:t> </a:t>
            </a:r>
            <a:r>
              <a:rPr sz="2539" i="1" spc="-18" dirty="0">
                <a:latin typeface="Arial"/>
                <a:cs typeface="Arial"/>
              </a:rPr>
              <a:t>loss</a:t>
            </a:r>
            <a:endParaRPr sz="2539">
              <a:latin typeface="Arial"/>
              <a:cs typeface="Arial"/>
            </a:endParaRPr>
          </a:p>
        </p:txBody>
      </p:sp>
      <p:grpSp>
        <p:nvGrpSpPr>
          <p:cNvPr id="7" name="object 7"/>
          <p:cNvGrpSpPr/>
          <p:nvPr/>
        </p:nvGrpSpPr>
        <p:grpSpPr>
          <a:xfrm>
            <a:off x="2340512" y="2704370"/>
            <a:ext cx="816511" cy="392708"/>
            <a:chOff x="900430" y="2036169"/>
            <a:chExt cx="900430" cy="433070"/>
          </a:xfrm>
        </p:grpSpPr>
        <p:sp>
          <p:nvSpPr>
            <p:cNvPr id="8" name="object 8"/>
            <p:cNvSpPr/>
            <p:nvPr/>
          </p:nvSpPr>
          <p:spPr>
            <a:xfrm>
              <a:off x="900430" y="2036169"/>
              <a:ext cx="900430" cy="433070"/>
            </a:xfrm>
            <a:custGeom>
              <a:avLst/>
              <a:gdLst/>
              <a:ahLst/>
              <a:cxnLst/>
              <a:rect l="l" t="t" r="r" b="b"/>
              <a:pathLst>
                <a:path w="900430" h="433069">
                  <a:moveTo>
                    <a:pt x="828039" y="0"/>
                  </a:moveTo>
                  <a:lnTo>
                    <a:pt x="71119" y="0"/>
                  </a:ln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close/>
                </a:path>
              </a:pathLst>
            </a:custGeom>
            <a:solidFill>
              <a:srgbClr val="719ECE"/>
            </a:solidFill>
          </p:spPr>
          <p:txBody>
            <a:bodyPr wrap="square" lIns="0" tIns="0" rIns="0" bIns="0" rtlCol="0"/>
            <a:lstStyle/>
            <a:p>
              <a:endParaRPr/>
            </a:p>
          </p:txBody>
        </p:sp>
        <p:sp>
          <p:nvSpPr>
            <p:cNvPr id="9" name="object 9"/>
            <p:cNvSpPr/>
            <p:nvPr/>
          </p:nvSpPr>
          <p:spPr>
            <a:xfrm>
              <a:off x="900430" y="2036169"/>
              <a:ext cx="900430" cy="433070"/>
            </a:xfrm>
            <a:custGeom>
              <a:avLst/>
              <a:gdLst/>
              <a:ahLst/>
              <a:cxnLst/>
              <a:rect l="l" t="t" r="r" b="b"/>
              <a:pathLst>
                <a:path w="900430" h="433069">
                  <a:moveTo>
                    <a:pt x="71119" y="0"/>
                  </a:moveTo>
                  <a:lnTo>
                    <a:pt x="45005" y="6310"/>
                  </a:lnTo>
                  <a:lnTo>
                    <a:pt x="22225" y="22860"/>
                  </a:lnTo>
                  <a:lnTo>
                    <a:pt x="6111" y="46077"/>
                  </a:lnTo>
                  <a:lnTo>
                    <a:pt x="0" y="72390"/>
                  </a:lnTo>
                  <a:lnTo>
                    <a:pt x="0" y="360680"/>
                  </a:lnTo>
                  <a:lnTo>
                    <a:pt x="6111" y="386992"/>
                  </a:lnTo>
                  <a:lnTo>
                    <a:pt x="22225" y="410210"/>
                  </a:lnTo>
                  <a:lnTo>
                    <a:pt x="45005" y="426759"/>
                  </a:lnTo>
                  <a:lnTo>
                    <a:pt x="71119" y="433070"/>
                  </a:lnTo>
                  <a:lnTo>
                    <a:pt x="828039" y="433070"/>
                  </a:lnTo>
                  <a:lnTo>
                    <a:pt x="854352" y="426759"/>
                  </a:lnTo>
                  <a:lnTo>
                    <a:pt x="877569" y="410210"/>
                  </a:lnTo>
                  <a:lnTo>
                    <a:pt x="894119" y="386992"/>
                  </a:lnTo>
                  <a:lnTo>
                    <a:pt x="900430" y="360680"/>
                  </a:lnTo>
                  <a:lnTo>
                    <a:pt x="900430" y="72390"/>
                  </a:lnTo>
                  <a:lnTo>
                    <a:pt x="894119" y="46077"/>
                  </a:lnTo>
                  <a:lnTo>
                    <a:pt x="877570" y="22860"/>
                  </a:lnTo>
                  <a:lnTo>
                    <a:pt x="854352" y="6310"/>
                  </a:lnTo>
                  <a:lnTo>
                    <a:pt x="828039" y="0"/>
                  </a:lnTo>
                  <a:lnTo>
                    <a:pt x="71119" y="0"/>
                  </a:lnTo>
                  <a:close/>
                </a:path>
              </a:pathLst>
            </a:custGeom>
            <a:ln w="3175">
              <a:solidFill>
                <a:srgbClr val="3364A3"/>
              </a:solidFill>
            </a:ln>
          </p:spPr>
          <p:txBody>
            <a:bodyPr wrap="square" lIns="0" tIns="0" rIns="0" bIns="0" rtlCol="0"/>
            <a:lstStyle/>
            <a:p>
              <a:endParaRPr/>
            </a:p>
          </p:txBody>
        </p:sp>
      </p:grpSp>
      <p:sp>
        <p:nvSpPr>
          <p:cNvPr id="10" name="object 10"/>
          <p:cNvSpPr txBox="1"/>
          <p:nvPr/>
        </p:nvSpPr>
        <p:spPr>
          <a:xfrm>
            <a:off x="2441855" y="2732010"/>
            <a:ext cx="586183" cy="290807"/>
          </a:xfrm>
          <a:prstGeom prst="rect">
            <a:avLst/>
          </a:prstGeom>
        </p:spPr>
        <p:txBody>
          <a:bodyPr vert="horz" wrap="square" lIns="0" tIns="11516" rIns="0" bIns="0" rtlCol="0">
            <a:spAutoFit/>
          </a:bodyPr>
          <a:lstStyle/>
          <a:p>
            <a:pPr marL="11516">
              <a:spcBef>
                <a:spcPts val="91"/>
              </a:spcBef>
            </a:pPr>
            <a:r>
              <a:rPr sz="1814" b="1" spc="-9" dirty="0">
                <a:latin typeface="Arial"/>
                <a:cs typeface="Arial"/>
              </a:rPr>
              <a:t>Input</a:t>
            </a:r>
            <a:endParaRPr sz="1814">
              <a:latin typeface="Arial"/>
              <a:cs typeface="Arial"/>
            </a:endParaRPr>
          </a:p>
        </p:txBody>
      </p:sp>
      <p:grpSp>
        <p:nvGrpSpPr>
          <p:cNvPr id="11" name="object 11"/>
          <p:cNvGrpSpPr/>
          <p:nvPr/>
        </p:nvGrpSpPr>
        <p:grpSpPr>
          <a:xfrm>
            <a:off x="4559716" y="2752568"/>
            <a:ext cx="3232646" cy="1240889"/>
            <a:chOff x="3347720" y="2089319"/>
            <a:chExt cx="3564890" cy="1368425"/>
          </a:xfrm>
        </p:grpSpPr>
        <p:sp>
          <p:nvSpPr>
            <p:cNvPr id="12" name="object 12"/>
            <p:cNvSpPr/>
            <p:nvPr/>
          </p:nvSpPr>
          <p:spPr>
            <a:xfrm>
              <a:off x="3577590" y="2107290"/>
              <a:ext cx="207010" cy="1238250"/>
            </a:xfrm>
            <a:custGeom>
              <a:avLst/>
              <a:gdLst/>
              <a:ahLst/>
              <a:cxnLst/>
              <a:rect l="l" t="t" r="r" b="b"/>
              <a:pathLst>
                <a:path w="207010" h="1238250">
                  <a:moveTo>
                    <a:pt x="207010" y="0"/>
                  </a:moveTo>
                  <a:lnTo>
                    <a:pt x="168771" y="8929"/>
                  </a:lnTo>
                  <a:lnTo>
                    <a:pt x="135413" y="32385"/>
                  </a:lnTo>
                  <a:lnTo>
                    <a:pt x="111819" y="65365"/>
                  </a:lnTo>
                  <a:lnTo>
                    <a:pt x="102870" y="102870"/>
                  </a:lnTo>
                  <a:lnTo>
                    <a:pt x="102870" y="515619"/>
                  </a:lnTo>
                  <a:lnTo>
                    <a:pt x="94118" y="553660"/>
                  </a:lnTo>
                  <a:lnTo>
                    <a:pt x="70961" y="586581"/>
                  </a:lnTo>
                  <a:lnTo>
                    <a:pt x="38040" y="609738"/>
                  </a:lnTo>
                  <a:lnTo>
                    <a:pt x="0" y="618489"/>
                  </a:lnTo>
                  <a:lnTo>
                    <a:pt x="38040" y="627439"/>
                  </a:lnTo>
                  <a:lnTo>
                    <a:pt x="70961" y="651033"/>
                  </a:lnTo>
                  <a:lnTo>
                    <a:pt x="94118" y="684391"/>
                  </a:lnTo>
                  <a:lnTo>
                    <a:pt x="102870" y="722630"/>
                  </a:lnTo>
                  <a:lnTo>
                    <a:pt x="102870" y="1135380"/>
                  </a:lnTo>
                  <a:lnTo>
                    <a:pt x="111819" y="1172884"/>
                  </a:lnTo>
                  <a:lnTo>
                    <a:pt x="135413" y="1205865"/>
                  </a:lnTo>
                  <a:lnTo>
                    <a:pt x="168771" y="1229320"/>
                  </a:lnTo>
                  <a:lnTo>
                    <a:pt x="207010" y="1238250"/>
                  </a:lnTo>
                </a:path>
              </a:pathLst>
            </a:custGeom>
            <a:ln w="35941">
              <a:solidFill>
                <a:srgbClr val="3364A3"/>
              </a:solidFill>
            </a:ln>
          </p:spPr>
          <p:txBody>
            <a:bodyPr wrap="square" lIns="0" tIns="0" rIns="0" bIns="0" rtlCol="0"/>
            <a:lstStyle/>
            <a:p>
              <a:endParaRPr/>
            </a:p>
          </p:txBody>
        </p:sp>
        <p:sp>
          <p:nvSpPr>
            <p:cNvPr id="13" name="object 13"/>
            <p:cNvSpPr/>
            <p:nvPr/>
          </p:nvSpPr>
          <p:spPr>
            <a:xfrm>
              <a:off x="3559607" y="2089319"/>
              <a:ext cx="243204" cy="1274445"/>
            </a:xfrm>
            <a:custGeom>
              <a:avLst/>
              <a:gdLst/>
              <a:ahLst/>
              <a:cxnLst/>
              <a:rect l="l" t="t" r="r" b="b"/>
              <a:pathLst>
                <a:path w="243204" h="1274445">
                  <a:moveTo>
                    <a:pt x="35953" y="17970"/>
                  </a:moveTo>
                  <a:lnTo>
                    <a:pt x="30683" y="5270"/>
                  </a:lnTo>
                  <a:lnTo>
                    <a:pt x="17983" y="0"/>
                  </a:lnTo>
                  <a:lnTo>
                    <a:pt x="5270" y="5270"/>
                  </a:lnTo>
                  <a:lnTo>
                    <a:pt x="0" y="17970"/>
                  </a:lnTo>
                  <a:lnTo>
                    <a:pt x="5270" y="30683"/>
                  </a:lnTo>
                  <a:lnTo>
                    <a:pt x="17983" y="35941"/>
                  </a:lnTo>
                  <a:lnTo>
                    <a:pt x="30683" y="30683"/>
                  </a:lnTo>
                  <a:lnTo>
                    <a:pt x="35953" y="17970"/>
                  </a:lnTo>
                  <a:close/>
                </a:path>
                <a:path w="243204" h="1274445">
                  <a:moveTo>
                    <a:pt x="242963" y="1256220"/>
                  </a:moveTo>
                  <a:lnTo>
                    <a:pt x="237693" y="1243520"/>
                  </a:lnTo>
                  <a:lnTo>
                    <a:pt x="224993" y="1238250"/>
                  </a:lnTo>
                  <a:lnTo>
                    <a:pt x="212280" y="1243520"/>
                  </a:lnTo>
                  <a:lnTo>
                    <a:pt x="207022" y="1256220"/>
                  </a:lnTo>
                  <a:lnTo>
                    <a:pt x="212280" y="1268933"/>
                  </a:lnTo>
                  <a:lnTo>
                    <a:pt x="224993" y="1274191"/>
                  </a:lnTo>
                  <a:lnTo>
                    <a:pt x="237693" y="1268933"/>
                  </a:lnTo>
                  <a:lnTo>
                    <a:pt x="242963" y="1256220"/>
                  </a:lnTo>
                  <a:close/>
                </a:path>
              </a:pathLst>
            </a:custGeom>
            <a:solidFill>
              <a:srgbClr val="3364A3"/>
            </a:solidFill>
          </p:spPr>
          <p:txBody>
            <a:bodyPr wrap="square" lIns="0" tIns="0" rIns="0" bIns="0" rtlCol="0"/>
            <a:lstStyle/>
            <a:p>
              <a:endParaRPr/>
            </a:p>
          </p:txBody>
        </p:sp>
        <p:sp>
          <p:nvSpPr>
            <p:cNvPr id="14" name="object 14"/>
            <p:cNvSpPr/>
            <p:nvPr/>
          </p:nvSpPr>
          <p:spPr>
            <a:xfrm>
              <a:off x="6026150" y="2592430"/>
              <a:ext cx="207010" cy="288290"/>
            </a:xfrm>
            <a:custGeom>
              <a:avLst/>
              <a:gdLst/>
              <a:ahLst/>
              <a:cxnLst/>
              <a:rect l="l" t="t" r="r" b="b"/>
              <a:pathLst>
                <a:path w="207010" h="288289">
                  <a:moveTo>
                    <a:pt x="0" y="0"/>
                  </a:moveTo>
                  <a:lnTo>
                    <a:pt x="38238" y="1984"/>
                  </a:lnTo>
                  <a:lnTo>
                    <a:pt x="71596" y="7302"/>
                  </a:lnTo>
                  <a:lnTo>
                    <a:pt x="95190" y="15001"/>
                  </a:lnTo>
                  <a:lnTo>
                    <a:pt x="104139" y="24130"/>
                  </a:lnTo>
                  <a:lnTo>
                    <a:pt x="104139" y="119380"/>
                  </a:lnTo>
                  <a:lnTo>
                    <a:pt x="113069" y="128508"/>
                  </a:lnTo>
                  <a:lnTo>
                    <a:pt x="136525" y="136207"/>
                  </a:lnTo>
                  <a:lnTo>
                    <a:pt x="169505" y="141525"/>
                  </a:lnTo>
                  <a:lnTo>
                    <a:pt x="207010" y="143510"/>
                  </a:lnTo>
                  <a:lnTo>
                    <a:pt x="169505" y="145672"/>
                  </a:lnTo>
                  <a:lnTo>
                    <a:pt x="136525" y="151288"/>
                  </a:lnTo>
                  <a:lnTo>
                    <a:pt x="113069" y="159047"/>
                  </a:lnTo>
                  <a:lnTo>
                    <a:pt x="104139" y="167640"/>
                  </a:lnTo>
                  <a:lnTo>
                    <a:pt x="104139" y="264160"/>
                  </a:lnTo>
                  <a:lnTo>
                    <a:pt x="95190" y="272752"/>
                  </a:lnTo>
                  <a:lnTo>
                    <a:pt x="71596" y="280511"/>
                  </a:lnTo>
                  <a:lnTo>
                    <a:pt x="38238" y="286127"/>
                  </a:lnTo>
                  <a:lnTo>
                    <a:pt x="0" y="288290"/>
                  </a:lnTo>
                </a:path>
              </a:pathLst>
            </a:custGeom>
            <a:ln w="35941">
              <a:solidFill>
                <a:srgbClr val="3364A3"/>
              </a:solidFill>
            </a:ln>
          </p:spPr>
          <p:txBody>
            <a:bodyPr wrap="square" lIns="0" tIns="0" rIns="0" bIns="0" rtlCol="0"/>
            <a:lstStyle/>
            <a:p>
              <a:endParaRPr/>
            </a:p>
          </p:txBody>
        </p:sp>
        <p:sp>
          <p:nvSpPr>
            <p:cNvPr id="15" name="object 15"/>
            <p:cNvSpPr/>
            <p:nvPr/>
          </p:nvSpPr>
          <p:spPr>
            <a:xfrm>
              <a:off x="6008179" y="2574459"/>
              <a:ext cx="243204" cy="324485"/>
            </a:xfrm>
            <a:custGeom>
              <a:avLst/>
              <a:gdLst/>
              <a:ahLst/>
              <a:cxnLst/>
              <a:rect l="l" t="t" r="r" b="b"/>
              <a:pathLst>
                <a:path w="243204" h="324485">
                  <a:moveTo>
                    <a:pt x="35941" y="306260"/>
                  </a:moveTo>
                  <a:lnTo>
                    <a:pt x="30670" y="293560"/>
                  </a:lnTo>
                  <a:lnTo>
                    <a:pt x="17970" y="288290"/>
                  </a:lnTo>
                  <a:lnTo>
                    <a:pt x="5257" y="293560"/>
                  </a:lnTo>
                  <a:lnTo>
                    <a:pt x="0" y="306260"/>
                  </a:lnTo>
                  <a:lnTo>
                    <a:pt x="5257" y="318973"/>
                  </a:lnTo>
                  <a:lnTo>
                    <a:pt x="17970" y="324231"/>
                  </a:lnTo>
                  <a:lnTo>
                    <a:pt x="30670" y="318973"/>
                  </a:lnTo>
                  <a:lnTo>
                    <a:pt x="35941" y="306260"/>
                  </a:lnTo>
                  <a:close/>
                </a:path>
                <a:path w="243204" h="324485">
                  <a:moveTo>
                    <a:pt x="242951" y="17970"/>
                  </a:moveTo>
                  <a:lnTo>
                    <a:pt x="237680" y="5270"/>
                  </a:lnTo>
                  <a:lnTo>
                    <a:pt x="224980" y="0"/>
                  </a:lnTo>
                  <a:lnTo>
                    <a:pt x="212267" y="5270"/>
                  </a:lnTo>
                  <a:lnTo>
                    <a:pt x="207010" y="17970"/>
                  </a:lnTo>
                  <a:lnTo>
                    <a:pt x="212267" y="30683"/>
                  </a:lnTo>
                  <a:lnTo>
                    <a:pt x="224980" y="35941"/>
                  </a:lnTo>
                  <a:lnTo>
                    <a:pt x="237680" y="30683"/>
                  </a:lnTo>
                  <a:lnTo>
                    <a:pt x="242951" y="17970"/>
                  </a:lnTo>
                  <a:close/>
                </a:path>
              </a:pathLst>
            </a:custGeom>
            <a:solidFill>
              <a:srgbClr val="3364A3"/>
            </a:solidFill>
          </p:spPr>
          <p:txBody>
            <a:bodyPr wrap="square" lIns="0" tIns="0" rIns="0" bIns="0" rtlCol="0"/>
            <a:lstStyle/>
            <a:p>
              <a:endParaRPr/>
            </a:p>
          </p:txBody>
        </p:sp>
        <p:pic>
          <p:nvPicPr>
            <p:cNvPr id="16" name="object 16"/>
            <p:cNvPicPr/>
            <p:nvPr/>
          </p:nvPicPr>
          <p:blipFill>
            <a:blip r:embed="rId2" cstate="print"/>
            <a:stretch>
              <a:fillRect/>
            </a:stretch>
          </p:blipFill>
          <p:spPr>
            <a:xfrm>
              <a:off x="3784600" y="2127610"/>
              <a:ext cx="2263140" cy="1329689"/>
            </a:xfrm>
            <a:prstGeom prst="rect">
              <a:avLst/>
            </a:prstGeom>
          </p:spPr>
        </p:pic>
        <p:pic>
          <p:nvPicPr>
            <p:cNvPr id="17" name="object 17"/>
            <p:cNvPicPr/>
            <p:nvPr/>
          </p:nvPicPr>
          <p:blipFill>
            <a:blip r:embed="rId3" cstate="print"/>
            <a:stretch>
              <a:fillRect/>
            </a:stretch>
          </p:blipFill>
          <p:spPr>
            <a:xfrm>
              <a:off x="3347720" y="2629260"/>
              <a:ext cx="175260" cy="251460"/>
            </a:xfrm>
            <a:prstGeom prst="rect">
              <a:avLst/>
            </a:prstGeom>
          </p:spPr>
        </p:pic>
        <p:pic>
          <p:nvPicPr>
            <p:cNvPr id="18" name="object 18"/>
            <p:cNvPicPr/>
            <p:nvPr/>
          </p:nvPicPr>
          <p:blipFill>
            <a:blip r:embed="rId4" cstate="print"/>
            <a:stretch>
              <a:fillRect/>
            </a:stretch>
          </p:blipFill>
          <p:spPr>
            <a:xfrm>
              <a:off x="6239510" y="2417170"/>
              <a:ext cx="673099" cy="570230"/>
            </a:xfrm>
            <a:prstGeom prst="rect">
              <a:avLst/>
            </a:prstGeom>
          </p:spPr>
        </p:pic>
      </p:grpSp>
      <p:grpSp>
        <p:nvGrpSpPr>
          <p:cNvPr id="19" name="object 19"/>
          <p:cNvGrpSpPr/>
          <p:nvPr/>
        </p:nvGrpSpPr>
        <p:grpSpPr>
          <a:xfrm>
            <a:off x="3611919" y="1946593"/>
            <a:ext cx="1738972" cy="556241"/>
            <a:chOff x="2302510" y="1200509"/>
            <a:chExt cx="1917700" cy="613410"/>
          </a:xfrm>
        </p:grpSpPr>
        <p:sp>
          <p:nvSpPr>
            <p:cNvPr id="20" name="object 20"/>
            <p:cNvSpPr/>
            <p:nvPr/>
          </p:nvSpPr>
          <p:spPr>
            <a:xfrm>
              <a:off x="2311400" y="1200509"/>
              <a:ext cx="1899920" cy="613410"/>
            </a:xfrm>
            <a:custGeom>
              <a:avLst/>
              <a:gdLst/>
              <a:ahLst/>
              <a:cxnLst/>
              <a:rect l="l" t="t" r="r" b="b"/>
              <a:pathLst>
                <a:path w="1899920" h="613410">
                  <a:moveTo>
                    <a:pt x="1804670" y="0"/>
                  </a:moveTo>
                  <a:lnTo>
                    <a:pt x="40639" y="309879"/>
                  </a:lnTo>
                  <a:lnTo>
                    <a:pt x="9366" y="332104"/>
                  </a:lnTo>
                  <a:lnTo>
                    <a:pt x="0" y="369569"/>
                  </a:lnTo>
                  <a:lnTo>
                    <a:pt x="35560" y="571500"/>
                  </a:lnTo>
                  <a:lnTo>
                    <a:pt x="42902" y="589478"/>
                  </a:lnTo>
                  <a:lnTo>
                    <a:pt x="57150" y="603884"/>
                  </a:lnTo>
                  <a:lnTo>
                    <a:pt x="75207" y="612576"/>
                  </a:lnTo>
                  <a:lnTo>
                    <a:pt x="93980" y="613409"/>
                  </a:lnTo>
                  <a:lnTo>
                    <a:pt x="1858010" y="303529"/>
                  </a:lnTo>
                  <a:lnTo>
                    <a:pt x="1875809" y="295632"/>
                  </a:lnTo>
                  <a:lnTo>
                    <a:pt x="1889918" y="281304"/>
                  </a:lnTo>
                  <a:lnTo>
                    <a:pt x="1898550" y="263167"/>
                  </a:lnTo>
                  <a:lnTo>
                    <a:pt x="1899920" y="243839"/>
                  </a:lnTo>
                  <a:lnTo>
                    <a:pt x="1864360" y="40639"/>
                  </a:lnTo>
                  <a:lnTo>
                    <a:pt x="1856462" y="22860"/>
                  </a:lnTo>
                  <a:lnTo>
                    <a:pt x="1842135" y="8889"/>
                  </a:lnTo>
                  <a:lnTo>
                    <a:pt x="1823997" y="635"/>
                  </a:lnTo>
                  <a:lnTo>
                    <a:pt x="1804670" y="0"/>
                  </a:lnTo>
                  <a:close/>
                </a:path>
              </a:pathLst>
            </a:custGeom>
            <a:solidFill>
              <a:srgbClr val="ACD489"/>
            </a:solidFill>
          </p:spPr>
          <p:txBody>
            <a:bodyPr wrap="square" lIns="0" tIns="0" rIns="0" bIns="0" rtlCol="0"/>
            <a:lstStyle/>
            <a:p>
              <a:endParaRPr/>
            </a:p>
          </p:txBody>
        </p:sp>
        <p:sp>
          <p:nvSpPr>
            <p:cNvPr id="21" name="object 21"/>
            <p:cNvSpPr/>
            <p:nvPr/>
          </p:nvSpPr>
          <p:spPr>
            <a:xfrm>
              <a:off x="2311400" y="1200509"/>
              <a:ext cx="1899920" cy="613410"/>
            </a:xfrm>
            <a:custGeom>
              <a:avLst/>
              <a:gdLst/>
              <a:ahLst/>
              <a:cxnLst/>
              <a:rect l="l" t="t" r="r" b="b"/>
              <a:pathLst>
                <a:path w="1899920" h="613410">
                  <a:moveTo>
                    <a:pt x="40639" y="309879"/>
                  </a:moveTo>
                  <a:lnTo>
                    <a:pt x="23395" y="317777"/>
                  </a:lnTo>
                  <a:lnTo>
                    <a:pt x="9366" y="332104"/>
                  </a:lnTo>
                  <a:lnTo>
                    <a:pt x="813" y="350242"/>
                  </a:lnTo>
                  <a:lnTo>
                    <a:pt x="0" y="369569"/>
                  </a:lnTo>
                  <a:lnTo>
                    <a:pt x="35560" y="571500"/>
                  </a:lnTo>
                  <a:lnTo>
                    <a:pt x="42902" y="589478"/>
                  </a:lnTo>
                  <a:lnTo>
                    <a:pt x="57150" y="603884"/>
                  </a:lnTo>
                  <a:lnTo>
                    <a:pt x="75207" y="612576"/>
                  </a:lnTo>
                  <a:lnTo>
                    <a:pt x="93980" y="613409"/>
                  </a:lnTo>
                  <a:lnTo>
                    <a:pt x="1858010" y="303529"/>
                  </a:lnTo>
                  <a:lnTo>
                    <a:pt x="1875809" y="295632"/>
                  </a:lnTo>
                  <a:lnTo>
                    <a:pt x="1889918" y="281304"/>
                  </a:lnTo>
                  <a:lnTo>
                    <a:pt x="1898550" y="263167"/>
                  </a:lnTo>
                  <a:lnTo>
                    <a:pt x="1899920" y="243839"/>
                  </a:lnTo>
                  <a:lnTo>
                    <a:pt x="1864360" y="40639"/>
                  </a:lnTo>
                  <a:lnTo>
                    <a:pt x="1856462" y="22860"/>
                  </a:lnTo>
                  <a:lnTo>
                    <a:pt x="1842135" y="8889"/>
                  </a:lnTo>
                  <a:lnTo>
                    <a:pt x="1823997" y="635"/>
                  </a:lnTo>
                  <a:lnTo>
                    <a:pt x="1804670" y="0"/>
                  </a:lnTo>
                  <a:lnTo>
                    <a:pt x="40639" y="309879"/>
                  </a:lnTo>
                  <a:close/>
                </a:path>
              </a:pathLst>
            </a:custGeom>
            <a:ln w="3175">
              <a:solidFill>
                <a:srgbClr val="3364A3"/>
              </a:solidFill>
            </a:ln>
          </p:spPr>
          <p:txBody>
            <a:bodyPr wrap="square" lIns="0" tIns="0" rIns="0" bIns="0" rtlCol="0"/>
            <a:lstStyle/>
            <a:p>
              <a:endParaRPr/>
            </a:p>
          </p:txBody>
        </p:sp>
      </p:grpSp>
      <p:sp>
        <p:nvSpPr>
          <p:cNvPr id="22" name="object 22"/>
          <p:cNvSpPr txBox="1"/>
          <p:nvPr/>
        </p:nvSpPr>
        <p:spPr>
          <a:xfrm rot="21060000">
            <a:off x="3731450" y="2166096"/>
            <a:ext cx="1505213" cy="141064"/>
          </a:xfrm>
          <a:prstGeom prst="rect">
            <a:avLst/>
          </a:prstGeom>
        </p:spPr>
        <p:txBody>
          <a:bodyPr vert="horz" wrap="square" lIns="0" tIns="0" rIns="0" bIns="0" rtlCol="0">
            <a:spAutoFit/>
          </a:bodyPr>
          <a:lstStyle/>
          <a:p>
            <a:pPr>
              <a:lnSpc>
                <a:spcPts val="1088"/>
              </a:lnSpc>
            </a:pPr>
            <a:r>
              <a:rPr sz="1088" spc="-9" dirty="0">
                <a:latin typeface="Arial MT"/>
                <a:cs typeface="Arial MT"/>
              </a:rPr>
              <a:t>Torc</a:t>
            </a:r>
            <a:r>
              <a:rPr sz="1632" spc="-14" baseline="2314" dirty="0">
                <a:latin typeface="Arial MT"/>
                <a:cs typeface="Arial MT"/>
              </a:rPr>
              <a:t>h.nn.</a:t>
            </a:r>
            <a:r>
              <a:rPr sz="1632" spc="-14" baseline="4629" dirty="0">
                <a:latin typeface="Arial MT"/>
                <a:cs typeface="Arial MT"/>
              </a:rPr>
              <a:t>Smoo</a:t>
            </a:r>
            <a:r>
              <a:rPr sz="1632" spc="-14" baseline="6944" dirty="0">
                <a:latin typeface="Arial MT"/>
                <a:cs typeface="Arial MT"/>
              </a:rPr>
              <a:t>thL1Lo</a:t>
            </a:r>
            <a:r>
              <a:rPr sz="1632" spc="-14" baseline="9259" dirty="0">
                <a:latin typeface="Arial MT"/>
                <a:cs typeface="Arial MT"/>
              </a:rPr>
              <a:t>ss</a:t>
            </a:r>
            <a:endParaRPr sz="1632" baseline="9259">
              <a:latin typeface="Arial MT"/>
              <a:cs typeface="Arial MT"/>
            </a:endParaRPr>
          </a:p>
        </p:txBody>
      </p:sp>
      <p:grpSp>
        <p:nvGrpSpPr>
          <p:cNvPr id="23" name="object 23"/>
          <p:cNvGrpSpPr/>
          <p:nvPr/>
        </p:nvGrpSpPr>
        <p:grpSpPr>
          <a:xfrm>
            <a:off x="2339359" y="4403036"/>
            <a:ext cx="914400" cy="391557"/>
            <a:chOff x="899160" y="3909419"/>
            <a:chExt cx="1008380" cy="431800"/>
          </a:xfrm>
        </p:grpSpPr>
        <p:sp>
          <p:nvSpPr>
            <p:cNvPr id="24" name="object 24"/>
            <p:cNvSpPr/>
            <p:nvPr/>
          </p:nvSpPr>
          <p:spPr>
            <a:xfrm>
              <a:off x="899160" y="3909419"/>
              <a:ext cx="1008380" cy="431800"/>
            </a:xfrm>
            <a:custGeom>
              <a:avLst/>
              <a:gdLst/>
              <a:ahLst/>
              <a:cxnLst/>
              <a:rect l="l" t="t" r="r" b="b"/>
              <a:pathLst>
                <a:path w="1008380" h="431800">
                  <a:moveTo>
                    <a:pt x="935990" y="0"/>
                  </a:moveTo>
                  <a:lnTo>
                    <a:pt x="72390" y="0"/>
                  </a:ln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19" y="408940"/>
                  </a:lnTo>
                  <a:lnTo>
                    <a:pt x="1002069" y="385722"/>
                  </a:lnTo>
                  <a:lnTo>
                    <a:pt x="1008379" y="359410"/>
                  </a:lnTo>
                  <a:lnTo>
                    <a:pt x="1008379" y="71120"/>
                  </a:lnTo>
                  <a:lnTo>
                    <a:pt x="1002069" y="45005"/>
                  </a:lnTo>
                  <a:lnTo>
                    <a:pt x="985520" y="22225"/>
                  </a:lnTo>
                  <a:lnTo>
                    <a:pt x="962302" y="6111"/>
                  </a:lnTo>
                  <a:lnTo>
                    <a:pt x="935990" y="0"/>
                  </a:lnTo>
                  <a:close/>
                </a:path>
              </a:pathLst>
            </a:custGeom>
            <a:solidFill>
              <a:srgbClr val="719ECE"/>
            </a:solidFill>
          </p:spPr>
          <p:txBody>
            <a:bodyPr wrap="square" lIns="0" tIns="0" rIns="0" bIns="0" rtlCol="0"/>
            <a:lstStyle/>
            <a:p>
              <a:endParaRPr/>
            </a:p>
          </p:txBody>
        </p:sp>
        <p:sp>
          <p:nvSpPr>
            <p:cNvPr id="25" name="object 25"/>
            <p:cNvSpPr/>
            <p:nvPr/>
          </p:nvSpPr>
          <p:spPr>
            <a:xfrm>
              <a:off x="899160" y="3909419"/>
              <a:ext cx="1008380" cy="431800"/>
            </a:xfrm>
            <a:custGeom>
              <a:avLst/>
              <a:gdLst/>
              <a:ahLst/>
              <a:cxnLst/>
              <a:rect l="l" t="t" r="r" b="b"/>
              <a:pathLst>
                <a:path w="1008380" h="431800">
                  <a:moveTo>
                    <a:pt x="72390" y="0"/>
                  </a:moveTo>
                  <a:lnTo>
                    <a:pt x="46077" y="6111"/>
                  </a:lnTo>
                  <a:lnTo>
                    <a:pt x="22859" y="22225"/>
                  </a:lnTo>
                  <a:lnTo>
                    <a:pt x="6310" y="45005"/>
                  </a:lnTo>
                  <a:lnTo>
                    <a:pt x="0" y="71120"/>
                  </a:lnTo>
                  <a:lnTo>
                    <a:pt x="0" y="359410"/>
                  </a:lnTo>
                  <a:lnTo>
                    <a:pt x="6310" y="385722"/>
                  </a:lnTo>
                  <a:lnTo>
                    <a:pt x="22860" y="408940"/>
                  </a:lnTo>
                  <a:lnTo>
                    <a:pt x="46077" y="425489"/>
                  </a:lnTo>
                  <a:lnTo>
                    <a:pt x="72390" y="431800"/>
                  </a:lnTo>
                  <a:lnTo>
                    <a:pt x="935990" y="431800"/>
                  </a:lnTo>
                  <a:lnTo>
                    <a:pt x="962302" y="425489"/>
                  </a:lnTo>
                  <a:lnTo>
                    <a:pt x="985520" y="408940"/>
                  </a:lnTo>
                  <a:lnTo>
                    <a:pt x="1002069" y="385722"/>
                  </a:lnTo>
                  <a:lnTo>
                    <a:pt x="1008379" y="359410"/>
                  </a:lnTo>
                  <a:lnTo>
                    <a:pt x="1008379" y="71120"/>
                  </a:lnTo>
                  <a:lnTo>
                    <a:pt x="1002069" y="45005"/>
                  </a:lnTo>
                  <a:lnTo>
                    <a:pt x="985520" y="22225"/>
                  </a:lnTo>
                  <a:lnTo>
                    <a:pt x="962302" y="6111"/>
                  </a:lnTo>
                  <a:lnTo>
                    <a:pt x="935990" y="0"/>
                  </a:lnTo>
                  <a:lnTo>
                    <a:pt x="72390" y="0"/>
                  </a:lnTo>
                  <a:close/>
                </a:path>
              </a:pathLst>
            </a:custGeom>
            <a:ln w="3175">
              <a:solidFill>
                <a:srgbClr val="3364A3"/>
              </a:solidFill>
            </a:ln>
          </p:spPr>
          <p:txBody>
            <a:bodyPr wrap="square" lIns="0" tIns="0" rIns="0" bIns="0" rtlCol="0"/>
            <a:lstStyle/>
            <a:p>
              <a:endParaRPr/>
            </a:p>
          </p:txBody>
        </p:sp>
      </p:grpSp>
      <p:sp>
        <p:nvSpPr>
          <p:cNvPr id="26" name="object 26"/>
          <p:cNvSpPr txBox="1"/>
          <p:nvPr/>
        </p:nvSpPr>
        <p:spPr>
          <a:xfrm>
            <a:off x="2419975" y="4429525"/>
            <a:ext cx="2053945" cy="1012031"/>
          </a:xfrm>
          <a:prstGeom prst="rect">
            <a:avLst/>
          </a:prstGeom>
        </p:spPr>
        <p:txBody>
          <a:bodyPr vert="horz" wrap="square" lIns="0" tIns="11516" rIns="0" bIns="0" rtlCol="0">
            <a:spAutoFit/>
          </a:bodyPr>
          <a:lstStyle/>
          <a:p>
            <a:pPr marL="11516">
              <a:spcBef>
                <a:spcPts val="91"/>
              </a:spcBef>
            </a:pPr>
            <a:r>
              <a:rPr sz="1814" b="1" spc="-9" dirty="0">
                <a:latin typeface="Arial"/>
                <a:cs typeface="Arial"/>
              </a:rPr>
              <a:t>Target</a:t>
            </a:r>
            <a:endParaRPr sz="1814">
              <a:latin typeface="Arial"/>
              <a:cs typeface="Arial"/>
            </a:endParaRPr>
          </a:p>
          <a:p>
            <a:pPr>
              <a:spcBef>
                <a:spcPts val="399"/>
              </a:spcBef>
            </a:pPr>
            <a:endParaRPr sz="1814">
              <a:latin typeface="Arial"/>
              <a:cs typeface="Arial"/>
            </a:endParaRPr>
          </a:p>
          <a:p>
            <a:pPr marR="4607" algn="r"/>
            <a:r>
              <a:rPr sz="2539" i="1" spc="-18" dirty="0">
                <a:solidFill>
                  <a:srgbClr val="333333"/>
                </a:solidFill>
                <a:latin typeface="Times New Roman"/>
                <a:cs typeface="Times New Roman"/>
              </a:rPr>
              <a:t>Loss</a:t>
            </a:r>
            <a:endParaRPr sz="2539">
              <a:latin typeface="Times New Roman"/>
              <a:cs typeface="Times New Roman"/>
            </a:endParaRPr>
          </a:p>
        </p:txBody>
      </p:sp>
      <p:pic>
        <p:nvPicPr>
          <p:cNvPr id="27" name="object 27"/>
          <p:cNvPicPr/>
          <p:nvPr/>
        </p:nvPicPr>
        <p:blipFill>
          <a:blip r:embed="rId3" cstate="print"/>
          <a:stretch>
            <a:fillRect/>
          </a:stretch>
        </p:blipFill>
        <p:spPr>
          <a:xfrm>
            <a:off x="3221512" y="2817230"/>
            <a:ext cx="158926" cy="228024"/>
          </a:xfrm>
          <a:prstGeom prst="rect">
            <a:avLst/>
          </a:prstGeom>
        </p:spPr>
      </p:pic>
      <p:pic>
        <p:nvPicPr>
          <p:cNvPr id="28" name="object 28"/>
          <p:cNvPicPr/>
          <p:nvPr/>
        </p:nvPicPr>
        <p:blipFill>
          <a:blip r:embed="rId5" cstate="print"/>
          <a:stretch>
            <a:fillRect/>
          </a:stretch>
        </p:blipFill>
        <p:spPr>
          <a:xfrm>
            <a:off x="3321707" y="4386912"/>
            <a:ext cx="192323" cy="431864"/>
          </a:xfrm>
          <a:prstGeom prst="rect">
            <a:avLst/>
          </a:prstGeom>
        </p:spPr>
      </p:pic>
      <p:grpSp>
        <p:nvGrpSpPr>
          <p:cNvPr id="29" name="object 29"/>
          <p:cNvGrpSpPr/>
          <p:nvPr/>
        </p:nvGrpSpPr>
        <p:grpSpPr>
          <a:xfrm>
            <a:off x="4567936" y="4761194"/>
            <a:ext cx="3396177" cy="1027260"/>
            <a:chOff x="3356783" y="4304389"/>
            <a:chExt cx="3745229" cy="1132840"/>
          </a:xfrm>
        </p:grpSpPr>
        <p:pic>
          <p:nvPicPr>
            <p:cNvPr id="30" name="object 30"/>
            <p:cNvPicPr/>
            <p:nvPr/>
          </p:nvPicPr>
          <p:blipFill>
            <a:blip r:embed="rId6" cstate="print"/>
            <a:stretch>
              <a:fillRect/>
            </a:stretch>
          </p:blipFill>
          <p:spPr>
            <a:xfrm>
              <a:off x="3356783" y="4738405"/>
              <a:ext cx="170006" cy="227627"/>
            </a:xfrm>
            <a:prstGeom prst="rect">
              <a:avLst/>
            </a:prstGeom>
          </p:spPr>
        </p:pic>
        <p:pic>
          <p:nvPicPr>
            <p:cNvPr id="31" name="object 31"/>
            <p:cNvPicPr/>
            <p:nvPr/>
          </p:nvPicPr>
          <p:blipFill>
            <a:blip r:embed="rId7" cstate="print"/>
            <a:stretch>
              <a:fillRect/>
            </a:stretch>
          </p:blipFill>
          <p:spPr>
            <a:xfrm>
              <a:off x="3592000" y="4318359"/>
              <a:ext cx="3509839" cy="1079500"/>
            </a:xfrm>
            <a:prstGeom prst="rect">
              <a:avLst/>
            </a:prstGeom>
          </p:spPr>
        </p:pic>
        <p:sp>
          <p:nvSpPr>
            <p:cNvPr id="32" name="object 32"/>
            <p:cNvSpPr/>
            <p:nvPr/>
          </p:nvSpPr>
          <p:spPr>
            <a:xfrm>
              <a:off x="4311649" y="4304389"/>
              <a:ext cx="648970" cy="147320"/>
            </a:xfrm>
            <a:custGeom>
              <a:avLst/>
              <a:gdLst/>
              <a:ahLst/>
              <a:cxnLst/>
              <a:rect l="l" t="t" r="r" b="b"/>
              <a:pathLst>
                <a:path w="648970" h="147320">
                  <a:moveTo>
                    <a:pt x="648970" y="0"/>
                  </a:moveTo>
                  <a:lnTo>
                    <a:pt x="0" y="0"/>
                  </a:lnTo>
                  <a:lnTo>
                    <a:pt x="0" y="147319"/>
                  </a:lnTo>
                  <a:lnTo>
                    <a:pt x="323850" y="147319"/>
                  </a:lnTo>
                  <a:lnTo>
                    <a:pt x="648970" y="147319"/>
                  </a:lnTo>
                  <a:lnTo>
                    <a:pt x="648970" y="0"/>
                  </a:lnTo>
                  <a:close/>
                </a:path>
              </a:pathLst>
            </a:custGeom>
            <a:solidFill>
              <a:srgbClr val="FFFFFF"/>
            </a:solidFill>
          </p:spPr>
          <p:txBody>
            <a:bodyPr wrap="square" lIns="0" tIns="0" rIns="0" bIns="0" rtlCol="0"/>
            <a:lstStyle/>
            <a:p>
              <a:endParaRPr/>
            </a:p>
          </p:txBody>
        </p:sp>
        <p:sp>
          <p:nvSpPr>
            <p:cNvPr id="33" name="object 33"/>
            <p:cNvSpPr/>
            <p:nvPr/>
          </p:nvSpPr>
          <p:spPr>
            <a:xfrm>
              <a:off x="4311649" y="4304389"/>
              <a:ext cx="648970" cy="147320"/>
            </a:xfrm>
            <a:custGeom>
              <a:avLst/>
              <a:gdLst/>
              <a:ahLst/>
              <a:cxnLst/>
              <a:rect l="l" t="t" r="r" b="b"/>
              <a:pathLst>
                <a:path w="648970" h="147320">
                  <a:moveTo>
                    <a:pt x="323850" y="147319"/>
                  </a:moveTo>
                  <a:lnTo>
                    <a:pt x="0" y="147319"/>
                  </a:lnTo>
                  <a:lnTo>
                    <a:pt x="0" y="0"/>
                  </a:lnTo>
                  <a:lnTo>
                    <a:pt x="648970" y="0"/>
                  </a:lnTo>
                  <a:lnTo>
                    <a:pt x="648970" y="147319"/>
                  </a:lnTo>
                  <a:lnTo>
                    <a:pt x="323850" y="147319"/>
                  </a:lnTo>
                  <a:close/>
                </a:path>
              </a:pathLst>
            </a:custGeom>
            <a:ln w="3175">
              <a:solidFill>
                <a:srgbClr val="FFFFFF"/>
              </a:solidFill>
            </a:ln>
          </p:spPr>
          <p:txBody>
            <a:bodyPr wrap="square" lIns="0" tIns="0" rIns="0" bIns="0" rtlCol="0"/>
            <a:lstStyle/>
            <a:p>
              <a:endParaRPr/>
            </a:p>
          </p:txBody>
        </p:sp>
        <p:sp>
          <p:nvSpPr>
            <p:cNvPr id="34" name="object 34"/>
            <p:cNvSpPr/>
            <p:nvPr/>
          </p:nvSpPr>
          <p:spPr>
            <a:xfrm>
              <a:off x="4248149" y="5292450"/>
              <a:ext cx="647700" cy="144780"/>
            </a:xfrm>
            <a:custGeom>
              <a:avLst/>
              <a:gdLst/>
              <a:ahLst/>
              <a:cxnLst/>
              <a:rect l="l" t="t" r="r" b="b"/>
              <a:pathLst>
                <a:path w="647700" h="144779">
                  <a:moveTo>
                    <a:pt x="647700" y="0"/>
                  </a:moveTo>
                  <a:lnTo>
                    <a:pt x="0" y="0"/>
                  </a:lnTo>
                  <a:lnTo>
                    <a:pt x="0" y="144779"/>
                  </a:lnTo>
                  <a:lnTo>
                    <a:pt x="323850" y="144779"/>
                  </a:lnTo>
                  <a:lnTo>
                    <a:pt x="647700" y="144779"/>
                  </a:lnTo>
                  <a:lnTo>
                    <a:pt x="647700" y="0"/>
                  </a:lnTo>
                  <a:close/>
                </a:path>
              </a:pathLst>
            </a:custGeom>
            <a:solidFill>
              <a:srgbClr val="FFFFFF"/>
            </a:solidFill>
          </p:spPr>
          <p:txBody>
            <a:bodyPr wrap="square" lIns="0" tIns="0" rIns="0" bIns="0" rtlCol="0"/>
            <a:lstStyle/>
            <a:p>
              <a:endParaRPr/>
            </a:p>
          </p:txBody>
        </p:sp>
        <p:sp>
          <p:nvSpPr>
            <p:cNvPr id="35" name="object 35"/>
            <p:cNvSpPr/>
            <p:nvPr/>
          </p:nvSpPr>
          <p:spPr>
            <a:xfrm>
              <a:off x="4248149" y="5292450"/>
              <a:ext cx="647700" cy="144780"/>
            </a:xfrm>
            <a:custGeom>
              <a:avLst/>
              <a:gdLst/>
              <a:ahLst/>
              <a:cxnLst/>
              <a:rect l="l" t="t" r="r" b="b"/>
              <a:pathLst>
                <a:path w="647700" h="144779">
                  <a:moveTo>
                    <a:pt x="323850" y="144779"/>
                  </a:moveTo>
                  <a:lnTo>
                    <a:pt x="0" y="144779"/>
                  </a:lnTo>
                  <a:lnTo>
                    <a:pt x="0" y="0"/>
                  </a:lnTo>
                  <a:lnTo>
                    <a:pt x="647700" y="0"/>
                  </a:lnTo>
                  <a:lnTo>
                    <a:pt x="647700" y="144779"/>
                  </a:lnTo>
                  <a:lnTo>
                    <a:pt x="323850" y="144779"/>
                  </a:lnTo>
                  <a:close/>
                </a:path>
              </a:pathLst>
            </a:custGeom>
            <a:ln w="3175">
              <a:solidFill>
                <a:srgbClr val="FFFFFF"/>
              </a:solidFill>
            </a:ln>
          </p:spPr>
          <p:txBody>
            <a:bodyPr wrap="square" lIns="0" tIns="0" rIns="0" bIns="0" rtlCol="0"/>
            <a:lstStyle/>
            <a:p>
              <a:endParaRPr/>
            </a:p>
          </p:txBody>
        </p:sp>
      </p:grpSp>
      <p:sp>
        <p:nvSpPr>
          <p:cNvPr id="36" name="object 36"/>
          <p:cNvSpPr txBox="1"/>
          <p:nvPr/>
        </p:nvSpPr>
        <p:spPr>
          <a:xfrm>
            <a:off x="8236894" y="995341"/>
            <a:ext cx="2318246" cy="758878"/>
          </a:xfrm>
          <a:prstGeom prst="rect">
            <a:avLst/>
          </a:prstGeom>
        </p:spPr>
        <p:txBody>
          <a:bodyPr vert="horz" wrap="square" lIns="0" tIns="27639" rIns="0" bIns="0" rtlCol="0">
            <a:spAutoFit/>
          </a:bodyPr>
          <a:lstStyle/>
          <a:p>
            <a:pPr marL="11516" marR="4607">
              <a:lnSpc>
                <a:spcPts val="1424"/>
              </a:lnSpc>
              <a:spcBef>
                <a:spcPts val="218"/>
              </a:spcBef>
            </a:pPr>
            <a:r>
              <a:rPr sz="1270" b="1" dirty="0">
                <a:latin typeface="Arial"/>
                <a:cs typeface="Arial"/>
              </a:rPr>
              <a:t>Huber</a:t>
            </a:r>
            <a:r>
              <a:rPr sz="1270" b="1" spc="-27" dirty="0">
                <a:latin typeface="Arial"/>
                <a:cs typeface="Arial"/>
              </a:rPr>
              <a:t> </a:t>
            </a:r>
            <a:r>
              <a:rPr sz="1270" b="1" dirty="0">
                <a:latin typeface="Arial"/>
                <a:cs typeface="Arial"/>
              </a:rPr>
              <a:t>loss</a:t>
            </a:r>
            <a:r>
              <a:rPr sz="1270" b="1" spc="-23" dirty="0">
                <a:latin typeface="Arial"/>
                <a:cs typeface="Arial"/>
              </a:rPr>
              <a:t> </a:t>
            </a:r>
            <a:r>
              <a:rPr sz="1270" b="1" dirty="0">
                <a:latin typeface="Arial"/>
                <a:cs typeface="Arial"/>
              </a:rPr>
              <a:t>combines</a:t>
            </a:r>
            <a:r>
              <a:rPr sz="1270" b="1" spc="-18" dirty="0">
                <a:latin typeface="Arial"/>
                <a:cs typeface="Arial"/>
              </a:rPr>
              <a:t> </a:t>
            </a:r>
            <a:r>
              <a:rPr sz="1270" b="1" dirty="0">
                <a:latin typeface="Arial"/>
                <a:cs typeface="Arial"/>
              </a:rPr>
              <a:t>the</a:t>
            </a:r>
            <a:r>
              <a:rPr sz="1270" b="1" spc="-23" dirty="0">
                <a:latin typeface="Arial"/>
                <a:cs typeface="Arial"/>
              </a:rPr>
              <a:t> </a:t>
            </a:r>
            <a:r>
              <a:rPr sz="1270" b="1" spc="-18" dirty="0">
                <a:latin typeface="Arial"/>
                <a:cs typeface="Arial"/>
              </a:rPr>
              <a:t>best </a:t>
            </a:r>
            <a:r>
              <a:rPr sz="1270" b="1" dirty="0">
                <a:latin typeface="Arial"/>
                <a:cs typeface="Arial"/>
              </a:rPr>
              <a:t>features</a:t>
            </a:r>
            <a:r>
              <a:rPr sz="1270" b="1" spc="-14" dirty="0">
                <a:latin typeface="Arial"/>
                <a:cs typeface="Arial"/>
              </a:rPr>
              <a:t> </a:t>
            </a:r>
            <a:r>
              <a:rPr sz="1270" b="1" dirty="0">
                <a:latin typeface="Arial"/>
                <a:cs typeface="Arial"/>
              </a:rPr>
              <a:t>of</a:t>
            </a:r>
            <a:r>
              <a:rPr sz="1270" b="1" spc="-9" dirty="0">
                <a:latin typeface="Arial"/>
                <a:cs typeface="Arial"/>
              </a:rPr>
              <a:t> </a:t>
            </a:r>
            <a:r>
              <a:rPr sz="1270" b="1" dirty="0">
                <a:latin typeface="Arial"/>
                <a:cs typeface="Arial"/>
              </a:rPr>
              <a:t>MSE</a:t>
            </a:r>
            <a:r>
              <a:rPr sz="1270" b="1" spc="-14" dirty="0">
                <a:latin typeface="Arial"/>
                <a:cs typeface="Arial"/>
              </a:rPr>
              <a:t> </a:t>
            </a:r>
            <a:r>
              <a:rPr sz="1270" b="1" dirty="0">
                <a:latin typeface="Arial"/>
                <a:cs typeface="Arial"/>
              </a:rPr>
              <a:t>and</a:t>
            </a:r>
            <a:r>
              <a:rPr sz="1270" b="1" spc="-63" dirty="0">
                <a:latin typeface="Arial"/>
                <a:cs typeface="Arial"/>
              </a:rPr>
              <a:t> </a:t>
            </a:r>
            <a:r>
              <a:rPr sz="1270" b="1" spc="-23" dirty="0">
                <a:latin typeface="Arial"/>
                <a:cs typeface="Arial"/>
              </a:rPr>
              <a:t>AE</a:t>
            </a:r>
            <a:r>
              <a:rPr sz="1270" spc="-23" dirty="0">
                <a:latin typeface="Arial MT"/>
                <a:cs typeface="Arial MT"/>
              </a:rPr>
              <a:t>:</a:t>
            </a:r>
            <a:endParaRPr sz="1270">
              <a:latin typeface="Arial MT"/>
              <a:cs typeface="Arial MT"/>
            </a:endParaRPr>
          </a:p>
          <a:p>
            <a:pPr marL="110557" indent="-99041">
              <a:lnSpc>
                <a:spcPts val="1351"/>
              </a:lnSpc>
              <a:spcBef>
                <a:spcPts val="5"/>
              </a:spcBef>
              <a:buChar char="-"/>
              <a:tabLst>
                <a:tab pos="110557" algn="l"/>
              </a:tabLst>
            </a:pPr>
            <a:r>
              <a:rPr sz="1270" dirty="0">
                <a:latin typeface="Arial MT"/>
                <a:cs typeface="Arial MT"/>
              </a:rPr>
              <a:t>like</a:t>
            </a:r>
            <a:r>
              <a:rPr sz="1270" spc="-14" dirty="0">
                <a:latin typeface="Arial MT"/>
                <a:cs typeface="Arial MT"/>
              </a:rPr>
              <a:t> </a:t>
            </a:r>
            <a:r>
              <a:rPr sz="1270" dirty="0">
                <a:latin typeface="Arial MT"/>
                <a:cs typeface="Arial MT"/>
              </a:rPr>
              <a:t>MSE</a:t>
            </a:r>
            <a:r>
              <a:rPr sz="1270" spc="-5" dirty="0">
                <a:latin typeface="Arial MT"/>
                <a:cs typeface="Arial MT"/>
              </a:rPr>
              <a:t> </a:t>
            </a:r>
            <a:r>
              <a:rPr sz="1270" dirty="0">
                <a:latin typeface="Arial MT"/>
                <a:cs typeface="Arial MT"/>
              </a:rPr>
              <a:t>for</a:t>
            </a:r>
            <a:r>
              <a:rPr sz="1270" spc="-5" dirty="0">
                <a:latin typeface="Arial MT"/>
                <a:cs typeface="Arial MT"/>
              </a:rPr>
              <a:t> </a:t>
            </a:r>
            <a:r>
              <a:rPr sz="1270" dirty="0">
                <a:latin typeface="Arial MT"/>
                <a:cs typeface="Arial MT"/>
              </a:rPr>
              <a:t>small</a:t>
            </a:r>
            <a:r>
              <a:rPr sz="1270" spc="-9" dirty="0">
                <a:latin typeface="Arial MT"/>
                <a:cs typeface="Arial MT"/>
              </a:rPr>
              <a:t> errors.</a:t>
            </a:r>
            <a:endParaRPr sz="1270">
              <a:latin typeface="Arial MT"/>
              <a:cs typeface="Arial MT"/>
            </a:endParaRPr>
          </a:p>
          <a:p>
            <a:pPr marL="110557" indent="-99041">
              <a:lnSpc>
                <a:spcPts val="1474"/>
              </a:lnSpc>
              <a:buChar char="-"/>
              <a:tabLst>
                <a:tab pos="110557" algn="l"/>
              </a:tabLst>
            </a:pPr>
            <a:r>
              <a:rPr sz="1270" dirty="0">
                <a:latin typeface="Arial MT"/>
                <a:cs typeface="Arial MT"/>
              </a:rPr>
              <a:t>like</a:t>
            </a:r>
            <a:r>
              <a:rPr sz="1270" spc="-86" dirty="0">
                <a:latin typeface="Arial MT"/>
                <a:cs typeface="Arial MT"/>
              </a:rPr>
              <a:t> </a:t>
            </a:r>
            <a:r>
              <a:rPr sz="1270" dirty="0">
                <a:latin typeface="Arial MT"/>
                <a:cs typeface="Arial MT"/>
              </a:rPr>
              <a:t>AE</a:t>
            </a:r>
            <a:r>
              <a:rPr sz="1270" spc="-9" dirty="0">
                <a:latin typeface="Arial MT"/>
                <a:cs typeface="Arial MT"/>
              </a:rPr>
              <a:t> otherwise.</a:t>
            </a:r>
            <a:endParaRPr sz="1270">
              <a:latin typeface="Arial MT"/>
              <a:cs typeface="Arial MT"/>
            </a:endParaRPr>
          </a:p>
        </p:txBody>
      </p:sp>
      <p:sp>
        <p:nvSpPr>
          <p:cNvPr id="37" name="object 37"/>
          <p:cNvSpPr txBox="1"/>
          <p:nvPr/>
        </p:nvSpPr>
        <p:spPr>
          <a:xfrm>
            <a:off x="8236894" y="1901680"/>
            <a:ext cx="2376404" cy="1490238"/>
          </a:xfrm>
          <a:prstGeom prst="rect">
            <a:avLst/>
          </a:prstGeom>
        </p:spPr>
        <p:txBody>
          <a:bodyPr vert="horz" wrap="square" lIns="0" tIns="11516" rIns="0" bIns="0" rtlCol="0">
            <a:spAutoFit/>
          </a:bodyPr>
          <a:lstStyle/>
          <a:p>
            <a:pPr marL="11516">
              <a:lnSpc>
                <a:spcPts val="1474"/>
              </a:lnSpc>
              <a:spcBef>
                <a:spcPts val="91"/>
              </a:spcBef>
            </a:pPr>
            <a:r>
              <a:rPr sz="1270" dirty="0">
                <a:latin typeface="Arial MT"/>
                <a:cs typeface="Arial MT"/>
              </a:rPr>
              <a:t>This</a:t>
            </a:r>
            <a:r>
              <a:rPr sz="1270" spc="-5" dirty="0">
                <a:latin typeface="Arial MT"/>
                <a:cs typeface="Arial MT"/>
              </a:rPr>
              <a:t> </a:t>
            </a:r>
            <a:r>
              <a:rPr sz="1270" dirty="0">
                <a:latin typeface="Arial MT"/>
                <a:cs typeface="Arial MT"/>
              </a:rPr>
              <a:t>avoids</a:t>
            </a:r>
            <a:r>
              <a:rPr sz="1270" spc="9" dirty="0">
                <a:latin typeface="Arial MT"/>
                <a:cs typeface="Arial MT"/>
              </a:rPr>
              <a:t> </a:t>
            </a:r>
            <a:r>
              <a:rPr sz="1270" dirty="0">
                <a:latin typeface="Arial MT"/>
                <a:cs typeface="Arial MT"/>
              </a:rPr>
              <a:t>over-</a:t>
            </a:r>
            <a:r>
              <a:rPr sz="1270" spc="-9" dirty="0">
                <a:latin typeface="Arial MT"/>
                <a:cs typeface="Arial MT"/>
              </a:rPr>
              <a:t>shooting:</a:t>
            </a:r>
            <a:endParaRPr sz="1270">
              <a:latin typeface="Arial MT"/>
              <a:cs typeface="Arial MT"/>
            </a:endParaRPr>
          </a:p>
          <a:p>
            <a:pPr marL="11516" marR="142803" indent="99041">
              <a:lnSpc>
                <a:spcPct val="93700"/>
              </a:lnSpc>
              <a:spcBef>
                <a:spcPts val="45"/>
              </a:spcBef>
              <a:buChar char="-"/>
              <a:tabLst>
                <a:tab pos="110557" algn="l"/>
              </a:tabLst>
            </a:pPr>
            <a:r>
              <a:rPr sz="1270" dirty="0">
                <a:latin typeface="Arial MT"/>
                <a:cs typeface="Arial MT"/>
              </a:rPr>
              <a:t>MSE</a:t>
            </a:r>
            <a:r>
              <a:rPr sz="1270" spc="-5" dirty="0">
                <a:latin typeface="Arial MT"/>
                <a:cs typeface="Arial MT"/>
              </a:rPr>
              <a:t> </a:t>
            </a:r>
            <a:r>
              <a:rPr sz="1270" dirty="0">
                <a:latin typeface="Arial MT"/>
                <a:cs typeface="Arial MT"/>
              </a:rPr>
              <a:t>has</a:t>
            </a:r>
            <a:r>
              <a:rPr sz="1270" spc="-5" dirty="0">
                <a:latin typeface="Arial MT"/>
                <a:cs typeface="Arial MT"/>
              </a:rPr>
              <a:t> </a:t>
            </a:r>
            <a:r>
              <a:rPr sz="1270" dirty="0">
                <a:latin typeface="Arial MT"/>
                <a:cs typeface="Arial MT"/>
              </a:rPr>
              <a:t>a</a:t>
            </a:r>
            <a:r>
              <a:rPr sz="1270" spc="9" dirty="0">
                <a:latin typeface="Arial MT"/>
                <a:cs typeface="Arial MT"/>
              </a:rPr>
              <a:t> </a:t>
            </a:r>
            <a:r>
              <a:rPr sz="1270" b="1" dirty="0">
                <a:latin typeface="Arial"/>
                <a:cs typeface="Arial"/>
              </a:rPr>
              <a:t>very</a:t>
            </a:r>
            <a:r>
              <a:rPr sz="1270" b="1" spc="-5" dirty="0">
                <a:latin typeface="Arial"/>
                <a:cs typeface="Arial"/>
              </a:rPr>
              <a:t> </a:t>
            </a:r>
            <a:r>
              <a:rPr sz="1270" b="1" spc="-9" dirty="0">
                <a:latin typeface="Arial"/>
                <a:cs typeface="Arial"/>
              </a:rPr>
              <a:t>steep </a:t>
            </a:r>
            <a:r>
              <a:rPr sz="1270" b="1" dirty="0">
                <a:latin typeface="Arial"/>
                <a:cs typeface="Arial"/>
              </a:rPr>
              <a:t>gradient</a:t>
            </a:r>
            <a:r>
              <a:rPr sz="1270" b="1" spc="-18" dirty="0">
                <a:latin typeface="Arial"/>
                <a:cs typeface="Arial"/>
              </a:rPr>
              <a:t> </a:t>
            </a:r>
            <a:r>
              <a:rPr sz="1270" b="1" dirty="0">
                <a:latin typeface="Arial"/>
                <a:cs typeface="Arial"/>
              </a:rPr>
              <a:t>when</a:t>
            </a:r>
            <a:r>
              <a:rPr sz="1270" b="1" spc="-18" dirty="0">
                <a:latin typeface="Arial"/>
                <a:cs typeface="Arial"/>
              </a:rPr>
              <a:t> </a:t>
            </a:r>
            <a:r>
              <a:rPr sz="1270" b="1" dirty="0">
                <a:latin typeface="Arial"/>
                <a:cs typeface="Arial"/>
              </a:rPr>
              <a:t>the</a:t>
            </a:r>
            <a:r>
              <a:rPr sz="1270" b="1" spc="-14" dirty="0">
                <a:latin typeface="Arial"/>
                <a:cs typeface="Arial"/>
              </a:rPr>
              <a:t> </a:t>
            </a:r>
            <a:r>
              <a:rPr sz="1270" b="1" dirty="0">
                <a:latin typeface="Arial"/>
                <a:cs typeface="Arial"/>
              </a:rPr>
              <a:t>error</a:t>
            </a:r>
            <a:r>
              <a:rPr sz="1270" b="1" spc="-18" dirty="0">
                <a:latin typeface="Arial"/>
                <a:cs typeface="Arial"/>
              </a:rPr>
              <a:t> </a:t>
            </a:r>
            <a:r>
              <a:rPr sz="1270" b="1" spc="-23" dirty="0">
                <a:latin typeface="Arial"/>
                <a:cs typeface="Arial"/>
              </a:rPr>
              <a:t>is </a:t>
            </a:r>
            <a:r>
              <a:rPr sz="1270" b="1" dirty="0">
                <a:latin typeface="Arial"/>
                <a:cs typeface="Arial"/>
              </a:rPr>
              <a:t>large </a:t>
            </a:r>
            <a:r>
              <a:rPr sz="1270" dirty="0">
                <a:latin typeface="Arial MT"/>
                <a:cs typeface="Arial MT"/>
              </a:rPr>
              <a:t>(i.e. for outliers) </a:t>
            </a:r>
            <a:r>
              <a:rPr sz="1270" spc="-9" dirty="0">
                <a:latin typeface="Arial MT"/>
                <a:cs typeface="Arial MT"/>
              </a:rPr>
              <a:t>because </a:t>
            </a:r>
            <a:r>
              <a:rPr sz="1270" dirty="0">
                <a:latin typeface="Arial MT"/>
                <a:cs typeface="Arial MT"/>
              </a:rPr>
              <a:t>of</a:t>
            </a:r>
            <a:r>
              <a:rPr sz="1270" spc="9" dirty="0">
                <a:latin typeface="Arial MT"/>
                <a:cs typeface="Arial MT"/>
              </a:rPr>
              <a:t> </a:t>
            </a:r>
            <a:r>
              <a:rPr sz="1270" dirty="0">
                <a:latin typeface="Arial MT"/>
                <a:cs typeface="Arial MT"/>
              </a:rPr>
              <a:t>its</a:t>
            </a:r>
            <a:r>
              <a:rPr sz="1270" spc="9" dirty="0">
                <a:latin typeface="Arial MT"/>
                <a:cs typeface="Arial MT"/>
              </a:rPr>
              <a:t> </a:t>
            </a:r>
            <a:r>
              <a:rPr sz="1270" dirty="0">
                <a:latin typeface="Arial MT"/>
                <a:cs typeface="Arial MT"/>
              </a:rPr>
              <a:t>quadratic</a:t>
            </a:r>
            <a:r>
              <a:rPr sz="1270" spc="5" dirty="0">
                <a:latin typeface="Arial MT"/>
                <a:cs typeface="Arial MT"/>
              </a:rPr>
              <a:t> </a:t>
            </a:r>
            <a:r>
              <a:rPr sz="1270" spc="-18" dirty="0">
                <a:latin typeface="Arial MT"/>
                <a:cs typeface="Arial MT"/>
              </a:rPr>
              <a:t>form.</a:t>
            </a:r>
            <a:endParaRPr sz="1270">
              <a:latin typeface="Arial MT"/>
              <a:cs typeface="Arial MT"/>
            </a:endParaRPr>
          </a:p>
          <a:p>
            <a:pPr marL="100191" indent="-88676">
              <a:lnSpc>
                <a:spcPts val="1378"/>
              </a:lnSpc>
              <a:buChar char="-"/>
              <a:tabLst>
                <a:tab pos="100191" algn="l"/>
              </a:tabLst>
            </a:pPr>
            <a:r>
              <a:rPr sz="1270" dirty="0">
                <a:latin typeface="Arial MT"/>
                <a:cs typeface="Arial MT"/>
              </a:rPr>
              <a:t>AE</a:t>
            </a:r>
            <a:r>
              <a:rPr sz="1270" spc="-14" dirty="0">
                <a:latin typeface="Arial MT"/>
                <a:cs typeface="Arial MT"/>
              </a:rPr>
              <a:t> </a:t>
            </a:r>
            <a:r>
              <a:rPr sz="1270" dirty="0">
                <a:latin typeface="Arial MT"/>
                <a:cs typeface="Arial MT"/>
              </a:rPr>
              <a:t>has a </a:t>
            </a:r>
            <a:r>
              <a:rPr sz="1270" b="1" dirty="0">
                <a:latin typeface="Arial"/>
                <a:cs typeface="Arial"/>
              </a:rPr>
              <a:t>steep</a:t>
            </a:r>
            <a:r>
              <a:rPr sz="1270" b="1" spc="-14" dirty="0">
                <a:latin typeface="Arial"/>
                <a:cs typeface="Arial"/>
              </a:rPr>
              <a:t> </a:t>
            </a:r>
            <a:r>
              <a:rPr sz="1270" b="1" dirty="0">
                <a:latin typeface="Arial"/>
                <a:cs typeface="Arial"/>
              </a:rPr>
              <a:t>gradient </a:t>
            </a:r>
            <a:r>
              <a:rPr sz="1270" b="1" spc="-18" dirty="0">
                <a:latin typeface="Arial"/>
                <a:cs typeface="Arial"/>
              </a:rPr>
              <a:t>when</a:t>
            </a:r>
            <a:endParaRPr sz="1270">
              <a:latin typeface="Arial"/>
              <a:cs typeface="Arial"/>
            </a:endParaRPr>
          </a:p>
          <a:p>
            <a:pPr marL="11516" marR="266604">
              <a:lnSpc>
                <a:spcPts val="1424"/>
              </a:lnSpc>
              <a:spcBef>
                <a:spcPts val="86"/>
              </a:spcBef>
            </a:pPr>
            <a:r>
              <a:rPr sz="1270" b="1" dirty="0">
                <a:latin typeface="Arial"/>
                <a:cs typeface="Arial"/>
              </a:rPr>
              <a:t>the</a:t>
            </a:r>
            <a:r>
              <a:rPr sz="1270" b="1" spc="-5" dirty="0">
                <a:latin typeface="Arial"/>
                <a:cs typeface="Arial"/>
              </a:rPr>
              <a:t> </a:t>
            </a:r>
            <a:r>
              <a:rPr sz="1270" b="1" dirty="0">
                <a:latin typeface="Arial"/>
                <a:cs typeface="Arial"/>
              </a:rPr>
              <a:t>error</a:t>
            </a:r>
            <a:r>
              <a:rPr sz="1270" b="1" spc="-9" dirty="0">
                <a:latin typeface="Arial"/>
                <a:cs typeface="Arial"/>
              </a:rPr>
              <a:t> </a:t>
            </a:r>
            <a:r>
              <a:rPr sz="1270" b="1" dirty="0">
                <a:latin typeface="Arial"/>
                <a:cs typeface="Arial"/>
              </a:rPr>
              <a:t>is</a:t>
            </a:r>
            <a:r>
              <a:rPr sz="1270" b="1" spc="-5" dirty="0">
                <a:latin typeface="Arial"/>
                <a:cs typeface="Arial"/>
              </a:rPr>
              <a:t> </a:t>
            </a:r>
            <a:r>
              <a:rPr sz="1270" b="1" dirty="0">
                <a:latin typeface="Arial"/>
                <a:cs typeface="Arial"/>
              </a:rPr>
              <a:t>small</a:t>
            </a:r>
            <a:r>
              <a:rPr sz="1270" b="1" spc="18" dirty="0">
                <a:latin typeface="Arial"/>
                <a:cs typeface="Arial"/>
              </a:rPr>
              <a:t> </a:t>
            </a:r>
            <a:r>
              <a:rPr sz="1270" dirty="0">
                <a:latin typeface="Arial MT"/>
                <a:cs typeface="Arial MT"/>
              </a:rPr>
              <a:t>because </a:t>
            </a:r>
            <a:r>
              <a:rPr sz="1270" spc="-23" dirty="0">
                <a:latin typeface="Arial MT"/>
                <a:cs typeface="Arial MT"/>
              </a:rPr>
              <a:t>it </a:t>
            </a:r>
            <a:r>
              <a:rPr sz="1270" dirty="0">
                <a:latin typeface="Arial MT"/>
                <a:cs typeface="Arial MT"/>
              </a:rPr>
              <a:t>doesn’t</a:t>
            </a:r>
            <a:r>
              <a:rPr sz="1270" spc="-5" dirty="0">
                <a:latin typeface="Arial MT"/>
                <a:cs typeface="Arial MT"/>
              </a:rPr>
              <a:t> </a:t>
            </a:r>
            <a:r>
              <a:rPr sz="1270" dirty="0">
                <a:latin typeface="Arial MT"/>
                <a:cs typeface="Arial MT"/>
              </a:rPr>
              <a:t>have</a:t>
            </a:r>
            <a:r>
              <a:rPr sz="1270" spc="-5" dirty="0">
                <a:latin typeface="Arial MT"/>
                <a:cs typeface="Arial MT"/>
              </a:rPr>
              <a:t> </a:t>
            </a:r>
            <a:r>
              <a:rPr sz="1270" dirty="0">
                <a:latin typeface="Arial MT"/>
                <a:cs typeface="Arial MT"/>
              </a:rPr>
              <a:t>a</a:t>
            </a:r>
            <a:r>
              <a:rPr sz="1270" spc="-5" dirty="0">
                <a:latin typeface="Arial MT"/>
                <a:cs typeface="Arial MT"/>
              </a:rPr>
              <a:t> </a:t>
            </a:r>
            <a:r>
              <a:rPr sz="1270" dirty="0">
                <a:latin typeface="Arial MT"/>
                <a:cs typeface="Arial MT"/>
              </a:rPr>
              <a:t>‘flat’</a:t>
            </a:r>
            <a:r>
              <a:rPr sz="1270" spc="-45" dirty="0">
                <a:latin typeface="Arial MT"/>
                <a:cs typeface="Arial MT"/>
              </a:rPr>
              <a:t> </a:t>
            </a:r>
            <a:r>
              <a:rPr sz="1270" spc="-9" dirty="0">
                <a:latin typeface="Arial MT"/>
                <a:cs typeface="Arial MT"/>
              </a:rPr>
              <a:t>bottom.</a:t>
            </a:r>
            <a:endParaRPr sz="1270">
              <a:latin typeface="Arial MT"/>
              <a:cs typeface="Arial MT"/>
            </a:endParaRPr>
          </a:p>
        </p:txBody>
      </p:sp>
      <p:pic>
        <p:nvPicPr>
          <p:cNvPr id="38" name="object 38"/>
          <p:cNvPicPr/>
          <p:nvPr/>
        </p:nvPicPr>
        <p:blipFill>
          <a:blip r:embed="rId8" cstate="print"/>
          <a:stretch>
            <a:fillRect/>
          </a:stretch>
        </p:blipFill>
        <p:spPr>
          <a:xfrm>
            <a:off x="8379697" y="3546217"/>
            <a:ext cx="2154713" cy="2216902"/>
          </a:xfrm>
          <a:prstGeom prst="rect">
            <a:avLst/>
          </a:prstGeom>
        </p:spPr>
      </p:pic>
      <p:sp>
        <p:nvSpPr>
          <p:cNvPr id="39" name="object 39"/>
          <p:cNvSpPr txBox="1"/>
          <p:nvPr/>
        </p:nvSpPr>
        <p:spPr>
          <a:xfrm>
            <a:off x="9347072" y="5764271"/>
            <a:ext cx="266604" cy="151218"/>
          </a:xfrm>
          <a:prstGeom prst="rect">
            <a:avLst/>
          </a:prstGeom>
        </p:spPr>
        <p:txBody>
          <a:bodyPr vert="horz" wrap="square" lIns="0" tIns="11516" rIns="0" bIns="0" rtlCol="0">
            <a:spAutoFit/>
          </a:bodyPr>
          <a:lstStyle/>
          <a:p>
            <a:pPr marL="11516">
              <a:spcBef>
                <a:spcPts val="91"/>
              </a:spcBef>
            </a:pPr>
            <a:r>
              <a:rPr sz="907" i="1" spc="-9" dirty="0">
                <a:latin typeface="Arial"/>
                <a:cs typeface="Arial"/>
              </a:rPr>
              <a:t>error</a:t>
            </a:r>
            <a:endParaRPr sz="907">
              <a:latin typeface="Arial"/>
              <a:cs typeface="Arial"/>
            </a:endParaRPr>
          </a:p>
        </p:txBody>
      </p:sp>
      <p:sp>
        <p:nvSpPr>
          <p:cNvPr id="40" name="object 40"/>
          <p:cNvSpPr txBox="1"/>
          <p:nvPr/>
        </p:nvSpPr>
        <p:spPr>
          <a:xfrm>
            <a:off x="9478359" y="3610709"/>
            <a:ext cx="226873" cy="151218"/>
          </a:xfrm>
          <a:prstGeom prst="rect">
            <a:avLst/>
          </a:prstGeom>
        </p:spPr>
        <p:txBody>
          <a:bodyPr vert="horz" wrap="square" lIns="0" tIns="11516" rIns="0" bIns="0" rtlCol="0">
            <a:spAutoFit/>
          </a:bodyPr>
          <a:lstStyle/>
          <a:p>
            <a:pPr marL="11516">
              <a:spcBef>
                <a:spcPts val="91"/>
              </a:spcBef>
            </a:pPr>
            <a:r>
              <a:rPr sz="907" i="1" spc="-18" dirty="0">
                <a:latin typeface="Arial"/>
                <a:cs typeface="Arial"/>
              </a:rPr>
              <a:t>loss</a:t>
            </a:r>
            <a:endParaRPr sz="907">
              <a:latin typeface="Arial"/>
              <a:cs typeface="Arial"/>
            </a:endParaRPr>
          </a:p>
        </p:txBody>
      </p:sp>
    </p:spTree>
    <p:extLst>
      <p:ext uri="{BB962C8B-B14F-4D97-AF65-F5344CB8AC3E}">
        <p14:creationId xmlns:p14="http://schemas.microsoft.com/office/powerpoint/2010/main" val="10507030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847850" y="1"/>
            <a:ext cx="8229600" cy="777875"/>
          </a:xfrm>
        </p:spPr>
        <p:txBody>
          <a:bodyPr>
            <a:normAutofit/>
          </a:bodyPr>
          <a:lstStyle/>
          <a:p>
            <a:pPr eaLnBrk="1" hangingPunct="1"/>
            <a:r>
              <a:rPr lang="en-US" altLang="en-US" smtClean="0"/>
              <a:t>Perceptron Learning rule</a:t>
            </a:r>
          </a:p>
        </p:txBody>
      </p:sp>
      <p:sp>
        <p:nvSpPr>
          <p:cNvPr id="68611" name="Rectangle 3"/>
          <p:cNvSpPr>
            <a:spLocks noGrp="1" noChangeArrowheads="1"/>
          </p:cNvSpPr>
          <p:nvPr>
            <p:ph type="body" sz="half" idx="1"/>
          </p:nvPr>
        </p:nvSpPr>
        <p:spPr>
          <a:xfrm>
            <a:off x="1919288" y="765176"/>
            <a:ext cx="8291512" cy="1541463"/>
          </a:xfrm>
        </p:spPr>
        <p:txBody>
          <a:bodyPr/>
          <a:lstStyle/>
          <a:p>
            <a:pPr eaLnBrk="1" hangingPunct="1"/>
            <a:r>
              <a:rPr lang="en-US" altLang="en-US"/>
              <a:t>Learning signal is the difference between the desired and actual neuron’s response</a:t>
            </a:r>
          </a:p>
          <a:p>
            <a:pPr eaLnBrk="1" hangingPunct="1"/>
            <a:r>
              <a:rPr lang="en-US" altLang="en-US"/>
              <a:t>Learning is supervised</a:t>
            </a:r>
          </a:p>
          <a:p>
            <a:pPr eaLnBrk="1" hangingPunct="1">
              <a:buFontTx/>
              <a:buNone/>
            </a:pPr>
            <a:endParaRPr lang="en-US" altLang="en-US"/>
          </a:p>
        </p:txBody>
      </p:sp>
      <p:pic>
        <p:nvPicPr>
          <p:cNvPr id="68612" name="Picture 4"/>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2063751" y="2349501"/>
            <a:ext cx="7777163" cy="2879725"/>
          </a:xfrm>
          <a:noFill/>
        </p:spPr>
      </p:pic>
      <p:pic>
        <p:nvPicPr>
          <p:cNvPr id="68613" name="Picture 6"/>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527801" y="5013325"/>
            <a:ext cx="1158875" cy="495300"/>
          </a:xfrm>
          <a:noFill/>
        </p:spPr>
      </p:pic>
      <p:pic>
        <p:nvPicPr>
          <p:cNvPr id="6861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1" y="5589588"/>
            <a:ext cx="12493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4563" y="5949951"/>
            <a:ext cx="24638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583272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5"/>
          <p:cNvSpPr>
            <a:spLocks noGrp="1"/>
          </p:cNvSpPr>
          <p:nvPr>
            <p:ph type="title"/>
          </p:nvPr>
        </p:nvSpPr>
        <p:spPr/>
        <p:txBody>
          <a:bodyPr/>
          <a:lstStyle/>
          <a:p>
            <a:endParaRPr lang="en-US" altLang="en-US" smtClean="0"/>
          </a:p>
        </p:txBody>
      </p:sp>
      <p:pic>
        <p:nvPicPr>
          <p:cNvPr id="6963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92314" y="476250"/>
            <a:ext cx="7164387" cy="1893888"/>
          </a:xfrm>
          <a:noFill/>
        </p:spPr>
      </p:pic>
      <p:pic>
        <p:nvPicPr>
          <p:cNvPr id="696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164" y="5303839"/>
            <a:ext cx="5619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2189" y="4941889"/>
            <a:ext cx="136207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0189" y="2341564"/>
            <a:ext cx="21240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8301" y="2782889"/>
            <a:ext cx="82867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4264" y="3117850"/>
            <a:ext cx="322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63531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en-US" smtClean="0"/>
              <a:t>Linear Separability</a:t>
            </a:r>
          </a:p>
        </p:txBody>
      </p:sp>
      <p:sp>
        <p:nvSpPr>
          <p:cNvPr id="77827" name="Rectangle 3"/>
          <p:cNvSpPr>
            <a:spLocks noGrp="1" noChangeArrowheads="1"/>
          </p:cNvSpPr>
          <p:nvPr>
            <p:ph idx="1"/>
          </p:nvPr>
        </p:nvSpPr>
        <p:spPr/>
        <p:txBody>
          <a:bodyPr/>
          <a:lstStyle/>
          <a:p>
            <a:pPr eaLnBrk="1" hangingPunct="1">
              <a:lnSpc>
                <a:spcPct val="90000"/>
              </a:lnSpc>
            </a:pPr>
            <a:r>
              <a:rPr lang="en-US" altLang="en-US" smtClean="0"/>
              <a:t>Separation of the input space into regions is based on whether the network response is positive or negative</a:t>
            </a:r>
          </a:p>
          <a:p>
            <a:pPr eaLnBrk="1" hangingPunct="1">
              <a:lnSpc>
                <a:spcPct val="90000"/>
              </a:lnSpc>
            </a:pPr>
            <a:r>
              <a:rPr lang="en-US" altLang="en-US" smtClean="0"/>
              <a:t>Line of separation is called linear-separable line. </a:t>
            </a:r>
          </a:p>
          <a:p>
            <a:pPr eaLnBrk="1" hangingPunct="1">
              <a:lnSpc>
                <a:spcPct val="90000"/>
              </a:lnSpc>
            </a:pPr>
            <a:r>
              <a:rPr lang="en-US" altLang="en-US" smtClean="0"/>
              <a:t>Example:-</a:t>
            </a:r>
          </a:p>
          <a:p>
            <a:pPr lvl="1" eaLnBrk="1" hangingPunct="1">
              <a:lnSpc>
                <a:spcPct val="90000"/>
              </a:lnSpc>
            </a:pPr>
            <a:r>
              <a:rPr lang="en-US" altLang="en-US" smtClean="0"/>
              <a:t>AND function &amp; OR function are linear separable </a:t>
            </a:r>
            <a:r>
              <a:rPr lang="en-US" altLang="en-US" u="sng" smtClean="0"/>
              <a:t>Example</a:t>
            </a:r>
          </a:p>
          <a:p>
            <a:pPr lvl="1" eaLnBrk="1" hangingPunct="1">
              <a:lnSpc>
                <a:spcPct val="90000"/>
              </a:lnSpc>
            </a:pPr>
            <a:r>
              <a:rPr lang="en-US" altLang="en-US" smtClean="0"/>
              <a:t>EXOR function Linearly inseparable. </a:t>
            </a:r>
            <a:r>
              <a:rPr lang="en-US" altLang="en-US" u="sng" smtClean="0"/>
              <a:t>Example</a:t>
            </a:r>
          </a:p>
        </p:txBody>
      </p:sp>
    </p:spTree>
    <p:extLst>
      <p:ext uri="{BB962C8B-B14F-4D97-AF65-F5344CB8AC3E}">
        <p14:creationId xmlns:p14="http://schemas.microsoft.com/office/powerpoint/2010/main" val="47879935"/>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Gradient Descent and the Delta Learning Rule</a:t>
            </a:r>
            <a:endParaRPr lang="en-US" dirty="0"/>
          </a:p>
        </p:txBody>
      </p:sp>
      <p:sp>
        <p:nvSpPr>
          <p:cNvPr id="4" name="Rectangle 1"/>
          <p:cNvSpPr>
            <a:spLocks noGrp="1" noChangeArrowheads="1"/>
          </p:cNvSpPr>
          <p:nvPr>
            <p:ph idx="1"/>
          </p:nvPr>
        </p:nvSpPr>
        <p:spPr bwMode="auto">
          <a:xfrm>
            <a:off x="2362200" y="3080558"/>
            <a:ext cx="5398466" cy="1841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101568"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Core Objective:</a:t>
            </a:r>
            <a:r>
              <a:rPr lang="en-IN" altLang="en-US" sz="1200">
                <a:latin typeface="Google Sans"/>
                <a:cs typeface="Arial" panose="020B0604020202020204" pitchFamily="34" charset="0"/>
              </a:rPr>
              <a:t> Adjusting network weights to minimize prediction errors. [</a:t>
            </a:r>
            <a:r>
              <a:rPr lang="en-IN" altLang="en-US" sz="1200">
                <a:latin typeface="Google Sans"/>
                <a:cs typeface="Arial" panose="020B0604020202020204" pitchFamily="34" charset="0"/>
                <a:hlinkClick r:id="rId2"/>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3"/>
              </a:rPr>
              <a:t>2</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Learning Process:</a:t>
            </a:r>
            <a:endParaRPr lang="en-IN" altLang="en-US" sz="1200">
              <a:latin typeface="Google Sans"/>
              <a:cs typeface="Arial" panose="020B0604020202020204" pitchFamily="34" charset="0"/>
            </a:endParaRPr>
          </a:p>
          <a:p>
            <a:pPr marL="457200" lvl="1"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Input data is fed into the network.</a:t>
            </a:r>
          </a:p>
          <a:p>
            <a:pPr marL="457200" lvl="1"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The network generates an output.</a:t>
            </a:r>
          </a:p>
          <a:p>
            <a:pPr marL="457200" lvl="1"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Output is compared against the actual target.</a:t>
            </a:r>
          </a:p>
          <a:p>
            <a:pPr marL="457200" lvl="1"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Weights are adjusted based on the error. [</a:t>
            </a:r>
            <a:r>
              <a:rPr lang="en-IN" altLang="en-US" sz="1200">
                <a:latin typeface="Google Sans"/>
                <a:cs typeface="Arial" panose="020B0604020202020204" pitchFamily="34" charset="0"/>
                <a:hlinkClick r:id="rId4"/>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5"/>
              </a:rPr>
              <a:t>2</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76210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the Error Surface</a:t>
            </a:r>
            <a:endParaRPr lang="en-US" dirty="0"/>
          </a:p>
        </p:txBody>
      </p:sp>
      <p:sp>
        <p:nvSpPr>
          <p:cNvPr id="4" name="Rectangle 1"/>
          <p:cNvSpPr>
            <a:spLocks noGrp="1" noChangeArrowheads="1"/>
          </p:cNvSpPr>
          <p:nvPr>
            <p:ph idx="1"/>
          </p:nvPr>
        </p:nvSpPr>
        <p:spPr bwMode="auto">
          <a:xfrm>
            <a:off x="2362200" y="3724295"/>
            <a:ext cx="79721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Cost Function (E):</a:t>
            </a:r>
            <a:r>
              <a:rPr lang="en-IN" altLang="en-US" sz="1200">
                <a:latin typeface="Google Sans"/>
                <a:cs typeface="Arial" panose="020B0604020202020204" pitchFamily="34" charset="0"/>
              </a:rPr>
              <a:t> A mathematical metric (like Mean Squared Error) that quantifies how "wrong" the model is.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Goal:</a:t>
            </a:r>
            <a:r>
              <a:rPr lang="en-IN" altLang="en-US" sz="1200">
                <a:latin typeface="Google Sans"/>
                <a:cs typeface="Arial" panose="020B0604020202020204" pitchFamily="34" charset="0"/>
              </a:rPr>
              <a:t> Find the global minimum where the error is closest to zero.</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Visualizing the Surface:</a:t>
            </a:r>
            <a:r>
              <a:rPr lang="en-IN" altLang="en-US" sz="1200">
                <a:latin typeface="Google Sans"/>
                <a:cs typeface="Arial" panose="020B0604020202020204" pitchFamily="34" charset="0"/>
              </a:rPr>
              <a:t> Imagine a 3D bowl-shaped landscape where altitude represents the error magnitude. [</a:t>
            </a:r>
            <a:r>
              <a:rPr lang="en-IN" altLang="en-US" sz="1200">
                <a:latin typeface="Google Sans"/>
                <a:cs typeface="Arial" panose="020B0604020202020204" pitchFamily="34" charset="0"/>
                <a:hlinkClick r:id="rId2"/>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3"/>
              </a:rPr>
              <a:t>2</a:t>
            </a:r>
            <a:r>
              <a:rPr lang="en-IN" altLang="en-US" sz="1200">
                <a:latin typeface="Google Sans"/>
                <a:cs typeface="Arial" panose="020B0604020202020204" pitchFamily="34" charset="0"/>
              </a:rPr>
              <a:t>]</a:t>
            </a: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64127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Gradient Descent?</a:t>
            </a:r>
            <a:endParaRPr lang="en-US" dirty="0"/>
          </a:p>
        </p:txBody>
      </p:sp>
      <p:sp>
        <p:nvSpPr>
          <p:cNvPr id="4" name="Rectangle 1"/>
          <p:cNvSpPr>
            <a:spLocks noGrp="1" noChangeArrowheads="1"/>
          </p:cNvSpPr>
          <p:nvPr>
            <p:ph idx="1"/>
          </p:nvPr>
        </p:nvSpPr>
        <p:spPr bwMode="auto">
          <a:xfrm>
            <a:off x="2362200" y="3354963"/>
            <a:ext cx="695543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Definition:</a:t>
            </a:r>
            <a:r>
              <a:rPr lang="en-IN" altLang="en-US" sz="1200">
                <a:latin typeface="Google Sans"/>
                <a:cs typeface="Arial" panose="020B0604020202020204" pitchFamily="34" charset="0"/>
              </a:rPr>
              <a:t> An iterative optimization algorithm used to minimize a cost function.</a:t>
            </a: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Core Concept:</a:t>
            </a:r>
            <a:r>
              <a:rPr lang="en-IN" altLang="en-US" sz="1200">
                <a:latin typeface="Google Sans"/>
                <a:cs typeface="Arial" panose="020B0604020202020204" pitchFamily="34" charset="0"/>
              </a:rPr>
              <a:t> Moving step-by-step in the direction of the steepest descent on the error surface.</a:t>
            </a: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Gradient (∇ E):</a:t>
            </a:r>
            <a:r>
              <a:rPr lang="en-IN" altLang="en-US" sz="1200">
                <a:latin typeface="Google Sans"/>
                <a:cs typeface="Arial" panose="020B0604020202020204" pitchFamily="34" charset="0"/>
              </a:rPr>
              <a:t> A vector of partial derivatives pointing toward the steepest </a:t>
            </a:r>
            <a:r>
              <a:rPr lang="en-IN" altLang="en-US" sz="1200" i="1">
                <a:latin typeface="Google Sans"/>
                <a:cs typeface="Arial" panose="020B0604020202020204" pitchFamily="34" charset="0"/>
              </a:rPr>
              <a:t>ascent</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Descent Rule:</a:t>
            </a:r>
            <a:r>
              <a:rPr lang="en-IN" altLang="en-US" sz="1200">
                <a:latin typeface="Google Sans"/>
                <a:cs typeface="Arial" panose="020B0604020202020204" pitchFamily="34" charset="0"/>
              </a:rPr>
              <a:t> Move in the </a:t>
            </a:r>
            <a:r>
              <a:rPr lang="en-IN" altLang="en-US" sz="1200" i="1">
                <a:latin typeface="Google Sans"/>
                <a:cs typeface="Arial" panose="020B0604020202020204" pitchFamily="34" charset="0"/>
              </a:rPr>
              <a:t>negative</a:t>
            </a:r>
            <a:r>
              <a:rPr lang="en-IN" altLang="en-US" sz="1200">
                <a:latin typeface="Google Sans"/>
                <a:cs typeface="Arial" panose="020B0604020202020204" pitchFamily="34" charset="0"/>
              </a:rPr>
              <a:t> direction of the gradient (-∇ E). [</a:t>
            </a:r>
            <a:r>
              <a:rPr lang="en-IN" altLang="en-US" sz="1200">
                <a:latin typeface="Google Sans"/>
                <a:cs typeface="Arial" panose="020B0604020202020204" pitchFamily="34" charset="0"/>
                <a:hlinkClick r:id="rId2"/>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3"/>
              </a:rPr>
              <a:t>2</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4"/>
              </a:rPr>
              <a:t>3</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5"/>
              </a:rPr>
              <a:t>4</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6"/>
              </a:rPr>
              <a:t>5</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11963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Math Behind Gradient Descent</a:t>
            </a:r>
            <a:endParaRPr lang="en-US" dirty="0"/>
          </a:p>
        </p:txBody>
      </p:sp>
      <p:sp>
        <p:nvSpPr>
          <p:cNvPr id="4" name="Rectangle 1"/>
          <p:cNvSpPr>
            <a:spLocks noGrp="1" noChangeArrowheads="1"/>
          </p:cNvSpPr>
          <p:nvPr>
            <p:ph idx="1"/>
          </p:nvPr>
        </p:nvSpPr>
        <p:spPr bwMode="auto">
          <a:xfrm>
            <a:off x="2362201" y="3034391"/>
            <a:ext cx="3951851" cy="1933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101568"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Weight Update Formula:</a:t>
            </a:r>
            <a:r>
              <a:rPr lang="en-IN" altLang="en-US" sz="1200">
                <a:latin typeface="Google Sans"/>
                <a:cs typeface="Arial" panose="020B0604020202020204" pitchFamily="34" charset="0"/>
              </a:rPr>
              <a:t/>
            </a:r>
            <a:br>
              <a:rPr lang="en-IN" altLang="en-US" sz="1200">
                <a:latin typeface="Google Sans"/>
                <a:cs typeface="Arial" panose="020B0604020202020204" pitchFamily="34" charset="0"/>
              </a:rPr>
            </a:br>
            <a:r>
              <a:rPr lang="en-IN" altLang="en-US" sz="1200">
                <a:latin typeface="Google Sans"/>
                <a:cs typeface="Arial" panose="020B0604020202020204" pitchFamily="34" charset="0"/>
              </a:rPr>
              <a:t>\(w_{new}=w_{old}-\eta \nabla E\)</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Key Parameters:</a:t>
            </a:r>
            <a:endParaRPr lang="en-IN" altLang="en-US" sz="1200">
              <a:latin typeface="Google Sans"/>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w: The weight vector being optimized.</a:t>
            </a: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η (Eta): The </a:t>
            </a:r>
            <a:r>
              <a:rPr lang="en-IN" altLang="en-US" sz="1200" b="1">
                <a:latin typeface="Google Sans"/>
                <a:cs typeface="Arial" panose="020B0604020202020204" pitchFamily="34" charset="0"/>
              </a:rPr>
              <a:t>Learning Rate</a:t>
            </a:r>
            <a:r>
              <a:rPr lang="en-IN" altLang="en-US" sz="1200">
                <a:latin typeface="Google Sans"/>
                <a:cs typeface="Arial" panose="020B0604020202020204" pitchFamily="34" charset="0"/>
              </a:rPr>
              <a:t> (controls the step size). [</a:t>
            </a:r>
            <a:r>
              <a:rPr lang="en-IN" altLang="en-US" sz="1200">
                <a:latin typeface="Google Sans"/>
                <a:cs typeface="Arial" panose="020B0604020202020204" pitchFamily="34" charset="0"/>
                <a:hlinkClick r:id="rId2"/>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3"/>
              </a:rPr>
              <a:t>2</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Trade-off:</a:t>
            </a:r>
            <a:endParaRPr lang="en-IN" altLang="en-US" sz="1200">
              <a:latin typeface="Google Sans"/>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Too large η: Overshoots and oscillates.</a:t>
            </a: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Too small η: Takes too long to converge. [</a:t>
            </a:r>
            <a:r>
              <a:rPr lang="en-IN" altLang="en-US" sz="1200">
                <a:latin typeface="Google Sans"/>
                <a:cs typeface="Arial" panose="020B0604020202020204" pitchFamily="34" charset="0"/>
                <a:hlinkClick r:id="rId4"/>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5"/>
              </a:rPr>
              <a:t>2</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6"/>
              </a:rPr>
              <a:t>3</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7"/>
              </a:rPr>
              <a:t>4</a:t>
            </a:r>
            <a:r>
              <a:rPr lang="en-IN" altLang="en-US" sz="1200">
                <a:latin typeface="Google Sans"/>
                <a:cs typeface="Arial" panose="020B0604020202020204" pitchFamily="34" charset="0"/>
              </a:rPr>
              <a:t>]</a:t>
            </a:r>
          </a:p>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72354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 Delta Learning Rule?</a:t>
            </a:r>
            <a:endParaRPr lang="en-US" dirty="0"/>
          </a:p>
        </p:txBody>
      </p:sp>
      <p:sp>
        <p:nvSpPr>
          <p:cNvPr id="4" name="Rectangle 1"/>
          <p:cNvSpPr>
            <a:spLocks noGrp="1" noChangeArrowheads="1"/>
          </p:cNvSpPr>
          <p:nvPr>
            <p:ph idx="1"/>
          </p:nvPr>
        </p:nvSpPr>
        <p:spPr bwMode="auto">
          <a:xfrm>
            <a:off x="2362200" y="3724295"/>
            <a:ext cx="981127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Definition:</a:t>
            </a:r>
            <a:r>
              <a:rPr lang="en-IN" altLang="en-US" sz="1200">
                <a:latin typeface="Google Sans"/>
                <a:cs typeface="Arial" panose="020B0604020202020204" pitchFamily="34" charset="0"/>
              </a:rPr>
              <a:t> A specific application of gradient descent used for training single-layer neural networks (Perceptrons/Adaline).</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Alternative Name:</a:t>
            </a:r>
            <a:r>
              <a:rPr lang="en-IN" altLang="en-US" sz="1200">
                <a:latin typeface="Google Sans"/>
                <a:cs typeface="Arial" panose="020B0604020202020204" pitchFamily="34" charset="0"/>
              </a:rPr>
              <a:t> Widrow-Hoff Rule or Least Mean Squares (LMS) learning rule.</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Core Principle:</a:t>
            </a:r>
            <a:r>
              <a:rPr lang="en-IN" altLang="en-US" sz="1200">
                <a:latin typeface="Google Sans"/>
                <a:cs typeface="Arial" panose="020B0604020202020204" pitchFamily="34" charset="0"/>
              </a:rPr>
              <a:t> The adjustment made to a weight is proportional to the difference between the target output and the actual output. [</a:t>
            </a:r>
            <a:r>
              <a:rPr lang="en-IN" altLang="en-US" sz="1200">
                <a:latin typeface="Google Sans"/>
                <a:cs typeface="Arial" panose="020B0604020202020204" pitchFamily="34" charset="0"/>
                <a:hlinkClick r:id="rId2"/>
              </a:rPr>
              <a:t>1</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3"/>
              </a:rPr>
              <a:t>2</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4"/>
              </a:rPr>
              <a:t>3</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5"/>
              </a:rPr>
              <a:t>4</a:t>
            </a:r>
            <a:r>
              <a:rPr lang="en-IN" altLang="en-US" sz="1200">
                <a:latin typeface="Google Sans"/>
                <a:cs typeface="Arial" panose="020B0604020202020204" pitchFamily="34" charset="0"/>
              </a:rPr>
              <a:t>, </a:t>
            </a:r>
            <a:r>
              <a:rPr lang="en-IN" altLang="en-US" sz="1200">
                <a:latin typeface="Google Sans"/>
                <a:cs typeface="Arial" panose="020B0604020202020204" pitchFamily="34" charset="0"/>
                <a:hlinkClick r:id="rId6"/>
              </a:rPr>
              <a:t>5</a:t>
            </a:r>
            <a:r>
              <a:rPr lang="en-IN" altLang="en-US" sz="1200">
                <a:latin typeface="Google Sans"/>
                <a:cs typeface="Arial" panose="020B0604020202020204" pitchFamily="34" charset="0"/>
              </a:rPr>
              <a:t>]</a:t>
            </a: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315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Formulation of Delta Rule</a:t>
            </a:r>
            <a:endParaRPr lang="en-US" dirty="0"/>
          </a:p>
        </p:txBody>
      </p:sp>
      <p:sp>
        <p:nvSpPr>
          <p:cNvPr id="4" name="Rectangle 1"/>
          <p:cNvSpPr>
            <a:spLocks noGrp="1" noChangeArrowheads="1"/>
          </p:cNvSpPr>
          <p:nvPr>
            <p:ph idx="1"/>
          </p:nvPr>
        </p:nvSpPr>
        <p:spPr bwMode="auto">
          <a:xfrm>
            <a:off x="2362201" y="3034391"/>
            <a:ext cx="3858877" cy="1933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101568"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Error for a Single Layer:</a:t>
            </a:r>
            <a:r>
              <a:rPr lang="en-IN" altLang="en-US" sz="1200">
                <a:latin typeface="Google Sans"/>
                <a:cs typeface="Arial" panose="020B0604020202020204" pitchFamily="34" charset="0"/>
              </a:rPr>
              <a:t/>
            </a:r>
            <a:br>
              <a:rPr lang="en-IN" altLang="en-US" sz="1200">
                <a:latin typeface="Google Sans"/>
                <a:cs typeface="Arial" panose="020B0604020202020204" pitchFamily="34" charset="0"/>
              </a:rPr>
            </a:br>
            <a:r>
              <a:rPr lang="en-IN" altLang="en-US" sz="1200">
                <a:latin typeface="Google Sans"/>
                <a:cs typeface="Arial" panose="020B0604020202020204" pitchFamily="34" charset="0"/>
              </a:rPr>
              <a:t>\(E=\frac{1}{2}(t-y)^{2}\)</a:t>
            </a:r>
            <a:br>
              <a:rPr lang="en-IN" altLang="en-US" sz="1200">
                <a:latin typeface="Google Sans"/>
                <a:cs typeface="Arial" panose="020B0604020202020204" pitchFamily="34" charset="0"/>
              </a:rPr>
            </a:br>
            <a:r>
              <a:rPr lang="en-IN" altLang="en-US" sz="1200" i="1">
                <a:latin typeface="Google Sans"/>
                <a:cs typeface="Arial" panose="020B0604020202020204" pitchFamily="34" charset="0"/>
              </a:rPr>
              <a:t>(where t is target output and y is actual linear output)</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The Delta Weight Update:</a:t>
            </a:r>
            <a:r>
              <a:rPr lang="en-IN" altLang="en-US" sz="1200">
                <a:latin typeface="Google Sans"/>
                <a:cs typeface="Arial" panose="020B0604020202020204" pitchFamily="34" charset="0"/>
              </a:rPr>
              <a:t/>
            </a:r>
            <a:br>
              <a:rPr lang="en-IN" altLang="en-US" sz="1200">
                <a:latin typeface="Google Sans"/>
                <a:cs typeface="Arial" panose="020B0604020202020204" pitchFamily="34" charset="0"/>
              </a:rPr>
            </a:br>
            <a:r>
              <a:rPr lang="en-IN" altLang="en-US" sz="1200">
                <a:latin typeface="Google Sans"/>
                <a:cs typeface="Arial" panose="020B0604020202020204" pitchFamily="34" charset="0"/>
              </a:rPr>
              <a:t>\(\Delta w_{i}=\eta (t-y)x_{i}\)</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b="1">
                <a:latin typeface="Google Sans"/>
                <a:cs typeface="Arial" panose="020B0604020202020204" pitchFamily="34" charset="0"/>
              </a:rPr>
              <a:t>Components:</a:t>
            </a:r>
            <a:endParaRPr lang="en-IN" altLang="en-US" sz="1200">
              <a:latin typeface="Google Sans"/>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 - y): The error (Delta).</a:t>
            </a: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\(x_{i}\): The input value associated with weight \(w_{i}\).</a:t>
            </a:r>
          </a:p>
          <a:p>
            <a:pPr marL="0" indent="0" eaLnBrk="0" fontAlgn="base" hangingPunct="0">
              <a:lnSpc>
                <a:spcPct val="100000"/>
              </a:lnSpc>
              <a:spcBef>
                <a:spcPct val="0"/>
              </a:spcBef>
              <a:spcAft>
                <a:spcPct val="0"/>
              </a:spcAft>
              <a:buNone/>
            </a:pP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71241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b="1" dirty="0">
                <a:solidFill>
                  <a:schemeClr val="tx1"/>
                </a:solidFill>
                <a:latin typeface="Google Sans"/>
                <a:cs typeface="Arial" panose="020B0604020202020204" pitchFamily="34" charset="0"/>
              </a:rPr>
              <a:t>Delta Rule vs. Perceptron Learning Rule</a:t>
            </a:r>
            <a:r>
              <a:rPr lang="en-IN" altLang="en-US" sz="800" dirty="0">
                <a:latin typeface="Arial" panose="020B0604020202020204" pitchFamily="34" charset="0"/>
                <a:cs typeface="Arial" panose="020B0604020202020204" pitchFamily="34" charset="0"/>
              </a:rPr>
              <a:t/>
            </a:r>
            <a:br>
              <a:rPr lang="en-IN" altLang="en-US" sz="800" dirty="0">
                <a:latin typeface="Arial" panose="020B0604020202020204" pitchFamily="34" charset="0"/>
                <a:cs typeface="Arial" panose="020B0604020202020204" pitchFamily="34" charset="0"/>
              </a:rPr>
            </a:br>
            <a:endParaRPr lang="en-US" dirty="0"/>
          </a:p>
        </p:txBody>
      </p:sp>
      <p:sp>
        <p:nvSpPr>
          <p:cNvPr id="4" name="Rectangle 1"/>
          <p:cNvSpPr>
            <a:spLocks noGrp="1" noChangeArrowheads="1"/>
          </p:cNvSpPr>
          <p:nvPr>
            <p:ph idx="1"/>
          </p:nvPr>
        </p:nvSpPr>
        <p:spPr bwMode="auto">
          <a:xfrm>
            <a:off x="1981200" y="3540017"/>
            <a:ext cx="111200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b="1" dirty="0">
                <a:latin typeface="Google Sans"/>
                <a:cs typeface="Arial" panose="020B0604020202020204" pitchFamily="34" charset="0"/>
              </a:rPr>
              <a:t>Perceptron Rule:</a:t>
            </a:r>
            <a:r>
              <a:rPr lang="en-IN" altLang="en-US" sz="1200" dirty="0">
                <a:latin typeface="Google Sans"/>
                <a:cs typeface="Arial" panose="020B0604020202020204" pitchFamily="34" charset="0"/>
              </a:rPr>
              <a:t> Updates weights based on a hard threshold output (binary classification like 0 or 1). It only updates if the final output is wrong. [</a:t>
            </a:r>
            <a:r>
              <a:rPr lang="en-IN" altLang="en-US" sz="1200" dirty="0">
                <a:latin typeface="Google Sans"/>
                <a:cs typeface="Arial" panose="020B0604020202020204" pitchFamily="34" charset="0"/>
                <a:hlinkClick r:id="rId2"/>
              </a:rPr>
              <a:t>1</a:t>
            </a:r>
            <a:r>
              <a:rPr lang="en-IN" altLang="en-US" sz="1200" dirty="0">
                <a:latin typeface="Google Sans"/>
                <a:cs typeface="Arial" panose="020B0604020202020204" pitchFamily="34" charset="0"/>
              </a:rPr>
              <a:t>]</a:t>
            </a:r>
          </a:p>
          <a:p>
            <a:pPr marL="0" indent="0" eaLnBrk="0" fontAlgn="base" hangingPunct="0">
              <a:lnSpc>
                <a:spcPct val="100000"/>
              </a:lnSpc>
              <a:spcBef>
                <a:spcPct val="0"/>
              </a:spcBef>
              <a:spcAft>
                <a:spcPct val="0"/>
              </a:spcAft>
              <a:buFontTx/>
              <a:buChar char="•"/>
            </a:pPr>
            <a:r>
              <a:rPr lang="en-IN" altLang="en-US" sz="1200" b="1" dirty="0">
                <a:latin typeface="Google Sans"/>
                <a:cs typeface="Arial" panose="020B0604020202020204" pitchFamily="34" charset="0"/>
              </a:rPr>
              <a:t>Delta Rule:</a:t>
            </a:r>
            <a:r>
              <a:rPr lang="en-IN" altLang="en-US" sz="1200" dirty="0">
                <a:latin typeface="Google Sans"/>
                <a:cs typeface="Arial" panose="020B0604020202020204" pitchFamily="34" charset="0"/>
              </a:rPr>
              <a:t> Updates weights based on the continuous, linear output </a:t>
            </a:r>
            <a:r>
              <a:rPr lang="en-IN" altLang="en-US" sz="1200" i="1" dirty="0">
                <a:latin typeface="Google Sans"/>
                <a:cs typeface="Arial" panose="020B0604020202020204" pitchFamily="34" charset="0"/>
              </a:rPr>
              <a:t>before</a:t>
            </a:r>
            <a:r>
              <a:rPr lang="en-IN" altLang="en-US" sz="1200" dirty="0">
                <a:latin typeface="Google Sans"/>
                <a:cs typeface="Arial" panose="020B0604020202020204" pitchFamily="34" charset="0"/>
              </a:rPr>
              <a:t> any hard </a:t>
            </a:r>
            <a:r>
              <a:rPr lang="en-IN" altLang="en-US" sz="1200" dirty="0" err="1">
                <a:latin typeface="Google Sans"/>
                <a:cs typeface="Arial" panose="020B0604020202020204" pitchFamily="34" charset="0"/>
              </a:rPr>
              <a:t>thresholding</a:t>
            </a:r>
            <a:r>
              <a:rPr lang="en-IN" altLang="en-US" sz="1200" dirty="0">
                <a:latin typeface="Google Sans"/>
                <a:cs typeface="Arial" panose="020B0604020202020204" pitchFamily="34" charset="0"/>
              </a:rPr>
              <a:t>. It continuously minimizes the overall mean square error. [</a:t>
            </a:r>
            <a:r>
              <a:rPr lang="en-IN" altLang="en-US" sz="1200" dirty="0">
                <a:latin typeface="Google Sans"/>
                <a:cs typeface="Arial" panose="020B0604020202020204" pitchFamily="34" charset="0"/>
                <a:hlinkClick r:id="rId3"/>
              </a:rPr>
              <a:t>1</a:t>
            </a:r>
            <a:r>
              <a:rPr lang="en-IN" altLang="en-US" sz="1200" dirty="0">
                <a:latin typeface="Google Sans"/>
                <a:cs typeface="Arial" panose="020B0604020202020204" pitchFamily="34" charset="0"/>
              </a:rPr>
              <a:t>, </a:t>
            </a:r>
            <a:r>
              <a:rPr lang="en-IN" altLang="en-US" sz="1200" dirty="0">
                <a:latin typeface="Google Sans"/>
                <a:cs typeface="Arial" panose="020B0604020202020204" pitchFamily="34" charset="0"/>
                <a:hlinkClick r:id="rId4"/>
              </a:rPr>
              <a:t>2</a:t>
            </a:r>
            <a:r>
              <a:rPr lang="en-IN" altLang="en-US" sz="1200" dirty="0">
                <a:latin typeface="Google Sans"/>
                <a:cs typeface="Arial" panose="020B0604020202020204" pitchFamily="34" charset="0"/>
              </a:rPr>
              <a:t>, </a:t>
            </a:r>
            <a:r>
              <a:rPr lang="en-IN" altLang="en-US" sz="1200" dirty="0">
                <a:latin typeface="Google Sans"/>
                <a:cs typeface="Arial" panose="020B0604020202020204" pitchFamily="34" charset="0"/>
                <a:hlinkClick r:id="rId5"/>
              </a:rPr>
              <a:t>3</a:t>
            </a:r>
            <a:r>
              <a:rPr lang="en-IN" altLang="en-US" sz="1200" dirty="0">
                <a:latin typeface="Google Sans"/>
                <a:cs typeface="Arial" panose="020B0604020202020204" pitchFamily="34" charset="0"/>
              </a:rPr>
              <a:t>]</a:t>
            </a:r>
          </a:p>
          <a:p>
            <a:pPr marL="0" indent="0" eaLnBrk="0" fontAlgn="base" hangingPunct="0">
              <a:lnSpc>
                <a:spcPct val="100000"/>
              </a:lnSpc>
              <a:spcBef>
                <a:spcPct val="0"/>
              </a:spcBef>
              <a:spcAft>
                <a:spcPct val="0"/>
              </a:spcAft>
              <a:buNone/>
            </a:pPr>
            <a:endParaRPr lang="en-I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99611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86</a:t>
            </a:fld>
            <a:endParaRPr lang="en-US"/>
          </a:p>
        </p:txBody>
      </p:sp>
      <p:grpSp>
        <p:nvGrpSpPr>
          <p:cNvPr id="5" name="Group 4"/>
          <p:cNvGrpSpPr/>
          <p:nvPr/>
        </p:nvGrpSpPr>
        <p:grpSpPr>
          <a:xfrm>
            <a:off x="4026558" y="30416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4026558" y="40670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4026558" y="51004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6527197" y="30416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6527197" y="40670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6527197" y="51004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803051" y="40670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9" idx="6"/>
            <a:endCxn id="21" idx="2"/>
          </p:cNvCxnSpPr>
          <p:nvPr/>
        </p:nvCxnSpPr>
        <p:spPr>
          <a:xfrm>
            <a:off x="4613983" y="43608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2" idx="6"/>
            <a:endCxn id="18" idx="3"/>
          </p:cNvCxnSpPr>
          <p:nvPr/>
        </p:nvCxnSpPr>
        <p:spPr>
          <a:xfrm flipV="1">
            <a:off x="4613983" y="45684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spTree>
    <p:extLst>
      <p:ext uri="{BB962C8B-B14F-4D97-AF65-F5344CB8AC3E}">
        <p14:creationId xmlns:p14="http://schemas.microsoft.com/office/powerpoint/2010/main" val="24869420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87</a:t>
            </a:fld>
            <a:endParaRPr lang="en-US"/>
          </a:p>
        </p:txBody>
      </p:sp>
      <p:sp>
        <p:nvSpPr>
          <p:cNvPr id="6" name="Oval 5"/>
          <p:cNvSpPr/>
          <p:nvPr/>
        </p:nvSpPr>
        <p:spPr>
          <a:xfrm>
            <a:off x="4026558"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7" name="Curved Connector 6"/>
          <p:cNvCxnSpPr/>
          <p:nvPr/>
        </p:nvCxnSpPr>
        <p:spPr>
          <a:xfrm flipV="1">
            <a:off x="4115458"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026558"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0" name="Curved Connector 9"/>
          <p:cNvCxnSpPr/>
          <p:nvPr/>
        </p:nvCxnSpPr>
        <p:spPr>
          <a:xfrm flipV="1">
            <a:off x="4115458"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26558"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3" name="Curved Connector 12"/>
          <p:cNvCxnSpPr/>
          <p:nvPr/>
        </p:nvCxnSpPr>
        <p:spPr>
          <a:xfrm flipV="1">
            <a:off x="4115458"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14" name="Group 13"/>
          <p:cNvGrpSpPr/>
          <p:nvPr/>
        </p:nvGrpSpPr>
        <p:grpSpPr>
          <a:xfrm>
            <a:off x="6527197" y="30416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6527197" y="40670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6527197" y="51004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803051" y="40670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9" idx="6"/>
            <a:endCxn id="21" idx="2"/>
          </p:cNvCxnSpPr>
          <p:nvPr/>
        </p:nvCxnSpPr>
        <p:spPr>
          <a:xfrm>
            <a:off x="4613983" y="43608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2" idx="6"/>
            <a:endCxn id="18" idx="3"/>
          </p:cNvCxnSpPr>
          <p:nvPr/>
        </p:nvCxnSpPr>
        <p:spPr>
          <a:xfrm flipV="1">
            <a:off x="4613983" y="45684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spTree>
    <p:extLst>
      <p:ext uri="{BB962C8B-B14F-4D97-AF65-F5344CB8AC3E}">
        <p14:creationId xmlns:p14="http://schemas.microsoft.com/office/powerpoint/2010/main" val="39656091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88</a:t>
            </a:fld>
            <a:endParaRPr lang="en-US"/>
          </a:p>
        </p:txBody>
      </p:sp>
      <p:sp>
        <p:nvSpPr>
          <p:cNvPr id="6" name="Oval 5"/>
          <p:cNvSpPr/>
          <p:nvPr/>
        </p:nvSpPr>
        <p:spPr>
          <a:xfrm>
            <a:off x="4026558"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7" name="Curved Connector 6"/>
          <p:cNvCxnSpPr/>
          <p:nvPr/>
        </p:nvCxnSpPr>
        <p:spPr>
          <a:xfrm flipV="1">
            <a:off x="4115458"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026558"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0" name="Curved Connector 9"/>
          <p:cNvCxnSpPr/>
          <p:nvPr/>
        </p:nvCxnSpPr>
        <p:spPr>
          <a:xfrm flipV="1">
            <a:off x="4115458"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26558"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3" name="Curved Connector 12"/>
          <p:cNvCxnSpPr/>
          <p:nvPr/>
        </p:nvCxnSpPr>
        <p:spPr>
          <a:xfrm flipV="1">
            <a:off x="4115458"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5" name="Group 13"/>
          <p:cNvGrpSpPr/>
          <p:nvPr/>
        </p:nvGrpSpPr>
        <p:grpSpPr>
          <a:xfrm>
            <a:off x="6527197" y="30416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6"/>
          <p:cNvGrpSpPr/>
          <p:nvPr/>
        </p:nvGrpSpPr>
        <p:grpSpPr>
          <a:xfrm>
            <a:off x="6527197" y="40670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9"/>
          <p:cNvGrpSpPr/>
          <p:nvPr/>
        </p:nvGrpSpPr>
        <p:grpSpPr>
          <a:xfrm>
            <a:off x="6527197" y="51004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22"/>
          <p:cNvGrpSpPr/>
          <p:nvPr/>
        </p:nvGrpSpPr>
        <p:grpSpPr>
          <a:xfrm>
            <a:off x="8803051" y="40670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5" name="Straight Arrow Connector 34"/>
          <p:cNvCxnSpPr>
            <a:stCxn id="9" idx="6"/>
            <a:endCxn id="21" idx="2"/>
          </p:cNvCxnSpPr>
          <p:nvPr/>
        </p:nvCxnSpPr>
        <p:spPr>
          <a:xfrm>
            <a:off x="4613983" y="4360809"/>
            <a:ext cx="1913215" cy="10333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7" name="Straight Arrow Connector 36"/>
          <p:cNvCxnSpPr>
            <a:stCxn id="12" idx="6"/>
            <a:endCxn id="18" idx="3"/>
          </p:cNvCxnSpPr>
          <p:nvPr/>
        </p:nvCxnSpPr>
        <p:spPr>
          <a:xfrm flipV="1">
            <a:off x="4613983" y="4568495"/>
            <a:ext cx="1999241"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spTree>
    <p:extLst>
      <p:ext uri="{BB962C8B-B14F-4D97-AF65-F5344CB8AC3E}">
        <p14:creationId xmlns:p14="http://schemas.microsoft.com/office/powerpoint/2010/main" val="2425720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89</a:t>
            </a:fld>
            <a:endParaRPr lang="en-US"/>
          </a:p>
        </p:txBody>
      </p:sp>
      <p:sp>
        <p:nvSpPr>
          <p:cNvPr id="6" name="Oval 5"/>
          <p:cNvSpPr/>
          <p:nvPr/>
        </p:nvSpPr>
        <p:spPr>
          <a:xfrm>
            <a:off x="4026558"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7" name="Curved Connector 6"/>
          <p:cNvCxnSpPr/>
          <p:nvPr/>
        </p:nvCxnSpPr>
        <p:spPr>
          <a:xfrm flipV="1">
            <a:off x="4115458"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026558"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0" name="Curved Connector 9"/>
          <p:cNvCxnSpPr/>
          <p:nvPr/>
        </p:nvCxnSpPr>
        <p:spPr>
          <a:xfrm flipV="1">
            <a:off x="4115458"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26558"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3" name="Curved Connector 12"/>
          <p:cNvCxnSpPr/>
          <p:nvPr/>
        </p:nvCxnSpPr>
        <p:spPr>
          <a:xfrm flipV="1">
            <a:off x="4115458"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527197"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6" name="Curved Connector 15"/>
          <p:cNvCxnSpPr/>
          <p:nvPr/>
        </p:nvCxnSpPr>
        <p:spPr>
          <a:xfrm flipV="1">
            <a:off x="6616097"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527197"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9" name="Curved Connector 18"/>
          <p:cNvCxnSpPr/>
          <p:nvPr/>
        </p:nvCxnSpPr>
        <p:spPr>
          <a:xfrm flipV="1">
            <a:off x="6616097"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527197"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22" name="Curved Connector 21"/>
          <p:cNvCxnSpPr/>
          <p:nvPr/>
        </p:nvCxnSpPr>
        <p:spPr>
          <a:xfrm flipV="1">
            <a:off x="6616097"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14" name="Group 22"/>
          <p:cNvGrpSpPr/>
          <p:nvPr/>
        </p:nvGrpSpPr>
        <p:grpSpPr>
          <a:xfrm>
            <a:off x="8803051" y="40670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5" name="Straight Arrow Connector 34"/>
          <p:cNvCxnSpPr>
            <a:stCxn id="9" idx="6"/>
            <a:endCxn id="21" idx="2"/>
          </p:cNvCxnSpPr>
          <p:nvPr/>
        </p:nvCxnSpPr>
        <p:spPr>
          <a:xfrm>
            <a:off x="4613983" y="4360809"/>
            <a:ext cx="1913215" cy="10333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7" name="Straight Arrow Connector 36"/>
          <p:cNvCxnSpPr>
            <a:stCxn id="12" idx="6"/>
            <a:endCxn id="18" idx="3"/>
          </p:cNvCxnSpPr>
          <p:nvPr/>
        </p:nvCxnSpPr>
        <p:spPr>
          <a:xfrm flipV="1">
            <a:off x="4613983" y="4568495"/>
            <a:ext cx="1999241"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spTree>
    <p:extLst>
      <p:ext uri="{BB962C8B-B14F-4D97-AF65-F5344CB8AC3E}">
        <p14:creationId xmlns:p14="http://schemas.microsoft.com/office/powerpoint/2010/main" val="4204615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90</a:t>
            </a:fld>
            <a:endParaRPr lang="en-US"/>
          </a:p>
        </p:txBody>
      </p:sp>
      <p:sp>
        <p:nvSpPr>
          <p:cNvPr id="6" name="Oval 5"/>
          <p:cNvSpPr/>
          <p:nvPr/>
        </p:nvSpPr>
        <p:spPr>
          <a:xfrm>
            <a:off x="4026558"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7" name="Curved Connector 6"/>
          <p:cNvCxnSpPr/>
          <p:nvPr/>
        </p:nvCxnSpPr>
        <p:spPr>
          <a:xfrm flipV="1">
            <a:off x="4115458"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026558"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0" name="Curved Connector 9"/>
          <p:cNvCxnSpPr/>
          <p:nvPr/>
        </p:nvCxnSpPr>
        <p:spPr>
          <a:xfrm flipV="1">
            <a:off x="4115458"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26558"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3" name="Curved Connector 12"/>
          <p:cNvCxnSpPr/>
          <p:nvPr/>
        </p:nvCxnSpPr>
        <p:spPr>
          <a:xfrm flipV="1">
            <a:off x="4115458"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527197"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6" name="Curved Connector 15"/>
          <p:cNvCxnSpPr/>
          <p:nvPr/>
        </p:nvCxnSpPr>
        <p:spPr>
          <a:xfrm flipV="1">
            <a:off x="6616097"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527197"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9" name="Curved Connector 18"/>
          <p:cNvCxnSpPr/>
          <p:nvPr/>
        </p:nvCxnSpPr>
        <p:spPr>
          <a:xfrm flipV="1">
            <a:off x="6616097"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527197"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22" name="Curved Connector 21"/>
          <p:cNvCxnSpPr/>
          <p:nvPr/>
        </p:nvCxnSpPr>
        <p:spPr>
          <a:xfrm flipV="1">
            <a:off x="6616097"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5" name="Group 22"/>
          <p:cNvGrpSpPr/>
          <p:nvPr/>
        </p:nvGrpSpPr>
        <p:grpSpPr>
          <a:xfrm>
            <a:off x="8803051" y="40670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cxnSp>
        <p:nvCxnSpPr>
          <p:cNvPr id="58" name="Straight Arrow Connector 57"/>
          <p:cNvCxnSpPr/>
          <p:nvPr/>
        </p:nvCxnSpPr>
        <p:spPr>
          <a:xfrm>
            <a:off x="4613983" y="4360809"/>
            <a:ext cx="1913215" cy="10333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9" name="Straight Arrow Connector 58"/>
          <p:cNvCxnSpPr/>
          <p:nvPr/>
        </p:nvCxnSpPr>
        <p:spPr>
          <a:xfrm flipV="1">
            <a:off x="4613983" y="4568495"/>
            <a:ext cx="1999241"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6819884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Networks</a:t>
            </a:r>
            <a:endParaRPr lang="en-US" dirty="0"/>
          </a:p>
        </p:txBody>
      </p:sp>
      <p:sp>
        <p:nvSpPr>
          <p:cNvPr id="3" name="Content Placeholder 2"/>
          <p:cNvSpPr>
            <a:spLocks noGrp="1"/>
          </p:cNvSpPr>
          <p:nvPr>
            <p:ph idx="1"/>
          </p:nvPr>
        </p:nvSpPr>
        <p:spPr>
          <a:xfrm>
            <a:off x="1981200" y="1600201"/>
            <a:ext cx="8229600" cy="1099849"/>
          </a:xfrm>
        </p:spPr>
        <p:txBody>
          <a:bodyPr/>
          <a:lstStyle/>
          <a:p>
            <a:r>
              <a:rPr lang="en-US" dirty="0" smtClean="0"/>
              <a:t>Predictions are fed forward through the network to classify</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91</a:t>
            </a:fld>
            <a:endParaRPr lang="en-US"/>
          </a:p>
        </p:txBody>
      </p:sp>
      <p:sp>
        <p:nvSpPr>
          <p:cNvPr id="6" name="Oval 5"/>
          <p:cNvSpPr/>
          <p:nvPr/>
        </p:nvSpPr>
        <p:spPr>
          <a:xfrm>
            <a:off x="4026558"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7" name="Curved Connector 6"/>
          <p:cNvCxnSpPr/>
          <p:nvPr/>
        </p:nvCxnSpPr>
        <p:spPr>
          <a:xfrm flipV="1">
            <a:off x="4115458"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026558"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0" name="Curved Connector 9"/>
          <p:cNvCxnSpPr/>
          <p:nvPr/>
        </p:nvCxnSpPr>
        <p:spPr>
          <a:xfrm flipV="1">
            <a:off x="4115458"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26558"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3" name="Curved Connector 12"/>
          <p:cNvCxnSpPr/>
          <p:nvPr/>
        </p:nvCxnSpPr>
        <p:spPr>
          <a:xfrm flipV="1">
            <a:off x="4115458"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527197" y="3041601"/>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6" name="Curved Connector 15"/>
          <p:cNvCxnSpPr/>
          <p:nvPr/>
        </p:nvCxnSpPr>
        <p:spPr>
          <a:xfrm flipV="1">
            <a:off x="6616097" y="3194001"/>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527197"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19" name="Curved Connector 18"/>
          <p:cNvCxnSpPr/>
          <p:nvPr/>
        </p:nvCxnSpPr>
        <p:spPr>
          <a:xfrm flipV="1">
            <a:off x="6616097"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527197" y="5100453"/>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22" name="Curved Connector 21"/>
          <p:cNvCxnSpPr/>
          <p:nvPr/>
        </p:nvCxnSpPr>
        <p:spPr>
          <a:xfrm flipV="1">
            <a:off x="6616097" y="5252853"/>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803051" y="4067097"/>
            <a:ext cx="587424" cy="58742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25" name="Curved Connector 24"/>
          <p:cNvCxnSpPr/>
          <p:nvPr/>
        </p:nvCxnSpPr>
        <p:spPr>
          <a:xfrm flipV="1">
            <a:off x="8891951" y="4219497"/>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492375" y="31619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2498725" y="38652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2467345" y="45962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2388555" y="5395753"/>
            <a:ext cx="355600" cy="190500"/>
          </a:xfrm>
          <a:prstGeom prst="rect">
            <a:avLst/>
          </a:prstGeom>
        </p:spPr>
      </p:pic>
      <p:cxnSp>
        <p:nvCxnSpPr>
          <p:cNvPr id="30" name="Straight Arrow Connector 29"/>
          <p:cNvCxnSpPr>
            <a:stCxn id="6" idx="6"/>
            <a:endCxn id="15" idx="2"/>
          </p:cNvCxnSpPr>
          <p:nvPr/>
        </p:nvCxnSpPr>
        <p:spPr>
          <a:xfrm>
            <a:off x="4613983" y="3335313"/>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a:stCxn id="6" idx="6"/>
            <a:endCxn id="18" idx="1"/>
          </p:cNvCxnSpPr>
          <p:nvPr/>
        </p:nvCxnSpPr>
        <p:spPr>
          <a:xfrm>
            <a:off x="4613983" y="3335313"/>
            <a:ext cx="1999241"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2" name="Straight Arrow Connector 31"/>
          <p:cNvCxnSpPr>
            <a:stCxn id="6" idx="6"/>
            <a:endCxn id="21" idx="1"/>
          </p:cNvCxnSpPr>
          <p:nvPr/>
        </p:nvCxnSpPr>
        <p:spPr>
          <a:xfrm>
            <a:off x="4613983" y="3335313"/>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3" name="Straight Arrow Connector 32"/>
          <p:cNvCxnSpPr>
            <a:stCxn id="9" idx="6"/>
            <a:endCxn id="15" idx="2"/>
          </p:cNvCxnSpPr>
          <p:nvPr/>
        </p:nvCxnSpPr>
        <p:spPr>
          <a:xfrm flipV="1">
            <a:off x="4613983" y="3335313"/>
            <a:ext cx="1913215" cy="102549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4" name="Straight Arrow Connector 33"/>
          <p:cNvCxnSpPr>
            <a:stCxn id="9" idx="6"/>
            <a:endCxn id="18" idx="2"/>
          </p:cNvCxnSpPr>
          <p:nvPr/>
        </p:nvCxnSpPr>
        <p:spPr>
          <a:xfrm>
            <a:off x="4613983" y="4360809"/>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6" name="Straight Arrow Connector 35"/>
          <p:cNvCxnSpPr>
            <a:stCxn id="12" idx="6"/>
          </p:cNvCxnSpPr>
          <p:nvPr/>
        </p:nvCxnSpPr>
        <p:spPr>
          <a:xfrm>
            <a:off x="4613983" y="5394165"/>
            <a:ext cx="1913215"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8" name="Straight Arrow Connector 37"/>
          <p:cNvCxnSpPr>
            <a:stCxn id="12" idx="6"/>
            <a:endCxn id="15" idx="3"/>
          </p:cNvCxnSpPr>
          <p:nvPr/>
        </p:nvCxnSpPr>
        <p:spPr>
          <a:xfrm flipV="1">
            <a:off x="4613983" y="3542999"/>
            <a:ext cx="1999241" cy="18511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9" name="Straight Arrow Connector 38"/>
          <p:cNvCxnSpPr>
            <a:stCxn id="26" idx="3"/>
            <a:endCxn id="6" idx="2"/>
          </p:cNvCxnSpPr>
          <p:nvPr/>
        </p:nvCxnSpPr>
        <p:spPr>
          <a:xfrm>
            <a:off x="2771776" y="3257209"/>
            <a:ext cx="1254783" cy="781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0" name="Straight Arrow Connector 39"/>
          <p:cNvCxnSpPr>
            <a:stCxn id="26" idx="3"/>
            <a:endCxn id="9" idx="1"/>
          </p:cNvCxnSpPr>
          <p:nvPr/>
        </p:nvCxnSpPr>
        <p:spPr>
          <a:xfrm>
            <a:off x="2771776" y="3257209"/>
            <a:ext cx="1340809" cy="8959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3"/>
            <a:endCxn id="12" idx="1"/>
          </p:cNvCxnSpPr>
          <p:nvPr/>
        </p:nvCxnSpPr>
        <p:spPr>
          <a:xfrm>
            <a:off x="2771776" y="3257209"/>
            <a:ext cx="1340809" cy="19292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27" idx="3"/>
            <a:endCxn id="6" idx="2"/>
          </p:cNvCxnSpPr>
          <p:nvPr/>
        </p:nvCxnSpPr>
        <p:spPr>
          <a:xfrm flipV="1">
            <a:off x="2765426" y="3335313"/>
            <a:ext cx="1261133" cy="62515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27" idx="3"/>
            <a:endCxn id="9" idx="2"/>
          </p:cNvCxnSpPr>
          <p:nvPr/>
        </p:nvCxnSpPr>
        <p:spPr>
          <a:xfrm>
            <a:off x="2765426" y="3960471"/>
            <a:ext cx="1261133" cy="4003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27" idx="3"/>
            <a:endCxn id="12" idx="2"/>
          </p:cNvCxnSpPr>
          <p:nvPr/>
        </p:nvCxnSpPr>
        <p:spPr>
          <a:xfrm>
            <a:off x="2765426" y="3960471"/>
            <a:ext cx="1261133" cy="143369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28" idx="3"/>
            <a:endCxn id="6" idx="3"/>
          </p:cNvCxnSpPr>
          <p:nvPr/>
        </p:nvCxnSpPr>
        <p:spPr>
          <a:xfrm flipV="1">
            <a:off x="2746746" y="3543000"/>
            <a:ext cx="1365839" cy="114850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a:stCxn id="28" idx="3"/>
            <a:endCxn id="9" idx="2"/>
          </p:cNvCxnSpPr>
          <p:nvPr/>
        </p:nvCxnSpPr>
        <p:spPr>
          <a:xfrm flipV="1">
            <a:off x="2746746" y="4360810"/>
            <a:ext cx="1279813" cy="330699"/>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7" name="Straight Arrow Connector 46"/>
          <p:cNvCxnSpPr>
            <a:stCxn id="29" idx="3"/>
            <a:endCxn id="12" idx="2"/>
          </p:cNvCxnSpPr>
          <p:nvPr/>
        </p:nvCxnSpPr>
        <p:spPr>
          <a:xfrm flipV="1">
            <a:off x="2744156" y="5394165"/>
            <a:ext cx="1282403" cy="9683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8" name="Straight Arrow Connector 47"/>
          <p:cNvCxnSpPr>
            <a:stCxn id="29" idx="3"/>
            <a:endCxn id="9" idx="3"/>
          </p:cNvCxnSpPr>
          <p:nvPr/>
        </p:nvCxnSpPr>
        <p:spPr>
          <a:xfrm flipV="1">
            <a:off x="2744156" y="4568495"/>
            <a:ext cx="1368429" cy="92250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9" name="Straight Arrow Connector 48"/>
          <p:cNvCxnSpPr>
            <a:stCxn id="28" idx="3"/>
            <a:endCxn id="12" idx="2"/>
          </p:cNvCxnSpPr>
          <p:nvPr/>
        </p:nvCxnSpPr>
        <p:spPr>
          <a:xfrm>
            <a:off x="2746746" y="4691509"/>
            <a:ext cx="1279813" cy="70265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p:cNvCxnSpPr>
            <a:stCxn id="29" idx="3"/>
            <a:endCxn id="6" idx="3"/>
          </p:cNvCxnSpPr>
          <p:nvPr/>
        </p:nvCxnSpPr>
        <p:spPr>
          <a:xfrm flipV="1">
            <a:off x="2744156" y="3542999"/>
            <a:ext cx="1368429" cy="194800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1" name="Straight Arrow Connector 50"/>
          <p:cNvCxnSpPr>
            <a:endCxn id="24" idx="3"/>
          </p:cNvCxnSpPr>
          <p:nvPr/>
        </p:nvCxnSpPr>
        <p:spPr>
          <a:xfrm flipV="1">
            <a:off x="7114621" y="4568495"/>
            <a:ext cx="1774456"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2" name="Straight Arrow Connector 51"/>
          <p:cNvCxnSpPr>
            <a:stCxn id="18" idx="6"/>
            <a:endCxn id="24" idx="2"/>
          </p:cNvCxnSpPr>
          <p:nvPr/>
        </p:nvCxnSpPr>
        <p:spPr>
          <a:xfrm>
            <a:off x="7114621" y="4360809"/>
            <a:ext cx="1688430"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3" name="Straight Arrow Connector 52"/>
          <p:cNvCxnSpPr>
            <a:stCxn id="15" idx="6"/>
            <a:endCxn id="24" idx="1"/>
          </p:cNvCxnSpPr>
          <p:nvPr/>
        </p:nvCxnSpPr>
        <p:spPr>
          <a:xfrm>
            <a:off x="7114621" y="3335313"/>
            <a:ext cx="1774456" cy="8178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4" name="Straight Arrow Connector 53"/>
          <p:cNvCxnSpPr>
            <a:stCxn id="24" idx="6"/>
          </p:cNvCxnSpPr>
          <p:nvPr/>
        </p:nvCxnSpPr>
        <p:spPr>
          <a:xfrm>
            <a:off x="9390475" y="4360810"/>
            <a:ext cx="302800" cy="397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3595688" y="3008313"/>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3681413" y="38354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46475" y="4883150"/>
            <a:ext cx="444500" cy="3937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37263" y="4945063"/>
            <a:ext cx="444500" cy="3937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6024563" y="4117975"/>
            <a:ext cx="444500" cy="3937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6061075" y="2971800"/>
            <a:ext cx="4445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8207375" y="3527425"/>
            <a:ext cx="444500" cy="3175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8132763" y="4033838"/>
            <a:ext cx="444500" cy="3175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8058150" y="4476750"/>
            <a:ext cx="444500" cy="317500"/>
          </a:xfrm>
          <a:prstGeom prst="rect">
            <a:avLst/>
          </a:prstGeom>
        </p:spPr>
      </p:pic>
      <p:cxnSp>
        <p:nvCxnSpPr>
          <p:cNvPr id="58" name="Straight Arrow Connector 57"/>
          <p:cNvCxnSpPr/>
          <p:nvPr/>
        </p:nvCxnSpPr>
        <p:spPr>
          <a:xfrm>
            <a:off x="4613983" y="4360809"/>
            <a:ext cx="1913215" cy="10333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9" name="Straight Arrow Connector 58"/>
          <p:cNvCxnSpPr/>
          <p:nvPr/>
        </p:nvCxnSpPr>
        <p:spPr>
          <a:xfrm flipV="1">
            <a:off x="4613983" y="4568495"/>
            <a:ext cx="1999241" cy="82567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42927990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3" name="Content Placeholder 2"/>
          <p:cNvSpPr>
            <a:spLocks noGrp="1"/>
          </p:cNvSpPr>
          <p:nvPr>
            <p:ph idx="1"/>
          </p:nvPr>
        </p:nvSpPr>
        <p:spPr>
          <a:xfrm>
            <a:off x="1981200" y="1600201"/>
            <a:ext cx="8229600" cy="2160142"/>
          </a:xfrm>
        </p:spPr>
        <p:txBody>
          <a:bodyPr/>
          <a:lstStyle/>
          <a:p>
            <a:r>
              <a:rPr lang="en-US" dirty="0" smtClean="0"/>
              <a:t>We will do gradient descent on the whole network.</a:t>
            </a:r>
          </a:p>
          <a:p>
            <a:r>
              <a:rPr lang="en-US" dirty="0" smtClean="0"/>
              <a:t>Training will proceed from the last layer to the first.</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92</a:t>
            </a:fld>
            <a:endParaRPr lang="en-US"/>
          </a:p>
        </p:txBody>
      </p:sp>
      <p:grpSp>
        <p:nvGrpSpPr>
          <p:cNvPr id="65" name="Group 64"/>
          <p:cNvGrpSpPr/>
          <p:nvPr/>
        </p:nvGrpSpPr>
        <p:grpSpPr>
          <a:xfrm>
            <a:off x="2194199" y="3517901"/>
            <a:ext cx="8166733" cy="2716077"/>
            <a:chOff x="670198" y="3517900"/>
            <a:chExt cx="8166733" cy="2716077"/>
          </a:xfrm>
        </p:grpSpPr>
        <p:grpSp>
          <p:nvGrpSpPr>
            <p:cNvPr id="5" name="Group 4"/>
            <p:cNvGrpSpPr/>
            <p:nvPr/>
          </p:nvGrpSpPr>
          <p:grpSpPr>
            <a:xfrm>
              <a:off x="2308201" y="35877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2308201" y="46131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2308201" y="56465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4808840" y="35877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4808840" y="46131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4808840" y="56465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7084694" y="46131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774018" y="37080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780368" y="44113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748988" y="51423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670198" y="5941853"/>
              <a:ext cx="355600" cy="190500"/>
            </a:xfrm>
            <a:prstGeom prst="rect">
              <a:avLst/>
            </a:prstGeom>
          </p:spPr>
        </p:pic>
        <p:cxnSp>
          <p:nvCxnSpPr>
            <p:cNvPr id="30" name="Straight Arrow Connector 29"/>
            <p:cNvCxnSpPr/>
            <p:nvPr/>
          </p:nvCxnSpPr>
          <p:spPr>
            <a:xfrm>
              <a:off x="2895625" y="38814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895625" y="38814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2895625" y="38814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895625" y="38814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895625" y="49069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895625" y="49069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2895625" y="59402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2895625" y="51145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2895625" y="40890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p:cNvCxnSpPr>
            <p:nvPr/>
          </p:nvCxnSpPr>
          <p:spPr>
            <a:xfrm>
              <a:off x="1053418" y="38033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6" idx="3"/>
            </p:cNvCxnSpPr>
            <p:nvPr/>
          </p:nvCxnSpPr>
          <p:spPr>
            <a:xfrm>
              <a:off x="1053418" y="38033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3"/>
            </p:cNvCxnSpPr>
            <p:nvPr/>
          </p:nvCxnSpPr>
          <p:spPr>
            <a:xfrm>
              <a:off x="1053418" y="38033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27" idx="3"/>
            </p:cNvCxnSpPr>
            <p:nvPr/>
          </p:nvCxnSpPr>
          <p:spPr>
            <a:xfrm flipV="1">
              <a:off x="1047068" y="38814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27" idx="3"/>
            </p:cNvCxnSpPr>
            <p:nvPr/>
          </p:nvCxnSpPr>
          <p:spPr>
            <a:xfrm>
              <a:off x="1047068" y="45065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27" idx="3"/>
            </p:cNvCxnSpPr>
            <p:nvPr/>
          </p:nvCxnSpPr>
          <p:spPr>
            <a:xfrm>
              <a:off x="1047068" y="45065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28" idx="3"/>
            </p:cNvCxnSpPr>
            <p:nvPr/>
          </p:nvCxnSpPr>
          <p:spPr>
            <a:xfrm flipV="1">
              <a:off x="1028388" y="40890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8" idx="3"/>
            </p:cNvCxnSpPr>
            <p:nvPr/>
          </p:nvCxnSpPr>
          <p:spPr>
            <a:xfrm flipV="1">
              <a:off x="1028388" y="49069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29" idx="3"/>
            </p:cNvCxnSpPr>
            <p:nvPr/>
          </p:nvCxnSpPr>
          <p:spPr>
            <a:xfrm flipV="1">
              <a:off x="1025798" y="59402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29" idx="3"/>
            </p:cNvCxnSpPr>
            <p:nvPr/>
          </p:nvCxnSpPr>
          <p:spPr>
            <a:xfrm flipV="1">
              <a:off x="1025798" y="51145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28" idx="3"/>
            </p:cNvCxnSpPr>
            <p:nvPr/>
          </p:nvCxnSpPr>
          <p:spPr>
            <a:xfrm>
              <a:off x="1028388" y="52376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29" idx="3"/>
            </p:cNvCxnSpPr>
            <p:nvPr/>
          </p:nvCxnSpPr>
          <p:spPr>
            <a:xfrm flipV="1">
              <a:off x="1025798" y="40890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5396264" y="51145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5396264" y="49069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5396264" y="38814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7672118" y="49069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55" name="Picture 5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986031" y="4721225"/>
              <a:ext cx="850900" cy="381000"/>
            </a:xfrm>
            <a:prstGeom prst="rect">
              <a:avLst/>
            </a:prstGeom>
          </p:spPr>
        </p:pic>
        <p:pic>
          <p:nvPicPr>
            <p:cNvPr id="56" name="Picture 5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877331" y="3554413"/>
              <a:ext cx="444500" cy="393700"/>
            </a:xfrm>
            <a:prstGeom prst="rect">
              <a:avLst/>
            </a:prstGeom>
          </p:spPr>
        </p:pic>
        <p:pic>
          <p:nvPicPr>
            <p:cNvPr id="57" name="Picture 5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1963056" y="4381500"/>
              <a:ext cx="444500" cy="393700"/>
            </a:xfrm>
            <a:prstGeom prst="rect">
              <a:avLst/>
            </a:prstGeom>
          </p:spPr>
        </p:pic>
        <p:pic>
          <p:nvPicPr>
            <p:cNvPr id="58" name="Picture 5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1828118" y="5429250"/>
              <a:ext cx="444500" cy="393700"/>
            </a:xfrm>
            <a:prstGeom prst="rect">
              <a:avLst/>
            </a:prstGeom>
          </p:spPr>
        </p:pic>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4318906" y="5491163"/>
              <a:ext cx="444500" cy="393700"/>
            </a:xfrm>
            <a:prstGeom prst="rect">
              <a:avLst/>
            </a:prstGeom>
          </p:spPr>
        </p:pic>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4306206" y="4664075"/>
              <a:ext cx="444500" cy="3937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4342718" y="3517900"/>
              <a:ext cx="444500" cy="3937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6489018" y="4073525"/>
              <a:ext cx="444500" cy="317500"/>
            </a:xfrm>
            <a:prstGeom prst="rect">
              <a:avLst/>
            </a:prstGeom>
          </p:spPr>
        </p:pic>
        <p:pic>
          <p:nvPicPr>
            <p:cNvPr id="63" name="Picture 6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6414406" y="4579938"/>
              <a:ext cx="444500" cy="3175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6339793" y="5022850"/>
              <a:ext cx="444500" cy="317500"/>
            </a:xfrm>
            <a:prstGeom prst="rect">
              <a:avLst/>
            </a:prstGeom>
          </p:spPr>
        </p:pic>
      </p:grpSp>
    </p:spTree>
    <p:extLst>
      <p:ext uri="{BB962C8B-B14F-4D97-AF65-F5344CB8AC3E}">
        <p14:creationId xmlns:p14="http://schemas.microsoft.com/office/powerpoint/2010/main" val="17736528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3" name="Content Placeholder 2"/>
          <p:cNvSpPr>
            <a:spLocks noGrp="1"/>
          </p:cNvSpPr>
          <p:nvPr>
            <p:ph idx="1"/>
          </p:nvPr>
        </p:nvSpPr>
        <p:spPr/>
        <p:txBody>
          <a:bodyPr/>
          <a:lstStyle/>
          <a:p>
            <a:r>
              <a:rPr lang="en-US" dirty="0" smtClean="0"/>
              <a:t>Introduce variables over the neural network</a:t>
            </a:r>
          </a:p>
        </p:txBody>
      </p:sp>
      <p:sp>
        <p:nvSpPr>
          <p:cNvPr id="4" name="Slide Number Placeholder 3"/>
          <p:cNvSpPr>
            <a:spLocks noGrp="1"/>
          </p:cNvSpPr>
          <p:nvPr>
            <p:ph type="sldNum" sz="quarter" idx="12"/>
          </p:nvPr>
        </p:nvSpPr>
        <p:spPr/>
        <p:txBody>
          <a:bodyPr/>
          <a:lstStyle/>
          <a:p>
            <a:fld id="{38A32D33-4280-084A-95CA-F611CFB15E66}" type="slidenum">
              <a:rPr lang="en-US" smtClean="0"/>
              <a:pPr/>
              <a:t>93</a:t>
            </a:fld>
            <a:endParaRPr lang="en-US"/>
          </a:p>
        </p:txBody>
      </p:sp>
      <p:grpSp>
        <p:nvGrpSpPr>
          <p:cNvPr id="5" name="Group 4"/>
          <p:cNvGrpSpPr/>
          <p:nvPr/>
        </p:nvGrpSpPr>
        <p:grpSpPr>
          <a:xfrm>
            <a:off x="3732846" y="39052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3732846" y="49306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3732846" y="59640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6233485" y="39052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6233485" y="49306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6233485" y="59640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509339" y="49306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198663" y="40255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2205013" y="47288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2173633" y="54598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2094843" y="6259353"/>
            <a:ext cx="355600" cy="190500"/>
          </a:xfrm>
          <a:prstGeom prst="rect">
            <a:avLst/>
          </a:prstGeom>
        </p:spPr>
      </p:pic>
      <p:cxnSp>
        <p:nvCxnSpPr>
          <p:cNvPr id="30" name="Straight Arrow Connector 29"/>
          <p:cNvCxnSpPr/>
          <p:nvPr/>
        </p:nvCxnSpPr>
        <p:spPr>
          <a:xfrm>
            <a:off x="4320271"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4320271"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4320271"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4320271"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4320271"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4320271"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4320271"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4320271"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4320271"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p:cNvCxnSpPr>
          <p:nvPr/>
        </p:nvCxnSpPr>
        <p:spPr>
          <a:xfrm>
            <a:off x="2478064"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6" idx="3"/>
          </p:cNvCxnSpPr>
          <p:nvPr/>
        </p:nvCxnSpPr>
        <p:spPr>
          <a:xfrm>
            <a:off x="2478064"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3"/>
          </p:cNvCxnSpPr>
          <p:nvPr/>
        </p:nvCxnSpPr>
        <p:spPr>
          <a:xfrm>
            <a:off x="2478064"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27" idx="3"/>
          </p:cNvCxnSpPr>
          <p:nvPr/>
        </p:nvCxnSpPr>
        <p:spPr>
          <a:xfrm flipV="1">
            <a:off x="2471714"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27" idx="3"/>
          </p:cNvCxnSpPr>
          <p:nvPr/>
        </p:nvCxnSpPr>
        <p:spPr>
          <a:xfrm>
            <a:off x="2471714"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27" idx="3"/>
          </p:cNvCxnSpPr>
          <p:nvPr/>
        </p:nvCxnSpPr>
        <p:spPr>
          <a:xfrm>
            <a:off x="2471714"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28" idx="3"/>
          </p:cNvCxnSpPr>
          <p:nvPr/>
        </p:nvCxnSpPr>
        <p:spPr>
          <a:xfrm flipV="1">
            <a:off x="2453034" y="4406600"/>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8" idx="3"/>
          </p:cNvCxnSpPr>
          <p:nvPr/>
        </p:nvCxnSpPr>
        <p:spPr>
          <a:xfrm flipV="1">
            <a:off x="2453034" y="5224410"/>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29" idx="3"/>
          </p:cNvCxnSpPr>
          <p:nvPr/>
        </p:nvCxnSpPr>
        <p:spPr>
          <a:xfrm flipV="1">
            <a:off x="2450444"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29" idx="3"/>
          </p:cNvCxnSpPr>
          <p:nvPr/>
        </p:nvCxnSpPr>
        <p:spPr>
          <a:xfrm flipV="1">
            <a:off x="2450444"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28" idx="3"/>
          </p:cNvCxnSpPr>
          <p:nvPr/>
        </p:nvCxnSpPr>
        <p:spPr>
          <a:xfrm>
            <a:off x="2453034" y="5555109"/>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29" idx="3"/>
          </p:cNvCxnSpPr>
          <p:nvPr/>
        </p:nvCxnSpPr>
        <p:spPr>
          <a:xfrm flipV="1">
            <a:off x="2450444"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820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6820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6820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9096763" y="52244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55" name="Picture 5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9410676" y="5038725"/>
            <a:ext cx="850900" cy="3810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4570413" y="2354263"/>
            <a:ext cx="24638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2967038" y="3757613"/>
            <a:ext cx="393700" cy="2286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5026025" y="3708400"/>
            <a:ext cx="444500" cy="2286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7529513" y="4195763"/>
            <a:ext cx="419100" cy="190500"/>
          </a:xfrm>
          <a:prstGeom prst="rect">
            <a:avLst/>
          </a:prstGeom>
        </p:spPr>
      </p:pic>
    </p:spTree>
    <p:extLst>
      <p:ext uri="{BB962C8B-B14F-4D97-AF65-F5344CB8AC3E}">
        <p14:creationId xmlns:p14="http://schemas.microsoft.com/office/powerpoint/2010/main" val="24656828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3" name="Content Placeholder 2"/>
          <p:cNvSpPr>
            <a:spLocks noGrp="1"/>
          </p:cNvSpPr>
          <p:nvPr>
            <p:ph idx="1"/>
          </p:nvPr>
        </p:nvSpPr>
        <p:spPr>
          <a:xfrm>
            <a:off x="1981200" y="1600201"/>
            <a:ext cx="8229600" cy="1765614"/>
          </a:xfrm>
        </p:spPr>
        <p:txBody>
          <a:bodyPr/>
          <a:lstStyle/>
          <a:p>
            <a:r>
              <a:rPr lang="en-US" dirty="0" smtClean="0"/>
              <a:t>Introduce variables over the neural network</a:t>
            </a:r>
          </a:p>
          <a:p>
            <a:pPr lvl="1"/>
            <a:r>
              <a:rPr lang="en-US" dirty="0" smtClean="0"/>
              <a:t>Distinguish the input and output of each node</a:t>
            </a:r>
          </a:p>
        </p:txBody>
      </p:sp>
      <p:sp>
        <p:nvSpPr>
          <p:cNvPr id="4" name="Slide Number Placeholder 3"/>
          <p:cNvSpPr>
            <a:spLocks noGrp="1"/>
          </p:cNvSpPr>
          <p:nvPr>
            <p:ph type="sldNum" sz="quarter" idx="12"/>
          </p:nvPr>
        </p:nvSpPr>
        <p:spPr/>
        <p:txBody>
          <a:bodyPr/>
          <a:lstStyle/>
          <a:p>
            <a:fld id="{38A32D33-4280-084A-95CA-F611CFB15E66}" type="slidenum">
              <a:rPr lang="en-US" smtClean="0"/>
              <a:pPr/>
              <a:t>94</a:t>
            </a:fld>
            <a:endParaRPr lang="en-US"/>
          </a:p>
        </p:txBody>
      </p:sp>
      <p:grpSp>
        <p:nvGrpSpPr>
          <p:cNvPr id="5" name="Group 4"/>
          <p:cNvGrpSpPr/>
          <p:nvPr/>
        </p:nvGrpSpPr>
        <p:grpSpPr>
          <a:xfrm>
            <a:off x="3732846" y="39052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3732846" y="49306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3732846" y="59640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6233485" y="39052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6233485" y="49306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6233485" y="59640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509339" y="49306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198663" y="40255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2205013" y="47288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2173633" y="54598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2094843" y="6259353"/>
            <a:ext cx="355600" cy="190500"/>
          </a:xfrm>
          <a:prstGeom prst="rect">
            <a:avLst/>
          </a:prstGeom>
        </p:spPr>
      </p:pic>
      <p:cxnSp>
        <p:nvCxnSpPr>
          <p:cNvPr id="30" name="Straight Arrow Connector 29"/>
          <p:cNvCxnSpPr/>
          <p:nvPr/>
        </p:nvCxnSpPr>
        <p:spPr>
          <a:xfrm>
            <a:off x="4320271"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4320271"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4320271"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4320271"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4320271"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4320271"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4320271"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4320271"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4320271"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p:cNvCxnSpPr>
          <p:nvPr/>
        </p:nvCxnSpPr>
        <p:spPr>
          <a:xfrm>
            <a:off x="2478064"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6" idx="3"/>
          </p:cNvCxnSpPr>
          <p:nvPr/>
        </p:nvCxnSpPr>
        <p:spPr>
          <a:xfrm>
            <a:off x="2478064"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3"/>
          </p:cNvCxnSpPr>
          <p:nvPr/>
        </p:nvCxnSpPr>
        <p:spPr>
          <a:xfrm>
            <a:off x="2478064"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27" idx="3"/>
          </p:cNvCxnSpPr>
          <p:nvPr/>
        </p:nvCxnSpPr>
        <p:spPr>
          <a:xfrm flipV="1">
            <a:off x="2471714"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27" idx="3"/>
          </p:cNvCxnSpPr>
          <p:nvPr/>
        </p:nvCxnSpPr>
        <p:spPr>
          <a:xfrm>
            <a:off x="2471714"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27" idx="3"/>
          </p:cNvCxnSpPr>
          <p:nvPr/>
        </p:nvCxnSpPr>
        <p:spPr>
          <a:xfrm>
            <a:off x="2471714"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28" idx="3"/>
          </p:cNvCxnSpPr>
          <p:nvPr/>
        </p:nvCxnSpPr>
        <p:spPr>
          <a:xfrm flipV="1">
            <a:off x="2453034" y="4406600"/>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8" idx="3"/>
          </p:cNvCxnSpPr>
          <p:nvPr/>
        </p:nvCxnSpPr>
        <p:spPr>
          <a:xfrm flipV="1">
            <a:off x="2453034" y="5224410"/>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29" idx="3"/>
          </p:cNvCxnSpPr>
          <p:nvPr/>
        </p:nvCxnSpPr>
        <p:spPr>
          <a:xfrm flipV="1">
            <a:off x="2450444"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29" idx="3"/>
          </p:cNvCxnSpPr>
          <p:nvPr/>
        </p:nvCxnSpPr>
        <p:spPr>
          <a:xfrm flipV="1">
            <a:off x="2450444"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28" idx="3"/>
          </p:cNvCxnSpPr>
          <p:nvPr/>
        </p:nvCxnSpPr>
        <p:spPr>
          <a:xfrm>
            <a:off x="2453034" y="5555109"/>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29" idx="3"/>
          </p:cNvCxnSpPr>
          <p:nvPr/>
        </p:nvCxnSpPr>
        <p:spPr>
          <a:xfrm flipV="1">
            <a:off x="2450444"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820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6820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6820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9096763" y="52244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55" name="Picture 5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9410676" y="5038725"/>
            <a:ext cx="850900" cy="3810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7747000" y="1220788"/>
            <a:ext cx="24638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2967038" y="3757613"/>
            <a:ext cx="393700" cy="2286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5026025" y="3708400"/>
            <a:ext cx="444500" cy="2286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7529513" y="4195763"/>
            <a:ext cx="419100" cy="190500"/>
          </a:xfrm>
          <a:prstGeom prst="rect">
            <a:avLst/>
          </a:prstGeom>
        </p:spPr>
      </p:pic>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4320270" y="3060700"/>
            <a:ext cx="241300" cy="2286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6853238" y="3098800"/>
            <a:ext cx="266700" cy="1905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2538413" y="3159125"/>
            <a:ext cx="215900" cy="1905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3478846" y="3060700"/>
            <a:ext cx="254000" cy="228600"/>
          </a:xfrm>
          <a:prstGeom prst="rect">
            <a:avLst/>
          </a:prstGeom>
        </p:spPr>
      </p:pic>
      <p:pic>
        <p:nvPicPr>
          <p:cNvPr id="70" name="Picture 6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9140825" y="3148013"/>
            <a:ext cx="203200" cy="190500"/>
          </a:xfrm>
          <a:prstGeom prst="rect">
            <a:avLst/>
          </a:prstGeom>
        </p:spPr>
      </p:pic>
      <p:cxnSp>
        <p:nvCxnSpPr>
          <p:cNvPr id="72" name="Straight Arrow Connector 71"/>
          <p:cNvCxnSpPr/>
          <p:nvPr/>
        </p:nvCxnSpPr>
        <p:spPr>
          <a:xfrm rot="5400000">
            <a:off x="2294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rot="5400000">
            <a:off x="3281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rot="5400000">
            <a:off x="4070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rot="5400000">
            <a:off x="5729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rot="5400000">
            <a:off x="6494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rot="5400000">
            <a:off x="7680001"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rot="5400000">
            <a:off x="8377311" y="4227356"/>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83" name="Picture 8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8358188" y="3123191"/>
            <a:ext cx="215900" cy="190500"/>
          </a:xfrm>
          <a:prstGeom prst="rect">
            <a:avLst/>
          </a:prstGeom>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5954085" y="3122613"/>
            <a:ext cx="279400" cy="190500"/>
          </a:xfrm>
          <a:prstGeom prst="rect">
            <a:avLst/>
          </a:prstGeom>
        </p:spPr>
      </p:pic>
    </p:spTree>
    <p:extLst>
      <p:ext uri="{BB962C8B-B14F-4D97-AF65-F5344CB8AC3E}">
        <p14:creationId xmlns:p14="http://schemas.microsoft.com/office/powerpoint/2010/main" val="30437643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95</a:t>
            </a:fld>
            <a:endParaRPr lang="en-US"/>
          </a:p>
        </p:txBody>
      </p:sp>
      <p:grpSp>
        <p:nvGrpSpPr>
          <p:cNvPr id="5" name="Group 4"/>
          <p:cNvGrpSpPr/>
          <p:nvPr/>
        </p:nvGrpSpPr>
        <p:grpSpPr>
          <a:xfrm>
            <a:off x="3732846" y="39052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3732846" y="49306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3732846" y="59640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6233485" y="39052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6233485" y="49306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6233485" y="59640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509339" y="49306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198663" y="40255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2205013" y="47288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2173633" y="54598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2094843" y="6259353"/>
            <a:ext cx="355600" cy="190500"/>
          </a:xfrm>
          <a:prstGeom prst="rect">
            <a:avLst/>
          </a:prstGeom>
        </p:spPr>
      </p:pic>
      <p:cxnSp>
        <p:nvCxnSpPr>
          <p:cNvPr id="30" name="Straight Arrow Connector 29"/>
          <p:cNvCxnSpPr/>
          <p:nvPr/>
        </p:nvCxnSpPr>
        <p:spPr>
          <a:xfrm>
            <a:off x="4320271"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4320271"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4320271"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4320271"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4320271"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4320271"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4320271"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4320271"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4320271"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p:cNvCxnSpPr>
          <p:nvPr/>
        </p:nvCxnSpPr>
        <p:spPr>
          <a:xfrm>
            <a:off x="2478064"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6" idx="3"/>
          </p:cNvCxnSpPr>
          <p:nvPr/>
        </p:nvCxnSpPr>
        <p:spPr>
          <a:xfrm>
            <a:off x="2478064"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3"/>
          </p:cNvCxnSpPr>
          <p:nvPr/>
        </p:nvCxnSpPr>
        <p:spPr>
          <a:xfrm>
            <a:off x="2478064"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27" idx="3"/>
          </p:cNvCxnSpPr>
          <p:nvPr/>
        </p:nvCxnSpPr>
        <p:spPr>
          <a:xfrm flipV="1">
            <a:off x="2471714"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27" idx="3"/>
          </p:cNvCxnSpPr>
          <p:nvPr/>
        </p:nvCxnSpPr>
        <p:spPr>
          <a:xfrm>
            <a:off x="2471714"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27" idx="3"/>
          </p:cNvCxnSpPr>
          <p:nvPr/>
        </p:nvCxnSpPr>
        <p:spPr>
          <a:xfrm>
            <a:off x="2471714"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28" idx="3"/>
          </p:cNvCxnSpPr>
          <p:nvPr/>
        </p:nvCxnSpPr>
        <p:spPr>
          <a:xfrm flipV="1">
            <a:off x="2453034" y="4406600"/>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8" idx="3"/>
          </p:cNvCxnSpPr>
          <p:nvPr/>
        </p:nvCxnSpPr>
        <p:spPr>
          <a:xfrm flipV="1">
            <a:off x="2453034" y="5224410"/>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29" idx="3"/>
          </p:cNvCxnSpPr>
          <p:nvPr/>
        </p:nvCxnSpPr>
        <p:spPr>
          <a:xfrm flipV="1">
            <a:off x="2450444"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29" idx="3"/>
          </p:cNvCxnSpPr>
          <p:nvPr/>
        </p:nvCxnSpPr>
        <p:spPr>
          <a:xfrm flipV="1">
            <a:off x="2450444"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28" idx="3"/>
          </p:cNvCxnSpPr>
          <p:nvPr/>
        </p:nvCxnSpPr>
        <p:spPr>
          <a:xfrm>
            <a:off x="2453034" y="5555109"/>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29" idx="3"/>
          </p:cNvCxnSpPr>
          <p:nvPr/>
        </p:nvCxnSpPr>
        <p:spPr>
          <a:xfrm flipV="1">
            <a:off x="2450444"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820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6820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6820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9096763" y="5224410"/>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55" name="Picture 5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9410676" y="5038725"/>
            <a:ext cx="850900" cy="381000"/>
          </a:xfrm>
          <a:prstGeom prst="rect">
            <a:avLst/>
          </a:prstGeom>
        </p:spPr>
      </p:pic>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7747000" y="1220788"/>
            <a:ext cx="2463800" cy="3937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2967038" y="3757613"/>
            <a:ext cx="393700" cy="2286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5026025" y="3708400"/>
            <a:ext cx="444500" cy="2286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7529513" y="4195763"/>
            <a:ext cx="419100" cy="190500"/>
          </a:xfrm>
          <a:prstGeom prst="rect">
            <a:avLst/>
          </a:prstGeom>
        </p:spPr>
      </p:pic>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4320270" y="3060700"/>
            <a:ext cx="241300" cy="2286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6853238" y="3098800"/>
            <a:ext cx="266700" cy="1905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2538413" y="3159125"/>
            <a:ext cx="215900" cy="1905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3484778" y="3060700"/>
            <a:ext cx="254000" cy="228600"/>
          </a:xfrm>
          <a:prstGeom prst="rect">
            <a:avLst/>
          </a:prstGeom>
        </p:spPr>
      </p:pic>
      <p:pic>
        <p:nvPicPr>
          <p:cNvPr id="69" name="Picture 6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5954085" y="3122613"/>
            <a:ext cx="279400" cy="190500"/>
          </a:xfrm>
          <a:prstGeom prst="rect">
            <a:avLst/>
          </a:prstGeom>
        </p:spPr>
      </p:pic>
      <p:pic>
        <p:nvPicPr>
          <p:cNvPr id="70" name="Picture 6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9140825" y="3148013"/>
            <a:ext cx="203200" cy="190500"/>
          </a:xfrm>
          <a:prstGeom prst="rect">
            <a:avLst/>
          </a:prstGeom>
        </p:spPr>
      </p:pic>
      <p:cxnSp>
        <p:nvCxnSpPr>
          <p:cNvPr id="72" name="Straight Arrow Connector 71"/>
          <p:cNvCxnSpPr/>
          <p:nvPr/>
        </p:nvCxnSpPr>
        <p:spPr>
          <a:xfrm rot="5400000">
            <a:off x="2294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rot="5400000">
            <a:off x="3281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rot="5400000">
            <a:off x="4070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rot="5400000">
            <a:off x="5729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rot="5400000">
            <a:off x="6494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rot="5400000">
            <a:off x="7680001"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rot="5400000">
            <a:off x="8377311" y="4227356"/>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3224213" y="1685925"/>
            <a:ext cx="1828800" cy="673100"/>
          </a:xfrm>
          <a:prstGeom prst="rect">
            <a:avLst/>
          </a:prstGeom>
        </p:spPr>
      </p:pic>
      <p:pic>
        <p:nvPicPr>
          <p:cNvPr id="81" name="Picture 8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8358188" y="3123191"/>
            <a:ext cx="215900" cy="190500"/>
          </a:xfrm>
          <a:prstGeom prst="rect">
            <a:avLst/>
          </a:prstGeom>
        </p:spPr>
      </p:pic>
      <p:pic>
        <p:nvPicPr>
          <p:cNvPr id="82" name="Picture 8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tretch>
                <a:fillRect/>
              </a:stretch>
            </p:blipFill>
          </mc:Choice>
          <mc:Fallback>
            <p:blipFill>
              <a:blip r:embed="rId38"/>
              <a:stretch>
                <a:fillRect/>
              </a:stretch>
            </p:blipFill>
          </mc:Fallback>
        </mc:AlternateContent>
        <p:spPr>
          <a:xfrm>
            <a:off x="5484813" y="1641475"/>
            <a:ext cx="1917700" cy="711200"/>
          </a:xfrm>
          <a:prstGeom prst="rect">
            <a:avLst/>
          </a:prstGeom>
        </p:spPr>
      </p:pic>
      <p:pic>
        <p:nvPicPr>
          <p:cNvPr id="83" name="Picture 8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9"/>
              <a:stretch>
                <a:fillRect/>
              </a:stretch>
            </p:blipFill>
          </mc:Choice>
          <mc:Fallback>
            <p:blipFill>
              <a:blip r:embed="rId40"/>
              <a:stretch>
                <a:fillRect/>
              </a:stretch>
            </p:blipFill>
          </mc:Fallback>
        </mc:AlternateContent>
        <p:spPr>
          <a:xfrm>
            <a:off x="7772400" y="1709738"/>
            <a:ext cx="1854200" cy="673100"/>
          </a:xfrm>
          <a:prstGeom prst="rect">
            <a:avLst/>
          </a:prstGeom>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1"/>
              <a:stretch>
                <a:fillRect/>
              </a:stretch>
            </p:blipFill>
          </mc:Choice>
          <mc:Fallback>
            <p:blipFill>
              <a:blip r:embed="rId42"/>
              <a:stretch>
                <a:fillRect/>
              </a:stretch>
            </p:blipFill>
          </mc:Fallback>
        </mc:AlternateContent>
        <p:spPr>
          <a:xfrm>
            <a:off x="3573463" y="2498725"/>
            <a:ext cx="1104900" cy="279400"/>
          </a:xfrm>
          <a:prstGeom prst="rect">
            <a:avLst/>
          </a:prstGeom>
        </p:spPr>
      </p:pic>
      <p:pic>
        <p:nvPicPr>
          <p:cNvPr id="85" name="Picture 8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3"/>
              <a:stretch>
                <a:fillRect/>
              </a:stretch>
            </p:blipFill>
          </mc:Choice>
          <mc:Fallback>
            <p:blipFill>
              <a:blip r:embed="rId44"/>
              <a:stretch>
                <a:fillRect/>
              </a:stretch>
            </p:blipFill>
          </mc:Fallback>
        </mc:AlternateContent>
        <p:spPr>
          <a:xfrm>
            <a:off x="6032500" y="2492375"/>
            <a:ext cx="1143000" cy="266700"/>
          </a:xfrm>
          <a:prstGeom prst="rect">
            <a:avLst/>
          </a:prstGeom>
        </p:spPr>
      </p:pic>
      <p:pic>
        <p:nvPicPr>
          <p:cNvPr id="86" name="Picture 8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5"/>
              <a:stretch>
                <a:fillRect/>
              </a:stretch>
            </p:blipFill>
          </mc:Choice>
          <mc:Fallback>
            <p:blipFill>
              <a:blip r:embed="rId46"/>
              <a:stretch>
                <a:fillRect/>
              </a:stretch>
            </p:blipFill>
          </mc:Fallback>
        </mc:AlternateContent>
        <p:spPr>
          <a:xfrm>
            <a:off x="8370888" y="2492375"/>
            <a:ext cx="1054100" cy="266700"/>
          </a:xfrm>
          <a:prstGeom prst="rect">
            <a:avLst/>
          </a:prstGeom>
        </p:spPr>
      </p:pic>
    </p:spTree>
    <p:extLst>
      <p:ext uri="{BB962C8B-B14F-4D97-AF65-F5344CB8AC3E}">
        <p14:creationId xmlns:p14="http://schemas.microsoft.com/office/powerpoint/2010/main" val="3578115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96</a:t>
            </a:fld>
            <a:endParaRPr lang="en-US"/>
          </a:p>
        </p:txBody>
      </p:sp>
      <p:pic>
        <p:nvPicPr>
          <p:cNvPr id="65" name="Picture 6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7747000" y="1220788"/>
            <a:ext cx="2463800" cy="393700"/>
          </a:xfrm>
          <a:prstGeom prst="rect">
            <a:avLst/>
          </a:prstGeom>
        </p:spPr>
      </p:pic>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3940617" y="2334371"/>
            <a:ext cx="1038416" cy="382195"/>
          </a:xfrm>
          <a:prstGeom prst="rect">
            <a:avLst/>
          </a:prstGeom>
        </p:spPr>
      </p:pic>
      <p:grpSp>
        <p:nvGrpSpPr>
          <p:cNvPr id="88" name="Group 87"/>
          <p:cNvGrpSpPr/>
          <p:nvPr/>
        </p:nvGrpSpPr>
        <p:grpSpPr>
          <a:xfrm>
            <a:off x="2094844" y="3060701"/>
            <a:ext cx="8166733" cy="3490777"/>
            <a:chOff x="570843" y="3060700"/>
            <a:chExt cx="8166733" cy="3490777"/>
          </a:xfrm>
        </p:grpSpPr>
        <p:grpSp>
          <p:nvGrpSpPr>
            <p:cNvPr id="3" name="Group 4"/>
            <p:cNvGrpSpPr/>
            <p:nvPr/>
          </p:nvGrpSpPr>
          <p:grpSpPr>
            <a:xfrm>
              <a:off x="2208846" y="3905201"/>
              <a:ext cx="587424" cy="587424"/>
              <a:chOff x="5401994" y="3071949"/>
              <a:chExt cx="587424" cy="587424"/>
            </a:xfrm>
          </p:grpSpPr>
          <p:sp>
            <p:nvSpPr>
              <p:cNvPr id="6"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5" name="Group 7"/>
            <p:cNvGrpSpPr/>
            <p:nvPr/>
          </p:nvGrpSpPr>
          <p:grpSpPr>
            <a:xfrm>
              <a:off x="2208846" y="4930697"/>
              <a:ext cx="587424" cy="587424"/>
              <a:chOff x="5401994" y="3071949"/>
              <a:chExt cx="587424" cy="587424"/>
            </a:xfrm>
          </p:grpSpPr>
          <p:sp>
            <p:nvSpPr>
              <p:cNvPr id="9"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0"/>
            <p:cNvGrpSpPr/>
            <p:nvPr/>
          </p:nvGrpSpPr>
          <p:grpSpPr>
            <a:xfrm>
              <a:off x="2208846" y="5964053"/>
              <a:ext cx="587424" cy="587424"/>
              <a:chOff x="5401994" y="3071949"/>
              <a:chExt cx="587424" cy="587424"/>
            </a:xfrm>
          </p:grpSpPr>
          <p:sp>
            <p:nvSpPr>
              <p:cNvPr id="12" name="Oval 1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urved Connector 1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3"/>
            <p:cNvGrpSpPr/>
            <p:nvPr/>
          </p:nvGrpSpPr>
          <p:grpSpPr>
            <a:xfrm>
              <a:off x="4709485" y="3905201"/>
              <a:ext cx="587424" cy="587424"/>
              <a:chOff x="5401994" y="3071949"/>
              <a:chExt cx="587424" cy="587424"/>
            </a:xfrm>
          </p:grpSpPr>
          <p:sp>
            <p:nvSpPr>
              <p:cNvPr id="15" name="Oval 14"/>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Curved Connector 15"/>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6"/>
            <p:cNvGrpSpPr/>
            <p:nvPr/>
          </p:nvGrpSpPr>
          <p:grpSpPr>
            <a:xfrm>
              <a:off x="4709485" y="4930697"/>
              <a:ext cx="587424" cy="587424"/>
              <a:chOff x="5401994" y="3071949"/>
              <a:chExt cx="587424" cy="587424"/>
            </a:xfrm>
          </p:grpSpPr>
          <p:sp>
            <p:nvSpPr>
              <p:cNvPr id="18" name="Oval 1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Curved Connector 1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9"/>
            <p:cNvGrpSpPr/>
            <p:nvPr/>
          </p:nvGrpSpPr>
          <p:grpSpPr>
            <a:xfrm>
              <a:off x="4709485" y="5964053"/>
              <a:ext cx="587424" cy="587424"/>
              <a:chOff x="5401994" y="3071949"/>
              <a:chExt cx="587424" cy="587424"/>
            </a:xfrm>
          </p:grpSpPr>
          <p:sp>
            <p:nvSpPr>
              <p:cNvPr id="21" name="Oval 20"/>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Curved Connector 21"/>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22"/>
            <p:cNvGrpSpPr/>
            <p:nvPr/>
          </p:nvGrpSpPr>
          <p:grpSpPr>
            <a:xfrm>
              <a:off x="6985339" y="4930697"/>
              <a:ext cx="587424" cy="587424"/>
              <a:chOff x="5401994" y="3071949"/>
              <a:chExt cx="587424" cy="587424"/>
            </a:xfrm>
          </p:grpSpPr>
          <p:sp>
            <p:nvSpPr>
              <p:cNvPr id="24" name="Oval 2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urved Connector 2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26" name="Picture 2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74663" y="4025559"/>
              <a:ext cx="279400" cy="190500"/>
            </a:xfrm>
            <a:prstGeom prst="rect">
              <a:avLst/>
            </a:prstGeom>
          </p:spPr>
        </p:pic>
        <p:pic>
          <p:nvPicPr>
            <p:cNvPr id="27" name="Picture 2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681013" y="4728821"/>
              <a:ext cx="266700" cy="190500"/>
            </a:xfrm>
            <a:prstGeom prst="rect">
              <a:avLst/>
            </a:prstGeom>
          </p:spPr>
        </p:pic>
        <p:pic>
          <p:nvPicPr>
            <p:cNvPr id="28" name="Picture 2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649633" y="5459858"/>
              <a:ext cx="279400" cy="190500"/>
            </a:xfrm>
            <a:prstGeom prst="rect">
              <a:avLst/>
            </a:prstGeom>
          </p:spPr>
        </p:pic>
        <p:pic>
          <p:nvPicPr>
            <p:cNvPr id="29" name="Picture 2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570843" y="6259353"/>
              <a:ext cx="355600" cy="190500"/>
            </a:xfrm>
            <a:prstGeom prst="rect">
              <a:avLst/>
            </a:prstGeom>
          </p:spPr>
        </p:pic>
        <p:cxnSp>
          <p:nvCxnSpPr>
            <p:cNvPr id="30" name="Straight Arrow Connector 29"/>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26"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6"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27"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27"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27"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28"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8"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29"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29"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28"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29"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55" name="Picture 5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7886676" y="5038725"/>
              <a:ext cx="850900" cy="381000"/>
            </a:xfrm>
            <a:prstGeom prst="rect">
              <a:avLst/>
            </a:prstGeom>
          </p:spPr>
        </p:pic>
        <p:pic>
          <p:nvPicPr>
            <p:cNvPr id="66" name="Picture 6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1443038" y="3757613"/>
              <a:ext cx="393700" cy="228600"/>
            </a:xfrm>
            <a:prstGeom prst="rect">
              <a:avLst/>
            </a:prstGeom>
          </p:spPr>
        </p:pic>
        <p:pic>
          <p:nvPicPr>
            <p:cNvPr id="67" name="Picture 6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3502025" y="3708400"/>
              <a:ext cx="444500" cy="228600"/>
            </a:xfrm>
            <a:prstGeom prst="rect">
              <a:avLst/>
            </a:prstGeom>
          </p:spPr>
        </p:pic>
        <p:pic>
          <p:nvPicPr>
            <p:cNvPr id="68" name="Picture 6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6005513" y="4195763"/>
              <a:ext cx="419100" cy="190500"/>
            </a:xfrm>
            <a:prstGeom prst="rect">
              <a:avLst/>
            </a:prstGeom>
          </p:spPr>
        </p:pic>
        <p:pic>
          <p:nvPicPr>
            <p:cNvPr id="60" name="Picture 5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2796270" y="3060700"/>
              <a:ext cx="241300" cy="228600"/>
            </a:xfrm>
            <a:prstGeom prst="rect">
              <a:avLst/>
            </a:prstGeom>
          </p:spPr>
        </p:pic>
        <p:pic>
          <p:nvPicPr>
            <p:cNvPr id="61" name="Picture 6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5329238" y="3098800"/>
              <a:ext cx="266700" cy="190500"/>
            </a:xfrm>
            <a:prstGeom prst="rect">
              <a:avLst/>
            </a:prstGeom>
          </p:spPr>
        </p:pic>
        <p:pic>
          <p:nvPicPr>
            <p:cNvPr id="62" name="Picture 6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1014413" y="3159125"/>
              <a:ext cx="215900" cy="190500"/>
            </a:xfrm>
            <a:prstGeom prst="rect">
              <a:avLst/>
            </a:prstGeom>
          </p:spPr>
        </p:pic>
        <p:pic>
          <p:nvPicPr>
            <p:cNvPr id="64" name="Picture 6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1960778" y="3060700"/>
              <a:ext cx="254000" cy="228600"/>
            </a:xfrm>
            <a:prstGeom prst="rect">
              <a:avLst/>
            </a:prstGeom>
          </p:spPr>
        </p:pic>
        <p:pic>
          <p:nvPicPr>
            <p:cNvPr id="69" name="Picture 6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4430085" y="3122613"/>
              <a:ext cx="279400" cy="190500"/>
            </a:xfrm>
            <a:prstGeom prst="rect">
              <a:avLst/>
            </a:prstGeom>
          </p:spPr>
        </p:pic>
        <p:pic>
          <p:nvPicPr>
            <p:cNvPr id="70" name="Picture 6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7616825" y="3148013"/>
              <a:ext cx="203200" cy="190500"/>
            </a:xfrm>
            <a:prstGeom prst="rect">
              <a:avLst/>
            </a:prstGeom>
          </p:spPr>
        </p:pic>
        <p:cxnSp>
          <p:nvCxnSpPr>
            <p:cNvPr id="72" name="Straight Arrow Connector 7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81" name="Picture 8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6834188" y="3123191"/>
              <a:ext cx="215900" cy="190500"/>
            </a:xfrm>
            <a:prstGeom prst="rect">
              <a:avLst/>
            </a:prstGeom>
          </p:spPr>
        </p:pic>
      </p:grpSp>
      <p:pic>
        <p:nvPicPr>
          <p:cNvPr id="82" name="Picture 8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tretch>
                <a:fillRect/>
              </a:stretch>
            </p:blipFill>
          </mc:Choice>
          <mc:Fallback>
            <p:blipFill>
              <a:blip r:embed="rId38"/>
              <a:stretch>
                <a:fillRect/>
              </a:stretch>
            </p:blipFill>
          </mc:Fallback>
        </mc:AlternateContent>
        <p:spPr>
          <a:xfrm>
            <a:off x="6239639" y="2306388"/>
            <a:ext cx="1088895" cy="403828"/>
          </a:xfrm>
          <a:prstGeom prst="rect">
            <a:avLst/>
          </a:prstGeom>
        </p:spPr>
      </p:pic>
      <p:pic>
        <p:nvPicPr>
          <p:cNvPr id="83" name="Picture 8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9"/>
              <a:stretch>
                <a:fillRect/>
              </a:stretch>
            </p:blipFill>
          </mc:Choice>
          <mc:Fallback>
            <p:blipFill>
              <a:blip r:embed="rId40"/>
              <a:stretch>
                <a:fillRect/>
              </a:stretch>
            </p:blipFill>
          </mc:Fallback>
        </mc:AlternateContent>
        <p:spPr>
          <a:xfrm>
            <a:off x="8499781" y="2358184"/>
            <a:ext cx="1052839" cy="382195"/>
          </a:xfrm>
          <a:prstGeom prst="rect">
            <a:avLst/>
          </a:prstGeom>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1"/>
              <a:stretch>
                <a:fillRect/>
              </a:stretch>
            </p:blipFill>
          </mc:Choice>
          <mc:Fallback>
            <p:blipFill>
              <a:blip r:embed="rId42"/>
              <a:stretch>
                <a:fillRect/>
              </a:stretch>
            </p:blipFill>
          </mc:Fallback>
        </mc:AlternateContent>
        <p:spPr>
          <a:xfrm>
            <a:off x="3977007" y="2705782"/>
            <a:ext cx="627376" cy="158646"/>
          </a:xfrm>
          <a:prstGeom prst="rect">
            <a:avLst/>
          </a:prstGeom>
        </p:spPr>
      </p:pic>
      <p:pic>
        <p:nvPicPr>
          <p:cNvPr id="85" name="Picture 8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3"/>
              <a:stretch>
                <a:fillRect/>
              </a:stretch>
            </p:blipFill>
          </mc:Choice>
          <mc:Fallback>
            <p:blipFill>
              <a:blip r:embed="rId44"/>
              <a:stretch>
                <a:fillRect/>
              </a:stretch>
            </p:blipFill>
          </mc:Fallback>
        </mc:AlternateContent>
        <p:spPr>
          <a:xfrm>
            <a:off x="6452510" y="2693944"/>
            <a:ext cx="649010" cy="151435"/>
          </a:xfrm>
          <a:prstGeom prst="rect">
            <a:avLst/>
          </a:prstGeom>
        </p:spPr>
      </p:pic>
      <p:pic>
        <p:nvPicPr>
          <p:cNvPr id="86" name="Picture 8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5"/>
              <a:stretch>
                <a:fillRect/>
              </a:stretch>
            </p:blipFill>
          </mc:Choice>
          <mc:Fallback>
            <p:blipFill>
              <a:blip r:embed="rId46"/>
              <a:stretch>
                <a:fillRect/>
              </a:stretch>
            </p:blipFill>
          </mc:Fallback>
        </mc:AlternateContent>
        <p:spPr>
          <a:xfrm>
            <a:off x="8752478" y="2693944"/>
            <a:ext cx="598531" cy="151435"/>
          </a:xfrm>
          <a:prstGeom prst="rect">
            <a:avLst/>
          </a:prstGeom>
        </p:spPr>
      </p:pic>
      <p:sp>
        <p:nvSpPr>
          <p:cNvPr id="87" name="TextBox 86"/>
          <p:cNvSpPr txBox="1"/>
          <p:nvPr/>
        </p:nvSpPr>
        <p:spPr>
          <a:xfrm>
            <a:off x="1529462" y="1763046"/>
            <a:ext cx="9136787" cy="461665"/>
          </a:xfrm>
          <a:prstGeom prst="rect">
            <a:avLst/>
          </a:prstGeom>
          <a:noFill/>
          <a:ln>
            <a:solidFill>
              <a:schemeClr val="tx1"/>
            </a:solidFill>
          </a:ln>
        </p:spPr>
        <p:txBody>
          <a:bodyPr wrap="none" rtlCol="0">
            <a:spAutoFit/>
          </a:bodyPr>
          <a:lstStyle/>
          <a:p>
            <a:r>
              <a:rPr lang="en-US" sz="2400" dirty="0"/>
              <a:t>Training: Take the gradient of the last component and iterate backwards</a:t>
            </a:r>
          </a:p>
        </p:txBody>
      </p:sp>
    </p:spTree>
    <p:extLst>
      <p:ext uri="{BB962C8B-B14F-4D97-AF65-F5344CB8AC3E}">
        <p14:creationId xmlns:p14="http://schemas.microsoft.com/office/powerpoint/2010/main" val="1018008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97</a:t>
            </a:fld>
            <a:endParaRPr lang="en-US"/>
          </a:p>
        </p:txBody>
      </p:sp>
      <p:grpSp>
        <p:nvGrpSpPr>
          <p:cNvPr id="5" name="Group 4"/>
          <p:cNvGrpSpPr/>
          <p:nvPr/>
        </p:nvGrpSpPr>
        <p:grpSpPr>
          <a:xfrm>
            <a:off x="3351084" y="3941246"/>
            <a:ext cx="6263345" cy="2677195"/>
            <a:chOff x="570843" y="3060700"/>
            <a:chExt cx="8166733" cy="3490777"/>
          </a:xfrm>
        </p:grpSpPr>
        <p:grpSp>
          <p:nvGrpSpPr>
            <p:cNvPr id="6"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2"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pic>
        <p:nvPicPr>
          <p:cNvPr id="75" name="Picture 7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2"/>
              <a:stretch>
                <a:fillRect/>
              </a:stretch>
            </p:blipFill>
          </mc:Choice>
          <mc:Fallback>
            <p:blipFill>
              <a:blip r:embed="rId33"/>
              <a:stretch>
                <a:fillRect/>
              </a:stretch>
            </p:blipFill>
          </mc:Fallback>
        </mc:AlternateContent>
        <p:spPr>
          <a:xfrm>
            <a:off x="1996658" y="1223445"/>
            <a:ext cx="7886700" cy="2717800"/>
          </a:xfrm>
          <a:prstGeom prst="rect">
            <a:avLst/>
          </a:prstGeom>
        </p:spPr>
      </p:pic>
      <p:sp>
        <p:nvSpPr>
          <p:cNvPr id="77" name="TextBox 76"/>
          <p:cNvSpPr txBox="1"/>
          <p:nvPr/>
        </p:nvSpPr>
        <p:spPr>
          <a:xfrm>
            <a:off x="6032781" y="1417638"/>
            <a:ext cx="2344437" cy="369332"/>
          </a:xfrm>
          <a:prstGeom prst="rect">
            <a:avLst/>
          </a:prstGeom>
          <a:noFill/>
          <a:ln>
            <a:solidFill>
              <a:schemeClr val="tx1"/>
            </a:solidFill>
          </a:ln>
        </p:spPr>
        <p:txBody>
          <a:bodyPr wrap="none" rtlCol="0">
            <a:spAutoFit/>
          </a:bodyPr>
          <a:lstStyle/>
          <a:p>
            <a:r>
              <a:rPr lang="en-US" dirty="0"/>
              <a:t>Empirical Risk Function</a:t>
            </a:r>
          </a:p>
        </p:txBody>
      </p:sp>
    </p:spTree>
    <p:extLst>
      <p:ext uri="{BB962C8B-B14F-4D97-AF65-F5344CB8AC3E}">
        <p14:creationId xmlns:p14="http://schemas.microsoft.com/office/powerpoint/2010/main" val="30064859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98</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067253" cy="369332"/>
          </a:xfrm>
          <a:prstGeom prst="rect">
            <a:avLst/>
          </a:prstGeom>
          <a:noFill/>
          <a:ln>
            <a:solidFill>
              <a:schemeClr val="tx1"/>
            </a:solidFill>
          </a:ln>
        </p:spPr>
        <p:txBody>
          <a:bodyPr wrap="none" rtlCol="0">
            <a:spAutoFit/>
          </a:bodyPr>
          <a:lstStyle/>
          <a:p>
            <a:r>
              <a:rPr lang="en-US" dirty="0"/>
              <a:t>Optimize last layer weights </a:t>
            </a:r>
            <a:r>
              <a:rPr lang="en-US" dirty="0" err="1"/>
              <a:t>w</a:t>
            </a:r>
            <a:r>
              <a:rPr lang="en-US" baseline="-25000" dirty="0" err="1"/>
              <a:t>kl</a:t>
            </a:r>
            <a:endParaRPr lang="en-US" baseline="-25000" dirty="0"/>
          </a:p>
        </p:txBody>
      </p:sp>
      <p:pic>
        <p:nvPicPr>
          <p:cNvPr id="76" name="Picture 7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5876096" y="1266270"/>
            <a:ext cx="2362200" cy="520700"/>
          </a:xfrm>
          <a:prstGeom prst="rect">
            <a:avLst/>
          </a:prstGeom>
        </p:spPr>
      </p:pic>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3159649" y="2465388"/>
            <a:ext cx="3365500" cy="673100"/>
          </a:xfrm>
          <a:prstGeom prst="rect">
            <a:avLst/>
          </a:prstGeom>
        </p:spPr>
      </p:pic>
      <p:sp>
        <p:nvSpPr>
          <p:cNvPr id="79" name="TextBox 78"/>
          <p:cNvSpPr txBox="1"/>
          <p:nvPr/>
        </p:nvSpPr>
        <p:spPr>
          <a:xfrm>
            <a:off x="7205000" y="2614014"/>
            <a:ext cx="1932365" cy="369332"/>
          </a:xfrm>
          <a:prstGeom prst="rect">
            <a:avLst/>
          </a:prstGeom>
          <a:noFill/>
          <a:ln>
            <a:solidFill>
              <a:schemeClr val="accent1"/>
            </a:solidFill>
          </a:ln>
        </p:spPr>
        <p:txBody>
          <a:bodyPr wrap="none" rtlCol="0">
            <a:spAutoFit/>
          </a:bodyPr>
          <a:lstStyle/>
          <a:p>
            <a:r>
              <a:rPr lang="en-US" dirty="0"/>
              <a:t>Calculus chain rule</a:t>
            </a:r>
          </a:p>
        </p:txBody>
      </p:sp>
    </p:spTree>
    <p:extLst>
      <p:ext uri="{BB962C8B-B14F-4D97-AF65-F5344CB8AC3E}">
        <p14:creationId xmlns:p14="http://schemas.microsoft.com/office/powerpoint/2010/main" val="23305746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99</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067253" cy="369332"/>
          </a:xfrm>
          <a:prstGeom prst="rect">
            <a:avLst/>
          </a:prstGeom>
          <a:noFill/>
          <a:ln>
            <a:solidFill>
              <a:schemeClr val="tx1"/>
            </a:solidFill>
          </a:ln>
        </p:spPr>
        <p:txBody>
          <a:bodyPr wrap="none" rtlCol="0">
            <a:spAutoFit/>
          </a:bodyPr>
          <a:lstStyle/>
          <a:p>
            <a:r>
              <a:rPr lang="en-US" dirty="0"/>
              <a:t>Optimize last layer weights </a:t>
            </a:r>
            <a:r>
              <a:rPr lang="en-US" dirty="0" err="1"/>
              <a:t>w</a:t>
            </a:r>
            <a:r>
              <a:rPr lang="en-US" baseline="-25000" dirty="0" err="1"/>
              <a:t>kl</a:t>
            </a:r>
            <a:endParaRPr lang="en-US" baseline="-25000" dirty="0"/>
          </a:p>
        </p:txBody>
      </p:sp>
      <p:pic>
        <p:nvPicPr>
          <p:cNvPr id="76" name="Picture 7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2"/>
              <a:stretch>
                <a:fillRect/>
              </a:stretch>
            </p:blipFill>
          </mc:Choice>
          <mc:Fallback>
            <p:blipFill>
              <a:blip r:embed="rId33"/>
              <a:stretch>
                <a:fillRect/>
              </a:stretch>
            </p:blipFill>
          </mc:Fallback>
        </mc:AlternateContent>
        <p:spPr>
          <a:xfrm>
            <a:off x="5876096" y="1266270"/>
            <a:ext cx="2362200" cy="520700"/>
          </a:xfrm>
          <a:prstGeom prst="rect">
            <a:avLst/>
          </a:prstGeom>
        </p:spPr>
      </p:pic>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4"/>
              <a:stretch>
                <a:fillRect/>
              </a:stretch>
            </p:blipFill>
          </mc:Choice>
          <mc:Fallback>
            <p:blipFill>
              <a:blip r:embed="rId35"/>
              <a:stretch>
                <a:fillRect/>
              </a:stretch>
            </p:blipFill>
          </mc:Fallback>
        </mc:AlternateContent>
        <p:spPr>
          <a:xfrm>
            <a:off x="3159648" y="1940914"/>
            <a:ext cx="3365500" cy="673100"/>
          </a:xfrm>
          <a:prstGeom prst="rect">
            <a:avLst/>
          </a:prstGeom>
        </p:spPr>
      </p:pic>
      <p:sp>
        <p:nvSpPr>
          <p:cNvPr id="79" name="TextBox 78"/>
          <p:cNvSpPr txBox="1"/>
          <p:nvPr/>
        </p:nvSpPr>
        <p:spPr>
          <a:xfrm>
            <a:off x="7135678" y="1977901"/>
            <a:ext cx="1932365" cy="369332"/>
          </a:xfrm>
          <a:prstGeom prst="rect">
            <a:avLst/>
          </a:prstGeom>
          <a:noFill/>
          <a:ln>
            <a:solidFill>
              <a:schemeClr val="accent1"/>
            </a:solidFill>
          </a:ln>
        </p:spPr>
        <p:txBody>
          <a:bodyPr wrap="none" rtlCol="0">
            <a:spAutoFit/>
          </a:bodyPr>
          <a:lstStyle/>
          <a:p>
            <a:r>
              <a:rPr lang="en-US" dirty="0"/>
              <a:t>Calculus chain rule</a:t>
            </a:r>
          </a:p>
        </p:txBody>
      </p:sp>
      <p:pic>
        <p:nvPicPr>
          <p:cNvPr id="80" name="Picture 7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6"/>
              <a:stretch>
                <a:fillRect/>
              </a:stretch>
            </p:blipFill>
          </mc:Choice>
          <mc:Fallback>
            <p:blipFill>
              <a:blip r:embed="rId37"/>
              <a:stretch>
                <a:fillRect/>
              </a:stretch>
            </p:blipFill>
          </mc:Fallback>
        </mc:AlternateContent>
        <p:spPr>
          <a:xfrm>
            <a:off x="3255963" y="2905125"/>
            <a:ext cx="4724400" cy="698500"/>
          </a:xfrm>
          <a:prstGeom prst="rect">
            <a:avLst/>
          </a:prstGeom>
        </p:spPr>
      </p:pic>
    </p:spTree>
    <p:extLst>
      <p:ext uri="{BB962C8B-B14F-4D97-AF65-F5344CB8AC3E}">
        <p14:creationId xmlns:p14="http://schemas.microsoft.com/office/powerpoint/2010/main" val="25546782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100</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067253" cy="369332"/>
          </a:xfrm>
          <a:prstGeom prst="rect">
            <a:avLst/>
          </a:prstGeom>
          <a:noFill/>
          <a:ln>
            <a:solidFill>
              <a:schemeClr val="tx1"/>
            </a:solidFill>
          </a:ln>
        </p:spPr>
        <p:txBody>
          <a:bodyPr wrap="none" rtlCol="0">
            <a:spAutoFit/>
          </a:bodyPr>
          <a:lstStyle/>
          <a:p>
            <a:r>
              <a:rPr lang="en-US" dirty="0"/>
              <a:t>Optimize last layer weights </a:t>
            </a:r>
            <a:r>
              <a:rPr lang="en-US" dirty="0" err="1"/>
              <a:t>w</a:t>
            </a:r>
            <a:r>
              <a:rPr lang="en-US" baseline="-25000" dirty="0" err="1"/>
              <a:t>kl</a:t>
            </a:r>
            <a:endParaRPr lang="en-US" baseline="-25000" dirty="0"/>
          </a:p>
        </p:txBody>
      </p:sp>
      <p:pic>
        <p:nvPicPr>
          <p:cNvPr id="76" name="Picture 7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2"/>
              <a:stretch>
                <a:fillRect/>
              </a:stretch>
            </p:blipFill>
          </mc:Choice>
          <mc:Fallback>
            <p:blipFill>
              <a:blip r:embed="rId33"/>
              <a:stretch>
                <a:fillRect/>
              </a:stretch>
            </p:blipFill>
          </mc:Fallback>
        </mc:AlternateContent>
        <p:spPr>
          <a:xfrm>
            <a:off x="5876096" y="1266270"/>
            <a:ext cx="2362200" cy="520700"/>
          </a:xfrm>
          <a:prstGeom prst="rect">
            <a:avLst/>
          </a:prstGeom>
        </p:spPr>
      </p:pic>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4"/>
              <a:stretch>
                <a:fillRect/>
              </a:stretch>
            </p:blipFill>
          </mc:Choice>
          <mc:Fallback>
            <p:blipFill>
              <a:blip r:embed="rId35"/>
              <a:stretch>
                <a:fillRect/>
              </a:stretch>
            </p:blipFill>
          </mc:Fallback>
        </mc:AlternateContent>
        <p:spPr>
          <a:xfrm>
            <a:off x="3159648" y="1940914"/>
            <a:ext cx="3365500" cy="673100"/>
          </a:xfrm>
          <a:prstGeom prst="rect">
            <a:avLst/>
          </a:prstGeom>
        </p:spPr>
      </p:pic>
      <p:sp>
        <p:nvSpPr>
          <p:cNvPr id="79" name="TextBox 78"/>
          <p:cNvSpPr txBox="1"/>
          <p:nvPr/>
        </p:nvSpPr>
        <p:spPr>
          <a:xfrm>
            <a:off x="7135678" y="1977901"/>
            <a:ext cx="1932365" cy="369332"/>
          </a:xfrm>
          <a:prstGeom prst="rect">
            <a:avLst/>
          </a:prstGeom>
          <a:noFill/>
          <a:ln>
            <a:solidFill>
              <a:schemeClr val="accent1"/>
            </a:solidFill>
          </a:ln>
        </p:spPr>
        <p:txBody>
          <a:bodyPr wrap="none" rtlCol="0">
            <a:spAutoFit/>
          </a:bodyPr>
          <a:lstStyle/>
          <a:p>
            <a:r>
              <a:rPr lang="en-US" dirty="0"/>
              <a:t>Calculus chain rule</a:t>
            </a:r>
          </a:p>
        </p:txBody>
      </p:sp>
      <p:pic>
        <p:nvPicPr>
          <p:cNvPr id="81" name="Picture 8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6"/>
              <a:stretch>
                <a:fillRect/>
              </a:stretch>
            </p:blipFill>
          </mc:Choice>
          <mc:Fallback>
            <p:blipFill>
              <a:blip r:embed="rId37"/>
              <a:stretch>
                <a:fillRect/>
              </a:stretch>
            </p:blipFill>
          </mc:Fallback>
        </mc:AlternateContent>
        <p:spPr>
          <a:xfrm>
            <a:off x="3249398" y="2905703"/>
            <a:ext cx="5130800" cy="698500"/>
          </a:xfrm>
          <a:prstGeom prst="rect">
            <a:avLst/>
          </a:prstGeom>
        </p:spPr>
      </p:pic>
    </p:spTree>
    <p:extLst>
      <p:ext uri="{BB962C8B-B14F-4D97-AF65-F5344CB8AC3E}">
        <p14:creationId xmlns:p14="http://schemas.microsoft.com/office/powerpoint/2010/main" val="15059263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101</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067253" cy="369332"/>
          </a:xfrm>
          <a:prstGeom prst="rect">
            <a:avLst/>
          </a:prstGeom>
          <a:noFill/>
          <a:ln>
            <a:solidFill>
              <a:schemeClr val="tx1"/>
            </a:solidFill>
          </a:ln>
        </p:spPr>
        <p:txBody>
          <a:bodyPr wrap="none" rtlCol="0">
            <a:spAutoFit/>
          </a:bodyPr>
          <a:lstStyle/>
          <a:p>
            <a:r>
              <a:rPr lang="en-US" dirty="0"/>
              <a:t>Optimize last layer weights </a:t>
            </a:r>
            <a:r>
              <a:rPr lang="en-US" dirty="0" err="1"/>
              <a:t>w</a:t>
            </a:r>
            <a:r>
              <a:rPr lang="en-US" baseline="-25000" dirty="0" err="1"/>
              <a:t>kl</a:t>
            </a:r>
            <a:endParaRPr lang="en-US" baseline="-25000" dirty="0"/>
          </a:p>
        </p:txBody>
      </p:sp>
      <p:pic>
        <p:nvPicPr>
          <p:cNvPr id="76" name="Picture 7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2"/>
              <a:stretch>
                <a:fillRect/>
              </a:stretch>
            </p:blipFill>
          </mc:Choice>
          <mc:Fallback>
            <p:blipFill>
              <a:blip r:embed="rId33"/>
              <a:stretch>
                <a:fillRect/>
              </a:stretch>
            </p:blipFill>
          </mc:Fallback>
        </mc:AlternateContent>
        <p:spPr>
          <a:xfrm>
            <a:off x="5876096" y="1266270"/>
            <a:ext cx="2362200" cy="520700"/>
          </a:xfrm>
          <a:prstGeom prst="rect">
            <a:avLst/>
          </a:prstGeom>
        </p:spPr>
      </p:pic>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4"/>
              <a:stretch>
                <a:fillRect/>
              </a:stretch>
            </p:blipFill>
          </mc:Choice>
          <mc:Fallback>
            <p:blipFill>
              <a:blip r:embed="rId35"/>
              <a:stretch>
                <a:fillRect/>
              </a:stretch>
            </p:blipFill>
          </mc:Fallback>
        </mc:AlternateContent>
        <p:spPr>
          <a:xfrm>
            <a:off x="3159648" y="1940914"/>
            <a:ext cx="3365500" cy="673100"/>
          </a:xfrm>
          <a:prstGeom prst="rect">
            <a:avLst/>
          </a:prstGeom>
        </p:spPr>
      </p:pic>
      <p:sp>
        <p:nvSpPr>
          <p:cNvPr id="79" name="TextBox 78"/>
          <p:cNvSpPr txBox="1"/>
          <p:nvPr/>
        </p:nvSpPr>
        <p:spPr>
          <a:xfrm>
            <a:off x="7135678" y="1977901"/>
            <a:ext cx="1932365" cy="369332"/>
          </a:xfrm>
          <a:prstGeom prst="rect">
            <a:avLst/>
          </a:prstGeom>
          <a:noFill/>
          <a:ln>
            <a:solidFill>
              <a:schemeClr val="accent1"/>
            </a:solidFill>
          </a:ln>
        </p:spPr>
        <p:txBody>
          <a:bodyPr wrap="none" rtlCol="0">
            <a:spAutoFit/>
          </a:bodyPr>
          <a:lstStyle/>
          <a:p>
            <a:r>
              <a:rPr lang="en-US" dirty="0"/>
              <a:t>Calculus chain rule</a:t>
            </a:r>
          </a:p>
        </p:txBody>
      </p:sp>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6"/>
              <a:stretch>
                <a:fillRect/>
              </a:stretch>
            </p:blipFill>
          </mc:Choice>
          <mc:Fallback>
            <p:blipFill>
              <a:blip r:embed="rId37"/>
              <a:stretch>
                <a:fillRect/>
              </a:stretch>
            </p:blipFill>
          </mc:Fallback>
        </mc:AlternateContent>
        <p:spPr>
          <a:xfrm>
            <a:off x="1639888" y="2955925"/>
            <a:ext cx="9017000" cy="698500"/>
          </a:xfrm>
          <a:prstGeom prst="rect">
            <a:avLst/>
          </a:prstGeom>
        </p:spPr>
      </p:pic>
    </p:spTree>
    <p:extLst>
      <p:ext uri="{BB962C8B-B14F-4D97-AF65-F5344CB8AC3E}">
        <p14:creationId xmlns:p14="http://schemas.microsoft.com/office/powerpoint/2010/main" val="219292568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102</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067253" cy="369332"/>
          </a:xfrm>
          <a:prstGeom prst="rect">
            <a:avLst/>
          </a:prstGeom>
          <a:noFill/>
          <a:ln>
            <a:solidFill>
              <a:schemeClr val="tx1"/>
            </a:solidFill>
          </a:ln>
        </p:spPr>
        <p:txBody>
          <a:bodyPr wrap="none" rtlCol="0">
            <a:spAutoFit/>
          </a:bodyPr>
          <a:lstStyle/>
          <a:p>
            <a:r>
              <a:rPr lang="en-US" dirty="0"/>
              <a:t>Optimize last layer weights </a:t>
            </a:r>
            <a:r>
              <a:rPr lang="en-US" dirty="0" err="1"/>
              <a:t>w</a:t>
            </a:r>
            <a:r>
              <a:rPr lang="en-US" baseline="-25000" dirty="0" err="1"/>
              <a:t>kl</a:t>
            </a:r>
            <a:endParaRPr lang="en-US" baseline="-25000" dirty="0"/>
          </a:p>
        </p:txBody>
      </p:sp>
      <p:pic>
        <p:nvPicPr>
          <p:cNvPr id="76" name="Picture 7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2"/>
              <a:stretch>
                <a:fillRect/>
              </a:stretch>
            </p:blipFill>
          </mc:Choice>
          <mc:Fallback>
            <p:blipFill>
              <a:blip r:embed="rId33"/>
              <a:stretch>
                <a:fillRect/>
              </a:stretch>
            </p:blipFill>
          </mc:Fallback>
        </mc:AlternateContent>
        <p:spPr>
          <a:xfrm>
            <a:off x="5876096" y="1266270"/>
            <a:ext cx="2362200" cy="520700"/>
          </a:xfrm>
          <a:prstGeom prst="rect">
            <a:avLst/>
          </a:prstGeom>
        </p:spPr>
      </p:pic>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4"/>
              <a:stretch>
                <a:fillRect/>
              </a:stretch>
            </p:blipFill>
          </mc:Choice>
          <mc:Fallback>
            <p:blipFill>
              <a:blip r:embed="rId35"/>
              <a:stretch>
                <a:fillRect/>
              </a:stretch>
            </p:blipFill>
          </mc:Fallback>
        </mc:AlternateContent>
        <p:spPr>
          <a:xfrm>
            <a:off x="3159648" y="1891598"/>
            <a:ext cx="3365500" cy="673100"/>
          </a:xfrm>
          <a:prstGeom prst="rect">
            <a:avLst/>
          </a:prstGeom>
        </p:spPr>
      </p:pic>
      <p:sp>
        <p:nvSpPr>
          <p:cNvPr id="79" name="TextBox 78"/>
          <p:cNvSpPr txBox="1"/>
          <p:nvPr/>
        </p:nvSpPr>
        <p:spPr>
          <a:xfrm>
            <a:off x="7135678" y="1928585"/>
            <a:ext cx="1932365" cy="369332"/>
          </a:xfrm>
          <a:prstGeom prst="rect">
            <a:avLst/>
          </a:prstGeom>
          <a:noFill/>
          <a:ln>
            <a:solidFill>
              <a:schemeClr val="accent1"/>
            </a:solidFill>
          </a:ln>
        </p:spPr>
        <p:txBody>
          <a:bodyPr wrap="none" rtlCol="0">
            <a:spAutoFit/>
          </a:bodyPr>
          <a:lstStyle/>
          <a:p>
            <a:r>
              <a:rPr lang="en-US" dirty="0"/>
              <a:t>Calculus chain rule</a:t>
            </a:r>
          </a:p>
        </p:txBody>
      </p:sp>
      <p:sp>
        <p:nvSpPr>
          <p:cNvPr id="81" name="Rectangle 80"/>
          <p:cNvSpPr/>
          <p:nvPr/>
        </p:nvSpPr>
        <p:spPr>
          <a:xfrm>
            <a:off x="7963838" y="2675660"/>
            <a:ext cx="2246962" cy="468233"/>
          </a:xfrm>
          <a:prstGeom prst="rect">
            <a:avLst/>
          </a:prstGeom>
          <a:gradFill flip="none" rotWithShape="1">
            <a:gsLst>
              <a:gs pos="0">
                <a:schemeClr val="accent1">
                  <a:tint val="100000"/>
                  <a:shade val="100000"/>
                  <a:satMod val="130000"/>
                  <a:alpha val="18000"/>
                </a:schemeClr>
              </a:gs>
              <a:gs pos="100000">
                <a:schemeClr val="accent1">
                  <a:tint val="50000"/>
                  <a:shade val="100000"/>
                  <a:satMod val="350000"/>
                  <a:alpha val="18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5" name="Picture 8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6"/>
              <a:stretch>
                <a:fillRect/>
              </a:stretch>
            </p:blipFill>
          </mc:Choice>
          <mc:Fallback>
            <p:blipFill>
              <a:blip r:embed="rId37"/>
              <a:stretch>
                <a:fillRect/>
              </a:stretch>
            </p:blipFill>
          </mc:Fallback>
        </mc:AlternateContent>
        <p:spPr>
          <a:xfrm>
            <a:off x="1527175" y="2628901"/>
            <a:ext cx="9144000" cy="1425575"/>
          </a:xfrm>
          <a:prstGeom prst="rect">
            <a:avLst/>
          </a:prstGeom>
        </p:spPr>
      </p:pic>
    </p:spTree>
    <p:extLst>
      <p:ext uri="{BB962C8B-B14F-4D97-AF65-F5344CB8AC3E}">
        <p14:creationId xmlns:p14="http://schemas.microsoft.com/office/powerpoint/2010/main" val="25239434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103</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266527" cy="369332"/>
          </a:xfrm>
          <a:prstGeom prst="rect">
            <a:avLst/>
          </a:prstGeom>
          <a:noFill/>
          <a:ln>
            <a:solidFill>
              <a:schemeClr val="tx1"/>
            </a:solidFill>
          </a:ln>
        </p:spPr>
        <p:txBody>
          <a:bodyPr wrap="none" rtlCol="0">
            <a:spAutoFit/>
          </a:bodyPr>
          <a:lstStyle/>
          <a:p>
            <a:r>
              <a:rPr lang="en-US" dirty="0"/>
              <a:t>Optimize last hidden weights </a:t>
            </a:r>
            <a:r>
              <a:rPr lang="en-US" dirty="0" err="1"/>
              <a:t>w</a:t>
            </a:r>
            <a:r>
              <a:rPr lang="en-US" baseline="-25000" dirty="0" err="1"/>
              <a:t>jk</a:t>
            </a:r>
            <a:endParaRPr lang="en-US" baseline="-25000" dirty="0"/>
          </a:p>
        </p:txBody>
      </p:sp>
      <p:pic>
        <p:nvPicPr>
          <p:cNvPr id="83" name="Picture 8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2238375" y="1981200"/>
            <a:ext cx="3479800" cy="673100"/>
          </a:xfrm>
          <a:prstGeom prst="rect">
            <a:avLst/>
          </a:prstGeom>
        </p:spPr>
      </p:pic>
      <p:pic>
        <p:nvPicPr>
          <p:cNvPr id="85" name="Picture 8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7088188" y="1316038"/>
            <a:ext cx="2781300" cy="647700"/>
          </a:xfrm>
          <a:prstGeom prst="rect">
            <a:avLst/>
          </a:prstGeom>
        </p:spPr>
      </p:pic>
    </p:spTree>
    <p:extLst>
      <p:ext uri="{BB962C8B-B14F-4D97-AF65-F5344CB8AC3E}">
        <p14:creationId xmlns:p14="http://schemas.microsoft.com/office/powerpoint/2010/main" val="29578137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104</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266527" cy="369332"/>
          </a:xfrm>
          <a:prstGeom prst="rect">
            <a:avLst/>
          </a:prstGeom>
          <a:noFill/>
          <a:ln>
            <a:solidFill>
              <a:schemeClr val="tx1"/>
            </a:solidFill>
          </a:ln>
        </p:spPr>
        <p:txBody>
          <a:bodyPr wrap="none" rtlCol="0">
            <a:spAutoFit/>
          </a:bodyPr>
          <a:lstStyle/>
          <a:p>
            <a:r>
              <a:rPr lang="en-US" dirty="0"/>
              <a:t>Optimize last hidden weights </a:t>
            </a:r>
            <a:r>
              <a:rPr lang="en-US" dirty="0" err="1"/>
              <a:t>w</a:t>
            </a:r>
            <a:r>
              <a:rPr lang="en-US" baseline="-25000" dirty="0" err="1"/>
              <a:t>jk</a:t>
            </a:r>
            <a:endParaRPr lang="en-US" baseline="-25000" dirty="0"/>
          </a:p>
        </p:txBody>
      </p:sp>
      <p:sp>
        <p:nvSpPr>
          <p:cNvPr id="78" name="TextBox 77"/>
          <p:cNvSpPr txBox="1"/>
          <p:nvPr/>
        </p:nvSpPr>
        <p:spPr>
          <a:xfrm>
            <a:off x="6864589" y="2095928"/>
            <a:ext cx="2305551" cy="369332"/>
          </a:xfrm>
          <a:prstGeom prst="rect">
            <a:avLst/>
          </a:prstGeom>
          <a:noFill/>
          <a:ln>
            <a:solidFill>
              <a:schemeClr val="tx1"/>
            </a:solidFill>
          </a:ln>
        </p:spPr>
        <p:txBody>
          <a:bodyPr wrap="none" rtlCol="0">
            <a:spAutoFit/>
          </a:bodyPr>
          <a:lstStyle/>
          <a:p>
            <a:r>
              <a:rPr lang="en-US" dirty="0"/>
              <a:t>Multivariate chain rule</a:t>
            </a:r>
          </a:p>
        </p:txBody>
      </p:sp>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2154238" y="1906588"/>
            <a:ext cx="4533900" cy="774700"/>
          </a:xfrm>
          <a:prstGeom prst="rect">
            <a:avLst/>
          </a:prstGeom>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7088188" y="1316038"/>
            <a:ext cx="2781300" cy="647700"/>
          </a:xfrm>
          <a:prstGeom prst="rect">
            <a:avLst/>
          </a:prstGeom>
        </p:spPr>
      </p:pic>
    </p:spTree>
    <p:extLst>
      <p:ext uri="{BB962C8B-B14F-4D97-AF65-F5344CB8AC3E}">
        <p14:creationId xmlns:p14="http://schemas.microsoft.com/office/powerpoint/2010/main" val="19093733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105</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266527" cy="369332"/>
          </a:xfrm>
          <a:prstGeom prst="rect">
            <a:avLst/>
          </a:prstGeom>
          <a:noFill/>
          <a:ln>
            <a:solidFill>
              <a:schemeClr val="tx1"/>
            </a:solidFill>
          </a:ln>
        </p:spPr>
        <p:txBody>
          <a:bodyPr wrap="none" rtlCol="0">
            <a:spAutoFit/>
          </a:bodyPr>
          <a:lstStyle/>
          <a:p>
            <a:r>
              <a:rPr lang="en-US" dirty="0"/>
              <a:t>Optimize last hidden weights </a:t>
            </a:r>
            <a:r>
              <a:rPr lang="en-US" dirty="0" err="1"/>
              <a:t>w</a:t>
            </a:r>
            <a:r>
              <a:rPr lang="en-US" baseline="-25000" dirty="0" err="1"/>
              <a:t>jk</a:t>
            </a:r>
            <a:endParaRPr lang="en-US" baseline="-25000" dirty="0"/>
          </a:p>
        </p:txBody>
      </p:sp>
      <p:sp>
        <p:nvSpPr>
          <p:cNvPr id="78" name="TextBox 77"/>
          <p:cNvSpPr txBox="1"/>
          <p:nvPr/>
        </p:nvSpPr>
        <p:spPr>
          <a:xfrm>
            <a:off x="6864589" y="2095928"/>
            <a:ext cx="2305551" cy="369332"/>
          </a:xfrm>
          <a:prstGeom prst="rect">
            <a:avLst/>
          </a:prstGeom>
          <a:noFill/>
          <a:ln>
            <a:solidFill>
              <a:schemeClr val="tx1"/>
            </a:solidFill>
          </a:ln>
        </p:spPr>
        <p:txBody>
          <a:bodyPr wrap="none" rtlCol="0">
            <a:spAutoFit/>
          </a:bodyPr>
          <a:lstStyle/>
          <a:p>
            <a:r>
              <a:rPr lang="en-US" dirty="0"/>
              <a:t>Multivariate chain rule</a:t>
            </a:r>
          </a:p>
        </p:txBody>
      </p:sp>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2154238" y="1906588"/>
            <a:ext cx="4533900" cy="774700"/>
          </a:xfrm>
          <a:prstGeom prst="rect">
            <a:avLst/>
          </a:prstGeom>
        </p:spPr>
      </p:pic>
      <p:pic>
        <p:nvPicPr>
          <p:cNvPr id="80" name="Picture 7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2134049" y="2695575"/>
            <a:ext cx="3771900" cy="774700"/>
          </a:xfrm>
          <a:prstGeom prst="rect">
            <a:avLst/>
          </a:prstGeom>
        </p:spPr>
      </p:pic>
      <p:pic>
        <p:nvPicPr>
          <p:cNvPr id="83" name="Picture 8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tretch>
                <a:fillRect/>
              </a:stretch>
            </p:blipFill>
          </mc:Choice>
          <mc:Fallback>
            <p:blipFill>
              <a:blip r:embed="rId38"/>
              <a:stretch>
                <a:fillRect/>
              </a:stretch>
            </p:blipFill>
          </mc:Fallback>
        </mc:AlternateContent>
        <p:spPr>
          <a:xfrm>
            <a:off x="7088188" y="1316038"/>
            <a:ext cx="2781300" cy="647700"/>
          </a:xfrm>
          <a:prstGeom prst="rect">
            <a:avLst/>
          </a:prstGeom>
        </p:spPr>
      </p:pic>
    </p:spTree>
    <p:extLst>
      <p:ext uri="{BB962C8B-B14F-4D97-AF65-F5344CB8AC3E}">
        <p14:creationId xmlns:p14="http://schemas.microsoft.com/office/powerpoint/2010/main" val="27508244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106</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266527" cy="369332"/>
          </a:xfrm>
          <a:prstGeom prst="rect">
            <a:avLst/>
          </a:prstGeom>
          <a:noFill/>
          <a:ln>
            <a:solidFill>
              <a:schemeClr val="tx1"/>
            </a:solidFill>
          </a:ln>
        </p:spPr>
        <p:txBody>
          <a:bodyPr wrap="none" rtlCol="0">
            <a:spAutoFit/>
          </a:bodyPr>
          <a:lstStyle/>
          <a:p>
            <a:r>
              <a:rPr lang="en-US" dirty="0"/>
              <a:t>Optimize last hidden weights </a:t>
            </a:r>
            <a:r>
              <a:rPr lang="en-US" dirty="0" err="1"/>
              <a:t>w</a:t>
            </a:r>
            <a:r>
              <a:rPr lang="en-US" baseline="-25000" dirty="0" err="1"/>
              <a:t>jk</a:t>
            </a:r>
            <a:endParaRPr lang="en-US" baseline="-25000" dirty="0"/>
          </a:p>
        </p:txBody>
      </p:sp>
      <p:sp>
        <p:nvSpPr>
          <p:cNvPr id="78" name="TextBox 77"/>
          <p:cNvSpPr txBox="1"/>
          <p:nvPr/>
        </p:nvSpPr>
        <p:spPr>
          <a:xfrm>
            <a:off x="6864589" y="2095928"/>
            <a:ext cx="2305551" cy="369332"/>
          </a:xfrm>
          <a:prstGeom prst="rect">
            <a:avLst/>
          </a:prstGeom>
          <a:noFill/>
          <a:ln>
            <a:solidFill>
              <a:schemeClr val="tx1"/>
            </a:solidFill>
          </a:ln>
        </p:spPr>
        <p:txBody>
          <a:bodyPr wrap="none" rtlCol="0">
            <a:spAutoFit/>
          </a:bodyPr>
          <a:lstStyle/>
          <a:p>
            <a:r>
              <a:rPr lang="en-US" dirty="0"/>
              <a:t>Multivariate chain rule</a:t>
            </a:r>
          </a:p>
        </p:txBody>
      </p:sp>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2154238" y="1906588"/>
            <a:ext cx="4533900" cy="774700"/>
          </a:xfrm>
          <a:prstGeom prst="rect">
            <a:avLst/>
          </a:prstGeom>
        </p:spPr>
      </p:pic>
      <p:pic>
        <p:nvPicPr>
          <p:cNvPr id="80" name="Picture 7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2134049" y="2695575"/>
            <a:ext cx="3771900" cy="774700"/>
          </a:xfrm>
          <a:prstGeom prst="rect">
            <a:avLst/>
          </a:prstGeom>
        </p:spPr>
      </p:pic>
      <p:pic>
        <p:nvPicPr>
          <p:cNvPr id="81" name="Picture 8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rcRect l="-4832" t="-16364" r="-4832" b="-16364"/>
              <a:stretch>
                <a:fillRect/>
              </a:stretch>
            </p:blipFill>
          </mc:Choice>
          <mc:Fallback>
            <p:blipFill>
              <a:blip r:embed="rId38"/>
              <a:srcRect l="-4832" t="-16364" r="-4832" b="-16364"/>
              <a:stretch>
                <a:fillRect/>
              </a:stretch>
            </p:blipFill>
          </mc:Fallback>
        </mc:AlternateContent>
        <p:spPr>
          <a:xfrm>
            <a:off x="7009448" y="2761300"/>
            <a:ext cx="2075180" cy="741679"/>
          </a:xfrm>
          <a:prstGeom prst="rect">
            <a:avLst/>
          </a:prstGeom>
          <a:ln>
            <a:solidFill>
              <a:schemeClr val="accent3"/>
            </a:solidFill>
          </a:ln>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9"/>
              <a:stretch>
                <a:fillRect/>
              </a:stretch>
            </p:blipFill>
          </mc:Choice>
          <mc:Fallback>
            <p:blipFill>
              <a:blip r:embed="rId40"/>
              <a:stretch>
                <a:fillRect/>
              </a:stretch>
            </p:blipFill>
          </mc:Fallback>
        </mc:AlternateContent>
        <p:spPr>
          <a:xfrm>
            <a:off x="7088188" y="1316038"/>
            <a:ext cx="2781300" cy="647700"/>
          </a:xfrm>
          <a:prstGeom prst="rect">
            <a:avLst/>
          </a:prstGeom>
        </p:spPr>
      </p:pic>
    </p:spTree>
    <p:extLst>
      <p:ext uri="{BB962C8B-B14F-4D97-AF65-F5344CB8AC3E}">
        <p14:creationId xmlns:p14="http://schemas.microsoft.com/office/powerpoint/2010/main" val="33119481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107</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5" y="1417638"/>
            <a:ext cx="3266527" cy="369332"/>
          </a:xfrm>
          <a:prstGeom prst="rect">
            <a:avLst/>
          </a:prstGeom>
          <a:noFill/>
          <a:ln>
            <a:solidFill>
              <a:schemeClr val="tx1"/>
            </a:solidFill>
          </a:ln>
        </p:spPr>
        <p:txBody>
          <a:bodyPr wrap="none" rtlCol="0">
            <a:spAutoFit/>
          </a:bodyPr>
          <a:lstStyle/>
          <a:p>
            <a:r>
              <a:rPr lang="en-US" dirty="0"/>
              <a:t>Optimize last hidden weights </a:t>
            </a:r>
            <a:r>
              <a:rPr lang="en-US" dirty="0" err="1"/>
              <a:t>w</a:t>
            </a:r>
            <a:r>
              <a:rPr lang="en-US" baseline="-25000" dirty="0" err="1"/>
              <a:t>jk</a:t>
            </a:r>
            <a:endParaRPr lang="en-US" baseline="-25000" dirty="0"/>
          </a:p>
        </p:txBody>
      </p:sp>
      <p:sp>
        <p:nvSpPr>
          <p:cNvPr id="78" name="TextBox 77"/>
          <p:cNvSpPr txBox="1"/>
          <p:nvPr/>
        </p:nvSpPr>
        <p:spPr>
          <a:xfrm>
            <a:off x="6864589" y="2095928"/>
            <a:ext cx="2305551" cy="369332"/>
          </a:xfrm>
          <a:prstGeom prst="rect">
            <a:avLst/>
          </a:prstGeom>
          <a:noFill/>
          <a:ln>
            <a:solidFill>
              <a:schemeClr val="tx1"/>
            </a:solidFill>
          </a:ln>
        </p:spPr>
        <p:txBody>
          <a:bodyPr wrap="none" rtlCol="0">
            <a:spAutoFit/>
          </a:bodyPr>
          <a:lstStyle/>
          <a:p>
            <a:r>
              <a:rPr lang="en-US" dirty="0"/>
              <a:t>Multivariate chain rule</a:t>
            </a:r>
          </a:p>
        </p:txBody>
      </p:sp>
      <p:pic>
        <p:nvPicPr>
          <p:cNvPr id="79" name="Picture 7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2154238" y="1906588"/>
            <a:ext cx="4533900" cy="774700"/>
          </a:xfrm>
          <a:prstGeom prst="rect">
            <a:avLst/>
          </a:prstGeom>
        </p:spPr>
      </p:pic>
      <p:pic>
        <p:nvPicPr>
          <p:cNvPr id="81" name="Picture 8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rcRect l="-4832" t="-16364" r="-4832" b="-16364"/>
              <a:stretch>
                <a:fillRect/>
              </a:stretch>
            </p:blipFill>
          </mc:Choice>
          <mc:Fallback>
            <p:blipFill>
              <a:blip r:embed="rId36"/>
              <a:srcRect l="-4832" t="-16364" r="-4832" b="-16364"/>
              <a:stretch>
                <a:fillRect/>
              </a:stretch>
            </p:blipFill>
          </mc:Fallback>
        </mc:AlternateContent>
        <p:spPr>
          <a:xfrm>
            <a:off x="1944819" y="3570406"/>
            <a:ext cx="2075180" cy="741679"/>
          </a:xfrm>
          <a:prstGeom prst="rect">
            <a:avLst/>
          </a:prstGeom>
          <a:ln>
            <a:solidFill>
              <a:schemeClr val="accent3"/>
            </a:solidFill>
          </a:ln>
        </p:spPr>
      </p:pic>
      <p:pic>
        <p:nvPicPr>
          <p:cNvPr id="85" name="Picture 8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tretch>
                <a:fillRect/>
              </a:stretch>
            </p:blipFill>
          </mc:Choice>
          <mc:Fallback>
            <p:blipFill>
              <a:blip r:embed="rId38"/>
              <a:stretch>
                <a:fillRect/>
              </a:stretch>
            </p:blipFill>
          </mc:Fallback>
        </mc:AlternateContent>
        <p:spPr>
          <a:xfrm>
            <a:off x="2125663" y="2708275"/>
            <a:ext cx="6908800" cy="774700"/>
          </a:xfrm>
          <a:prstGeom prst="rect">
            <a:avLst/>
          </a:prstGeom>
        </p:spPr>
      </p:pic>
      <p:sp>
        <p:nvSpPr>
          <p:cNvPr id="86" name="Rectangle 85"/>
          <p:cNvSpPr/>
          <p:nvPr/>
        </p:nvSpPr>
        <p:spPr>
          <a:xfrm>
            <a:off x="4321941" y="2708275"/>
            <a:ext cx="1813360" cy="774700"/>
          </a:xfrm>
          <a:prstGeom prst="rect">
            <a:avLst/>
          </a:prstGeom>
          <a:gradFill flip="none" rotWithShape="1">
            <a:gsLst>
              <a:gs pos="0">
                <a:schemeClr val="accent1">
                  <a:tint val="100000"/>
                  <a:shade val="100000"/>
                  <a:satMod val="130000"/>
                  <a:alpha val="24000"/>
                </a:schemeClr>
              </a:gs>
              <a:gs pos="100000">
                <a:schemeClr val="accent1">
                  <a:tint val="50000"/>
                  <a:shade val="100000"/>
                  <a:satMod val="350000"/>
                  <a:alpha val="2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8" name="Picture 8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9"/>
              <a:stretch>
                <a:fillRect/>
              </a:stretch>
            </p:blipFill>
          </mc:Choice>
          <mc:Fallback>
            <p:blipFill>
              <a:blip r:embed="rId40"/>
              <a:stretch>
                <a:fillRect/>
              </a:stretch>
            </p:blipFill>
          </mc:Fallback>
        </mc:AlternateContent>
        <p:spPr>
          <a:xfrm>
            <a:off x="7088188" y="1316038"/>
            <a:ext cx="2781300" cy="647700"/>
          </a:xfrm>
          <a:prstGeom prst="rect">
            <a:avLst/>
          </a:prstGeom>
        </p:spPr>
      </p:pic>
    </p:spTree>
    <p:extLst>
      <p:ext uri="{BB962C8B-B14F-4D97-AF65-F5344CB8AC3E}">
        <p14:creationId xmlns:p14="http://schemas.microsoft.com/office/powerpoint/2010/main" val="9088622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108</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977504" y="1417638"/>
            <a:ext cx="2881280" cy="369332"/>
          </a:xfrm>
          <a:prstGeom prst="rect">
            <a:avLst/>
          </a:prstGeom>
          <a:noFill/>
          <a:ln>
            <a:solidFill>
              <a:schemeClr val="tx1"/>
            </a:solidFill>
          </a:ln>
        </p:spPr>
        <p:txBody>
          <a:bodyPr wrap="none" rtlCol="0">
            <a:spAutoFit/>
          </a:bodyPr>
          <a:lstStyle/>
          <a:p>
            <a:r>
              <a:rPr lang="en-US" dirty="0"/>
              <a:t>Repeat for all previous layers</a:t>
            </a:r>
            <a:endParaRPr lang="en-US" baseline="-25000" dirty="0"/>
          </a:p>
        </p:txBody>
      </p:sp>
      <p:pic>
        <p:nvPicPr>
          <p:cNvPr id="82" name="Picture 8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1843088" y="1927225"/>
            <a:ext cx="8534400" cy="609600"/>
          </a:xfrm>
          <a:prstGeom prst="rect">
            <a:avLst/>
          </a:prstGeom>
        </p:spPr>
      </p:pic>
      <p:pic>
        <p:nvPicPr>
          <p:cNvPr id="84" name="Picture 8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5"/>
              <a:stretch>
                <a:fillRect/>
              </a:stretch>
            </p:blipFill>
          </mc:Choice>
          <mc:Fallback>
            <p:blipFill>
              <a:blip r:embed="rId36"/>
              <a:stretch>
                <a:fillRect/>
              </a:stretch>
            </p:blipFill>
          </mc:Fallback>
        </mc:AlternateContent>
        <p:spPr>
          <a:xfrm>
            <a:off x="1724025" y="2486025"/>
            <a:ext cx="8648700" cy="698500"/>
          </a:xfrm>
          <a:prstGeom prst="rect">
            <a:avLst/>
          </a:prstGeom>
        </p:spPr>
      </p:pic>
      <p:pic>
        <p:nvPicPr>
          <p:cNvPr id="87" name="Picture 8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7"/>
              <a:stretch>
                <a:fillRect/>
              </a:stretch>
            </p:blipFill>
          </mc:Choice>
          <mc:Fallback>
            <p:blipFill>
              <a:blip r:embed="rId38"/>
              <a:stretch>
                <a:fillRect/>
              </a:stretch>
            </p:blipFill>
          </mc:Fallback>
        </mc:AlternateContent>
        <p:spPr>
          <a:xfrm>
            <a:off x="1793875" y="3190133"/>
            <a:ext cx="8559800" cy="698500"/>
          </a:xfrm>
          <a:prstGeom prst="rect">
            <a:avLst/>
          </a:prstGeom>
        </p:spPr>
      </p:pic>
    </p:spTree>
    <p:extLst>
      <p:ext uri="{BB962C8B-B14F-4D97-AF65-F5344CB8AC3E}">
        <p14:creationId xmlns:p14="http://schemas.microsoft.com/office/powerpoint/2010/main" val="1688338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t>
            </a:r>
            <a:r>
              <a:rPr lang="en-US" dirty="0" err="1" smtClean="0"/>
              <a:t>Backpropagation</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109</a:t>
            </a:fld>
            <a:endParaRPr lang="en-US"/>
          </a:p>
        </p:txBody>
      </p:sp>
      <p:grpSp>
        <p:nvGrpSpPr>
          <p:cNvPr id="3" name="Group 4"/>
          <p:cNvGrpSpPr/>
          <p:nvPr/>
        </p:nvGrpSpPr>
        <p:grpSpPr>
          <a:xfrm>
            <a:off x="3351084" y="3941246"/>
            <a:ext cx="6263345" cy="2677195"/>
            <a:chOff x="570843" y="3060700"/>
            <a:chExt cx="8166733" cy="3490777"/>
          </a:xfrm>
        </p:grpSpPr>
        <p:grpSp>
          <p:nvGrpSpPr>
            <p:cNvPr id="5"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6"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7"/>
                <a:stretch>
                  <a:fillRect/>
                </a:stretch>
              </p:blipFill>
            </mc:Choice>
            <mc:Fallback>
              <p:blipFill>
                <a:blip r:embed="rId8"/>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9"/>
                <a:stretch>
                  <a:fillRect/>
                </a:stretch>
              </p:blipFill>
            </mc:Choice>
            <mc:Fallback>
              <p:blipFill>
                <a:blip r:embed="rId10"/>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1"/>
                <a:stretch>
                  <a:fillRect/>
                </a:stretch>
              </p:blipFill>
            </mc:Choice>
            <mc:Fallback>
              <p:blipFill>
                <a:blip r:embed="rId12"/>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3"/>
                <a:stretch>
                  <a:fillRect/>
                </a:stretch>
              </p:blipFill>
            </mc:Choice>
            <mc:Fallback>
              <p:blipFill>
                <a:blip r:embed="rId14"/>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5"/>
                <a:stretch>
                  <a:fillRect/>
                </a:stretch>
              </p:blipFill>
            </mc:Choice>
            <mc:Fallback>
              <p:blipFill>
                <a:blip r:embed="rId16"/>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7"/>
                <a:stretch>
                  <a:fillRect/>
                </a:stretch>
              </p:blipFill>
            </mc:Choice>
            <mc:Fallback>
              <p:blipFill>
                <a:blip r:embed="rId18"/>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9"/>
                <a:stretch>
                  <a:fillRect/>
                </a:stretch>
              </p:blipFill>
            </mc:Choice>
            <mc:Fallback>
              <p:blipFill>
                <a:blip r:embed="rId20"/>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1"/>
                <a:stretch>
                  <a:fillRect/>
                </a:stretch>
              </p:blipFill>
            </mc:Choice>
            <mc:Fallback>
              <p:blipFill>
                <a:blip r:embed="rId22"/>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3"/>
                <a:stretch>
                  <a:fillRect/>
                </a:stretch>
              </p:blipFill>
            </mc:Choice>
            <mc:Fallback>
              <p:blipFill>
                <a:blip r:embed="rId24"/>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5"/>
                <a:stretch>
                  <a:fillRect/>
                </a:stretch>
              </p:blipFill>
            </mc:Choice>
            <mc:Fallback>
              <p:blipFill>
                <a:blip r:embed="rId26"/>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7"/>
                <a:stretch>
                  <a:fillRect/>
                </a:stretch>
              </p:blipFill>
            </mc:Choice>
            <mc:Fallback>
              <p:blipFill>
                <a:blip r:embed="rId28"/>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9"/>
                <a:stretch>
                  <a:fillRect/>
                </a:stretch>
              </p:blipFill>
            </mc:Choice>
            <mc:Fallback>
              <p:blipFill>
                <a:blip r:embed="rId30"/>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1"/>
                <a:stretch>
                  <a:fillRect/>
                </a:stretch>
              </p:blipFill>
            </mc:Choice>
            <mc:Fallback>
              <p:blipFill>
                <a:blip r:embed="rId32"/>
                <a:stretch>
                  <a:fillRect/>
                </a:stretch>
              </p:blipFill>
            </mc:Fallback>
          </mc:AlternateContent>
          <p:spPr>
            <a:xfrm>
              <a:off x="6834188" y="3123191"/>
              <a:ext cx="215900" cy="190500"/>
            </a:xfrm>
            <a:prstGeom prst="rect">
              <a:avLst/>
            </a:prstGeom>
          </p:spPr>
        </p:pic>
      </p:grpSp>
      <p:sp>
        <p:nvSpPr>
          <p:cNvPr id="77" name="TextBox 76"/>
          <p:cNvSpPr txBox="1"/>
          <p:nvPr/>
        </p:nvSpPr>
        <p:spPr>
          <a:xfrm>
            <a:off x="1793875" y="1232972"/>
            <a:ext cx="8863388" cy="369332"/>
          </a:xfrm>
          <a:prstGeom prst="rect">
            <a:avLst/>
          </a:prstGeom>
          <a:noFill/>
          <a:ln>
            <a:solidFill>
              <a:schemeClr val="tx1"/>
            </a:solidFill>
          </a:ln>
        </p:spPr>
        <p:txBody>
          <a:bodyPr wrap="none" rtlCol="0">
            <a:spAutoFit/>
          </a:bodyPr>
          <a:lstStyle/>
          <a:p>
            <a:r>
              <a:rPr lang="en-US" dirty="0"/>
              <a:t>Now that we have well defined gradients for each parameter, update using Gradient Descent</a:t>
            </a:r>
            <a:endParaRPr lang="en-US" baseline="-25000" dirty="0"/>
          </a:p>
        </p:txBody>
      </p:sp>
      <p:pic>
        <p:nvPicPr>
          <p:cNvPr id="78" name="Picture 7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3"/>
              <a:stretch>
                <a:fillRect/>
              </a:stretch>
            </p:blipFill>
          </mc:Choice>
          <mc:Fallback>
            <p:blipFill>
              <a:blip r:embed="rId34"/>
              <a:stretch>
                <a:fillRect/>
              </a:stretch>
            </p:blipFill>
          </mc:Fallback>
        </mc:AlternateContent>
        <p:spPr>
          <a:xfrm>
            <a:off x="4826000" y="1768475"/>
            <a:ext cx="2247900" cy="1739900"/>
          </a:xfrm>
          <a:prstGeom prst="rect">
            <a:avLst/>
          </a:prstGeom>
        </p:spPr>
      </p:pic>
    </p:spTree>
    <p:extLst>
      <p:ext uri="{BB962C8B-B14F-4D97-AF65-F5344CB8AC3E}">
        <p14:creationId xmlns:p14="http://schemas.microsoft.com/office/powerpoint/2010/main" val="27540224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Back-propagation</a:t>
            </a:r>
            <a:endParaRPr lang="en-US" dirty="0"/>
          </a:p>
        </p:txBody>
      </p:sp>
      <p:sp>
        <p:nvSpPr>
          <p:cNvPr id="3" name="Content Placeholder 2"/>
          <p:cNvSpPr>
            <a:spLocks noGrp="1"/>
          </p:cNvSpPr>
          <p:nvPr>
            <p:ph idx="1"/>
          </p:nvPr>
        </p:nvSpPr>
        <p:spPr>
          <a:xfrm>
            <a:off x="1981200" y="1600201"/>
            <a:ext cx="8229600" cy="1917751"/>
          </a:xfrm>
        </p:spPr>
        <p:txBody>
          <a:bodyPr>
            <a:normAutofit fontScale="92500"/>
          </a:bodyPr>
          <a:lstStyle/>
          <a:p>
            <a:r>
              <a:rPr lang="en-US" dirty="0" smtClean="0"/>
              <a:t>Error </a:t>
            </a:r>
            <a:r>
              <a:rPr lang="en-US" dirty="0" err="1" smtClean="0"/>
              <a:t>backprop</a:t>
            </a:r>
            <a:r>
              <a:rPr lang="en-US" dirty="0" smtClean="0"/>
              <a:t> unravels the multivariate chain rule and solves the gradient for each partial component separately.</a:t>
            </a:r>
          </a:p>
          <a:p>
            <a:r>
              <a:rPr lang="en-US" dirty="0" smtClean="0"/>
              <a:t>The target values for each layer come from the next layer.</a:t>
            </a:r>
          </a:p>
          <a:p>
            <a:r>
              <a:rPr lang="en-US" dirty="0" smtClean="0"/>
              <a:t>This feeds the errors back along the network.</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110</a:t>
            </a:fld>
            <a:endParaRPr lang="en-US"/>
          </a:p>
        </p:txBody>
      </p:sp>
      <p:grpSp>
        <p:nvGrpSpPr>
          <p:cNvPr id="5" name="Group 4"/>
          <p:cNvGrpSpPr/>
          <p:nvPr/>
        </p:nvGrpSpPr>
        <p:grpSpPr>
          <a:xfrm>
            <a:off x="2808336" y="3488732"/>
            <a:ext cx="6263345" cy="2677195"/>
            <a:chOff x="570843" y="3060700"/>
            <a:chExt cx="8166733" cy="3490777"/>
          </a:xfrm>
        </p:grpSpPr>
        <p:grpSp>
          <p:nvGrpSpPr>
            <p:cNvPr id="6" name="Group 4"/>
            <p:cNvGrpSpPr/>
            <p:nvPr/>
          </p:nvGrpSpPr>
          <p:grpSpPr>
            <a:xfrm>
              <a:off x="2208846" y="3905201"/>
              <a:ext cx="587424" cy="587424"/>
              <a:chOff x="5401994" y="3071949"/>
              <a:chExt cx="587424" cy="587424"/>
            </a:xfrm>
          </p:grpSpPr>
          <p:sp>
            <p:nvSpPr>
              <p:cNvPr id="72" name="Oval 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Curved Connector 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7" name="Group 7"/>
            <p:cNvGrpSpPr/>
            <p:nvPr/>
          </p:nvGrpSpPr>
          <p:grpSpPr>
            <a:xfrm>
              <a:off x="2208846" y="4930697"/>
              <a:ext cx="587424" cy="587424"/>
              <a:chOff x="5401994" y="3071949"/>
              <a:chExt cx="587424" cy="587424"/>
            </a:xfrm>
          </p:grpSpPr>
          <p:sp>
            <p:nvSpPr>
              <p:cNvPr id="70" name="Oval 8"/>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1" name="Curved Connector 7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8" name="Group 10"/>
            <p:cNvGrpSpPr/>
            <p:nvPr/>
          </p:nvGrpSpPr>
          <p:grpSpPr>
            <a:xfrm>
              <a:off x="2208846" y="5964053"/>
              <a:ext cx="587424" cy="587424"/>
              <a:chOff x="5401994" y="3071949"/>
              <a:chExt cx="587424" cy="587424"/>
            </a:xfrm>
          </p:grpSpPr>
          <p:sp>
            <p:nvSpPr>
              <p:cNvPr id="68" name="Oval 67"/>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Curved Connector 68"/>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9" name="Group 13"/>
            <p:cNvGrpSpPr/>
            <p:nvPr/>
          </p:nvGrpSpPr>
          <p:grpSpPr>
            <a:xfrm>
              <a:off x="4709485" y="3905201"/>
              <a:ext cx="587424" cy="587424"/>
              <a:chOff x="5401994" y="3071949"/>
              <a:chExt cx="587424" cy="587424"/>
            </a:xfrm>
          </p:grpSpPr>
          <p:sp>
            <p:nvSpPr>
              <p:cNvPr id="66" name="Oval 65"/>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Curved Connector 66"/>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0" name="Group 16"/>
            <p:cNvGrpSpPr/>
            <p:nvPr/>
          </p:nvGrpSpPr>
          <p:grpSpPr>
            <a:xfrm>
              <a:off x="4709485" y="4930697"/>
              <a:ext cx="587424" cy="587424"/>
              <a:chOff x="5401994" y="3071949"/>
              <a:chExt cx="587424" cy="587424"/>
            </a:xfrm>
          </p:grpSpPr>
          <p:sp>
            <p:nvSpPr>
              <p:cNvPr id="64" name="Oval 63"/>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5" name="Curved Connector 64"/>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1" name="Group 19"/>
            <p:cNvGrpSpPr/>
            <p:nvPr/>
          </p:nvGrpSpPr>
          <p:grpSpPr>
            <a:xfrm>
              <a:off x="4709485" y="5964053"/>
              <a:ext cx="587424" cy="587424"/>
              <a:chOff x="5401994" y="3071949"/>
              <a:chExt cx="587424" cy="587424"/>
            </a:xfrm>
          </p:grpSpPr>
          <p:sp>
            <p:nvSpPr>
              <p:cNvPr id="62" name="Oval 61"/>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2" name="Group 22"/>
            <p:cNvGrpSpPr/>
            <p:nvPr/>
          </p:nvGrpSpPr>
          <p:grpSpPr>
            <a:xfrm>
              <a:off x="6985339" y="4930697"/>
              <a:ext cx="587424" cy="587424"/>
              <a:chOff x="5401994" y="3071949"/>
              <a:chExt cx="587424" cy="587424"/>
            </a:xfrm>
          </p:grpSpPr>
          <p:sp>
            <p:nvSpPr>
              <p:cNvPr id="60" name="Oval 59"/>
              <p:cNvSpPr/>
              <p:nvPr/>
            </p:nvSpPr>
            <p:spPr>
              <a:xfrm>
                <a:off x="5401994" y="3071949"/>
                <a:ext cx="587424" cy="58742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Curved Connector 60"/>
              <p:cNvCxnSpPr/>
              <p:nvPr/>
            </p:nvCxnSpPr>
            <p:spPr>
              <a:xfrm flipV="1">
                <a:off x="5490894" y="3224349"/>
                <a:ext cx="411480" cy="301752"/>
              </a:xfrm>
              <a:prstGeom prst="curvedConnector3">
                <a:avLst>
                  <a:gd name="adj1"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pic>
          <p:nvPicPr>
            <p:cNvPr id="13" name="Picture 1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74663" y="4025559"/>
              <a:ext cx="279400" cy="190500"/>
            </a:xfrm>
            <a:prstGeom prst="rect">
              <a:avLst/>
            </a:prstGeom>
          </p:spPr>
        </p:pic>
        <p:pic>
          <p:nvPicPr>
            <p:cNvPr id="14" name="Picture 1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681013" y="4728821"/>
              <a:ext cx="266700" cy="190500"/>
            </a:xfrm>
            <a:prstGeom prst="rect">
              <a:avLst/>
            </a:prstGeom>
          </p:spPr>
        </p:pic>
        <p:pic>
          <p:nvPicPr>
            <p:cNvPr id="15" name="Picture 1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49633" y="5459858"/>
              <a:ext cx="279400" cy="190500"/>
            </a:xfrm>
            <a:prstGeom prst="rect">
              <a:avLst/>
            </a:prstGeom>
          </p:spPr>
        </p:pic>
        <p:pic>
          <p:nvPicPr>
            <p:cNvPr id="16" name="Picture 1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8"/>
                <a:stretch>
                  <a:fillRect/>
                </a:stretch>
              </p:blipFill>
            </mc:Choice>
            <mc:Fallback>
              <p:blipFill>
                <a:blip r:embed="rId9"/>
                <a:stretch>
                  <a:fillRect/>
                </a:stretch>
              </p:blipFill>
            </mc:Fallback>
          </mc:AlternateContent>
          <p:spPr>
            <a:xfrm>
              <a:off x="570843" y="6259353"/>
              <a:ext cx="355600" cy="190500"/>
            </a:xfrm>
            <a:prstGeom prst="rect">
              <a:avLst/>
            </a:prstGeom>
          </p:spPr>
        </p:pic>
        <p:cxnSp>
          <p:nvCxnSpPr>
            <p:cNvPr id="17" name="Straight Arrow Connector 16"/>
            <p:cNvCxnSpPr/>
            <p:nvPr/>
          </p:nvCxnSpPr>
          <p:spPr>
            <a:xfrm>
              <a:off x="2796270" y="4198913"/>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796270" y="4198913"/>
              <a:ext cx="1999241"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796270" y="4198913"/>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2796270" y="4198913"/>
              <a:ext cx="1913215" cy="1025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796270" y="5224409"/>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796270" y="5224409"/>
              <a:ext cx="1913215" cy="103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2796270" y="6257765"/>
              <a:ext cx="191321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2796270" y="5432095"/>
              <a:ext cx="1999241"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96270" y="4406599"/>
              <a:ext cx="1999241" cy="18511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13" idx="3"/>
            </p:cNvCxnSpPr>
            <p:nvPr/>
          </p:nvCxnSpPr>
          <p:spPr>
            <a:xfrm>
              <a:off x="954063" y="4120809"/>
              <a:ext cx="1254783" cy="78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3" idx="3"/>
            </p:cNvCxnSpPr>
            <p:nvPr/>
          </p:nvCxnSpPr>
          <p:spPr>
            <a:xfrm>
              <a:off x="954063" y="4120809"/>
              <a:ext cx="1340809" cy="8959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13" idx="3"/>
            </p:cNvCxnSpPr>
            <p:nvPr/>
          </p:nvCxnSpPr>
          <p:spPr>
            <a:xfrm>
              <a:off x="954063" y="4120809"/>
              <a:ext cx="1340809" cy="1929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4" idx="3"/>
            </p:cNvCxnSpPr>
            <p:nvPr/>
          </p:nvCxnSpPr>
          <p:spPr>
            <a:xfrm flipV="1">
              <a:off x="947713" y="4198913"/>
              <a:ext cx="1261133" cy="6251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4" idx="3"/>
            </p:cNvCxnSpPr>
            <p:nvPr/>
          </p:nvCxnSpPr>
          <p:spPr>
            <a:xfrm>
              <a:off x="947713" y="4824071"/>
              <a:ext cx="1261133" cy="4003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4" idx="3"/>
            </p:cNvCxnSpPr>
            <p:nvPr/>
          </p:nvCxnSpPr>
          <p:spPr>
            <a:xfrm>
              <a:off x="947713" y="4824071"/>
              <a:ext cx="1261133" cy="1433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3"/>
            </p:cNvCxnSpPr>
            <p:nvPr/>
          </p:nvCxnSpPr>
          <p:spPr>
            <a:xfrm flipV="1">
              <a:off x="929033" y="4406599"/>
              <a:ext cx="1365839" cy="1148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p:cNvCxnSpPr>
            <p:nvPr/>
          </p:nvCxnSpPr>
          <p:spPr>
            <a:xfrm flipV="1">
              <a:off x="929033" y="5224409"/>
              <a:ext cx="1279813" cy="330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6" idx="3"/>
            </p:cNvCxnSpPr>
            <p:nvPr/>
          </p:nvCxnSpPr>
          <p:spPr>
            <a:xfrm flipV="1">
              <a:off x="926443" y="6257765"/>
              <a:ext cx="1282403" cy="96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6" idx="3"/>
            </p:cNvCxnSpPr>
            <p:nvPr/>
          </p:nvCxnSpPr>
          <p:spPr>
            <a:xfrm flipV="1">
              <a:off x="926443" y="5432095"/>
              <a:ext cx="1368429" cy="92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5" idx="3"/>
            </p:cNvCxnSpPr>
            <p:nvPr/>
          </p:nvCxnSpPr>
          <p:spPr>
            <a:xfrm>
              <a:off x="929033" y="5555108"/>
              <a:ext cx="1279813" cy="7026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6" idx="3"/>
            </p:cNvCxnSpPr>
            <p:nvPr/>
          </p:nvCxnSpPr>
          <p:spPr>
            <a:xfrm flipV="1">
              <a:off x="926443" y="4406599"/>
              <a:ext cx="1368429" cy="1948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5296909" y="5432095"/>
              <a:ext cx="1774456" cy="8256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296909" y="5224409"/>
              <a:ext cx="168843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296909" y="4198913"/>
              <a:ext cx="1774456" cy="817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7572763" y="5224409"/>
              <a:ext cx="302800" cy="39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2" name="Picture 41"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0"/>
                <a:stretch>
                  <a:fillRect/>
                </a:stretch>
              </p:blipFill>
            </mc:Choice>
            <mc:Fallback>
              <p:blipFill>
                <a:blip r:embed="rId11"/>
                <a:stretch>
                  <a:fillRect/>
                </a:stretch>
              </p:blipFill>
            </mc:Fallback>
          </mc:AlternateContent>
          <p:spPr>
            <a:xfrm>
              <a:off x="7886676" y="5038725"/>
              <a:ext cx="850900" cy="381000"/>
            </a:xfrm>
            <a:prstGeom prst="rect">
              <a:avLst/>
            </a:prstGeom>
          </p:spPr>
        </p:pic>
        <p:pic>
          <p:nvPicPr>
            <p:cNvPr id="43" name="Picture 42"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2"/>
                <a:stretch>
                  <a:fillRect/>
                </a:stretch>
              </p:blipFill>
            </mc:Choice>
            <mc:Fallback>
              <p:blipFill>
                <a:blip r:embed="rId13"/>
                <a:stretch>
                  <a:fillRect/>
                </a:stretch>
              </p:blipFill>
            </mc:Fallback>
          </mc:AlternateContent>
          <p:spPr>
            <a:xfrm>
              <a:off x="1443038" y="3757613"/>
              <a:ext cx="393700" cy="228600"/>
            </a:xfrm>
            <a:prstGeom prst="rect">
              <a:avLst/>
            </a:prstGeom>
          </p:spPr>
        </p:pic>
        <p:pic>
          <p:nvPicPr>
            <p:cNvPr id="44" name="Picture 43"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4"/>
                <a:stretch>
                  <a:fillRect/>
                </a:stretch>
              </p:blipFill>
            </mc:Choice>
            <mc:Fallback>
              <p:blipFill>
                <a:blip r:embed="rId15"/>
                <a:stretch>
                  <a:fillRect/>
                </a:stretch>
              </p:blipFill>
            </mc:Fallback>
          </mc:AlternateContent>
          <p:spPr>
            <a:xfrm>
              <a:off x="3502025" y="3708400"/>
              <a:ext cx="444500" cy="228600"/>
            </a:xfrm>
            <a:prstGeom prst="rect">
              <a:avLst/>
            </a:prstGeom>
          </p:spPr>
        </p:pic>
        <p:pic>
          <p:nvPicPr>
            <p:cNvPr id="45" name="Picture 44"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6"/>
                <a:stretch>
                  <a:fillRect/>
                </a:stretch>
              </p:blipFill>
            </mc:Choice>
            <mc:Fallback>
              <p:blipFill>
                <a:blip r:embed="rId17"/>
                <a:stretch>
                  <a:fillRect/>
                </a:stretch>
              </p:blipFill>
            </mc:Fallback>
          </mc:AlternateContent>
          <p:spPr>
            <a:xfrm>
              <a:off x="6005513" y="4195763"/>
              <a:ext cx="419100" cy="190500"/>
            </a:xfrm>
            <a:prstGeom prst="rect">
              <a:avLst/>
            </a:prstGeom>
          </p:spPr>
        </p:pic>
        <p:pic>
          <p:nvPicPr>
            <p:cNvPr id="46" name="Picture 45"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18"/>
                <a:stretch>
                  <a:fillRect/>
                </a:stretch>
              </p:blipFill>
            </mc:Choice>
            <mc:Fallback>
              <p:blipFill>
                <a:blip r:embed="rId19"/>
                <a:stretch>
                  <a:fillRect/>
                </a:stretch>
              </p:blipFill>
            </mc:Fallback>
          </mc:AlternateContent>
          <p:spPr>
            <a:xfrm>
              <a:off x="2796270" y="3060700"/>
              <a:ext cx="241300" cy="228600"/>
            </a:xfrm>
            <a:prstGeom prst="rect">
              <a:avLst/>
            </a:prstGeom>
          </p:spPr>
        </p:pic>
        <p:pic>
          <p:nvPicPr>
            <p:cNvPr id="47" name="Picture 46"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0"/>
                <a:stretch>
                  <a:fillRect/>
                </a:stretch>
              </p:blipFill>
            </mc:Choice>
            <mc:Fallback>
              <p:blipFill>
                <a:blip r:embed="rId21"/>
                <a:stretch>
                  <a:fillRect/>
                </a:stretch>
              </p:blipFill>
            </mc:Fallback>
          </mc:AlternateContent>
          <p:spPr>
            <a:xfrm>
              <a:off x="5329238" y="3098800"/>
              <a:ext cx="266700" cy="190500"/>
            </a:xfrm>
            <a:prstGeom prst="rect">
              <a:avLst/>
            </a:prstGeom>
          </p:spPr>
        </p:pic>
        <p:pic>
          <p:nvPicPr>
            <p:cNvPr id="48" name="Picture 47"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2"/>
                <a:stretch>
                  <a:fillRect/>
                </a:stretch>
              </p:blipFill>
            </mc:Choice>
            <mc:Fallback>
              <p:blipFill>
                <a:blip r:embed="rId23"/>
                <a:stretch>
                  <a:fillRect/>
                </a:stretch>
              </p:blipFill>
            </mc:Fallback>
          </mc:AlternateContent>
          <p:spPr>
            <a:xfrm>
              <a:off x="1014413" y="3159125"/>
              <a:ext cx="215900" cy="190500"/>
            </a:xfrm>
            <a:prstGeom prst="rect">
              <a:avLst/>
            </a:prstGeom>
          </p:spPr>
        </p:pic>
        <p:pic>
          <p:nvPicPr>
            <p:cNvPr id="49" name="Picture 4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4"/>
                <a:stretch>
                  <a:fillRect/>
                </a:stretch>
              </p:blipFill>
            </mc:Choice>
            <mc:Fallback>
              <p:blipFill>
                <a:blip r:embed="rId25"/>
                <a:stretch>
                  <a:fillRect/>
                </a:stretch>
              </p:blipFill>
            </mc:Fallback>
          </mc:AlternateContent>
          <p:spPr>
            <a:xfrm>
              <a:off x="1960778" y="3060700"/>
              <a:ext cx="254000" cy="228600"/>
            </a:xfrm>
            <a:prstGeom prst="rect">
              <a:avLst/>
            </a:prstGeom>
          </p:spPr>
        </p:pic>
        <p:pic>
          <p:nvPicPr>
            <p:cNvPr id="50" name="Picture 49"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6"/>
                <a:stretch>
                  <a:fillRect/>
                </a:stretch>
              </p:blipFill>
            </mc:Choice>
            <mc:Fallback>
              <p:blipFill>
                <a:blip r:embed="rId27"/>
                <a:stretch>
                  <a:fillRect/>
                </a:stretch>
              </p:blipFill>
            </mc:Fallback>
          </mc:AlternateContent>
          <p:spPr>
            <a:xfrm>
              <a:off x="4430085" y="3122613"/>
              <a:ext cx="279400" cy="190500"/>
            </a:xfrm>
            <a:prstGeom prst="rect">
              <a:avLst/>
            </a:prstGeom>
          </p:spPr>
        </p:pic>
        <p:pic>
          <p:nvPicPr>
            <p:cNvPr id="51" name="Picture 50"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8"/>
                <a:stretch>
                  <a:fillRect/>
                </a:stretch>
              </p:blipFill>
            </mc:Choice>
            <mc:Fallback>
              <p:blipFill>
                <a:blip r:embed="rId29"/>
                <a:stretch>
                  <a:fillRect/>
                </a:stretch>
              </p:blipFill>
            </mc:Fallback>
          </mc:AlternateContent>
          <p:spPr>
            <a:xfrm>
              <a:off x="7616825" y="3148013"/>
              <a:ext cx="203200" cy="190500"/>
            </a:xfrm>
            <a:prstGeom prst="rect">
              <a:avLst/>
            </a:prstGeom>
          </p:spPr>
        </p:pic>
        <p:cxnSp>
          <p:nvCxnSpPr>
            <p:cNvPr id="52" name="Straight Arrow Connector 51"/>
            <p:cNvCxnSpPr/>
            <p:nvPr/>
          </p:nvCxnSpPr>
          <p:spPr>
            <a:xfrm rot="5400000">
              <a:off x="770851" y="369568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rot="5400000">
              <a:off x="1757112"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rot="5400000">
              <a:off x="2546614" y="3678703"/>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5400000">
              <a:off x="4205037" y="3702277"/>
              <a:ext cx="65974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rot="5400000">
              <a:off x="4970795" y="3782048"/>
              <a:ext cx="866434"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rot="5400000">
              <a:off x="6156000" y="4139301"/>
              <a:ext cx="1558451" cy="1588"/>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rot="5400000">
              <a:off x="6853311" y="4227355"/>
              <a:ext cx="1709900" cy="1589"/>
            </a:xfrm>
            <a:prstGeom prst="straightConnector1">
              <a:avLst/>
            </a:prstGeom>
            <a:ln w="127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9" name="Picture 58" descr="latex-image-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0"/>
                <a:stretch>
                  <a:fillRect/>
                </a:stretch>
              </p:blipFill>
            </mc:Choice>
            <mc:Fallback>
              <p:blipFill>
                <a:blip r:embed="rId31"/>
                <a:stretch>
                  <a:fillRect/>
                </a:stretch>
              </p:blipFill>
            </mc:Fallback>
          </mc:AlternateContent>
          <p:spPr>
            <a:xfrm>
              <a:off x="6834188" y="3123191"/>
              <a:ext cx="215900" cy="190500"/>
            </a:xfrm>
            <a:prstGeom prst="rect">
              <a:avLst/>
            </a:prstGeom>
          </p:spPr>
        </p:pic>
      </p:grpSp>
      <p:sp>
        <p:nvSpPr>
          <p:cNvPr id="74" name="Left Arrow 73"/>
          <p:cNvSpPr/>
          <p:nvPr/>
        </p:nvSpPr>
        <p:spPr>
          <a:xfrm>
            <a:off x="3032081" y="6165927"/>
            <a:ext cx="5472077" cy="405425"/>
          </a:xfrm>
          <a:prstGeom prst="lef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8280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Neural Networks</a:t>
            </a:r>
            <a:endParaRPr lang="en-US" dirty="0"/>
          </a:p>
        </p:txBody>
      </p:sp>
      <p:sp>
        <p:nvSpPr>
          <p:cNvPr id="3" name="Content Placeholder 2"/>
          <p:cNvSpPr>
            <a:spLocks noGrp="1"/>
          </p:cNvSpPr>
          <p:nvPr>
            <p:ph idx="1"/>
          </p:nvPr>
        </p:nvSpPr>
        <p:spPr/>
        <p:txBody>
          <a:bodyPr/>
          <a:lstStyle/>
          <a:p>
            <a:r>
              <a:rPr lang="en-US" dirty="0" smtClean="0"/>
              <a:t>Interpretation of Hidden Layers</a:t>
            </a:r>
          </a:p>
          <a:p>
            <a:r>
              <a:rPr lang="en-US" dirty="0" err="1" smtClean="0"/>
              <a:t>Overfitting</a:t>
            </a:r>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111</a:t>
            </a:fld>
            <a:endParaRPr lang="en-US"/>
          </a:p>
        </p:txBody>
      </p:sp>
    </p:spTree>
    <p:extLst>
      <p:ext uri="{BB962C8B-B14F-4D97-AF65-F5344CB8AC3E}">
        <p14:creationId xmlns:p14="http://schemas.microsoft.com/office/powerpoint/2010/main" val="215299593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Interpretation of Hidden Layers</a:t>
            </a:r>
            <a:endParaRPr lang="en-US" dirty="0"/>
          </a:p>
        </p:txBody>
      </p:sp>
      <p:sp>
        <p:nvSpPr>
          <p:cNvPr id="3" name="Content Placeholder 2"/>
          <p:cNvSpPr>
            <a:spLocks noGrp="1"/>
          </p:cNvSpPr>
          <p:nvPr>
            <p:ph idx="1"/>
          </p:nvPr>
        </p:nvSpPr>
        <p:spPr/>
        <p:txBody>
          <a:bodyPr/>
          <a:lstStyle/>
          <a:p>
            <a:r>
              <a:rPr lang="en-US" dirty="0" smtClean="0"/>
              <a:t>What are the hidden layers doing?!</a:t>
            </a:r>
          </a:p>
          <a:p>
            <a:r>
              <a:rPr lang="en-US" dirty="0" smtClean="0"/>
              <a:t>Feature Extraction</a:t>
            </a:r>
          </a:p>
          <a:p>
            <a:r>
              <a:rPr lang="en-US" dirty="0" smtClean="0"/>
              <a:t>The non-</a:t>
            </a:r>
            <a:r>
              <a:rPr lang="en-US" dirty="0" err="1" smtClean="0"/>
              <a:t>linearities</a:t>
            </a:r>
            <a:r>
              <a:rPr lang="en-US" dirty="0" smtClean="0"/>
              <a:t> in the feature extraction can make interpretation of the hidden layers very difficult.</a:t>
            </a:r>
          </a:p>
          <a:p>
            <a:r>
              <a:rPr lang="en-US" dirty="0" smtClean="0"/>
              <a:t>This leads to Neural Networks being treated as </a:t>
            </a:r>
            <a:r>
              <a:rPr lang="en-US" b="1" dirty="0" smtClean="0"/>
              <a:t>black boxes</a:t>
            </a:r>
            <a:r>
              <a:rPr lang="en-US" dirty="0" smtClean="0"/>
              <a:t>.</a:t>
            </a:r>
          </a:p>
        </p:txBody>
      </p:sp>
      <p:sp>
        <p:nvSpPr>
          <p:cNvPr id="4" name="Slide Number Placeholder 3"/>
          <p:cNvSpPr>
            <a:spLocks noGrp="1"/>
          </p:cNvSpPr>
          <p:nvPr>
            <p:ph type="sldNum" sz="quarter" idx="12"/>
          </p:nvPr>
        </p:nvSpPr>
        <p:spPr/>
        <p:txBody>
          <a:bodyPr/>
          <a:lstStyle/>
          <a:p>
            <a:fld id="{38A32D33-4280-084A-95CA-F611CFB15E66}" type="slidenum">
              <a:rPr lang="en-US" smtClean="0"/>
              <a:pPr/>
              <a:t>112</a:t>
            </a:fld>
            <a:endParaRPr lang="en-US"/>
          </a:p>
        </p:txBody>
      </p:sp>
    </p:spTree>
    <p:extLst>
      <p:ext uri="{BB962C8B-B14F-4D97-AF65-F5344CB8AC3E}">
        <p14:creationId xmlns:p14="http://schemas.microsoft.com/office/powerpoint/2010/main" val="19888768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Overfitting</a:t>
            </a:r>
            <a:r>
              <a:rPr lang="en-US" dirty="0" smtClean="0"/>
              <a:t> in Neural Networks</a:t>
            </a:r>
            <a:endParaRPr lang="en-US" dirty="0"/>
          </a:p>
        </p:txBody>
      </p:sp>
      <p:sp>
        <p:nvSpPr>
          <p:cNvPr id="3" name="Content Placeholder 2"/>
          <p:cNvSpPr>
            <a:spLocks noGrp="1"/>
          </p:cNvSpPr>
          <p:nvPr>
            <p:ph idx="1"/>
          </p:nvPr>
        </p:nvSpPr>
        <p:spPr>
          <a:xfrm>
            <a:off x="1981201" y="1600201"/>
            <a:ext cx="4309805" cy="4525963"/>
          </a:xfrm>
        </p:spPr>
        <p:txBody>
          <a:bodyPr>
            <a:normAutofit/>
          </a:bodyPr>
          <a:lstStyle/>
          <a:p>
            <a:r>
              <a:rPr lang="en-US" dirty="0" smtClean="0"/>
              <a:t>Neural Networks are especially prone to </a:t>
            </a:r>
            <a:r>
              <a:rPr lang="en-US" dirty="0" err="1" smtClean="0"/>
              <a:t>overfitting</a:t>
            </a:r>
            <a:r>
              <a:rPr lang="en-US" dirty="0" smtClean="0"/>
              <a:t>.</a:t>
            </a:r>
          </a:p>
          <a:p>
            <a:endParaRPr lang="en-US" dirty="0" smtClean="0"/>
          </a:p>
          <a:p>
            <a:r>
              <a:rPr lang="en-US" dirty="0" smtClean="0"/>
              <a:t>Recall </a:t>
            </a:r>
            <a:r>
              <a:rPr lang="en-US" dirty="0" err="1" smtClean="0"/>
              <a:t>Perceptron</a:t>
            </a:r>
            <a:r>
              <a:rPr lang="en-US" dirty="0" smtClean="0"/>
              <a:t> Error</a:t>
            </a:r>
          </a:p>
          <a:p>
            <a:pPr lvl="1"/>
            <a:r>
              <a:rPr lang="en-US" dirty="0" smtClean="0"/>
              <a:t>Zero error is possible, but so is more extreme </a:t>
            </a:r>
            <a:r>
              <a:rPr lang="en-US" dirty="0" err="1" smtClean="0"/>
              <a:t>overfitting</a:t>
            </a:r>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38A32D33-4280-084A-95CA-F611CFB15E66}" type="slidenum">
              <a:rPr lang="en-US" smtClean="0"/>
              <a:pPr/>
              <a:t>113</a:t>
            </a:fld>
            <a:endParaRPr lang="en-US"/>
          </a:p>
        </p:txBody>
      </p:sp>
      <p:pic>
        <p:nvPicPr>
          <p:cNvPr id="5" name="Picture 4"/>
          <p:cNvPicPr>
            <a:picLocks noChangeAspect="1"/>
          </p:cNvPicPr>
          <p:nvPr/>
        </p:nvPicPr>
        <p:blipFill>
          <a:blip r:embed="rId2"/>
          <a:stretch>
            <a:fillRect/>
          </a:stretch>
        </p:blipFill>
        <p:spPr>
          <a:xfrm>
            <a:off x="7512050" y="4076700"/>
            <a:ext cx="2832100" cy="2565400"/>
          </a:xfrm>
          <a:prstGeom prst="rect">
            <a:avLst/>
          </a:prstGeom>
        </p:spPr>
      </p:pic>
      <p:pic>
        <p:nvPicPr>
          <p:cNvPr id="6" name="Picture 5"/>
          <p:cNvPicPr>
            <a:picLocks noChangeAspect="1"/>
          </p:cNvPicPr>
          <p:nvPr/>
        </p:nvPicPr>
        <p:blipFill>
          <a:blip r:embed="rId3"/>
          <a:stretch>
            <a:fillRect/>
          </a:stretch>
        </p:blipFill>
        <p:spPr>
          <a:xfrm>
            <a:off x="7524750" y="1417638"/>
            <a:ext cx="2819400" cy="2540000"/>
          </a:xfrm>
          <a:prstGeom prst="rect">
            <a:avLst/>
          </a:prstGeom>
        </p:spPr>
      </p:pic>
      <p:sp>
        <p:nvSpPr>
          <p:cNvPr id="7" name="TextBox 6"/>
          <p:cNvSpPr txBox="1"/>
          <p:nvPr/>
        </p:nvSpPr>
        <p:spPr>
          <a:xfrm>
            <a:off x="6313774" y="2275640"/>
            <a:ext cx="1198277" cy="646331"/>
          </a:xfrm>
          <a:prstGeom prst="rect">
            <a:avLst/>
          </a:prstGeom>
          <a:noFill/>
        </p:spPr>
        <p:txBody>
          <a:bodyPr wrap="none" rtlCol="0">
            <a:spAutoFit/>
          </a:bodyPr>
          <a:lstStyle/>
          <a:p>
            <a:pPr algn="r"/>
            <a:r>
              <a:rPr lang="en-US" dirty="0"/>
              <a:t>Logistic</a:t>
            </a:r>
          </a:p>
          <a:p>
            <a:pPr algn="r"/>
            <a:r>
              <a:rPr lang="en-US" dirty="0"/>
              <a:t>Regression</a:t>
            </a:r>
          </a:p>
        </p:txBody>
      </p:sp>
      <p:sp>
        <p:nvSpPr>
          <p:cNvPr id="8" name="TextBox 7"/>
          <p:cNvSpPr txBox="1"/>
          <p:nvPr/>
        </p:nvSpPr>
        <p:spPr>
          <a:xfrm>
            <a:off x="6291006" y="4882280"/>
            <a:ext cx="1221045" cy="369332"/>
          </a:xfrm>
          <a:prstGeom prst="rect">
            <a:avLst/>
          </a:prstGeom>
          <a:noFill/>
        </p:spPr>
        <p:txBody>
          <a:bodyPr wrap="none" rtlCol="0">
            <a:spAutoFit/>
          </a:bodyPr>
          <a:lstStyle/>
          <a:p>
            <a:r>
              <a:rPr lang="en-US" dirty="0" err="1"/>
              <a:t>Perceptron</a:t>
            </a:r>
            <a:endParaRPr lang="en-US" dirty="0"/>
          </a:p>
        </p:txBody>
      </p:sp>
    </p:spTree>
    <p:extLst>
      <p:ext uri="{BB962C8B-B14F-4D97-AF65-F5344CB8AC3E}">
        <p14:creationId xmlns:p14="http://schemas.microsoft.com/office/powerpoint/2010/main" val="1352805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 fitting in neural network</a:t>
            </a:r>
            <a:endParaRPr lang="en-US" dirty="0"/>
          </a:p>
        </p:txBody>
      </p:sp>
      <p:sp>
        <p:nvSpPr>
          <p:cNvPr id="3" name="Content Placeholder 2"/>
          <p:cNvSpPr>
            <a:spLocks noGrp="1"/>
          </p:cNvSpPr>
          <p:nvPr>
            <p:ph idx="1"/>
          </p:nvPr>
        </p:nvSpPr>
        <p:spPr/>
        <p:txBody>
          <a:bodyPr/>
          <a:lstStyle/>
          <a:p>
            <a:r>
              <a:rPr lang="en-US" dirty="0" err="1"/>
              <a:t>Underfitting</a:t>
            </a:r>
            <a:r>
              <a:rPr lang="en-US" dirty="0"/>
              <a:t> in a neural network </a:t>
            </a:r>
            <a:r>
              <a:rPr lang="en-US" dirty="0" smtClean="0"/>
              <a:t>happens when the model is too simple or hasn't trained long enough to capture the real patterns in the data. It leads to poor performance and high error rates on both the training set and new, unseen data</a:t>
            </a:r>
            <a:endParaRPr lang="en-US" dirty="0"/>
          </a:p>
        </p:txBody>
      </p:sp>
    </p:spTree>
    <p:extLst>
      <p:ext uri="{BB962C8B-B14F-4D97-AF65-F5344CB8AC3E}">
        <p14:creationId xmlns:p14="http://schemas.microsoft.com/office/powerpoint/2010/main" val="77791737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Signs of </a:t>
            </a:r>
            <a:r>
              <a:rPr lang="en-US" dirty="0" err="1" smtClean="0"/>
              <a:t>Underfitting</a:t>
            </a:r>
            <a:endParaRPr lang="en-US" dirty="0"/>
          </a:p>
        </p:txBody>
      </p:sp>
      <p:sp>
        <p:nvSpPr>
          <p:cNvPr id="4" name="Rectangle 1"/>
          <p:cNvSpPr>
            <a:spLocks noGrp="1" noChangeArrowheads="1"/>
          </p:cNvSpPr>
          <p:nvPr>
            <p:ph idx="1"/>
          </p:nvPr>
        </p:nvSpPr>
        <p:spPr bwMode="auto">
          <a:xfrm>
            <a:off x="2362201" y="3685835"/>
            <a:ext cx="4166205" cy="630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6176"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High training loss and high validation or test loss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The model fails to improve further even as training continues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High statistical bias and low variance</a:t>
            </a: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5517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Causes</a:t>
            </a:r>
            <a:endParaRPr lang="en-US" dirty="0"/>
          </a:p>
        </p:txBody>
      </p:sp>
      <p:sp>
        <p:nvSpPr>
          <p:cNvPr id="4" name="Rectangle 1"/>
          <p:cNvSpPr>
            <a:spLocks noGrp="1" noChangeArrowheads="1"/>
          </p:cNvSpPr>
          <p:nvPr>
            <p:ph idx="1"/>
          </p:nvPr>
        </p:nvSpPr>
        <p:spPr bwMode="auto">
          <a:xfrm>
            <a:off x="2362201" y="3593502"/>
            <a:ext cx="4956485" cy="815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6176"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Network size is too small (not enough layers or neurons)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Training stopped too early (too few epochs)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Regularization penalty is too strong (like heavy weight decay or dropout)</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Input features lack enough information to explain the target</a:t>
            </a: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27692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Ways to Fix It</a:t>
            </a:r>
            <a:endParaRPr lang="en-US" dirty="0"/>
          </a:p>
        </p:txBody>
      </p:sp>
      <p:sp>
        <p:nvSpPr>
          <p:cNvPr id="4" name="Rectangle 1"/>
          <p:cNvSpPr>
            <a:spLocks noGrp="1" noChangeArrowheads="1"/>
          </p:cNvSpPr>
          <p:nvPr>
            <p:ph idx="1"/>
          </p:nvPr>
        </p:nvSpPr>
        <p:spPr bwMode="auto">
          <a:xfrm>
            <a:off x="2362200" y="3593502"/>
            <a:ext cx="4600618" cy="815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6176"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Add more layers or neurons to make the network deeper and wider</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Train for more epochs or adjust the learning rate</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Reduce or remove aggressive regularization techniques</a:t>
            </a:r>
            <a:endParaRPr lang="en-IN" altLang="en-US" sz="60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IN" altLang="en-US" sz="1200">
                <a:latin typeface="Google Sans"/>
                <a:cs typeface="Arial" panose="020B0604020202020204" pitchFamily="34" charset="0"/>
              </a:rPr>
              <a:t>Add more relevant features or improve data quality</a:t>
            </a:r>
            <a:endParaRPr lang="en-IN" alt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4091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ltLang="en-US" smtClean="0"/>
              <a:t>How to solve</a:t>
            </a:r>
          </a:p>
        </p:txBody>
      </p:sp>
      <p:sp>
        <p:nvSpPr>
          <p:cNvPr id="81923" name="Content Placeholder 2"/>
          <p:cNvSpPr>
            <a:spLocks noGrp="1"/>
          </p:cNvSpPr>
          <p:nvPr>
            <p:ph idx="1"/>
          </p:nvPr>
        </p:nvSpPr>
        <p:spPr>
          <a:xfrm>
            <a:off x="1981200" y="3786189"/>
            <a:ext cx="8229600" cy="2339975"/>
          </a:xfrm>
        </p:spPr>
        <p:txBody>
          <a:bodyPr/>
          <a:lstStyle/>
          <a:p>
            <a:pPr>
              <a:buFontTx/>
              <a:buNone/>
            </a:pPr>
            <a:endParaRPr lang="en-US" altLang="en-US" smtClean="0"/>
          </a:p>
          <a:p>
            <a:pPr>
              <a:buFontTx/>
              <a:buNone/>
            </a:pPr>
            <a:r>
              <a:rPr lang="en-US" altLang="en-US" smtClean="0"/>
              <a:t>Use bipolar data in the place of binary data</a:t>
            </a:r>
          </a:p>
          <a:p>
            <a:pPr>
              <a:buFontTx/>
              <a:buNone/>
            </a:pPr>
            <a:r>
              <a:rPr lang="en-US" altLang="en-US" smtClean="0"/>
              <a:t>Initially the weights and bias are set to zero</a:t>
            </a:r>
          </a:p>
          <a:p>
            <a:pPr>
              <a:buFontTx/>
              <a:buNone/>
            </a:pPr>
            <a:r>
              <a:rPr lang="en-US" altLang="en-US" smtClean="0"/>
              <a:t>w1=w2=b=0</a:t>
            </a:r>
          </a:p>
        </p:txBody>
      </p:sp>
      <p:graphicFrame>
        <p:nvGraphicFramePr>
          <p:cNvPr id="4" name="Table 3"/>
          <p:cNvGraphicFramePr>
            <a:graphicFrameLocks noGrp="1"/>
          </p:cNvGraphicFramePr>
          <p:nvPr/>
        </p:nvGraphicFramePr>
        <p:xfrm>
          <a:off x="3048000" y="1397000"/>
          <a:ext cx="6096000" cy="1854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dirty="0" smtClean="0"/>
                        <a:t>X1</a:t>
                      </a:r>
                      <a:endParaRPr lang="en-US" dirty="0"/>
                    </a:p>
                  </a:txBody>
                  <a:tcPr/>
                </a:tc>
                <a:tc>
                  <a:txBody>
                    <a:bodyPr/>
                    <a:lstStyle/>
                    <a:p>
                      <a:r>
                        <a:rPr lang="en-US" dirty="0" smtClean="0"/>
                        <a:t>X2</a:t>
                      </a:r>
                      <a:endParaRPr lang="en-US" dirty="0"/>
                    </a:p>
                  </a:txBody>
                  <a:tcPr/>
                </a:tc>
                <a:tc>
                  <a:txBody>
                    <a:bodyPr/>
                    <a:lstStyle/>
                    <a:p>
                      <a:r>
                        <a:rPr lang="en-US" dirty="0" smtClean="0"/>
                        <a:t>B</a:t>
                      </a:r>
                      <a:endParaRPr lang="en-US" dirty="0"/>
                    </a:p>
                  </a:txBody>
                  <a:tcPr/>
                </a:tc>
                <a:tc>
                  <a:txBody>
                    <a:bodyPr/>
                    <a:lstStyle/>
                    <a:p>
                      <a:r>
                        <a:rPr lang="en-US" dirty="0" smtClean="0"/>
                        <a:t>y</a:t>
                      </a:r>
                      <a:endParaRPr lang="en-US" dirty="0"/>
                    </a:p>
                  </a:txBody>
                  <a:tcPr/>
                </a:tc>
                <a:extLst>
                  <a:ext uri="{0D108BD9-81ED-4DB2-BD59-A6C34878D82A}">
                    <a16:rowId xmlns:a16="http://schemas.microsoft.com/office/drawing/2014/main" val="10000"/>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1"/>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2"/>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3"/>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6032069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endParaRPr lang="en-US" altLang="en-US" smtClean="0"/>
          </a:p>
        </p:txBody>
      </p:sp>
      <p:graphicFrame>
        <p:nvGraphicFramePr>
          <p:cNvPr id="4" name="Content Placeholder 3"/>
          <p:cNvGraphicFramePr>
            <a:graphicFrameLocks noGrp="1"/>
          </p:cNvGraphicFramePr>
          <p:nvPr>
            <p:ph idx="1"/>
          </p:nvPr>
        </p:nvGraphicFramePr>
        <p:xfrm>
          <a:off x="1981200" y="1600200"/>
          <a:ext cx="8229600" cy="2225676"/>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tblGrid>
              <a:tr h="370946">
                <a:tc gridSpan="3">
                  <a:txBody>
                    <a:bodyPr/>
                    <a:lstStyle/>
                    <a:p>
                      <a:r>
                        <a:rPr lang="en-US" sz="1800" dirty="0" smtClean="0"/>
                        <a:t>Inputs</a:t>
                      </a:r>
                      <a:endParaRPr lang="en-US" sz="1800" dirty="0"/>
                    </a:p>
                  </a:txBody>
                  <a:tcPr marT="45733" marB="45733"/>
                </a:tc>
                <a:tc hMerge="1">
                  <a:txBody>
                    <a:bodyPr/>
                    <a:lstStyle/>
                    <a:p>
                      <a:endParaRPr lang="en-US" dirty="0"/>
                    </a:p>
                  </a:txBody>
                  <a:tcPr/>
                </a:tc>
                <a:tc hMerge="1">
                  <a:txBody>
                    <a:bodyPr/>
                    <a:lstStyle/>
                    <a:p>
                      <a:endParaRPr lang="en-US" dirty="0"/>
                    </a:p>
                  </a:txBody>
                  <a:tcPr/>
                </a:tc>
                <a:tc>
                  <a:txBody>
                    <a:bodyPr/>
                    <a:lstStyle/>
                    <a:p>
                      <a:r>
                        <a:rPr lang="en-US" sz="1800" dirty="0" smtClean="0"/>
                        <a:t>y</a:t>
                      </a:r>
                      <a:endParaRPr lang="en-US" sz="1800" dirty="0"/>
                    </a:p>
                  </a:txBody>
                  <a:tcPr marT="45733" marB="45733"/>
                </a:tc>
                <a:tc gridSpan="3">
                  <a:txBody>
                    <a:bodyPr/>
                    <a:lstStyle/>
                    <a:p>
                      <a:r>
                        <a:rPr lang="en-US" sz="1800" dirty="0" smtClean="0"/>
                        <a:t>Weight changes</a:t>
                      </a:r>
                      <a:endParaRPr lang="en-US" sz="1800" dirty="0"/>
                    </a:p>
                  </a:txBody>
                  <a:tcPr marT="45733" marB="45733"/>
                </a:tc>
                <a:tc hMerge="1">
                  <a:txBody>
                    <a:bodyPr/>
                    <a:lstStyle/>
                    <a:p>
                      <a:endParaRPr lang="en-US" dirty="0"/>
                    </a:p>
                  </a:txBody>
                  <a:tcPr/>
                </a:tc>
                <a:tc hMerge="1">
                  <a:txBody>
                    <a:bodyPr/>
                    <a:lstStyle/>
                    <a:p>
                      <a:endParaRPr lang="en-US" dirty="0"/>
                    </a:p>
                  </a:txBody>
                  <a:tcPr/>
                </a:tc>
                <a:tc gridSpan="3">
                  <a:txBody>
                    <a:bodyPr/>
                    <a:lstStyle/>
                    <a:p>
                      <a:r>
                        <a:rPr lang="en-US" sz="1800" dirty="0" smtClean="0"/>
                        <a:t>weights</a:t>
                      </a:r>
                      <a:endParaRPr lang="en-US" sz="1800" dirty="0"/>
                    </a:p>
                  </a:txBody>
                  <a:tcPr marT="45733" marB="45733"/>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946">
                <a:tc>
                  <a:txBody>
                    <a:bodyPr/>
                    <a:lstStyle/>
                    <a:p>
                      <a:r>
                        <a:rPr lang="en-US" sz="1800" dirty="0" smtClean="0"/>
                        <a:t>X1</a:t>
                      </a:r>
                      <a:endParaRPr lang="en-US" sz="1800" dirty="0"/>
                    </a:p>
                  </a:txBody>
                  <a:tcPr marT="45733" marB="45733"/>
                </a:tc>
                <a:tc>
                  <a:txBody>
                    <a:bodyPr/>
                    <a:lstStyle/>
                    <a:p>
                      <a:r>
                        <a:rPr lang="en-US" sz="1800" dirty="0" smtClean="0"/>
                        <a:t>X2</a:t>
                      </a:r>
                      <a:endParaRPr lang="en-US" sz="1800" dirty="0"/>
                    </a:p>
                  </a:txBody>
                  <a:tcPr marT="45733" marB="45733"/>
                </a:tc>
                <a:tc>
                  <a:txBody>
                    <a:bodyPr/>
                    <a:lstStyle/>
                    <a:p>
                      <a:r>
                        <a:rPr lang="en-US" sz="1800" dirty="0" smtClean="0"/>
                        <a:t>b</a:t>
                      </a:r>
                      <a:endParaRPr lang="en-US" sz="1800" dirty="0"/>
                    </a:p>
                  </a:txBody>
                  <a:tcPr marT="45733" marB="45733"/>
                </a:tc>
                <a:tc>
                  <a:txBody>
                    <a:bodyPr/>
                    <a:lstStyle/>
                    <a:p>
                      <a:r>
                        <a:rPr lang="en-US" sz="1800" dirty="0" smtClean="0"/>
                        <a:t>Y</a:t>
                      </a:r>
                      <a:endParaRPr lang="en-US" sz="1800" dirty="0"/>
                    </a:p>
                  </a:txBody>
                  <a:tcPr marT="45733" marB="45733"/>
                </a:tc>
                <a:tc>
                  <a:txBody>
                    <a:bodyPr/>
                    <a:lstStyle/>
                    <a:p>
                      <a:r>
                        <a:rPr lang="en-US" sz="1800" dirty="0" smtClean="0"/>
                        <a:t>W1</a:t>
                      </a:r>
                      <a:endParaRPr lang="en-US" sz="1800" dirty="0"/>
                    </a:p>
                  </a:txBody>
                  <a:tcPr marT="45733" marB="45733"/>
                </a:tc>
                <a:tc>
                  <a:txBody>
                    <a:bodyPr/>
                    <a:lstStyle/>
                    <a:p>
                      <a:r>
                        <a:rPr lang="en-US" sz="1800" dirty="0" smtClean="0"/>
                        <a:t>W2</a:t>
                      </a:r>
                      <a:endParaRPr lang="en-US" sz="1800" dirty="0"/>
                    </a:p>
                  </a:txBody>
                  <a:tcPr marT="45733" marB="45733"/>
                </a:tc>
                <a:tc>
                  <a:txBody>
                    <a:bodyPr/>
                    <a:lstStyle/>
                    <a:p>
                      <a:r>
                        <a:rPr lang="en-US" sz="1800" dirty="0" smtClean="0"/>
                        <a:t>B</a:t>
                      </a:r>
                      <a:endParaRPr lang="en-US" sz="1800" dirty="0"/>
                    </a:p>
                  </a:txBody>
                  <a:tcPr marT="45733" marB="45733"/>
                </a:tc>
                <a:tc>
                  <a:txBody>
                    <a:bodyPr/>
                    <a:lstStyle/>
                    <a:p>
                      <a:r>
                        <a:rPr lang="en-US" sz="1800" dirty="0" smtClean="0"/>
                        <a:t>W1(0)</a:t>
                      </a:r>
                      <a:endParaRPr lang="en-US" sz="1800" dirty="0"/>
                    </a:p>
                  </a:txBody>
                  <a:tcPr marT="45733" marB="45733"/>
                </a:tc>
                <a:tc>
                  <a:txBody>
                    <a:bodyPr/>
                    <a:lstStyle/>
                    <a:p>
                      <a:r>
                        <a:rPr lang="en-US" sz="1800" dirty="0" smtClean="0"/>
                        <a:t>W2(0)</a:t>
                      </a:r>
                      <a:endParaRPr lang="en-US" sz="1800" dirty="0"/>
                    </a:p>
                  </a:txBody>
                  <a:tcPr marT="45733" marB="45733"/>
                </a:tc>
                <a:tc>
                  <a:txBody>
                    <a:bodyPr/>
                    <a:lstStyle/>
                    <a:p>
                      <a:r>
                        <a:rPr lang="en-US" sz="1800" dirty="0" smtClean="0"/>
                        <a:t>(0)b</a:t>
                      </a:r>
                      <a:endParaRPr lang="en-US" sz="1800" dirty="0"/>
                    </a:p>
                  </a:txBody>
                  <a:tcPr marT="45733" marB="45733"/>
                </a:tc>
                <a:extLst>
                  <a:ext uri="{0D108BD9-81ED-4DB2-BD59-A6C34878D82A}">
                    <a16:rowId xmlns:a16="http://schemas.microsoft.com/office/drawing/2014/main" val="10001"/>
                  </a:ext>
                </a:extLst>
              </a:tr>
              <a:tr h="370946">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extLst>
                  <a:ext uri="{0D108BD9-81ED-4DB2-BD59-A6C34878D82A}">
                    <a16:rowId xmlns:a16="http://schemas.microsoft.com/office/drawing/2014/main" val="10002"/>
                  </a:ext>
                </a:extLst>
              </a:tr>
              <a:tr h="370946">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2</a:t>
                      </a:r>
                      <a:endParaRPr lang="en-US" sz="1800" dirty="0"/>
                    </a:p>
                  </a:txBody>
                  <a:tcPr marT="45733" marB="45733"/>
                </a:tc>
                <a:tc>
                  <a:txBody>
                    <a:bodyPr/>
                    <a:lstStyle/>
                    <a:p>
                      <a:r>
                        <a:rPr lang="en-US" sz="1800" dirty="0" smtClean="0"/>
                        <a:t>0</a:t>
                      </a:r>
                      <a:endParaRPr lang="en-US" sz="1800" dirty="0"/>
                    </a:p>
                  </a:txBody>
                  <a:tcPr marT="45733" marB="45733"/>
                </a:tc>
                <a:tc>
                  <a:txBody>
                    <a:bodyPr/>
                    <a:lstStyle/>
                    <a:p>
                      <a:r>
                        <a:rPr lang="en-US" sz="1800" dirty="0" smtClean="0"/>
                        <a:t>2</a:t>
                      </a:r>
                      <a:endParaRPr lang="en-US" sz="1800" dirty="0"/>
                    </a:p>
                  </a:txBody>
                  <a:tcPr marT="45733" marB="45733"/>
                </a:tc>
                <a:extLst>
                  <a:ext uri="{0D108BD9-81ED-4DB2-BD59-A6C34878D82A}">
                    <a16:rowId xmlns:a16="http://schemas.microsoft.com/office/drawing/2014/main" val="10003"/>
                  </a:ext>
                </a:extLst>
              </a:tr>
              <a:tr h="370946">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3</a:t>
                      </a:r>
                      <a:endParaRPr lang="en-US" sz="1800" dirty="0"/>
                    </a:p>
                  </a:txBody>
                  <a:tcPr marT="45733" marB="45733"/>
                </a:tc>
                <a:extLst>
                  <a:ext uri="{0D108BD9-81ED-4DB2-BD59-A6C34878D82A}">
                    <a16:rowId xmlns:a16="http://schemas.microsoft.com/office/drawing/2014/main" val="10004"/>
                  </a:ext>
                </a:extLst>
              </a:tr>
              <a:tr h="370946">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-1</a:t>
                      </a:r>
                      <a:endParaRPr lang="en-US" sz="1800" dirty="0"/>
                    </a:p>
                  </a:txBody>
                  <a:tcPr marT="45733" marB="45733"/>
                </a:tc>
                <a:tc>
                  <a:txBody>
                    <a:bodyPr/>
                    <a:lstStyle/>
                    <a:p>
                      <a:r>
                        <a:rPr lang="en-US" sz="1800" dirty="0" smtClean="0"/>
                        <a:t>2</a:t>
                      </a:r>
                      <a:endParaRPr lang="en-US" sz="1800" dirty="0"/>
                    </a:p>
                  </a:txBody>
                  <a:tcPr marT="45733" marB="45733"/>
                </a:tc>
                <a:tc>
                  <a:txBody>
                    <a:bodyPr/>
                    <a:lstStyle/>
                    <a:p>
                      <a:r>
                        <a:rPr lang="en-US" sz="1800" dirty="0" smtClean="0"/>
                        <a:t>2</a:t>
                      </a:r>
                      <a:endParaRPr lang="en-US" sz="1800" dirty="0"/>
                    </a:p>
                  </a:txBody>
                  <a:tcPr marT="45733" marB="45733"/>
                </a:tc>
                <a:tc>
                  <a:txBody>
                    <a:bodyPr/>
                    <a:lstStyle/>
                    <a:p>
                      <a:r>
                        <a:rPr lang="en-US" sz="1800" dirty="0" smtClean="0"/>
                        <a:t>2</a:t>
                      </a:r>
                      <a:endParaRPr lang="en-US" sz="1800" dirty="0"/>
                    </a:p>
                  </a:txBody>
                  <a:tcPr marT="45733" marB="45733"/>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82305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41012</TotalTime>
  <Words>4339</Words>
  <Application>Microsoft Office PowerPoint</Application>
  <PresentationFormat>Widescreen</PresentationFormat>
  <Paragraphs>842</Paragraphs>
  <Slides>119</Slides>
  <Notes>13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119</vt:i4>
      </vt:variant>
    </vt:vector>
  </HeadingPairs>
  <TitlesOfParts>
    <vt:vector size="132" baseType="lpstr">
      <vt:lpstr>Arial</vt:lpstr>
      <vt:lpstr>Arial MT</vt:lpstr>
      <vt:lpstr>Arial Narrow</vt:lpstr>
      <vt:lpstr>Calibri</vt:lpstr>
      <vt:lpstr>Calibri Light</vt:lpstr>
      <vt:lpstr>Cambria</vt:lpstr>
      <vt:lpstr>Google Sans</vt:lpstr>
      <vt:lpstr>Lucida Sans Unicode</vt:lpstr>
      <vt:lpstr>Times New Roman</vt:lpstr>
      <vt:lpstr>Trebuchet MS</vt:lpstr>
      <vt:lpstr>Wingdings</vt:lpstr>
      <vt:lpstr>Office Theme</vt:lpstr>
      <vt:lpstr>Equation</vt:lpstr>
      <vt:lpstr>Artificial Neural Networks</vt:lpstr>
      <vt:lpstr>Learning Objectives</vt:lpstr>
      <vt:lpstr>Fundamental concept</vt:lpstr>
      <vt:lpstr>ANN</vt:lpstr>
      <vt:lpstr>Artificial Neural Networks</vt:lpstr>
      <vt:lpstr>Information flow in nervous system</vt:lpstr>
      <vt:lpstr>Biological Neural Network</vt:lpstr>
      <vt:lpstr>Biological Neuron</vt:lpstr>
      <vt:lpstr>Comparison between brain verses computer </vt:lpstr>
      <vt:lpstr>Features of McCulloch-Pitts model (1943)</vt:lpstr>
      <vt:lpstr>Basic models of ANN</vt:lpstr>
      <vt:lpstr>Classification based on interconnections</vt:lpstr>
      <vt:lpstr>Single layer Feedforward Network</vt:lpstr>
      <vt:lpstr>Multilayer feed forward network</vt:lpstr>
      <vt:lpstr>Recurrent Networks</vt:lpstr>
      <vt:lpstr>Basic models of ANN</vt:lpstr>
      <vt:lpstr>Learning</vt:lpstr>
      <vt:lpstr>Training</vt:lpstr>
      <vt:lpstr>Classification of learning</vt:lpstr>
      <vt:lpstr>Supervised Learning</vt:lpstr>
      <vt:lpstr>Unsupervised Learning</vt:lpstr>
      <vt:lpstr>Reinforcement Learning</vt:lpstr>
      <vt:lpstr>When Reinforcement learning is used?</vt:lpstr>
      <vt:lpstr>Basic models of ANN</vt:lpstr>
      <vt:lpstr>Activation Functions</vt:lpstr>
      <vt:lpstr>Activation Functions</vt:lpstr>
      <vt:lpstr>Important terminologies of ANNs</vt:lpstr>
      <vt:lpstr>Weights</vt:lpstr>
      <vt:lpstr>Weight matrix</vt:lpstr>
      <vt:lpstr>Weights contd…</vt:lpstr>
      <vt:lpstr>Bias</vt:lpstr>
      <vt:lpstr>Why Bias is required?</vt:lpstr>
      <vt:lpstr>Threshold</vt:lpstr>
      <vt:lpstr>Learning rate</vt:lpstr>
      <vt:lpstr>Single Layer Perceptron</vt:lpstr>
      <vt:lpstr>Single Layer Perceptron</vt:lpstr>
      <vt:lpstr>Perceptron Learning Rule</vt:lpstr>
      <vt:lpstr>Perceptron Learning Rule</vt:lpstr>
      <vt:lpstr>Logical AND </vt:lpstr>
      <vt:lpstr>Multi Layer Perceptron </vt:lpstr>
      <vt:lpstr>Architecture of Multilayer Perceptron</vt:lpstr>
      <vt:lpstr>Architecture of Multilayer perceptron</vt:lpstr>
      <vt:lpstr>Working</vt:lpstr>
      <vt:lpstr>Forward propagation</vt:lpstr>
      <vt:lpstr>Loss Function Evaluation (Measuring Error)</vt:lpstr>
      <vt:lpstr>Backpropagation (Distributing the Blame)</vt:lpstr>
      <vt:lpstr>MLP Solved example </vt:lpstr>
      <vt:lpstr>Weight updation</vt:lpstr>
      <vt:lpstr>Logical XOR</vt:lpstr>
      <vt:lpstr>Sigmoid Activation Functions (Logistics)</vt:lpstr>
      <vt:lpstr>Tanh Activation Function</vt:lpstr>
      <vt:lpstr>Rectified Linear Unit(ReLU)</vt:lpstr>
      <vt:lpstr>Leaky-ReLU</vt:lpstr>
      <vt:lpstr>Softmax </vt:lpstr>
      <vt:lpstr>Loss Function</vt:lpstr>
      <vt:lpstr>Loss functions</vt:lpstr>
      <vt:lpstr>Loss functions</vt:lpstr>
      <vt:lpstr>Loss functions</vt:lpstr>
      <vt:lpstr>Loss/Cost functions</vt:lpstr>
      <vt:lpstr>Loss/Cost functions</vt:lpstr>
      <vt:lpstr>Loss/Cost functions</vt:lpstr>
      <vt:lpstr>Classification loss functions</vt:lpstr>
      <vt:lpstr>Classification loss functions</vt:lpstr>
      <vt:lpstr>Classification loss functions</vt:lpstr>
      <vt:lpstr>Classification loss functions</vt:lpstr>
      <vt:lpstr>Classification loss functions</vt:lpstr>
      <vt:lpstr>Classification loss functions</vt:lpstr>
      <vt:lpstr>Classification loss functions</vt:lpstr>
      <vt:lpstr>Classification loss functions</vt:lpstr>
      <vt:lpstr>Regression loss functions</vt:lpstr>
      <vt:lpstr>Regression loss functions</vt:lpstr>
      <vt:lpstr>Regression loss functions</vt:lpstr>
      <vt:lpstr>Regression loss functions</vt:lpstr>
      <vt:lpstr>Regression loss functions</vt:lpstr>
      <vt:lpstr>Regression loss</vt:lpstr>
      <vt:lpstr>Perceptron Learning rule</vt:lpstr>
      <vt:lpstr>PowerPoint Presentation</vt:lpstr>
      <vt:lpstr>Linear Separability</vt:lpstr>
      <vt:lpstr>Gradient Descent and the Delta Learning Rule</vt:lpstr>
      <vt:lpstr>Understanding the Error Surface</vt:lpstr>
      <vt:lpstr>What is Gradient Descent?</vt:lpstr>
      <vt:lpstr>The Math Behind Gradient Descent</vt:lpstr>
      <vt:lpstr>What is the Delta Learning Rule?</vt:lpstr>
      <vt:lpstr>Mathematical Formulation of Delta Rule</vt:lpstr>
      <vt:lpstr>Delta Rule vs. Perceptron Learning Rule </vt:lpstr>
      <vt:lpstr>Feed-Forward Networks</vt:lpstr>
      <vt:lpstr>Feed-Forward Networks</vt:lpstr>
      <vt:lpstr>Feed-Forward Networks</vt:lpstr>
      <vt:lpstr>Feed-Forward Networks</vt:lpstr>
      <vt:lpstr>Feed-Forward Networks</vt:lpstr>
      <vt:lpstr>Feed-Forward Networks</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Error Back-propagation</vt:lpstr>
      <vt:lpstr>Problems with Neural Networks</vt:lpstr>
      <vt:lpstr>Interpretation of Hidden Layers</vt:lpstr>
      <vt:lpstr>Overfitting in Neural Networks</vt:lpstr>
      <vt:lpstr>Under fitting in neural network</vt:lpstr>
      <vt:lpstr>Signs of Underfitting</vt:lpstr>
      <vt:lpstr>Main Causes</vt:lpstr>
      <vt:lpstr>Ways to Fix It</vt:lpstr>
      <vt:lpstr>How to solve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Neural Networks</dc:title>
  <dc:creator>Rehman</dc:creator>
  <cp:lastModifiedBy>Rehman</cp:lastModifiedBy>
  <cp:revision>59</cp:revision>
  <dcterms:created xsi:type="dcterms:W3CDTF">2026-08-05T15:41:31Z</dcterms:created>
  <dcterms:modified xsi:type="dcterms:W3CDTF">2026-09-22T03:27:02Z</dcterms:modified>
</cp:coreProperties>
</file>